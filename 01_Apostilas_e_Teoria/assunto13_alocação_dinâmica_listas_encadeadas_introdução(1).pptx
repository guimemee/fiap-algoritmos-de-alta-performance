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7"/>
  </p:notesMasterIdLst>
  <p:sldIdLst>
    <p:sldId id="267" r:id="rId5"/>
    <p:sldId id="366" r:id="rId6"/>
    <p:sldId id="368" r:id="rId7"/>
    <p:sldId id="369" r:id="rId8"/>
    <p:sldId id="378" r:id="rId9"/>
    <p:sldId id="367" r:id="rId10"/>
    <p:sldId id="383" r:id="rId11"/>
    <p:sldId id="377" r:id="rId12"/>
    <p:sldId id="380" r:id="rId13"/>
    <p:sldId id="329" r:id="rId14"/>
    <p:sldId id="379" r:id="rId15"/>
    <p:sldId id="371" r:id="rId16"/>
    <p:sldId id="376" r:id="rId17"/>
    <p:sldId id="372" r:id="rId18"/>
    <p:sldId id="381" r:id="rId19"/>
    <p:sldId id="373" r:id="rId20"/>
    <p:sldId id="382" r:id="rId21"/>
    <p:sldId id="374" r:id="rId22"/>
    <p:sldId id="375" r:id="rId23"/>
    <p:sldId id="338" r:id="rId24"/>
    <p:sldId id="342" r:id="rId25"/>
    <p:sldId id="265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BAFB5"/>
    <a:srgbClr val="020000"/>
    <a:srgbClr val="4444E6"/>
    <a:srgbClr val="F0E502"/>
    <a:srgbClr val="F0265D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49" autoAdjust="0"/>
  </p:normalViewPr>
  <p:slideViewPr>
    <p:cSldViewPr snapToGrid="0" snapToObjects="1">
      <p:cViewPr varScale="1">
        <p:scale>
          <a:sx n="59" d="100"/>
          <a:sy n="59" d="100"/>
        </p:scale>
        <p:origin x="16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7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03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64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B0C9-5422-4DE7-8152-F87B936C5017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 b="1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AB71-D6EB-4D1C-BF69-32E329BD2616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35200" cy="365125"/>
          </a:xfrm>
        </p:spPr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F239-0CB1-4B6A-9646-7DBF433C2F05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3C68-2F3E-4A89-B7C7-BE516DEFD57F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6000" cy="365125"/>
          </a:xfrm>
        </p:spPr>
        <p:txBody>
          <a:bodyPr/>
          <a:lstStyle/>
          <a:p>
            <a:r>
              <a:rPr lang="pt-BR"/>
              <a:t>Códigos de Alta Performance    Prof Patrícia Magna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CCC9-0D4F-4C47-92EF-1FCB4249965A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E8CD-D95C-4908-91A1-7826463AE427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3ED-5100-41C7-B856-C7810315719B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AA5B-7ABC-4419-9E34-DFE8B4D6C7F1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577-BE7C-4D79-845E-6C56035AE8E2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90DA-FBDA-4316-9DF6-30781B6D8CE6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A2D2-94B5-474F-AFB8-44EEE27D7E67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B87D371-8D01-4EE1-850E-097F5FAEB3B5}" type="datetime1">
              <a:rPr lang="pt-BR" altLang="en-US" smtClean="0"/>
              <a:pPr/>
              <a:t>20/09/2023</a:t>
            </a:fld>
            <a:endParaRPr lang="en-US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altLang="en-US"/>
              <a:t>Códigos de Alta Performance    Prof Patrícia Magna</a:t>
            </a:r>
            <a:endParaRPr lang="en-US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C400250-887D-42A4-9844-4914E7598DA4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775D9B-2EAF-4DD8-935A-F8D3EDFE5238}" type="datetime1">
              <a:rPr lang="pt-BR" altLang="en-US" smtClean="0"/>
              <a:pPr/>
              <a:t>20/09/2023</a:t>
            </a:fld>
            <a:endParaRPr lang="en-US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Códigos de Alta Performance    Prof Patrícia Magna</a:t>
            </a:r>
            <a:endParaRPr lang="en-US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EF0C5-2879-425C-8A32-6061D40191ED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1881E-0494-4DB1-89C4-0071809A9E43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6F6EA-0E51-436C-8178-A79E103B81D6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67902-7F3F-4316-9CA1-EBF1AFDF8BEA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07AC-33E4-42CD-B69D-099CC4F78380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   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2" y="3090351"/>
            <a:ext cx="814377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Alocação Dinâmica</a:t>
            </a:r>
          </a:p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Introdução à Lista Linear Encadeada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4002958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 sobre Alocação Dinâmica</a:t>
            </a:r>
            <a:endParaRPr lang="en-US" dirty="0"/>
          </a:p>
        </p:txBody>
      </p:sp>
      <p:sp>
        <p:nvSpPr>
          <p:cNvPr id="5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96886" cy="365125"/>
          </a:xfrm>
        </p:spPr>
        <p:txBody>
          <a:bodyPr/>
          <a:lstStyle/>
          <a:p>
            <a:r>
              <a:rPr lang="pt-BR" altLang="en-US" dirty="0"/>
              <a:t>Algoritmos de Alta Performance - </a:t>
            </a: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D0A7-A53C-47FD-89FD-1D1277B0CE4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37308" y="1045028"/>
            <a:ext cx="8449491" cy="4659085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pt-BR" sz="2400" dirty="0"/>
              <a:t>A </a:t>
            </a:r>
            <a:r>
              <a:rPr lang="pt-BR" sz="2400" dirty="0">
                <a:solidFill>
                  <a:srgbClr val="0000FF"/>
                </a:solidFill>
              </a:rPr>
              <a:t>alocação dinâmica </a:t>
            </a:r>
            <a:r>
              <a:rPr lang="pt-BR" sz="2400" dirty="0"/>
              <a:t>significa </a:t>
            </a:r>
            <a:r>
              <a:rPr lang="pt-BR" sz="2400" dirty="0">
                <a:solidFill>
                  <a:srgbClr val="0000FF"/>
                </a:solidFill>
              </a:rPr>
              <a:t>armazenar</a:t>
            </a:r>
            <a:r>
              <a:rPr lang="pt-BR" sz="2400" dirty="0"/>
              <a:t> mais um dado alocando (ou obtendo) uma região de memória onde este </a:t>
            </a:r>
            <a:r>
              <a:rPr lang="pt-BR" sz="2400" dirty="0">
                <a:solidFill>
                  <a:srgbClr val="0000FF"/>
                </a:solidFill>
              </a:rPr>
              <a:t>novo dado </a:t>
            </a:r>
            <a:r>
              <a:rPr lang="pt-BR" sz="2400" dirty="0"/>
              <a:t>deve ser armazenado dinamicamente, ou seja, </a:t>
            </a:r>
            <a:r>
              <a:rPr lang="pt-BR" sz="2400" dirty="0">
                <a:solidFill>
                  <a:srgbClr val="0000FF"/>
                </a:solidFill>
              </a:rPr>
              <a:t>enquanto o programa está sendo executado.</a:t>
            </a:r>
          </a:p>
          <a:p>
            <a:pPr>
              <a:spcAft>
                <a:spcPts val="1200"/>
              </a:spcAft>
            </a:pPr>
            <a:r>
              <a:rPr lang="pt-BR" sz="2400" dirty="0"/>
              <a:t>Portanto, deve ser utilizada quando não se conhece de antemão o número de elementos que uma estrutura deverá ter para armazenar dados de entrada de um programa.</a:t>
            </a:r>
          </a:p>
          <a:p>
            <a:pPr>
              <a:spcAft>
                <a:spcPts val="1200"/>
              </a:spcAft>
            </a:pPr>
            <a:r>
              <a:rPr lang="pt-BR" sz="2400" dirty="0"/>
              <a:t>O número máximo de elementos fica apenas restrito a disponibilidade de memória (memória RAM).</a:t>
            </a:r>
          </a:p>
          <a:p>
            <a:pPr>
              <a:spcAft>
                <a:spcPts val="1200"/>
              </a:spcAft>
            </a:pPr>
            <a:r>
              <a:rPr lang="pt-BR" sz="2400" dirty="0"/>
              <a:t>O espaço de memória disponível para ser utilizado pelo programa em execução é chamado de </a:t>
            </a:r>
            <a:r>
              <a:rPr lang="pt-BR" sz="2400" b="1" i="1" dirty="0" err="1"/>
              <a:t>heap</a:t>
            </a:r>
            <a:r>
              <a:rPr lang="pt-BR" sz="24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Regiões de Memória e seu Funcionamento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18B546-B986-CFED-66E1-BDFE49EA9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6533"/>
            <a:ext cx="9144000" cy="349931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93187E-8591-47D3-C59F-83F8D336D817}"/>
              </a:ext>
            </a:extLst>
          </p:cNvPr>
          <p:cNvSpPr txBox="1"/>
          <p:nvPr/>
        </p:nvSpPr>
        <p:spPr>
          <a:xfrm>
            <a:off x="1045029" y="930729"/>
            <a:ext cx="6955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entender o uso e os nomes das regiões de memória RAM, vamos usar um programa que tem 4 variáveis locais da função </a:t>
            </a:r>
            <a:r>
              <a:rPr lang="pt-BR" dirty="0" err="1"/>
              <a:t>main</a:t>
            </a:r>
            <a:r>
              <a:rPr lang="pt-BR" dirty="0"/>
              <a:t>() e chama a função </a:t>
            </a:r>
            <a:r>
              <a:rPr lang="pt-BR" dirty="0" err="1"/>
              <a:t>mediaIdades</a:t>
            </a:r>
            <a:r>
              <a:rPr lang="pt-BR" dirty="0"/>
              <a:t>() que calcula a média de 3 valores de idades passados como parâmetros, retornando o valor da média.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9257"/>
          </a:xfrm>
        </p:spPr>
        <p:txBody>
          <a:bodyPr/>
          <a:lstStyle/>
          <a:p>
            <a:r>
              <a:rPr lang="pt-BR" dirty="0"/>
              <a:t>Regiões de Memória e seu Funcionamento:</a:t>
            </a:r>
            <a:br>
              <a:rPr lang="pt-BR" dirty="0"/>
            </a:br>
            <a:r>
              <a:rPr lang="pt-BR" dirty="0"/>
              <a:t>Invocando um método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06118A-6BA5-E16C-7947-B2052DF5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2672181"/>
            <a:ext cx="9347200" cy="353674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85F9F65-010A-A7C2-370C-2835AA5C0878}"/>
              </a:ext>
            </a:extLst>
          </p:cNvPr>
          <p:cNvSpPr txBox="1"/>
          <p:nvPr/>
        </p:nvSpPr>
        <p:spPr>
          <a:xfrm>
            <a:off x="457201" y="930729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Antes de chamar a função </a:t>
            </a:r>
            <a:r>
              <a:rPr lang="pt-BR" dirty="0" err="1"/>
              <a:t>mediaIdades</a:t>
            </a:r>
            <a:r>
              <a:rPr lang="pt-BR" dirty="0"/>
              <a:t>() , a função </a:t>
            </a:r>
            <a:r>
              <a:rPr lang="pt-BR" dirty="0" err="1"/>
              <a:t>main</a:t>
            </a:r>
            <a:r>
              <a:rPr lang="pt-BR" dirty="0"/>
              <a:t>() copia as 3 valores de idades para a região de memória conhecida como pilha (parâmetros), deixa reservado espaço para retornar o valor da média e precisa também empilhar o ponto de retorno na função </a:t>
            </a:r>
            <a:r>
              <a:rPr lang="pt-BR" dirty="0" err="1"/>
              <a:t>main</a:t>
            </a:r>
            <a:r>
              <a:rPr lang="pt-BR" dirty="0"/>
              <a:t>() quando a função </a:t>
            </a:r>
            <a:r>
              <a:rPr lang="pt-BR" dirty="0" err="1"/>
              <a:t>mediaIdades</a:t>
            </a:r>
            <a:r>
              <a:rPr lang="pt-BR" dirty="0"/>
              <a:t>() for concluída.</a:t>
            </a:r>
          </a:p>
          <a:p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9257"/>
          </a:xfrm>
        </p:spPr>
        <p:txBody>
          <a:bodyPr/>
          <a:lstStyle/>
          <a:p>
            <a:r>
              <a:rPr lang="pt-BR" dirty="0"/>
              <a:t>Regiões de Memória e seu Funcionamento:</a:t>
            </a:r>
            <a:br>
              <a:rPr lang="pt-BR" dirty="0"/>
            </a:br>
            <a:r>
              <a:rPr lang="pt-BR" dirty="0"/>
              <a:t>Invocando um método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0D6C6D9-96A7-825A-2D1D-80154D61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9902"/>
            <a:ext cx="9144000" cy="335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Regiões de Memória e seu Funcionamento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94857" cy="365125"/>
          </a:xfrm>
        </p:spPr>
        <p:txBody>
          <a:bodyPr/>
          <a:lstStyle/>
          <a:p>
            <a:r>
              <a:rPr lang="pt-BR" altLang="en-US" dirty="0"/>
              <a:t>Algoritmos de Alta Performance - </a:t>
            </a: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E849-3BB4-42DF-92D2-588BF2E7CEEC}" type="slidenum">
              <a:rPr lang="en-US" altLang="en-US"/>
              <a:pPr/>
              <a:t>6</a:t>
            </a:fld>
            <a:endParaRPr lang="en-US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9113" y="5757863"/>
            <a:ext cx="21907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29697ED-0D61-C53F-DDA6-CF18922243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748"/>
          <a:stretch/>
        </p:blipFill>
        <p:spPr>
          <a:xfrm>
            <a:off x="0" y="836491"/>
            <a:ext cx="8813457" cy="5119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14693-33A6-AF4F-DE2E-B840CE75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Heap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35EFCD-E706-08DE-926C-8B42E17B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287F5D-A8AE-2790-A7D7-E8376D1B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3C3DD1-A603-A6B9-AE85-2595088F0D7B}"/>
              </a:ext>
            </a:extLst>
          </p:cNvPr>
          <p:cNvSpPr txBox="1"/>
          <p:nvPr/>
        </p:nvSpPr>
        <p:spPr>
          <a:xfrm>
            <a:off x="469557" y="1175657"/>
            <a:ext cx="78050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região de memória conhecida como </a:t>
            </a:r>
            <a:r>
              <a:rPr lang="pt-BR" dirty="0" err="1"/>
              <a:t>heap</a:t>
            </a:r>
            <a:r>
              <a:rPr lang="pt-BR" dirty="0"/>
              <a:t>, é apenas uma coleção de bytes que não possui uma regra rígida de ocupação.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byte tem marcado pelo gerenciador da memória </a:t>
            </a:r>
            <a:r>
              <a:rPr lang="pt-BR" dirty="0" err="1"/>
              <a:t>heap</a:t>
            </a:r>
            <a:r>
              <a:rPr lang="pt-BR" dirty="0"/>
              <a:t> se está ocupado, ou seja, já foi alocado para armazenar algum dado do programa ou se está livre o pode ser usado para armazenar um dado alocado dinamicamente.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for necessário alocar (reservar) espaço para um dado é passado para o gerenciador da memória </a:t>
            </a:r>
            <a:r>
              <a:rPr lang="pt-BR" dirty="0" err="1"/>
              <a:t>heap</a:t>
            </a:r>
            <a:r>
              <a:rPr lang="pt-BR" dirty="0"/>
              <a:t>, o número de bytes necessários, por exemplo, se for um valor inteiro este ocupará 4 bytes.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solicitação de área para alocação dinâmica reserva bytes em </a:t>
            </a:r>
            <a:r>
              <a:rPr lang="pt-BR"/>
              <a:t>endereços consecutivos.</a:t>
            </a:r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436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Encadeada - Introdução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546AF-AA99-404D-A476-12C1BA408A8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878557"/>
            <a:ext cx="8610600" cy="752386"/>
          </a:xfrm>
        </p:spPr>
        <p:txBody>
          <a:bodyPr>
            <a:normAutofit/>
          </a:bodyPr>
          <a:lstStyle/>
          <a:p>
            <a:r>
              <a:rPr lang="pt-BR" sz="2000" dirty="0"/>
              <a:t>Executando o programa podemos ver que são apresentados na tela de saída os localizadores dos objetos na </a:t>
            </a:r>
            <a:r>
              <a:rPr lang="pt-BR" sz="2000" dirty="0" err="1"/>
              <a:t>heap</a:t>
            </a:r>
            <a:r>
              <a:rPr lang="pt-BR" sz="2000" dirty="0"/>
              <a:t> e não seu conteúdos </a:t>
            </a:r>
          </a:p>
          <a:p>
            <a:pPr>
              <a:buNone/>
            </a:pP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577859-3AE7-5C8C-954C-F40FA9FF00D2}"/>
              </a:ext>
            </a:extLst>
          </p:cNvPr>
          <p:cNvSpPr txBox="1"/>
          <p:nvPr/>
        </p:nvSpPr>
        <p:spPr>
          <a:xfrm>
            <a:off x="3538993" y="810026"/>
            <a:ext cx="6028414" cy="48320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Elemento{</a:t>
            </a:r>
          </a:p>
          <a:p>
            <a:pPr algn="l" defTabSz="457200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>
              <a:tabLst>
                <a:tab pos="357188" algn="l"/>
              </a:tabLst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endParaRPr lang="pt-BR" sz="1400" dirty="0">
              <a:latin typeface="Consolas" panose="020B0609020204030204" pitchFamily="49" charset="0"/>
            </a:endParaRP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idades de 3 pessoas"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1: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2: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3: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p1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p2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p3</a:t>
            </a:r>
            <a:r>
              <a:rPr lang="pt-BR" sz="14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endParaRPr lang="pt-BR" sz="1400" dirty="0">
              <a:latin typeface="Consolas" panose="020B0609020204030204" pitchFamily="49" charset="0"/>
            </a:endParaRP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100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5DCEF19-79FF-1DD1-C463-C87EE051665B}"/>
              </a:ext>
            </a:extLst>
          </p:cNvPr>
          <p:cNvGraphicFramePr>
            <a:graphicFrameLocks noGrp="1"/>
          </p:cNvGraphicFramePr>
          <p:nvPr/>
        </p:nvGraphicFramePr>
        <p:xfrm>
          <a:off x="2114550" y="-9545638"/>
          <a:ext cx="4915900" cy="4525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900">
                  <a:extLst>
                    <a:ext uri="{9D8B030D-6E8A-4147-A177-3AD203B41FA5}">
                      <a16:colId xmlns:a16="http://schemas.microsoft.com/office/drawing/2014/main" val="949643177"/>
                    </a:ext>
                  </a:extLst>
                </a:gridCol>
                <a:gridCol w="451790">
                  <a:extLst>
                    <a:ext uri="{9D8B030D-6E8A-4147-A177-3AD203B41FA5}">
                      <a16:colId xmlns:a16="http://schemas.microsoft.com/office/drawing/2014/main" val="1524029139"/>
                    </a:ext>
                  </a:extLst>
                </a:gridCol>
                <a:gridCol w="1721103">
                  <a:extLst>
                    <a:ext uri="{9D8B030D-6E8A-4147-A177-3AD203B41FA5}">
                      <a16:colId xmlns:a16="http://schemas.microsoft.com/office/drawing/2014/main" val="1404139847"/>
                    </a:ext>
                  </a:extLst>
                </a:gridCol>
                <a:gridCol w="882065">
                  <a:extLst>
                    <a:ext uri="{9D8B030D-6E8A-4147-A177-3AD203B41FA5}">
                      <a16:colId xmlns:a16="http://schemas.microsoft.com/office/drawing/2014/main" val="1177057317"/>
                    </a:ext>
                  </a:extLst>
                </a:gridCol>
                <a:gridCol w="580872">
                  <a:extLst>
                    <a:ext uri="{9D8B030D-6E8A-4147-A177-3AD203B41FA5}">
                      <a16:colId xmlns:a16="http://schemas.microsoft.com/office/drawing/2014/main" val="186361660"/>
                    </a:ext>
                  </a:extLst>
                </a:gridCol>
                <a:gridCol w="656170">
                  <a:extLst>
                    <a:ext uri="{9D8B030D-6E8A-4147-A177-3AD203B41FA5}">
                      <a16:colId xmlns:a16="http://schemas.microsoft.com/office/drawing/2014/main" val="3303103907"/>
                    </a:ext>
                  </a:extLst>
                </a:gridCol>
              </a:tblGrid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7073274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Memória RAM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2361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48412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401770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147747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959699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6371176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0724940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26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STACK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51344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endereço de retorno (16)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3133471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6.5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87630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2964351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507551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027329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. . .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4520039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5861736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3025930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15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428843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855171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20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HEAP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266437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71336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7389692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345379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304013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43755808"/>
                  </a:ext>
                </a:extLst>
              </a:tr>
            </a:tbl>
          </a:graphicData>
        </a:graphic>
      </p:graphicFrame>
      <p:sp>
        <p:nvSpPr>
          <p:cNvPr id="9" name="Chave direita 29">
            <a:extLst>
              <a:ext uri="{FF2B5EF4-FFF2-40B4-BE49-F238E27FC236}">
                <a16:creationId xmlns:a16="http://schemas.microsoft.com/office/drawing/2014/main" id="{00000000-0008-0000-0300-00001E000000}"/>
              </a:ext>
            </a:extLst>
          </p:cNvPr>
          <p:cNvSpPr/>
          <p:nvPr/>
        </p:nvSpPr>
        <p:spPr>
          <a:xfrm>
            <a:off x="6421438" y="12617450"/>
            <a:ext cx="431800" cy="23495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/>
          </a:p>
        </p:txBody>
      </p:sp>
      <p:sp>
        <p:nvSpPr>
          <p:cNvPr id="10" name="Seta em curva para a direita 32">
            <a:extLst>
              <a:ext uri="{FF2B5EF4-FFF2-40B4-BE49-F238E27FC236}">
                <a16:creationId xmlns:a16="http://schemas.microsoft.com/office/drawing/2014/main" id="{00000000-0008-0000-0300-000021000000}"/>
              </a:ext>
            </a:extLst>
          </p:cNvPr>
          <p:cNvSpPr/>
          <p:nvPr/>
        </p:nvSpPr>
        <p:spPr>
          <a:xfrm>
            <a:off x="3176588" y="14689138"/>
            <a:ext cx="911225" cy="1714500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eta em curva para a direita 33">
            <a:extLst>
              <a:ext uri="{FF2B5EF4-FFF2-40B4-BE49-F238E27FC236}">
                <a16:creationId xmlns:a16="http://schemas.microsoft.com/office/drawing/2014/main" id="{00000000-0008-0000-0300-000022000000}"/>
              </a:ext>
            </a:extLst>
          </p:cNvPr>
          <p:cNvSpPr/>
          <p:nvPr/>
        </p:nvSpPr>
        <p:spPr>
          <a:xfrm>
            <a:off x="3230563" y="14892338"/>
            <a:ext cx="830262" cy="1089025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solidFill>
                <a:schemeClr val="tx1"/>
              </a:solidFill>
            </a:endParaRPr>
          </a:p>
        </p:txBody>
      </p:sp>
      <p:sp>
        <p:nvSpPr>
          <p:cNvPr id="12" name="Seta em curva para a direita 34">
            <a:extLst>
              <a:ext uri="{FF2B5EF4-FFF2-40B4-BE49-F238E27FC236}">
                <a16:creationId xmlns:a16="http://schemas.microsoft.com/office/drawing/2014/main" id="{00000000-0008-0000-0300-000023000000}"/>
              </a:ext>
            </a:extLst>
          </p:cNvPr>
          <p:cNvSpPr/>
          <p:nvPr/>
        </p:nvSpPr>
        <p:spPr>
          <a:xfrm>
            <a:off x="3151188" y="14460538"/>
            <a:ext cx="911225" cy="111283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rgbClr val="0000CC"/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AD87073-7770-9960-A01C-F924A9B5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56" y="814665"/>
            <a:ext cx="3631151" cy="386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Encadeada - Introdução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546AF-AA99-404D-A476-12C1BA408A88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878557"/>
            <a:ext cx="8610600" cy="752386"/>
          </a:xfrm>
        </p:spPr>
        <p:txBody>
          <a:bodyPr>
            <a:normAutofit/>
          </a:bodyPr>
          <a:lstStyle/>
          <a:p>
            <a:r>
              <a:rPr lang="pt-BR" sz="2000" dirty="0"/>
              <a:t>Agora sim são apresentados na tela de saída </a:t>
            </a:r>
            <a:r>
              <a:rPr lang="pt-BR" sz="2000"/>
              <a:t>os conteúdos </a:t>
            </a:r>
            <a:endParaRPr lang="pt-BR" sz="2000" dirty="0"/>
          </a:p>
          <a:p>
            <a:pPr>
              <a:buNone/>
            </a:pP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577859-3AE7-5C8C-954C-F40FA9FF00D2}"/>
              </a:ext>
            </a:extLst>
          </p:cNvPr>
          <p:cNvSpPr txBox="1"/>
          <p:nvPr/>
        </p:nvSpPr>
        <p:spPr>
          <a:xfrm>
            <a:off x="3538993" y="810026"/>
            <a:ext cx="6028414" cy="4616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Elemento{</a:t>
            </a:r>
          </a:p>
          <a:p>
            <a:pPr algn="l" defTabSz="457200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>
              <a:tabLst>
                <a:tab pos="357188" algn="l"/>
              </a:tabLst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>
              <a:tabLst>
                <a:tab pos="357188" algn="l"/>
              </a:tabLst>
            </a:pPr>
            <a:endParaRPr lang="pt-BR" sz="1400" dirty="0">
              <a:latin typeface="Consolas" panose="020B0609020204030204" pitchFamily="49" charset="0"/>
            </a:endParaRP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idades de 3 pessoas"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1: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2: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3: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tabLst>
                <a:tab pos="357188" algn="l"/>
              </a:tabLst>
            </a:pP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tabLst>
                <a:tab pos="357188" algn="l"/>
              </a:tabLst>
            </a:pPr>
            <a:r>
              <a:rPr lang="sv-S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System.out.println(p1.idade);</a:t>
            </a:r>
          </a:p>
          <a:p>
            <a:pPr lvl="1">
              <a:tabLst>
                <a:tab pos="357188" algn="l"/>
              </a:tabLst>
            </a:pPr>
            <a:r>
              <a:rPr lang="sv-S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System.out.println(p2.idade);</a:t>
            </a:r>
          </a:p>
          <a:p>
            <a:pPr lvl="1">
              <a:tabLst>
                <a:tab pos="357188" algn="l"/>
              </a:tabLst>
            </a:pPr>
            <a:r>
              <a:rPr lang="sv-S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System.out.println(p3.idade);</a:t>
            </a:r>
            <a:endParaRPr lang="pt-BR" sz="1400" dirty="0">
              <a:latin typeface="Consolas" panose="020B0609020204030204" pitchFamily="49" charset="0"/>
            </a:endParaRPr>
          </a:p>
          <a:p>
            <a:pPr lvl="1">
              <a:tabLst>
                <a:tab pos="357188" algn="l"/>
              </a:tabLst>
            </a:pP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100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5DCEF19-79FF-1DD1-C463-C87EE051665B}"/>
              </a:ext>
            </a:extLst>
          </p:cNvPr>
          <p:cNvGraphicFramePr>
            <a:graphicFrameLocks noGrp="1"/>
          </p:cNvGraphicFramePr>
          <p:nvPr/>
        </p:nvGraphicFramePr>
        <p:xfrm>
          <a:off x="2114550" y="-9545638"/>
          <a:ext cx="4915900" cy="4525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900">
                  <a:extLst>
                    <a:ext uri="{9D8B030D-6E8A-4147-A177-3AD203B41FA5}">
                      <a16:colId xmlns:a16="http://schemas.microsoft.com/office/drawing/2014/main" val="949643177"/>
                    </a:ext>
                  </a:extLst>
                </a:gridCol>
                <a:gridCol w="451790">
                  <a:extLst>
                    <a:ext uri="{9D8B030D-6E8A-4147-A177-3AD203B41FA5}">
                      <a16:colId xmlns:a16="http://schemas.microsoft.com/office/drawing/2014/main" val="1524029139"/>
                    </a:ext>
                  </a:extLst>
                </a:gridCol>
                <a:gridCol w="1721103">
                  <a:extLst>
                    <a:ext uri="{9D8B030D-6E8A-4147-A177-3AD203B41FA5}">
                      <a16:colId xmlns:a16="http://schemas.microsoft.com/office/drawing/2014/main" val="1404139847"/>
                    </a:ext>
                  </a:extLst>
                </a:gridCol>
                <a:gridCol w="882065">
                  <a:extLst>
                    <a:ext uri="{9D8B030D-6E8A-4147-A177-3AD203B41FA5}">
                      <a16:colId xmlns:a16="http://schemas.microsoft.com/office/drawing/2014/main" val="1177057317"/>
                    </a:ext>
                  </a:extLst>
                </a:gridCol>
                <a:gridCol w="580872">
                  <a:extLst>
                    <a:ext uri="{9D8B030D-6E8A-4147-A177-3AD203B41FA5}">
                      <a16:colId xmlns:a16="http://schemas.microsoft.com/office/drawing/2014/main" val="186361660"/>
                    </a:ext>
                  </a:extLst>
                </a:gridCol>
                <a:gridCol w="656170">
                  <a:extLst>
                    <a:ext uri="{9D8B030D-6E8A-4147-A177-3AD203B41FA5}">
                      <a16:colId xmlns:a16="http://schemas.microsoft.com/office/drawing/2014/main" val="3303103907"/>
                    </a:ext>
                  </a:extLst>
                </a:gridCol>
              </a:tblGrid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7073274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Memória RAM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2361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48412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401770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147747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959699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6371176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0724940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26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STACK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51344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endereço de retorno (16)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3133471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6.5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87630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2964351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507551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027329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. . .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4520039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5861736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3025930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15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428843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855171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20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HEAP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266437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71336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7389692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345379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304013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43755808"/>
                  </a:ext>
                </a:extLst>
              </a:tr>
            </a:tbl>
          </a:graphicData>
        </a:graphic>
      </p:graphicFrame>
      <p:sp>
        <p:nvSpPr>
          <p:cNvPr id="9" name="Chave direita 29">
            <a:extLst>
              <a:ext uri="{FF2B5EF4-FFF2-40B4-BE49-F238E27FC236}">
                <a16:creationId xmlns:a16="http://schemas.microsoft.com/office/drawing/2014/main" id="{00000000-0008-0000-0300-00001E000000}"/>
              </a:ext>
            </a:extLst>
          </p:cNvPr>
          <p:cNvSpPr/>
          <p:nvPr/>
        </p:nvSpPr>
        <p:spPr>
          <a:xfrm>
            <a:off x="6421438" y="12617450"/>
            <a:ext cx="431800" cy="23495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/>
          </a:p>
        </p:txBody>
      </p:sp>
      <p:sp>
        <p:nvSpPr>
          <p:cNvPr id="10" name="Seta em curva para a direita 32">
            <a:extLst>
              <a:ext uri="{FF2B5EF4-FFF2-40B4-BE49-F238E27FC236}">
                <a16:creationId xmlns:a16="http://schemas.microsoft.com/office/drawing/2014/main" id="{00000000-0008-0000-0300-000021000000}"/>
              </a:ext>
            </a:extLst>
          </p:cNvPr>
          <p:cNvSpPr/>
          <p:nvPr/>
        </p:nvSpPr>
        <p:spPr>
          <a:xfrm>
            <a:off x="3176588" y="14689138"/>
            <a:ext cx="911225" cy="1714500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eta em curva para a direita 33">
            <a:extLst>
              <a:ext uri="{FF2B5EF4-FFF2-40B4-BE49-F238E27FC236}">
                <a16:creationId xmlns:a16="http://schemas.microsoft.com/office/drawing/2014/main" id="{00000000-0008-0000-0300-000022000000}"/>
              </a:ext>
            </a:extLst>
          </p:cNvPr>
          <p:cNvSpPr/>
          <p:nvPr/>
        </p:nvSpPr>
        <p:spPr>
          <a:xfrm>
            <a:off x="3230563" y="14892338"/>
            <a:ext cx="830262" cy="1089025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solidFill>
                <a:schemeClr val="tx1"/>
              </a:solidFill>
            </a:endParaRPr>
          </a:p>
        </p:txBody>
      </p:sp>
      <p:sp>
        <p:nvSpPr>
          <p:cNvPr id="12" name="Seta em curva para a direita 34">
            <a:extLst>
              <a:ext uri="{FF2B5EF4-FFF2-40B4-BE49-F238E27FC236}">
                <a16:creationId xmlns:a16="http://schemas.microsoft.com/office/drawing/2014/main" id="{00000000-0008-0000-0300-000023000000}"/>
              </a:ext>
            </a:extLst>
          </p:cNvPr>
          <p:cNvSpPr/>
          <p:nvPr/>
        </p:nvSpPr>
        <p:spPr>
          <a:xfrm>
            <a:off x="3151188" y="14460538"/>
            <a:ext cx="911225" cy="111283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rgbClr val="0000CC"/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AD87073-7770-9960-A01C-F924A9B5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56" y="814665"/>
            <a:ext cx="3631151" cy="386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8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Listas Lineares Encadeadas</a:t>
            </a:r>
            <a:endParaRPr lang="en-US" dirty="0"/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08196" cy="365125"/>
          </a:xfrm>
        </p:spPr>
        <p:txBody>
          <a:bodyPr/>
          <a:lstStyle/>
          <a:p>
            <a:r>
              <a:rPr lang="pt-BR" altLang="en-US" dirty="0"/>
              <a:t>Algoritmos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5BB3-6131-455D-A835-E19259A9F4C3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1674" y="1018459"/>
            <a:ext cx="8467483" cy="4932397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Recordando:</a:t>
            </a:r>
          </a:p>
          <a:p>
            <a:pPr lvl="1"/>
            <a:r>
              <a:rPr lang="pt-BR" sz="2000" dirty="0"/>
              <a:t>Uma lista linear é uma coleção de elementos ordenados </a:t>
            </a:r>
          </a:p>
          <a:p>
            <a:pPr lvl="1"/>
            <a:r>
              <a:rPr lang="pt-BR" sz="2000" dirty="0"/>
              <a:t>O conceito de lista linear especifica que é uma estrutura dinâmica caracterizada por uma seqüência ordenada de elementos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Quando elementos de uma lista linear são alocados na memória principal de forma dinâmica (durante a execução do programa) essas listas são conhecidas como sendo </a:t>
            </a:r>
            <a:r>
              <a:rPr lang="pt-BR" sz="2400" b="1" dirty="0"/>
              <a:t>listas encadeadas</a:t>
            </a:r>
            <a:r>
              <a:rPr lang="pt-BR" sz="2400" dirty="0"/>
              <a:t> ou também </a:t>
            </a:r>
            <a:r>
              <a:rPr lang="pt-BR" sz="2400" b="1" dirty="0"/>
              <a:t>listas ligadas</a:t>
            </a:r>
            <a:r>
              <a:rPr lang="pt-BR" sz="2400" dirty="0"/>
              <a:t>.</a:t>
            </a:r>
            <a:endParaRPr lang="en-US" sz="2400" dirty="0"/>
          </a:p>
        </p:txBody>
      </p:sp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3124200" y="2640716"/>
            <a:ext cx="3429000" cy="1234598"/>
            <a:chOff x="2858" y="6422"/>
            <a:chExt cx="3176" cy="461"/>
          </a:xfrm>
          <a:solidFill>
            <a:schemeClr val="accent1"/>
          </a:solidFill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2858" y="6422"/>
              <a:ext cx="605" cy="4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  <a:p>
              <a:pPr algn="ctr"/>
              <a:r>
                <a:rPr lang="en-US" dirty="0"/>
                <a:t>E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3851" y="6422"/>
              <a:ext cx="606" cy="4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E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5429" y="6422"/>
              <a:ext cx="605" cy="4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/>
            </a:p>
            <a:p>
              <a:pPr algn="ctr"/>
              <a:r>
                <a:rPr lang="en-US"/>
                <a:t>E</a:t>
              </a:r>
              <a:r>
                <a:rPr lang="en-US" baseline="-25000"/>
                <a:t>n-1</a:t>
              </a:r>
              <a:endParaRPr lang="en-US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4673" y="6422"/>
              <a:ext cx="60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/>
                <a:t>. . .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Encadeada - Introdução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90806" y="6343631"/>
            <a:ext cx="2265947" cy="365125"/>
          </a:xfrm>
        </p:spPr>
        <p:txBody>
          <a:bodyPr/>
          <a:lstStyle/>
          <a:p>
            <a:r>
              <a:rPr lang="pt-BR" altLang="en-US" dirty="0"/>
              <a:t>Algoritmos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546AF-AA99-404D-A476-12C1BA408A8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576125"/>
            <a:ext cx="8610600" cy="1780483"/>
          </a:xfrm>
        </p:spPr>
        <p:txBody>
          <a:bodyPr>
            <a:normAutofit/>
          </a:bodyPr>
          <a:lstStyle/>
          <a:p>
            <a:r>
              <a:rPr lang="pt-BR" sz="2000" dirty="0"/>
              <a:t>Podemos observar que:</a:t>
            </a:r>
          </a:p>
          <a:p>
            <a:pPr lvl="1"/>
            <a:r>
              <a:rPr lang="pt-BR" sz="1600" dirty="0"/>
              <a:t>Objetos são instanciados sem nenhuma ordem, dependendo apenas de ser encontrada região de memória livre na </a:t>
            </a:r>
            <a:r>
              <a:rPr lang="pt-BR" sz="1600" dirty="0" err="1"/>
              <a:t>heap</a:t>
            </a:r>
            <a:endParaRPr lang="pt-BR" sz="1600" dirty="0"/>
          </a:p>
          <a:p>
            <a:pPr lvl="1"/>
            <a:r>
              <a:rPr lang="pt-BR" sz="1600" dirty="0"/>
              <a:t>Como um dos objetivos de se usar alocação dinâmica é não ter que definir antes a quantidade de elementos, não faz sentido ter uma referência para cada objeto instanciado se não se quer decidir antes quantos elementos existirão na lista linear.</a:t>
            </a:r>
            <a:endParaRPr lang="pt-BR" sz="2000" dirty="0"/>
          </a:p>
          <a:p>
            <a:pPr>
              <a:buNone/>
            </a:pP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577859-3AE7-5C8C-954C-F40FA9FF00D2}"/>
              </a:ext>
            </a:extLst>
          </p:cNvPr>
          <p:cNvSpPr txBox="1"/>
          <p:nvPr/>
        </p:nvSpPr>
        <p:spPr>
          <a:xfrm>
            <a:off x="3711934" y="929639"/>
            <a:ext cx="6028414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Elemento{</a:t>
            </a:r>
          </a:p>
          <a:p>
            <a:pPr algn="l" defTabSz="261938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Elemento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Elemento();</a:t>
            </a:r>
            <a:endParaRPr lang="pt-BR" sz="1400" dirty="0">
              <a:latin typeface="Consolas" panose="020B0609020204030204" pitchFamily="49" charset="0"/>
            </a:endParaRP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idades de 3 pessoas"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1: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2: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"Pessoa 3: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sz="1400" dirty="0">
              <a:latin typeface="Consolas" panose="020B0609020204030204" pitchFamily="49" charset="0"/>
            </a:endParaRPr>
          </a:p>
          <a:p>
            <a:pPr lvl="1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5DCEF19-79FF-1DD1-C463-C87EE051665B}"/>
              </a:ext>
            </a:extLst>
          </p:cNvPr>
          <p:cNvGraphicFramePr>
            <a:graphicFrameLocks noGrp="1"/>
          </p:cNvGraphicFramePr>
          <p:nvPr/>
        </p:nvGraphicFramePr>
        <p:xfrm>
          <a:off x="2114550" y="-9545638"/>
          <a:ext cx="4915900" cy="4525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900">
                  <a:extLst>
                    <a:ext uri="{9D8B030D-6E8A-4147-A177-3AD203B41FA5}">
                      <a16:colId xmlns:a16="http://schemas.microsoft.com/office/drawing/2014/main" val="949643177"/>
                    </a:ext>
                  </a:extLst>
                </a:gridCol>
                <a:gridCol w="451790">
                  <a:extLst>
                    <a:ext uri="{9D8B030D-6E8A-4147-A177-3AD203B41FA5}">
                      <a16:colId xmlns:a16="http://schemas.microsoft.com/office/drawing/2014/main" val="1524029139"/>
                    </a:ext>
                  </a:extLst>
                </a:gridCol>
                <a:gridCol w="1721103">
                  <a:extLst>
                    <a:ext uri="{9D8B030D-6E8A-4147-A177-3AD203B41FA5}">
                      <a16:colId xmlns:a16="http://schemas.microsoft.com/office/drawing/2014/main" val="1404139847"/>
                    </a:ext>
                  </a:extLst>
                </a:gridCol>
                <a:gridCol w="882065">
                  <a:extLst>
                    <a:ext uri="{9D8B030D-6E8A-4147-A177-3AD203B41FA5}">
                      <a16:colId xmlns:a16="http://schemas.microsoft.com/office/drawing/2014/main" val="1177057317"/>
                    </a:ext>
                  </a:extLst>
                </a:gridCol>
                <a:gridCol w="580872">
                  <a:extLst>
                    <a:ext uri="{9D8B030D-6E8A-4147-A177-3AD203B41FA5}">
                      <a16:colId xmlns:a16="http://schemas.microsoft.com/office/drawing/2014/main" val="186361660"/>
                    </a:ext>
                  </a:extLst>
                </a:gridCol>
                <a:gridCol w="656170">
                  <a:extLst>
                    <a:ext uri="{9D8B030D-6E8A-4147-A177-3AD203B41FA5}">
                      <a16:colId xmlns:a16="http://schemas.microsoft.com/office/drawing/2014/main" val="3303103907"/>
                    </a:ext>
                  </a:extLst>
                </a:gridCol>
              </a:tblGrid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7073274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Memória RAM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2361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48412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401770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1477470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959699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6371176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07249408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26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STACK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51344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endereço de retorno (16)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3133471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6.5</a:t>
                      </a:r>
                      <a:endParaRPr lang="pt-BR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87630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29643512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507551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0273290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. . .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4520039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p3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58617366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3025930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15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p1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42884371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48551718"/>
                  </a:ext>
                </a:extLst>
              </a:tr>
              <a:tr h="20169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20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obj p2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HEAP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9266437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7133683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7389692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345379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u="none" strike="noStrike">
                          <a:effectLst/>
                        </a:rPr>
                        <a:t> 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03040137"/>
                  </a:ext>
                </a:extLst>
              </a:tr>
              <a:tr h="169421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43755808"/>
                  </a:ext>
                </a:extLst>
              </a:tr>
            </a:tbl>
          </a:graphicData>
        </a:graphic>
      </p:graphicFrame>
      <p:sp>
        <p:nvSpPr>
          <p:cNvPr id="9" name="Chave direita 29">
            <a:extLst>
              <a:ext uri="{FF2B5EF4-FFF2-40B4-BE49-F238E27FC236}">
                <a16:creationId xmlns:a16="http://schemas.microsoft.com/office/drawing/2014/main" id="{00000000-0008-0000-0300-00001E000000}"/>
              </a:ext>
            </a:extLst>
          </p:cNvPr>
          <p:cNvSpPr/>
          <p:nvPr/>
        </p:nvSpPr>
        <p:spPr>
          <a:xfrm>
            <a:off x="6421438" y="12617450"/>
            <a:ext cx="431800" cy="23495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/>
          </a:p>
        </p:txBody>
      </p:sp>
      <p:sp>
        <p:nvSpPr>
          <p:cNvPr id="10" name="Seta em curva para a direita 32">
            <a:extLst>
              <a:ext uri="{FF2B5EF4-FFF2-40B4-BE49-F238E27FC236}">
                <a16:creationId xmlns:a16="http://schemas.microsoft.com/office/drawing/2014/main" id="{00000000-0008-0000-0300-000021000000}"/>
              </a:ext>
            </a:extLst>
          </p:cNvPr>
          <p:cNvSpPr/>
          <p:nvPr/>
        </p:nvSpPr>
        <p:spPr>
          <a:xfrm>
            <a:off x="3176588" y="14689138"/>
            <a:ext cx="911225" cy="1714500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eta em curva para a direita 33">
            <a:extLst>
              <a:ext uri="{FF2B5EF4-FFF2-40B4-BE49-F238E27FC236}">
                <a16:creationId xmlns:a16="http://schemas.microsoft.com/office/drawing/2014/main" id="{00000000-0008-0000-0300-000022000000}"/>
              </a:ext>
            </a:extLst>
          </p:cNvPr>
          <p:cNvSpPr/>
          <p:nvPr/>
        </p:nvSpPr>
        <p:spPr>
          <a:xfrm>
            <a:off x="3230563" y="14892338"/>
            <a:ext cx="830262" cy="1089025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solidFill>
                <a:schemeClr val="tx1"/>
              </a:solidFill>
            </a:endParaRPr>
          </a:p>
        </p:txBody>
      </p:sp>
      <p:sp>
        <p:nvSpPr>
          <p:cNvPr id="12" name="Seta em curva para a direita 34">
            <a:extLst>
              <a:ext uri="{FF2B5EF4-FFF2-40B4-BE49-F238E27FC236}">
                <a16:creationId xmlns:a16="http://schemas.microsoft.com/office/drawing/2014/main" id="{00000000-0008-0000-0300-000023000000}"/>
              </a:ext>
            </a:extLst>
          </p:cNvPr>
          <p:cNvSpPr/>
          <p:nvPr/>
        </p:nvSpPr>
        <p:spPr>
          <a:xfrm>
            <a:off x="3151188" y="14460538"/>
            <a:ext cx="911225" cy="111283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100">
              <a:ln>
                <a:solidFill>
                  <a:srgbClr val="0000CC"/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AD87073-7770-9960-A01C-F924A9B5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56" y="814665"/>
            <a:ext cx="3631151" cy="386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8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Linear Encadeada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BA45-27F4-4F3F-94D4-A7305ACE1F9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447800"/>
            <a:ext cx="83058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pt-BR" sz="2500" dirty="0"/>
              <a:t>Para que se transforme em uma </a:t>
            </a:r>
            <a:r>
              <a:rPr lang="pt-BR" sz="2500" b="1" dirty="0"/>
              <a:t>lista linear</a:t>
            </a:r>
            <a:r>
              <a:rPr lang="pt-BR" sz="2500" dirty="0"/>
              <a:t> é necessário que cada elemento tenha a indicação (ponteiro) de onde se encontra o elemento que é o seu sucessor. </a:t>
            </a:r>
          </a:p>
          <a:p>
            <a:pPr>
              <a:lnSpc>
                <a:spcPct val="80000"/>
              </a:lnSpc>
            </a:pPr>
            <a:r>
              <a:rPr lang="pt-BR" sz="2500" dirty="0"/>
              <a:t>Para que isto possa acontecer, cada elemento deve se tornar:</a:t>
            </a:r>
          </a:p>
          <a:p>
            <a:pPr>
              <a:lnSpc>
                <a:spcPct val="80000"/>
              </a:lnSpc>
            </a:pPr>
            <a:endParaRPr lang="pt-BR" sz="2500" dirty="0"/>
          </a:p>
          <a:p>
            <a:pPr>
              <a:lnSpc>
                <a:spcPct val="80000"/>
              </a:lnSpc>
            </a:pPr>
            <a:endParaRPr lang="pt-BR" sz="2500" dirty="0"/>
          </a:p>
          <a:p>
            <a:pPr>
              <a:lnSpc>
                <a:spcPct val="80000"/>
              </a:lnSpc>
            </a:pPr>
            <a:endParaRPr lang="pt-BR" sz="2500" dirty="0"/>
          </a:p>
          <a:p>
            <a:pPr>
              <a:lnSpc>
                <a:spcPct val="80000"/>
              </a:lnSpc>
            </a:pPr>
            <a:endParaRPr lang="pt-BR" sz="2500" dirty="0"/>
          </a:p>
          <a:p>
            <a:pPr>
              <a:lnSpc>
                <a:spcPct val="80000"/>
              </a:lnSpc>
            </a:pPr>
            <a:r>
              <a:rPr lang="pt-BR" sz="2500" dirty="0"/>
              <a:t>Portanto, chamaremos de </a:t>
            </a:r>
            <a:r>
              <a:rPr lang="pt-BR" sz="2500" b="1" dirty="0">
                <a:solidFill>
                  <a:srgbClr val="0000FF"/>
                </a:solidFill>
              </a:rPr>
              <a:t>nó</a:t>
            </a:r>
            <a:r>
              <a:rPr lang="pt-BR" sz="2500" dirty="0">
                <a:solidFill>
                  <a:srgbClr val="0000FF"/>
                </a:solidFill>
              </a:rPr>
              <a:t> </a:t>
            </a:r>
            <a:r>
              <a:rPr lang="pt-BR" sz="2500" dirty="0"/>
              <a:t>cada elemento da lista.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298" y="3370943"/>
            <a:ext cx="7572883" cy="1055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Espaço Reservado para Rodapé 4">
            <a:extLst>
              <a:ext uri="{FF2B5EF4-FFF2-40B4-BE49-F238E27FC236}">
                <a16:creationId xmlns:a16="http://schemas.microsoft.com/office/drawing/2014/main" id="{30EF5346-6BC7-D28E-DA49-60F0E664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0806" y="6343631"/>
            <a:ext cx="2265947" cy="365125"/>
          </a:xfrm>
        </p:spPr>
        <p:txBody>
          <a:bodyPr/>
          <a:lstStyle/>
          <a:p>
            <a:r>
              <a:rPr lang="pt-BR" altLang="en-US" dirty="0"/>
              <a:t>Algoritmos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1A7825-A7DB-B96B-D201-ECF74620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D809E4-8148-E8BE-C651-79F2770FD0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7155" y="183243"/>
            <a:ext cx="8229600" cy="777875"/>
          </a:xfrm>
        </p:spPr>
        <p:txBody>
          <a:bodyPr>
            <a:noAutofit/>
          </a:bodyPr>
          <a:lstStyle/>
          <a:p>
            <a:r>
              <a:rPr lang="pt-BR" sz="3200" dirty="0"/>
              <a:t>Alunos espalhados na sala que vão ser atendidos na ordem em que chegaram</a:t>
            </a:r>
          </a:p>
        </p:txBody>
      </p:sp>
      <p:pic>
        <p:nvPicPr>
          <p:cNvPr id="6" name="Gráfico 5" descr="Pessoa usando suéter">
            <a:extLst>
              <a:ext uri="{FF2B5EF4-FFF2-40B4-BE49-F238E27FC236}">
                <a16:creationId xmlns:a16="http://schemas.microsoft.com/office/drawing/2014/main" id="{BA180AB1-7F42-AE41-5B68-FFF2091013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5860" y="1454080"/>
            <a:ext cx="1177024" cy="1677698"/>
          </a:xfrm>
          <a:prstGeom prst="rect">
            <a:avLst/>
          </a:prstGeom>
        </p:spPr>
      </p:pic>
      <p:pic>
        <p:nvPicPr>
          <p:cNvPr id="8" name="Gráfico 7" descr="Homem usando uma jaqueta">
            <a:extLst>
              <a:ext uri="{FF2B5EF4-FFF2-40B4-BE49-F238E27FC236}">
                <a16:creationId xmlns:a16="http://schemas.microsoft.com/office/drawing/2014/main" id="{2F424403-40F2-B7BE-71B3-5CF7693BE1A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303" y="3272578"/>
            <a:ext cx="1131774" cy="1627441"/>
          </a:xfrm>
          <a:prstGeom prst="rect">
            <a:avLst/>
          </a:prstGeom>
        </p:spPr>
      </p:pic>
      <p:pic>
        <p:nvPicPr>
          <p:cNvPr id="10" name="Gráfico 9" descr="Mulher de cabelo cacheado levantando a mão">
            <a:extLst>
              <a:ext uri="{FF2B5EF4-FFF2-40B4-BE49-F238E27FC236}">
                <a16:creationId xmlns:a16="http://schemas.microsoft.com/office/drawing/2014/main" id="{EBB045E0-A0D5-51F3-207F-B6AE88241EE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4033" y="2314488"/>
            <a:ext cx="1229254" cy="1555383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5F8514E-C27A-DCDE-1E2F-9783E9355219}"/>
              </a:ext>
            </a:extLst>
          </p:cNvPr>
          <p:cNvCxnSpPr>
            <a:cxnSpLocks/>
          </p:cNvCxnSpPr>
          <p:nvPr/>
        </p:nvCxnSpPr>
        <p:spPr>
          <a:xfrm>
            <a:off x="2589439" y="3272578"/>
            <a:ext cx="1601356" cy="597293"/>
          </a:xfrm>
          <a:prstGeom prst="straightConnector1">
            <a:avLst/>
          </a:prstGeom>
          <a:ln w="57150"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549FB0B-FE9B-CD68-865B-480693CB7C04}"/>
              </a:ext>
            </a:extLst>
          </p:cNvPr>
          <p:cNvCxnSpPr>
            <a:cxnSpLocks/>
          </p:cNvCxnSpPr>
          <p:nvPr/>
        </p:nvCxnSpPr>
        <p:spPr>
          <a:xfrm flipV="1">
            <a:off x="5339600" y="2672281"/>
            <a:ext cx="772148" cy="483546"/>
          </a:xfrm>
          <a:prstGeom prst="straightConnector1">
            <a:avLst/>
          </a:prstGeom>
          <a:ln w="57150"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86011D4B-B892-BC71-78B0-5C007602B46C}"/>
              </a:ext>
            </a:extLst>
          </p:cNvPr>
          <p:cNvGrpSpPr/>
          <p:nvPr/>
        </p:nvGrpSpPr>
        <p:grpSpPr>
          <a:xfrm>
            <a:off x="179614" y="1312503"/>
            <a:ext cx="1971412" cy="923330"/>
            <a:chOff x="179614" y="1312503"/>
            <a:chExt cx="1971412" cy="923330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80C68F25-4DE1-466E-ACBD-FA0B1E2AB9FF}"/>
                </a:ext>
              </a:extLst>
            </p:cNvPr>
            <p:cNvCxnSpPr>
              <a:cxnSpLocks/>
            </p:cNvCxnSpPr>
            <p:nvPr/>
          </p:nvCxnSpPr>
          <p:spPr>
            <a:xfrm>
              <a:off x="1289957" y="1992086"/>
              <a:ext cx="861069" cy="84057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55DB204-4D96-CE30-A184-34A4DF2A81BB}"/>
                </a:ext>
              </a:extLst>
            </p:cNvPr>
            <p:cNvSpPr txBox="1"/>
            <p:nvPr/>
          </p:nvSpPr>
          <p:spPr>
            <a:xfrm>
              <a:off x="179614" y="1312503"/>
              <a:ext cx="11103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0000FF"/>
                  </a:solidFill>
                </a:rPr>
                <a:t>Primeiro a ser atendido</a:t>
              </a:r>
            </a:p>
          </p:txBody>
        </p:sp>
      </p:grpSp>
      <p:sp>
        <p:nvSpPr>
          <p:cNvPr id="20" name="Balão de Fala: Oval 19">
            <a:extLst>
              <a:ext uri="{FF2B5EF4-FFF2-40B4-BE49-F238E27FC236}">
                <a16:creationId xmlns:a16="http://schemas.microsoft.com/office/drawing/2014/main" id="{57D5FE9E-9722-1160-87E4-0F41F2A83328}"/>
              </a:ext>
            </a:extLst>
          </p:cNvPr>
          <p:cNvSpPr/>
          <p:nvPr/>
        </p:nvSpPr>
        <p:spPr>
          <a:xfrm>
            <a:off x="6663156" y="1312503"/>
            <a:ext cx="2301230" cy="1359778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Não tem mais ninguém depois de mim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4FC289B-FF02-555F-74F9-4D8CAA0838D4}"/>
              </a:ext>
            </a:extLst>
          </p:cNvPr>
          <p:cNvGrpSpPr/>
          <p:nvPr/>
        </p:nvGrpSpPr>
        <p:grpSpPr>
          <a:xfrm>
            <a:off x="188250" y="4721202"/>
            <a:ext cx="7791111" cy="1697783"/>
            <a:chOff x="188250" y="4721202"/>
            <a:chExt cx="7791111" cy="1697783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023FB1A9-5BAB-1FCE-44DD-3D397C5EE5E9}"/>
                </a:ext>
              </a:extLst>
            </p:cNvPr>
            <p:cNvGrpSpPr/>
            <p:nvPr/>
          </p:nvGrpSpPr>
          <p:grpSpPr>
            <a:xfrm>
              <a:off x="188250" y="4721202"/>
              <a:ext cx="7158097" cy="1632247"/>
              <a:chOff x="188250" y="4721202"/>
              <a:chExt cx="7158097" cy="1632247"/>
            </a:xfrm>
          </p:grpSpPr>
          <p:pic>
            <p:nvPicPr>
              <p:cNvPr id="27" name="Gráfico 26" descr="Pessoa usando suéter">
                <a:extLst>
                  <a:ext uri="{FF2B5EF4-FFF2-40B4-BE49-F238E27FC236}">
                    <a16:creationId xmlns:a16="http://schemas.microsoft.com/office/drawing/2014/main" id="{570E8547-CDF8-B7F8-7CB6-CE8B3F1FC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151026" y="5466877"/>
                <a:ext cx="621993" cy="886572"/>
              </a:xfrm>
              <a:prstGeom prst="rect">
                <a:avLst/>
              </a:prstGeom>
            </p:spPr>
          </p:pic>
          <p:pic>
            <p:nvPicPr>
              <p:cNvPr id="28" name="Gráfico 27" descr="Homem usando uma jaqueta">
                <a:extLst>
                  <a:ext uri="{FF2B5EF4-FFF2-40B4-BE49-F238E27FC236}">
                    <a16:creationId xmlns:a16="http://schemas.microsoft.com/office/drawing/2014/main" id="{049CC83C-6023-78E2-7AB7-6FEC301F75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185556" y="5503571"/>
                <a:ext cx="591031" cy="849877"/>
              </a:xfrm>
              <a:prstGeom prst="rect">
                <a:avLst/>
              </a:prstGeom>
            </p:spPr>
          </p:pic>
          <p:pic>
            <p:nvPicPr>
              <p:cNvPr id="29" name="Gráfico 28" descr="Mulher de cabelo cacheado levantando a mão">
                <a:extLst>
                  <a:ext uri="{FF2B5EF4-FFF2-40B4-BE49-F238E27FC236}">
                    <a16:creationId xmlns:a16="http://schemas.microsoft.com/office/drawing/2014/main" id="{6781531A-3957-EA1D-324A-F6926A1C4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030461" y="5466877"/>
                <a:ext cx="679078" cy="859242"/>
              </a:xfrm>
              <a:prstGeom prst="rect">
                <a:avLst/>
              </a:prstGeom>
            </p:spPr>
          </p:pic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71F89EE7-BB5D-E186-81C5-2481EA80A87B}"/>
                  </a:ext>
                </a:extLst>
              </p:cNvPr>
              <p:cNvSpPr/>
              <p:nvPr/>
            </p:nvSpPr>
            <p:spPr>
              <a:xfrm>
                <a:off x="2790994" y="5494207"/>
                <a:ext cx="649865" cy="849877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E2144E46-835D-67B3-C53A-DCFE708FDF5F}"/>
                  </a:ext>
                </a:extLst>
              </p:cNvPr>
              <p:cNvSpPr/>
              <p:nvPr/>
            </p:nvSpPr>
            <p:spPr>
              <a:xfrm>
                <a:off x="2133051" y="5484842"/>
                <a:ext cx="649865" cy="859242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0D2876DA-4176-F652-4677-0EDCBE7107E0}"/>
                  </a:ext>
                </a:extLst>
              </p:cNvPr>
              <p:cNvSpPr/>
              <p:nvPr/>
            </p:nvSpPr>
            <p:spPr>
              <a:xfrm>
                <a:off x="4199180" y="5503572"/>
                <a:ext cx="649865" cy="849877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38AEA516-5867-E5E7-392F-C6019BF6A81D}"/>
                  </a:ext>
                </a:extLst>
              </p:cNvPr>
              <p:cNvSpPr/>
              <p:nvPr/>
            </p:nvSpPr>
            <p:spPr>
              <a:xfrm>
                <a:off x="4849045" y="5503572"/>
                <a:ext cx="649865" cy="849877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Retângulo 33">
                <a:extLst>
                  <a:ext uri="{FF2B5EF4-FFF2-40B4-BE49-F238E27FC236}">
                    <a16:creationId xmlns:a16="http://schemas.microsoft.com/office/drawing/2014/main" id="{D7D6397A-6B36-7B0A-7368-068CFCC4F752}"/>
                  </a:ext>
                </a:extLst>
              </p:cNvPr>
              <p:cNvSpPr/>
              <p:nvPr/>
            </p:nvSpPr>
            <p:spPr>
              <a:xfrm>
                <a:off x="6038539" y="5474524"/>
                <a:ext cx="649865" cy="849877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Retângulo 34">
                <a:extLst>
                  <a:ext uri="{FF2B5EF4-FFF2-40B4-BE49-F238E27FC236}">
                    <a16:creationId xmlns:a16="http://schemas.microsoft.com/office/drawing/2014/main" id="{FBAB2155-CFF7-E6F3-B0A6-425077E4D79E}"/>
                  </a:ext>
                </a:extLst>
              </p:cNvPr>
              <p:cNvSpPr/>
              <p:nvPr/>
            </p:nvSpPr>
            <p:spPr>
              <a:xfrm>
                <a:off x="6696482" y="5474524"/>
                <a:ext cx="649865" cy="849877"/>
              </a:xfrm>
              <a:prstGeom prst="rect">
                <a:avLst/>
              </a:prstGeom>
              <a:noFill/>
              <a:ln>
                <a:solidFill>
                  <a:srgbClr val="02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37" name="Agrupar 36">
                <a:extLst>
                  <a:ext uri="{FF2B5EF4-FFF2-40B4-BE49-F238E27FC236}">
                    <a16:creationId xmlns:a16="http://schemas.microsoft.com/office/drawing/2014/main" id="{49081496-B2B1-E835-2D5A-A38F8465806F}"/>
                  </a:ext>
                </a:extLst>
              </p:cNvPr>
              <p:cNvGrpSpPr/>
              <p:nvPr/>
            </p:nvGrpSpPr>
            <p:grpSpPr>
              <a:xfrm>
                <a:off x="188250" y="4721202"/>
                <a:ext cx="1971412" cy="830997"/>
                <a:chOff x="179614" y="1312503"/>
                <a:chExt cx="1971412" cy="830997"/>
              </a:xfrm>
            </p:grpSpPr>
            <p:cxnSp>
              <p:nvCxnSpPr>
                <p:cNvPr id="38" name="Conector de Seta Reta 37">
                  <a:extLst>
                    <a:ext uri="{FF2B5EF4-FFF2-40B4-BE49-F238E27FC236}">
                      <a16:creationId xmlns:a16="http://schemas.microsoft.com/office/drawing/2014/main" id="{3DBAE2D1-5573-7A71-9BAE-486579D6F3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9957" y="1992086"/>
                  <a:ext cx="861069" cy="84057"/>
                </a:xfrm>
                <a:prstGeom prst="straightConnector1">
                  <a:avLst/>
                </a:prstGeom>
                <a:ln w="57150">
                  <a:solidFill>
                    <a:srgbClr val="0000FF"/>
                  </a:solidFill>
                  <a:headEnd type="oval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19B7BB66-0936-057A-C0F3-1079A904A87F}"/>
                    </a:ext>
                  </a:extLst>
                </p:cNvPr>
                <p:cNvSpPr txBox="1"/>
                <p:nvPr/>
              </p:nvSpPr>
              <p:spPr>
                <a:xfrm>
                  <a:off x="179614" y="1312503"/>
                  <a:ext cx="111034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rgbClr val="0000FF"/>
                      </a:solidFill>
                    </a:rPr>
                    <a:t>Primeiro a ser atendido</a:t>
                  </a:r>
                </a:p>
              </p:txBody>
            </p:sp>
          </p:grpSp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8077FE5C-6034-FF11-5547-9C25ECBDE2E6}"/>
                  </a:ext>
                </a:extLst>
              </p:cNvPr>
              <p:cNvCxnSpPr>
                <a:cxnSpLocks/>
                <a:endCxn id="32" idx="1"/>
              </p:cNvCxnSpPr>
              <p:nvPr/>
            </p:nvCxnSpPr>
            <p:spPr>
              <a:xfrm flipV="1">
                <a:off x="3195856" y="5928511"/>
                <a:ext cx="1003324" cy="2641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oval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e Seta Reta 41">
                <a:extLst>
                  <a:ext uri="{FF2B5EF4-FFF2-40B4-BE49-F238E27FC236}">
                    <a16:creationId xmlns:a16="http://schemas.microsoft.com/office/drawing/2014/main" id="{CB31D251-DABE-895E-C4F2-FBB88829A4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35215" y="5935113"/>
                <a:ext cx="1003324" cy="2641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oval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upo 1">
              <a:extLst>
                <a:ext uri="{FF2B5EF4-FFF2-40B4-BE49-F238E27FC236}">
                  <a16:creationId xmlns:a16="http://schemas.microsoft.com/office/drawing/2014/main" id="{62B0FA4A-F4EF-44EB-8986-E90CD69A37BF}"/>
                </a:ext>
              </a:extLst>
            </p:cNvPr>
            <p:cNvGrpSpPr/>
            <p:nvPr/>
          </p:nvGrpSpPr>
          <p:grpSpPr>
            <a:xfrm>
              <a:off x="7070537" y="5869309"/>
              <a:ext cx="908824" cy="549676"/>
              <a:chOff x="0" y="0"/>
              <a:chExt cx="538692" cy="218546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EA2157EC-3103-4A5B-8256-E1C0248BF456}"/>
                  </a:ext>
                </a:extLst>
              </p:cNvPr>
              <p:cNvCxnSpPr/>
              <p:nvPr/>
            </p:nvCxnSpPr>
            <p:spPr>
              <a:xfrm>
                <a:off x="0" y="0"/>
                <a:ext cx="409574" cy="1588"/>
              </a:xfrm>
              <a:prstGeom prst="line">
                <a:avLst/>
              </a:prstGeom>
              <a:ln w="158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de seta reta 3">
                <a:extLst>
                  <a:ext uri="{FF2B5EF4-FFF2-40B4-BE49-F238E27FC236}">
                    <a16:creationId xmlns:a16="http://schemas.microsoft.com/office/drawing/2014/main" id="{046A64A1-F70C-491A-8F7B-0B93D5C51173}"/>
                  </a:ext>
                </a:extLst>
              </p:cNvPr>
              <p:cNvCxnSpPr/>
              <p:nvPr/>
            </p:nvCxnSpPr>
            <p:spPr>
              <a:xfrm rot="5400000">
                <a:off x="328613" y="76731"/>
                <a:ext cx="157691" cy="8466"/>
              </a:xfrm>
              <a:prstGeom prst="straightConnector1">
                <a:avLst/>
              </a:prstGeom>
              <a:ln w="158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upo 4">
                <a:extLst>
                  <a:ext uri="{FF2B5EF4-FFF2-40B4-BE49-F238E27FC236}">
                    <a16:creationId xmlns:a16="http://schemas.microsoft.com/office/drawing/2014/main" id="{F9BDDA44-9A46-44A3-B69D-0DE5EDB712E9}"/>
                  </a:ext>
                </a:extLst>
              </p:cNvPr>
              <p:cNvGrpSpPr/>
              <p:nvPr/>
            </p:nvGrpSpPr>
            <p:grpSpPr>
              <a:xfrm>
                <a:off x="200025" y="166158"/>
                <a:ext cx="338667" cy="52388"/>
                <a:chOff x="200025" y="166158"/>
                <a:chExt cx="338667" cy="52388"/>
              </a:xfrm>
            </p:grpSpPr>
            <p:cxnSp>
              <p:nvCxnSpPr>
                <p:cNvPr id="14" name="Conector reto 13">
                  <a:extLst>
                    <a:ext uri="{FF2B5EF4-FFF2-40B4-BE49-F238E27FC236}">
                      <a16:creationId xmlns:a16="http://schemas.microsoft.com/office/drawing/2014/main" id="{6C0255A2-D105-4AE9-8D75-079B962BEB92}"/>
                    </a:ext>
                  </a:extLst>
                </p:cNvPr>
                <p:cNvCxnSpPr/>
                <p:nvPr/>
              </p:nvCxnSpPr>
              <p:spPr>
                <a:xfrm>
                  <a:off x="200025" y="166158"/>
                  <a:ext cx="338667" cy="1588"/>
                </a:xfrm>
                <a:prstGeom prst="line">
                  <a:avLst/>
                </a:prstGeom>
                <a:ln w="15875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Conector reto 14">
                  <a:extLst>
                    <a:ext uri="{FF2B5EF4-FFF2-40B4-BE49-F238E27FC236}">
                      <a16:creationId xmlns:a16="http://schemas.microsoft.com/office/drawing/2014/main" id="{06AB641D-5E9A-4B94-AB73-AAF809FF4E8B}"/>
                    </a:ext>
                  </a:extLst>
                </p:cNvPr>
                <p:cNvCxnSpPr/>
                <p:nvPr/>
              </p:nvCxnSpPr>
              <p:spPr>
                <a:xfrm>
                  <a:off x="276226" y="216958"/>
                  <a:ext cx="194733" cy="1588"/>
                </a:xfrm>
                <a:prstGeom prst="line">
                  <a:avLst/>
                </a:prstGeom>
                <a:ln w="15875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8766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Lista Linear Encadeada</a:t>
            </a:r>
          </a:p>
        </p:txBody>
      </p:sp>
      <p:sp>
        <p:nvSpPr>
          <p:cNvPr id="8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8A69-12FC-4C55-8079-112D5C6A729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352799"/>
            <a:ext cx="8850086" cy="23295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pt-BR" sz="2600" dirty="0"/>
              <a:t>	Supondo a criação de uma  lista linear encadeada formada por 3 elementos, cada NÓ precisa do:</a:t>
            </a:r>
          </a:p>
          <a:p>
            <a:pPr lvl="1"/>
            <a:r>
              <a:rPr lang="pt-BR" sz="2200" dirty="0"/>
              <a:t> Campo para armazenar o valor do elemento (v)</a:t>
            </a:r>
          </a:p>
          <a:p>
            <a:pPr lvl="1"/>
            <a:r>
              <a:rPr lang="pt-BR" sz="2200" dirty="0"/>
              <a:t> Campo para referenciar ou apontar para o NÓ sucessor.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87274"/>
            <a:ext cx="9073630" cy="1199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Lista Linear Encadeada</a:t>
            </a:r>
          </a:p>
        </p:txBody>
      </p:sp>
      <p:sp>
        <p:nvSpPr>
          <p:cNvPr id="8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8A69-12FC-4C55-8079-112D5C6A729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352800"/>
            <a:ext cx="5029200" cy="83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pt-BR" sz="2600"/>
              <a:t>A forma mais comum é: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554480" y="6002407"/>
            <a:ext cx="642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2B30FF"/>
                </a:solidFill>
              </a:rPr>
              <a:t>Esse tipo de implementação de listas linear é chamada de </a:t>
            </a:r>
          </a:p>
          <a:p>
            <a:pPr algn="ctr"/>
            <a:r>
              <a:rPr lang="pt-BR" sz="2000" b="1" dirty="0">
                <a:solidFill>
                  <a:srgbClr val="2B30FF"/>
                </a:solidFill>
              </a:rPr>
              <a:t>LISTA LINEAR ENCADEADA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87274"/>
            <a:ext cx="9073630" cy="1199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121" y="3799113"/>
            <a:ext cx="8980858" cy="1759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8537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Declaração de um Nó (Nodo)</a:t>
            </a:r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FD69A-D1E9-4FCE-AC44-92D67BF9E03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1447800" y="2284413"/>
            <a:ext cx="5410200" cy="1938992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400" dirty="0"/>
              <a:t>       nó</a:t>
            </a:r>
          </a:p>
          <a:p>
            <a:pPr lvl="2"/>
            <a:r>
              <a:rPr lang="pt-BR" sz="2400" dirty="0"/>
              <a:t>{</a:t>
            </a:r>
          </a:p>
          <a:p>
            <a:r>
              <a:rPr lang="pt-BR" sz="2400" dirty="0"/>
              <a:t>	dado: </a:t>
            </a:r>
            <a:r>
              <a:rPr lang="pt-BR" sz="2400" dirty="0" err="1"/>
              <a:t>tipo_do_elemento</a:t>
            </a:r>
            <a:r>
              <a:rPr lang="pt-BR" sz="2400" dirty="0"/>
              <a:t> da lista</a:t>
            </a:r>
          </a:p>
          <a:p>
            <a:r>
              <a:rPr lang="pt-BR" sz="2400" dirty="0"/>
              <a:t>	</a:t>
            </a:r>
            <a:r>
              <a:rPr lang="pt-BR" sz="2400" dirty="0" err="1"/>
              <a:t>prox</a:t>
            </a:r>
            <a:r>
              <a:rPr lang="pt-BR" sz="2400" dirty="0"/>
              <a:t>: referência para próximo nó</a:t>
            </a:r>
          </a:p>
          <a:p>
            <a:r>
              <a:rPr lang="pt-BR" sz="2400" dirty="0"/>
              <a:t>	}</a:t>
            </a:r>
          </a:p>
        </p:txBody>
      </p:sp>
      <p:sp>
        <p:nvSpPr>
          <p:cNvPr id="7" name="Texto Explicativo 2 (Ênfase) 6"/>
          <p:cNvSpPr/>
          <p:nvPr/>
        </p:nvSpPr>
        <p:spPr>
          <a:xfrm>
            <a:off x="4344691" y="4840950"/>
            <a:ext cx="4417017" cy="1346693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9690"/>
              <a:gd name="adj6" fmla="val -31129"/>
            </a:avLst>
          </a:prstGeom>
          <a:noFill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dirty="0">
                <a:solidFill>
                  <a:srgbClr val="0000FF"/>
                </a:solidFill>
              </a:rPr>
              <a:t>O </a:t>
            </a:r>
            <a:r>
              <a:rPr lang="pt-BR" sz="2000" dirty="0" err="1">
                <a:solidFill>
                  <a:srgbClr val="0000FF"/>
                </a:solidFill>
              </a:rPr>
              <a:t>prox</a:t>
            </a:r>
            <a:r>
              <a:rPr lang="pt-BR" sz="2000" dirty="0">
                <a:solidFill>
                  <a:srgbClr val="0000FF"/>
                </a:solidFill>
              </a:rPr>
              <a:t> é uma referência para outro nó, ou seja, para um outro objeto nó.</a:t>
            </a:r>
          </a:p>
          <a:p>
            <a:r>
              <a:rPr lang="pt-BR" sz="2000" dirty="0">
                <a:solidFill>
                  <a:srgbClr val="0000FF"/>
                </a:solidFill>
              </a:rPr>
              <a:t>Sendo assim a declaração é recursiva.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BD8B6-E0AF-AF26-E88E-82524CA4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nossa primeira lista encadeada ...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1D81DE-1B3A-7660-6085-8A17A479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    Prof Patrícia Magna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D6F274-3728-9E93-3E29-985A9F89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BB095F-B864-D480-0442-B56CC2E74714}"/>
              </a:ext>
            </a:extLst>
          </p:cNvPr>
          <p:cNvSpPr txBox="1"/>
          <p:nvPr/>
        </p:nvSpPr>
        <p:spPr>
          <a:xfrm>
            <a:off x="114301" y="877927"/>
            <a:ext cx="91929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NO{</a:t>
            </a:r>
          </a:p>
          <a:p>
            <a:pPr marL="358775" lvl="1" indent="-96838">
              <a:tabLst>
                <a:tab pos="261938" algn="l"/>
              </a:tabLst>
            </a:pP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58775" lvl="1" indent="-96838">
              <a:tabLst>
                <a:tab pos="261938" algn="l"/>
              </a:tabLst>
            </a:pP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79388" algn="l"/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NO();</a:t>
            </a:r>
          </a:p>
          <a:p>
            <a:pPr indent="179388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NO();</a:t>
            </a:r>
          </a:p>
          <a:p>
            <a:pPr indent="179388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NO();</a:t>
            </a:r>
          </a:p>
          <a:p>
            <a:pPr indent="179388" algn="l"/>
            <a:endParaRPr lang="pt-BR" sz="1400" dirty="0">
              <a:latin typeface="Consolas" panose="020B0609020204030204" pitchFamily="49" charset="0"/>
            </a:endParaRP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"NO localizado em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Informe dado do 1o elemento: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"NO localizado em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Informe dado do 2o elemento: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"NO localizado em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Informe dado  do 3o elemento: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17938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"Nó com dado: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tem como sucessor NO localizado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p1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"Nó com dado: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tem como sucessor NO localizado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p2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"Nó com dado: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tem como sucessor NO localizado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p3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79388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38910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Encadeamento de Nós (Elementos)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1594757" y="6369001"/>
            <a:ext cx="2235200" cy="365125"/>
          </a:xfrm>
        </p:spPr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18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4FFB65-F3EB-1DB0-454A-57441655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4" y="1380444"/>
            <a:ext cx="3276600" cy="256222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D2E5969-2EC1-9F56-349E-40E48D12DF83}"/>
              </a:ext>
            </a:extLst>
          </p:cNvPr>
          <p:cNvSpPr txBox="1"/>
          <p:nvPr/>
        </p:nvSpPr>
        <p:spPr>
          <a:xfrm>
            <a:off x="4031796" y="787447"/>
            <a:ext cx="511220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Exemplo1 {</a:t>
            </a:r>
          </a:p>
          <a:p>
            <a:pPr algn="l"/>
            <a:endParaRPr lang="pt-BR" sz="1400" b="1" dirty="0">
              <a:latin typeface="Consolas" panose="020B0609020204030204" pitchFamily="49" charset="0"/>
            </a:endParaRPr>
          </a:p>
          <a:p>
            <a:pPr indent="179388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NO{</a:t>
            </a:r>
          </a:p>
          <a:p>
            <a:pPr indent="35877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8775"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1400" b="1" dirty="0">
              <a:latin typeface="Consolas" panose="020B0609020204030204" pitchFamily="49" charset="0"/>
            </a:endParaRPr>
          </a:p>
          <a:p>
            <a:pPr indent="179388"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179388"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358775" algn="l"/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8775"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NO();</a:t>
            </a:r>
          </a:p>
          <a:p>
            <a:pPr indent="358775" algn="l"/>
            <a:endParaRPr lang="pt-BR" sz="1400" b="1" dirty="0">
              <a:latin typeface="Consolas" panose="020B0609020204030204" pitchFamily="49" charset="0"/>
            </a:endParaRPr>
          </a:p>
          <a:p>
            <a:pPr indent="358775" algn="l"/>
            <a:r>
              <a:rPr lang="pt-BR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//Primeiro NÓ</a:t>
            </a:r>
          </a:p>
          <a:p>
            <a:pPr indent="358775" algn="l"/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dado: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8775" algn="l"/>
            <a:endParaRPr lang="pt-BR" sz="1400" b="1" dirty="0">
              <a:latin typeface="Consolas" panose="020B0609020204030204" pitchFamily="49" charset="0"/>
            </a:endParaRPr>
          </a:p>
          <a:p>
            <a:pPr indent="358775" algn="l"/>
            <a:r>
              <a:rPr lang="pt-BR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//Segundo NÓ</a:t>
            </a:r>
          </a:p>
          <a:p>
            <a:pPr indent="358775"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NO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novo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NO();</a:t>
            </a:r>
          </a:p>
          <a:p>
            <a:pPr indent="358775" algn="l"/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dado: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novo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dado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novo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8775" algn="l"/>
            <a:endParaRPr lang="pt-BR" sz="1400" b="1" dirty="0">
              <a:latin typeface="Consolas" panose="020B0609020204030204" pitchFamily="49" charset="0"/>
            </a:endParaRPr>
          </a:p>
          <a:p>
            <a:pPr indent="358775" algn="l"/>
            <a:r>
              <a:rPr lang="pt-BR" sz="1400" b="1" dirty="0">
                <a:solidFill>
                  <a:srgbClr val="3F7F5F"/>
                </a:solidFill>
                <a:latin typeface="Consolas" panose="020B0609020204030204" pitchFamily="49" charset="0"/>
              </a:rPr>
              <a:t>//Conectando os 2 NÓS</a:t>
            </a: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novo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8775" algn="l"/>
            <a:endParaRPr lang="pt-BR" sz="1400" b="1" dirty="0">
              <a:latin typeface="Consolas" panose="020B0609020204030204" pitchFamily="49" charset="0"/>
            </a:endParaRPr>
          </a:p>
          <a:p>
            <a:pPr indent="358775" algn="l"/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179388"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217713" y="812768"/>
            <a:ext cx="8229600" cy="466767"/>
          </a:xfrm>
        </p:spPr>
        <p:txBody>
          <a:bodyPr/>
          <a:lstStyle/>
          <a:p>
            <a:r>
              <a:rPr lang="pt-BR" sz="2400" dirty="0"/>
              <a:t>Exercícios de Criação e Apresentação de  Lista Linear Encadeada</a:t>
            </a:r>
          </a:p>
        </p:txBody>
      </p:sp>
      <p:sp>
        <p:nvSpPr>
          <p:cNvPr id="8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A8A69-12FC-4C55-8079-112D5C6A729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9556" y="1168017"/>
            <a:ext cx="7977757" cy="838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pt-BR" sz="2400" dirty="0"/>
              <a:t>Como modificar o programa anterior para gerar essa lista?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554480" y="4688114"/>
            <a:ext cx="6426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00FF"/>
                </a:solidFill>
              </a:rPr>
              <a:t>Vamos construir juntos no projeto </a:t>
            </a:r>
            <a:r>
              <a:rPr lang="pt-BR" sz="2000" b="1" dirty="0" err="1">
                <a:solidFill>
                  <a:srgbClr val="0000FF"/>
                </a:solidFill>
              </a:rPr>
              <a:t>Lista_Encadeada</a:t>
            </a:r>
            <a:endParaRPr lang="pt-BR" sz="2000" b="1" dirty="0">
              <a:solidFill>
                <a:srgbClr val="0000FF"/>
              </a:solidFill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469557" y="3849914"/>
            <a:ext cx="8217243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Como apresentar os valores armazenados</a:t>
            </a:r>
            <a:r>
              <a:rPr kumimoji="0" lang="pt-BR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na lista 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 retira-los?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E9B6478-040C-44B9-A4E6-CF271490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81" y="1789847"/>
            <a:ext cx="7092119" cy="1758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de fixação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08196" cy="365125"/>
          </a:xfrm>
        </p:spPr>
        <p:txBody>
          <a:bodyPr/>
          <a:lstStyle/>
          <a:p>
            <a:r>
              <a:rPr lang="pt-BR" altLang="en-US" dirty="0"/>
              <a:t>Algoritmos de Alta Performance   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09B-543A-4A23-8F72-67CF88139CF6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5269" y="1028700"/>
            <a:ext cx="8674443" cy="2628900"/>
          </a:xfrm>
        </p:spPr>
        <p:txBody>
          <a:bodyPr>
            <a:normAutofit/>
          </a:bodyPr>
          <a:lstStyle/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Com suas palavras explique a diferença entre a memória conhecida como </a:t>
            </a:r>
            <a:r>
              <a:rPr lang="pt-BR" sz="2000" dirty="0" err="1"/>
              <a:t>stack</a:t>
            </a:r>
            <a:r>
              <a:rPr lang="pt-BR" sz="2000" dirty="0"/>
              <a:t> (pilha) e a </a:t>
            </a:r>
            <a:r>
              <a:rPr lang="pt-BR" sz="2000" dirty="0" err="1"/>
              <a:t>heap</a:t>
            </a:r>
            <a:r>
              <a:rPr lang="pt-BR" sz="2000" dirty="0"/>
              <a:t>?</a:t>
            </a:r>
          </a:p>
          <a:p>
            <a:pPr marL="571500" indent="-571500">
              <a:spcAft>
                <a:spcPts val="600"/>
              </a:spcAft>
              <a:buClr>
                <a:srgbClr val="CC3300"/>
              </a:buClr>
              <a:buSzPct val="80000"/>
              <a:buFont typeface="+mj-lt"/>
              <a:buAutoNum type="arabicPeriod"/>
            </a:pPr>
            <a:r>
              <a:rPr lang="pt-BR" sz="2000" dirty="0"/>
              <a:t>Por que cada elemento de uma lista linear encadeada é chamado de nó?</a:t>
            </a:r>
          </a:p>
          <a:p>
            <a:pPr marL="971550" lvl="1" indent="-571500">
              <a:buClr>
                <a:srgbClr val="CC3300"/>
              </a:buClr>
              <a:buSzPct val="80000"/>
              <a:buNone/>
            </a:pPr>
            <a:endParaRPr lang="pt-BR" sz="1800" dirty="0"/>
          </a:p>
          <a:p>
            <a:pPr marL="571500" indent="-571500">
              <a:buClr>
                <a:srgbClr val="CC3300"/>
              </a:buClr>
              <a:buSzPct val="80000"/>
              <a:buFont typeface="Wingdings" pitchFamily="2" charset="2"/>
              <a:buAutoNum type="arabicPeriod"/>
            </a:pP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5198" cy="365125"/>
          </a:xfrm>
        </p:spPr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741872" y="1155940"/>
            <a:ext cx="79449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000" dirty="0"/>
              <a:t>ASCÊNCIO, </a:t>
            </a:r>
            <a:r>
              <a:rPr lang="pt-BR" sz="2000" dirty="0" err="1"/>
              <a:t>A.F.</a:t>
            </a:r>
            <a:r>
              <a:rPr lang="pt-BR" sz="2000" dirty="0"/>
              <a:t>G; ARAUJO, </a:t>
            </a:r>
            <a:r>
              <a:rPr lang="pt-BR" sz="2000" dirty="0" err="1"/>
              <a:t>G.S.</a:t>
            </a:r>
            <a:r>
              <a:rPr lang="pt-BR" sz="2000" dirty="0"/>
              <a:t> </a:t>
            </a:r>
            <a:r>
              <a:rPr lang="pt-BR" sz="2000" b="1" dirty="0"/>
              <a:t>Estruturas de Dados: Algoritmos, Análise de Complexidade e Implementações em JAVA e C/C++.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PEREIRA, </a:t>
            </a:r>
            <a:r>
              <a:rPr lang="pt-BR" sz="2000" dirty="0" err="1"/>
              <a:t>S.L.</a:t>
            </a:r>
            <a:r>
              <a:rPr lang="pt-BR" sz="2000" dirty="0"/>
              <a:t>; </a:t>
            </a:r>
            <a:r>
              <a:rPr lang="pt-BR" sz="2000" b="1" dirty="0"/>
              <a:t>Estruturas de Dados Fundamentais: Conceitos e Aplicações. São Paulo, Ed. Érica, 1996.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TENEMBAUM, A.M </a:t>
            </a:r>
            <a:r>
              <a:rPr lang="pt-BR" sz="2000" dirty="0" err="1"/>
              <a:t>et</a:t>
            </a:r>
            <a:r>
              <a:rPr lang="pt-BR" sz="2000" dirty="0"/>
              <a:t> al.; </a:t>
            </a:r>
            <a:r>
              <a:rPr lang="pt-BR" sz="2000" b="1" dirty="0"/>
              <a:t>Estruturas de Dados usando C. </a:t>
            </a:r>
            <a:r>
              <a:rPr lang="pt-BR" sz="2000" b="1" dirty="0" err="1"/>
              <a:t>Makron</a:t>
            </a:r>
            <a:r>
              <a:rPr lang="pt-BR" sz="2000" b="1" dirty="0"/>
              <a:t> Books </a:t>
            </a:r>
            <a:r>
              <a:rPr lang="pt-BR" sz="2000" b="1" dirty="0" err="1"/>
              <a:t>Ltda</a:t>
            </a:r>
            <a:r>
              <a:rPr lang="pt-BR" sz="2000" b="1" dirty="0"/>
              <a:t>, 1995.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DEITEL, P; J.; </a:t>
            </a:r>
            <a:r>
              <a:rPr lang="pt-BR" sz="2000" dirty="0" err="1"/>
              <a:t>Deitel</a:t>
            </a:r>
            <a:r>
              <a:rPr lang="pt-BR" sz="2000" dirty="0"/>
              <a:t>, </a:t>
            </a:r>
            <a:r>
              <a:rPr lang="pt-BR" sz="2000" dirty="0" err="1"/>
              <a:t>H.M.</a:t>
            </a:r>
            <a:r>
              <a:rPr lang="pt-BR" sz="2000" dirty="0"/>
              <a:t>, </a:t>
            </a:r>
            <a:r>
              <a:rPr lang="pt-BR" sz="2000" b="1" dirty="0"/>
              <a:t>Java: como programar - 8ª edição,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2023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: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Códigos de Alta Performance  </a:t>
            </a:r>
          </a:p>
          <a:p>
            <a:r>
              <a:rPr lang="pt-BR" dirty="0"/>
              <a:t>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2347</TotalTime>
  <Words>2043</Words>
  <Application>Microsoft Office PowerPoint</Application>
  <PresentationFormat>Apresentação na tela (4:3)</PresentationFormat>
  <Paragraphs>348</Paragraphs>
  <Slides>22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Consolas</vt:lpstr>
      <vt:lpstr>Gotham-Bold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Definições sobre Alocação Dinâmica</vt:lpstr>
      <vt:lpstr>Regiões de Memória e seu Funcionamento</vt:lpstr>
      <vt:lpstr>Regiões de Memória e seu Funcionamento: Invocando um método</vt:lpstr>
      <vt:lpstr>Regiões de Memória e seu Funcionamento: Invocando um método</vt:lpstr>
      <vt:lpstr>Regiões de Memória e seu Funcionamento</vt:lpstr>
      <vt:lpstr>Heap</vt:lpstr>
      <vt:lpstr>Lista Encadeada - Introdução</vt:lpstr>
      <vt:lpstr>Lista Encadeada - Introdução</vt:lpstr>
      <vt:lpstr>Definição de Listas Lineares Encadeadas</vt:lpstr>
      <vt:lpstr>Lista Encadeada - Introdução</vt:lpstr>
      <vt:lpstr>Lista Linear Encadeada</vt:lpstr>
      <vt:lpstr>Alunos espalhados na sala que vão ser atendidos na ordem em que chegaram</vt:lpstr>
      <vt:lpstr>Representação de Lista Linear Encadeada</vt:lpstr>
      <vt:lpstr>Representação de Lista Linear Encadeada</vt:lpstr>
      <vt:lpstr>Declaração de um Nó (Nodo)</vt:lpstr>
      <vt:lpstr>Criando nossa primeira lista encadeada ...</vt:lpstr>
      <vt:lpstr>Exemplo Encadeamento de Nós (Elementos)</vt:lpstr>
      <vt:lpstr>Exercícios de Criação e Apresentação de  Lista Linear Encadeada</vt:lpstr>
      <vt:lpstr>Exercícios de fixação</vt:lpstr>
      <vt:lpstr>Referências Bibliográficas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288</cp:revision>
  <dcterms:created xsi:type="dcterms:W3CDTF">2015-01-30T10:46:50Z</dcterms:created>
  <dcterms:modified xsi:type="dcterms:W3CDTF">2023-09-20T19:42:05Z</dcterms:modified>
</cp:coreProperties>
</file>