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 id="2147483664" r:id="rId3"/>
    <p:sldMasterId id="2147483739" r:id="rId4"/>
  </p:sldMasterIdLst>
  <p:notesMasterIdLst>
    <p:notesMasterId r:id="rId39"/>
  </p:notesMasterIdLst>
  <p:sldIdLst>
    <p:sldId id="267" r:id="rId5"/>
    <p:sldId id="402" r:id="rId6"/>
    <p:sldId id="411" r:id="rId7"/>
    <p:sldId id="403" r:id="rId8"/>
    <p:sldId id="406" r:id="rId9"/>
    <p:sldId id="257" r:id="rId10"/>
    <p:sldId id="273" r:id="rId11"/>
    <p:sldId id="270" r:id="rId12"/>
    <p:sldId id="261" r:id="rId13"/>
    <p:sldId id="262" r:id="rId14"/>
    <p:sldId id="263" r:id="rId15"/>
    <p:sldId id="264" r:id="rId16"/>
    <p:sldId id="412" r:id="rId17"/>
    <p:sldId id="413" r:id="rId18"/>
    <p:sldId id="414" r:id="rId19"/>
    <p:sldId id="415" r:id="rId20"/>
    <p:sldId id="416" r:id="rId21"/>
    <p:sldId id="417" r:id="rId22"/>
    <p:sldId id="274" r:id="rId23"/>
    <p:sldId id="279" r:id="rId24"/>
    <p:sldId id="280" r:id="rId25"/>
    <p:sldId id="281" r:id="rId26"/>
    <p:sldId id="282" r:id="rId27"/>
    <p:sldId id="290" r:id="rId28"/>
    <p:sldId id="283" r:id="rId29"/>
    <p:sldId id="284" r:id="rId30"/>
    <p:sldId id="287" r:id="rId31"/>
    <p:sldId id="288" r:id="rId32"/>
    <p:sldId id="289" r:id="rId33"/>
    <p:sldId id="418" r:id="rId34"/>
    <p:sldId id="275" r:id="rId35"/>
    <p:sldId id="276" r:id="rId36"/>
    <p:sldId id="330" r:id="rId37"/>
    <p:sldId id="265" r:id="rId38"/>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6600"/>
    <a:srgbClr val="FFEAA7"/>
    <a:srgbClr val="FFE181"/>
    <a:srgbClr val="5035F5"/>
    <a:srgbClr val="FFEEB9"/>
    <a:srgbClr val="FFD243"/>
    <a:srgbClr val="F40C0C"/>
    <a:srgbClr val="4639F1"/>
    <a:srgbClr val="F1350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449" autoAdjust="0"/>
  </p:normalViewPr>
  <p:slideViewPr>
    <p:cSldViewPr snapToGrid="0" snapToObjects="1">
      <p:cViewPr varScale="1">
        <p:scale>
          <a:sx n="59" d="100"/>
          <a:sy n="59" d="100"/>
        </p:scale>
        <p:origin x="1632"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19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498697-E7EB-B84D-9726-13965ED94444}" type="datetimeFigureOut">
              <a:rPr lang="en-US" smtClean="0"/>
              <a:pPr/>
              <a:t>4/18/2024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C6CD5E-26BD-9B45-BB2F-78648736C277}" type="slidenum">
              <a:rPr lang="en-US" smtClean="0"/>
              <a:pPr/>
              <a:t>‹nº›</a:t>
            </a:fld>
            <a:endParaRPr lang="en-US"/>
          </a:p>
        </p:txBody>
      </p:sp>
    </p:spTree>
    <p:extLst>
      <p:ext uri="{BB962C8B-B14F-4D97-AF65-F5344CB8AC3E}">
        <p14:creationId xmlns:p14="http://schemas.microsoft.com/office/powerpoint/2010/main" val="7992882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92763896-79B5-4B02-9FE6-EBC0F66FBFBF}" type="slidenum">
              <a:rPr lang="pt-BR" smtClean="0"/>
              <a:t>22</a:t>
            </a:fld>
            <a:endParaRPr lang="pt-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92763896-79B5-4B02-9FE6-EBC0F66FBFBF}" type="slidenum">
              <a:rPr lang="pt-BR" smtClean="0"/>
              <a:t>31</a:t>
            </a:fld>
            <a:endParaRPr lang="pt-B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33</a:t>
            </a:fld>
            <a:endParaRPr lang="en-US"/>
          </a:p>
        </p:txBody>
      </p:sp>
    </p:spTree>
    <p:extLst>
      <p:ext uri="{BB962C8B-B14F-4D97-AF65-F5344CB8AC3E}">
        <p14:creationId xmlns:p14="http://schemas.microsoft.com/office/powerpoint/2010/main" val="897201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C6CD5E-26BD-9B45-BB2F-78648736C277}" type="slidenum">
              <a:rPr lang="en-US" smtClean="0"/>
              <a:pPr/>
              <a:t>34</a:t>
            </a:fld>
            <a:endParaRPr lang="en-US"/>
          </a:p>
        </p:txBody>
      </p:sp>
    </p:spTree>
    <p:extLst>
      <p:ext uri="{BB962C8B-B14F-4D97-AF65-F5344CB8AC3E}">
        <p14:creationId xmlns:p14="http://schemas.microsoft.com/office/powerpoint/2010/main" val="3144727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323528" y="44625"/>
            <a:ext cx="7272808" cy="720079"/>
          </a:xfrm>
        </p:spPr>
        <p:txBody>
          <a:bodyPr/>
          <a:lstStyle>
            <a:lvl1pPr>
              <a:defRPr baseline="0">
                <a:solidFill>
                  <a:schemeClr val="bg1"/>
                </a:solidFill>
              </a:defRPr>
            </a:lvl1pPr>
          </a:lstStyle>
          <a:p>
            <a:r>
              <a:rPr lang="pt-BR" dirty="0"/>
              <a:t>Slide 1</a:t>
            </a:r>
          </a:p>
        </p:txBody>
      </p:sp>
      <p:sp>
        <p:nvSpPr>
          <p:cNvPr id="3" name="Subtítulo 2"/>
          <p:cNvSpPr>
            <a:spLocks noGrp="1"/>
          </p:cNvSpPr>
          <p:nvPr>
            <p:ph type="subTitle" idx="1"/>
          </p:nvPr>
        </p:nvSpPr>
        <p:spPr>
          <a:xfrm>
            <a:off x="179512" y="908720"/>
            <a:ext cx="8712968" cy="5328592"/>
          </a:xfrm>
        </p:spPr>
        <p:txBody>
          <a:bodyPr/>
          <a:lstStyle>
            <a:lvl1pPr marL="0" indent="0" algn="l">
              <a:buNone/>
              <a:defRPr>
                <a:solidFill>
                  <a:schemeClr val="tx1">
                    <a:lumMod val="95000"/>
                    <a:lumOff val="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pt-B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9581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Layout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190500"/>
            <a:ext cx="7323138" cy="555625"/>
          </a:xfrm>
        </p:spPr>
        <p:txBody>
          <a:bodyPr/>
          <a:lstStyle/>
          <a:p>
            <a:r>
              <a:rPr lang="x-none"/>
              <a:t>Click to edit Master title style</a:t>
            </a:r>
            <a:endParaRPr lang="pt-BR"/>
          </a:p>
        </p:txBody>
      </p:sp>
    </p:spTree>
    <p:extLst>
      <p:ext uri="{BB962C8B-B14F-4D97-AF65-F5344CB8AC3E}">
        <p14:creationId xmlns:p14="http://schemas.microsoft.com/office/powerpoint/2010/main" val="154162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0" y="44625"/>
            <a:ext cx="7596336" cy="1224136"/>
          </a:xfrm>
        </p:spPr>
        <p:txBody>
          <a:bodyPr/>
          <a:lstStyle>
            <a:lvl1pPr>
              <a:defRPr>
                <a:solidFill>
                  <a:schemeClr val="bg1"/>
                </a:solidFill>
                <a:latin typeface="Arial" pitchFamily="34" charset="0"/>
                <a:cs typeface="Arial" pitchFamily="34" charset="0"/>
              </a:defRPr>
            </a:lvl1pPr>
          </a:lstStyle>
          <a:p>
            <a:r>
              <a:rPr lang="pt-BR" dirty="0"/>
              <a:t>Slide 2</a:t>
            </a:r>
          </a:p>
        </p:txBody>
      </p:sp>
      <p:sp>
        <p:nvSpPr>
          <p:cNvPr id="3" name="Subtítulo 2"/>
          <p:cNvSpPr>
            <a:spLocks noGrp="1"/>
          </p:cNvSpPr>
          <p:nvPr>
            <p:ph type="subTitle" idx="1"/>
          </p:nvPr>
        </p:nvSpPr>
        <p:spPr>
          <a:xfrm>
            <a:off x="1475656" y="1340768"/>
            <a:ext cx="6192688" cy="4104456"/>
          </a:xfr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Clique para editar o estilo do subtítulo mestre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619672" y="44625"/>
            <a:ext cx="6120680" cy="1008112"/>
          </a:xfrm>
        </p:spPr>
        <p:txBody>
          <a:bodyPr/>
          <a:lstStyle>
            <a:lvl1pPr>
              <a:defRPr>
                <a:solidFill>
                  <a:schemeClr val="bg1"/>
                </a:solidFill>
                <a:latin typeface="Arial" pitchFamily="34" charset="0"/>
                <a:cs typeface="Arial" pitchFamily="34" charset="0"/>
              </a:defRPr>
            </a:lvl1pPr>
          </a:lstStyle>
          <a:p>
            <a:r>
              <a:rPr lang="pt-BR" dirty="0"/>
              <a:t>Slide 3</a:t>
            </a:r>
          </a:p>
        </p:txBody>
      </p:sp>
      <p:sp>
        <p:nvSpPr>
          <p:cNvPr id="3" name="Subtítulo 2"/>
          <p:cNvSpPr>
            <a:spLocks noGrp="1"/>
          </p:cNvSpPr>
          <p:nvPr>
            <p:ph type="subTitle" idx="1"/>
          </p:nvPr>
        </p:nvSpPr>
        <p:spPr>
          <a:xfrm>
            <a:off x="1547664" y="1268760"/>
            <a:ext cx="6192688" cy="4176464"/>
          </a:xfr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Clique para editar o estilo do subtítulo mestre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4" name="Date Placeholder 3"/>
          <p:cNvSpPr>
            <a:spLocks noGrp="1"/>
          </p:cNvSpPr>
          <p:nvPr>
            <p:ph type="dt" sz="half" idx="10"/>
          </p:nvPr>
        </p:nvSpPr>
        <p:spPr/>
        <p:txBody>
          <a:bodyPr/>
          <a:lstStyle/>
          <a:p>
            <a:fld id="{14DC0541-0AF1-4212-AE65-1BEB80F5FDFE}" type="datetime1">
              <a:rPr lang="pt-BR" smtClean="0"/>
              <a:pPr/>
              <a:t>18/04/2024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6629CB-7937-4506-A327-ACF88B95BB03}" type="slidenum">
              <a:rPr lang="en-US" smtClean="0"/>
              <a:pPr/>
              <a:t>‹nº›</a:t>
            </a:fld>
            <a:endParaRPr lang="en-US"/>
          </a:p>
        </p:txBody>
      </p:sp>
    </p:spTree>
    <p:extLst>
      <p:ext uri="{BB962C8B-B14F-4D97-AF65-F5344CB8AC3E}">
        <p14:creationId xmlns:p14="http://schemas.microsoft.com/office/powerpoint/2010/main" val="617856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3"/>
          <p:cNvSpPr/>
          <p:nvPr userDrawn="1"/>
        </p:nvSpPr>
        <p:spPr>
          <a:xfrm>
            <a:off x="8044249" y="6343992"/>
            <a:ext cx="1176708" cy="365125"/>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9557" y="328709"/>
            <a:ext cx="8229600" cy="466767"/>
          </a:xfrm>
        </p:spPr>
        <p:txBody>
          <a:bodyPr>
            <a:noAutofit/>
          </a:bodyPr>
          <a:lstStyle>
            <a:lvl1pPr algn="l">
              <a:defRPr sz="2500"/>
            </a:lvl1pPr>
          </a:lstStyle>
          <a:p>
            <a:r>
              <a:rPr lang="x-none"/>
              <a:t>Click to edit Master title style</a:t>
            </a:r>
            <a:endParaRPr lang="en-US" dirty="0"/>
          </a:p>
        </p:txBody>
      </p:sp>
      <p:cxnSp>
        <p:nvCxnSpPr>
          <p:cNvPr id="8" name="Conector reto 7"/>
          <p:cNvCxnSpPr/>
          <p:nvPr userDrawn="1"/>
        </p:nvCxnSpPr>
        <p:spPr>
          <a:xfrm>
            <a:off x="457200" y="741405"/>
            <a:ext cx="8229600" cy="0"/>
          </a:xfrm>
          <a:prstGeom prst="line">
            <a:avLst/>
          </a:prstGeom>
          <a:ln w="31750">
            <a:solidFill>
              <a:srgbClr val="F0265D"/>
            </a:solidFill>
          </a:ln>
        </p:spPr>
        <p:style>
          <a:lnRef idx="2">
            <a:schemeClr val="accent1"/>
          </a:lnRef>
          <a:fillRef idx="0">
            <a:schemeClr val="accent1"/>
          </a:fillRef>
          <a:effectRef idx="1">
            <a:schemeClr val="accent1"/>
          </a:effectRef>
          <a:fontRef idx="minor">
            <a:schemeClr val="tx1"/>
          </a:fontRef>
        </p:style>
      </p:cxnSp>
      <p:pic>
        <p:nvPicPr>
          <p:cNvPr id="9" name="Picture 17"/>
          <p:cNvPicPr>
            <a:picLocks noChangeAspect="1"/>
          </p:cNvPicPr>
          <p:nvPr userDrawn="1"/>
        </p:nvPicPr>
        <p:blipFill>
          <a:blip r:embed="rId2" cstate="print"/>
          <a:stretch>
            <a:fillRect/>
          </a:stretch>
        </p:blipFill>
        <p:spPr>
          <a:xfrm>
            <a:off x="7829017" y="329329"/>
            <a:ext cx="997107" cy="272893"/>
          </a:xfrm>
          <a:prstGeom prst="rect">
            <a:avLst/>
          </a:prstGeom>
        </p:spPr>
      </p:pic>
      <p:sp>
        <p:nvSpPr>
          <p:cNvPr id="11" name="Rectangle 18"/>
          <p:cNvSpPr/>
          <p:nvPr userDrawn="1"/>
        </p:nvSpPr>
        <p:spPr>
          <a:xfrm>
            <a:off x="397557" y="364111"/>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Espaço Reservado para Data 11"/>
          <p:cNvSpPr>
            <a:spLocks noGrp="1"/>
          </p:cNvSpPr>
          <p:nvPr>
            <p:ph type="dt" sz="half" idx="10"/>
          </p:nvPr>
        </p:nvSpPr>
        <p:spPr/>
        <p:txBody>
          <a:bodyPr/>
          <a:lstStyle/>
          <a:p>
            <a:fld id="{8F5503C1-058C-4EB5-96B6-EA88AF55F5C1}" type="datetime1">
              <a:rPr lang="pt-BR" smtClean="0"/>
              <a:pPr/>
              <a:t>18/04/2024</a:t>
            </a:fld>
            <a:endParaRPr lang="pt-BR"/>
          </a:p>
        </p:txBody>
      </p:sp>
      <p:sp>
        <p:nvSpPr>
          <p:cNvPr id="13" name="Espaço Reservado para Número de Slide 12"/>
          <p:cNvSpPr>
            <a:spLocks noGrp="1"/>
          </p:cNvSpPr>
          <p:nvPr>
            <p:ph type="sldNum" sz="quarter" idx="11"/>
          </p:nvPr>
        </p:nvSpPr>
        <p:spPr/>
        <p:txBody>
          <a:bodyPr/>
          <a:lstStyle/>
          <a:p>
            <a:fld id="{0DBB9FE3-D63C-4A40-B010-4651D12E128D}" type="slidenum">
              <a:rPr lang="pt-BR" smtClean="0"/>
              <a:pPr/>
              <a:t>‹nº›</a:t>
            </a:fld>
            <a:endParaRPr lang="pt-BR"/>
          </a:p>
        </p:txBody>
      </p:sp>
      <p:sp>
        <p:nvSpPr>
          <p:cNvPr id="14" name="Espaço Reservado para Rodapé 13"/>
          <p:cNvSpPr>
            <a:spLocks noGrp="1"/>
          </p:cNvSpPr>
          <p:nvPr>
            <p:ph type="ftr" sz="quarter" idx="12"/>
          </p:nvPr>
        </p:nvSpPr>
        <p:spPr/>
        <p:txBody>
          <a:bodyPr/>
          <a:lstStyle/>
          <a:p>
            <a:endParaRPr lang="pt-BR" dirty="0"/>
          </a:p>
        </p:txBody>
      </p:sp>
    </p:spTree>
    <p:extLst>
      <p:ext uri="{BB962C8B-B14F-4D97-AF65-F5344CB8AC3E}">
        <p14:creationId xmlns:p14="http://schemas.microsoft.com/office/powerpoint/2010/main" val="2458548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x-none"/>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a:t>Click to edit Master text styles</a:t>
            </a:r>
          </a:p>
        </p:txBody>
      </p:sp>
      <p:sp>
        <p:nvSpPr>
          <p:cNvPr id="4" name="Date Placeholder 3"/>
          <p:cNvSpPr>
            <a:spLocks noGrp="1"/>
          </p:cNvSpPr>
          <p:nvPr>
            <p:ph type="dt" sz="half" idx="10"/>
          </p:nvPr>
        </p:nvSpPr>
        <p:spPr/>
        <p:txBody>
          <a:bodyPr/>
          <a:lstStyle/>
          <a:p>
            <a:fld id="{76C82AD5-A9D0-494C-8394-BFC65EB7C7BD}" type="datetime1">
              <a:rPr lang="pt-BR" smtClean="0"/>
              <a:pPr/>
              <a:t>18/04/2024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6629CB-7937-4506-A327-ACF88B95BB03}" type="slidenum">
              <a:rPr lang="en-US" smtClean="0"/>
              <a:pPr/>
              <a:t>‹nº›</a:t>
            </a:fld>
            <a:endParaRPr lang="en-US"/>
          </a:p>
        </p:txBody>
      </p:sp>
    </p:spTree>
    <p:extLst>
      <p:ext uri="{BB962C8B-B14F-4D97-AF65-F5344CB8AC3E}">
        <p14:creationId xmlns:p14="http://schemas.microsoft.com/office/powerpoint/2010/main" val="1043828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Date Placeholder 4"/>
          <p:cNvSpPr>
            <a:spLocks noGrp="1"/>
          </p:cNvSpPr>
          <p:nvPr>
            <p:ph type="dt" sz="half" idx="10"/>
          </p:nvPr>
        </p:nvSpPr>
        <p:spPr/>
        <p:txBody>
          <a:bodyPr/>
          <a:lstStyle/>
          <a:p>
            <a:fld id="{510603EE-F11D-4783-A4C6-57897F69FFCA}" type="datetime1">
              <a:rPr lang="pt-BR" smtClean="0"/>
              <a:pPr/>
              <a:t>18/04/2024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738292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7" name="Date Placeholder 6"/>
          <p:cNvSpPr>
            <a:spLocks noGrp="1"/>
          </p:cNvSpPr>
          <p:nvPr>
            <p:ph type="dt" sz="half" idx="10"/>
          </p:nvPr>
        </p:nvSpPr>
        <p:spPr/>
        <p:txBody>
          <a:bodyPr/>
          <a:lstStyle/>
          <a:p>
            <a:fld id="{861A8D2D-973D-4AF9-8C55-588478A1F642}" type="datetime1">
              <a:rPr lang="pt-BR" smtClean="0"/>
              <a:pPr/>
              <a:t>18/04/2024</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3911823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Date Placeholder 2"/>
          <p:cNvSpPr>
            <a:spLocks noGrp="1"/>
          </p:cNvSpPr>
          <p:nvPr>
            <p:ph type="dt" sz="half" idx="10"/>
          </p:nvPr>
        </p:nvSpPr>
        <p:spPr/>
        <p:txBody>
          <a:bodyPr/>
          <a:lstStyle/>
          <a:p>
            <a:fld id="{691C784B-6016-46C3-92A0-0660F7BEB8A5}" type="datetime1">
              <a:rPr lang="pt-BR" smtClean="0"/>
              <a:pPr/>
              <a:t>18/04/2024</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3114395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B8CD41-7B11-4310-96C9-B1B4BAD9AAE4}" type="datetime1">
              <a:rPr lang="pt-BR" smtClean="0"/>
              <a:pPr/>
              <a:t>18/04/2024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E4AAA4-6363-4581-962D-1ACCC2D600C5}" type="slidenum">
              <a:rPr lang="en-US" smtClean="0"/>
              <a:pPr/>
              <a:t>‹nº›</a:t>
            </a:fld>
            <a:endParaRPr lang="en-US"/>
          </a:p>
        </p:txBody>
      </p:sp>
    </p:spTree>
    <p:extLst>
      <p:ext uri="{BB962C8B-B14F-4D97-AF65-F5344CB8AC3E}">
        <p14:creationId xmlns:p14="http://schemas.microsoft.com/office/powerpoint/2010/main" val="1324629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x-non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1AD3B408-14A4-48ED-AB74-C47C405CA9AC}" type="datetime1">
              <a:rPr lang="pt-BR" smtClean="0"/>
              <a:pPr/>
              <a:t>18/04/2024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887339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x-non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CD4A5105-BAAD-4E4C-956D-5807F8596BA7}" type="datetime1">
              <a:rPr lang="pt-BR" smtClean="0"/>
              <a:pPr/>
              <a:t>18/04/2024</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5037524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338D73F8-814C-48F7-A6AC-19AC16C20047}" type="datetime1">
              <a:rPr lang="pt-BR" smtClean="0"/>
              <a:pPr/>
              <a:t>18/04/2024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2469876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x-none"/>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EE5BB5F7-809A-49FD-A754-78E41FA3AC7D}" type="datetime1">
              <a:rPr lang="pt-BR" smtClean="0"/>
              <a:pPr/>
              <a:t>18/04/2024</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0DBB9FE3-D63C-4A40-B010-4651D12E128D}" type="slidenum">
              <a:rPr lang="pt-BR" smtClean="0"/>
              <a:pPr/>
              <a:t>‹nº›</a:t>
            </a:fld>
            <a:endParaRPr lang="pt-BR"/>
          </a:p>
        </p:txBody>
      </p:sp>
    </p:spTree>
    <p:extLst>
      <p:ext uri="{BB962C8B-B14F-4D97-AF65-F5344CB8AC3E}">
        <p14:creationId xmlns:p14="http://schemas.microsoft.com/office/powerpoint/2010/main" val="2583356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9" name="Espaço Reservado para Texto 8"/>
          <p:cNvSpPr>
            <a:spLocks noGrp="1"/>
          </p:cNvSpPr>
          <p:nvPr>
            <p:ph type="body" sz="quarter" idx="13"/>
          </p:nvPr>
        </p:nvSpPr>
        <p:spPr>
          <a:xfrm>
            <a:off x="3868103" y="1421810"/>
            <a:ext cx="4380748" cy="4873112"/>
          </a:xfrm>
        </p:spPr>
        <p:txBody>
          <a:bodyPr>
            <a:normAutofit/>
          </a:bodyPr>
          <a:lstStyle>
            <a:lvl1pPr marL="342900" indent="-342900">
              <a:buFont typeface="Wingdings" panose="05000000000000000000" pitchFamily="2" charset="2"/>
              <a:buChar char="§"/>
              <a:defRPr sz="1600">
                <a:latin typeface="Gotham-Book"/>
              </a:defRPr>
            </a:lvl1pPr>
            <a:lvl2pPr marL="800100" indent="-342900">
              <a:buFont typeface="Wingdings" panose="05000000000000000000" pitchFamily="2" charset="2"/>
              <a:buChar char="§"/>
              <a:defRPr sz="1600">
                <a:latin typeface="Gotham-Book"/>
              </a:defRPr>
            </a:lvl2pPr>
            <a:lvl3pPr marL="1257300" indent="-342900">
              <a:buFont typeface="Wingdings" panose="05000000000000000000" pitchFamily="2" charset="2"/>
              <a:buChar char="§"/>
              <a:defRPr sz="1600">
                <a:latin typeface="Gotham-Book"/>
              </a:defRPr>
            </a:lvl3pPr>
            <a:lvl4pPr marL="1714500" indent="-342900">
              <a:buFont typeface="Wingdings" panose="05000000000000000000" pitchFamily="2" charset="2"/>
              <a:buChar char="§"/>
              <a:defRPr sz="1600">
                <a:latin typeface="Gotham-Book"/>
              </a:defRPr>
            </a:lvl4pPr>
            <a:lvl5pPr marL="2171700" indent="-342900">
              <a:buFont typeface="Wingdings" panose="05000000000000000000" pitchFamily="2" charset="2"/>
              <a:buChar char="§"/>
              <a:defRPr sz="1600">
                <a:latin typeface="Gotham-Book"/>
              </a:defRPr>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pic>
        <p:nvPicPr>
          <p:cNvPr id="10" name="Picture 3" descr="caomputador.pn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97734" y="1421810"/>
            <a:ext cx="3062891" cy="2733630"/>
          </a:xfrm>
          <a:prstGeom prst="rect">
            <a:avLst/>
          </a:prstGeom>
        </p:spPr>
      </p:pic>
      <p:pic>
        <p:nvPicPr>
          <p:cNvPr id="11" name="Picture 4" descr="chicara.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rot="20276259">
            <a:off x="2055756" y="3444240"/>
            <a:ext cx="1559560" cy="1650015"/>
          </a:xfrm>
          <a:prstGeom prst="rect">
            <a:avLst/>
          </a:prstGeom>
        </p:spPr>
      </p:pic>
      <p:pic>
        <p:nvPicPr>
          <p:cNvPr id="12" name="Picture 6" descr="livros.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rot="1687626">
            <a:off x="648591" y="4397170"/>
            <a:ext cx="2064240" cy="1700934"/>
          </a:xfrm>
          <a:prstGeom prst="rect">
            <a:avLst/>
          </a:prstGeom>
        </p:spPr>
      </p:pic>
      <p:sp>
        <p:nvSpPr>
          <p:cNvPr id="13" name="TextBox 12"/>
          <p:cNvSpPr txBox="1"/>
          <p:nvPr userDrawn="1"/>
        </p:nvSpPr>
        <p:spPr>
          <a:xfrm>
            <a:off x="947123" y="736043"/>
            <a:ext cx="6801557"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REFERÊNCIAS</a:t>
            </a:r>
            <a:endParaRPr lang="en-US" sz="2800" b="1" dirty="0">
              <a:solidFill>
                <a:srgbClr val="303030"/>
              </a:solidFill>
              <a:latin typeface="Gotham HTF" pitchFamily="2" charset="0"/>
              <a:cs typeface="Gotham-Book"/>
            </a:endParaRPr>
          </a:p>
        </p:txBody>
      </p:sp>
      <p:sp>
        <p:nvSpPr>
          <p:cNvPr id="8"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3957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4.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259CB6-618C-4C0D-AD4F-00FFB7EC3806}" type="datetime1">
              <a:rPr lang="pt-BR" smtClean="0"/>
              <a:pPr/>
              <a:t>18/04/2024</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BB9FE3-D63C-4A40-B010-4651D12E128D}" type="slidenum">
              <a:rPr lang="pt-BR" smtClean="0"/>
              <a:pPr/>
              <a:t>‹nº›</a:t>
            </a:fld>
            <a:endParaRPr lang="pt-BR"/>
          </a:p>
        </p:txBody>
      </p:sp>
      <p:pic>
        <p:nvPicPr>
          <p:cNvPr id="2050" name="Picture 2" descr="K:\Júnior\B.I\FIAP Shift\Template 4.jpg"/>
          <p:cNvPicPr>
            <a:picLocks noChangeAspect="1" noChangeArrowheads="1"/>
          </p:cNvPicPr>
          <p:nvPr/>
        </p:nvPicPr>
        <p:blipFill>
          <a:blip r:embed="rId5" cstate="print"/>
          <a:srcRect/>
          <a:stretch>
            <a:fillRect/>
          </a:stretch>
        </p:blipFill>
        <p:spPr bwMode="auto">
          <a:xfrm>
            <a:off x="0" y="0"/>
            <a:ext cx="9144000" cy="6858001"/>
          </a:xfrm>
          <a:prstGeom prst="rect">
            <a:avLst/>
          </a:prstGeom>
          <a:noFill/>
        </p:spPr>
      </p:pic>
    </p:spTree>
  </p:cSld>
  <p:clrMap bg1="lt1" tx1="dk1" bg2="lt2" tx2="dk2" accent1="accent1" accent2="accent2" accent3="accent3" accent4="accent4" accent5="accent5" accent6="accent6" hlink="hlink" folHlink="folHlink"/>
  <p:sldLayoutIdLst>
    <p:sldLayoutId id="2147483661" r:id="rId1"/>
    <p:sldLayoutId id="2147483667" r:id="rId2"/>
    <p:sldLayoutId id="2147483668"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3B64BA-2F8D-4903-9D71-2BA133BDD820}" type="datetime1">
              <a:rPr lang="pt-BR" smtClean="0"/>
              <a:pPr/>
              <a:t>18/04/2024</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9B6C0-1EBF-4909-A23C-2B4E6C0F9776}" type="slidenum">
              <a:rPr lang="pt-BR" smtClean="0"/>
              <a:pPr/>
              <a:t>‹nº›</a:t>
            </a:fld>
            <a:endParaRPr lang="pt-BR"/>
          </a:p>
        </p:txBody>
      </p:sp>
      <p:pic>
        <p:nvPicPr>
          <p:cNvPr id="3074" name="Picture 2" descr="K:\Júnior\B.I\FIAP Shift\Template 2.jpg"/>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880FC3-7915-4765-A1D7-627DAD4111B6}" type="datetime1">
              <a:rPr lang="pt-BR" smtClean="0"/>
              <a:pPr/>
              <a:t>18/04/2024</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BDE16-AB64-4071-8A5E-208E5097AA46}" type="slidenum">
              <a:rPr lang="pt-BR" smtClean="0"/>
              <a:pPr/>
              <a:t>‹nº›</a:t>
            </a:fld>
            <a:endParaRPr lang="pt-BR"/>
          </a:p>
        </p:txBody>
      </p:sp>
      <p:pic>
        <p:nvPicPr>
          <p:cNvPr id="4098" name="Picture 2" descr="K:\Júnior\B.I\FIAP Shift\Template 3.jpg"/>
          <p:cNvPicPr>
            <a:picLocks noChangeAspect="1" noChangeArrowheads="1"/>
          </p:cNvPicPr>
          <p:nvPr/>
        </p:nvPicPr>
        <p:blipFill>
          <a:blip r:embed="rId3" cstate="print"/>
          <a:srcRect/>
          <a:stretch>
            <a:fillRect/>
          </a:stretch>
        </p:blipFill>
        <p:spPr bwMode="auto">
          <a:xfrm>
            <a:off x="0" y="-99393"/>
            <a:ext cx="9276524" cy="6957393"/>
          </a:xfrm>
          <a:prstGeom prst="rect">
            <a:avLst/>
          </a:prstGeom>
          <a:noFill/>
        </p:spPr>
      </p:pic>
    </p:spTree>
  </p:cSld>
  <p:clrMap bg1="lt1" tx1="dk1" bg2="lt2" tx2="dk2" accent1="accent1" accent2="accent2" accent3="accent3" accent4="accent4" accent5="accent5" accent6="accent6" hlink="hlink" folHlink="folHlink"/>
  <p:sldLayoutIdLst>
    <p:sldLayoutId id="2147483665"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x-none"/>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9DD337-29BF-4EC3-9532-A7144ADBA665}" type="datetime1">
              <a:rPr lang="pt-BR" smtClean="0"/>
              <a:pPr/>
              <a:t>18/04/2024</a:t>
            </a:fld>
            <a:endParaRPr lang="pt-B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BB9FE3-D63C-4A40-B010-4651D12E128D}" type="slidenum">
              <a:rPr lang="pt-BR" smtClean="0"/>
              <a:pPr/>
              <a:t>‹nº›</a:t>
            </a:fld>
            <a:endParaRPr lang="pt-BR"/>
          </a:p>
        </p:txBody>
      </p:sp>
    </p:spTree>
    <p:extLst>
      <p:ext uri="{BB962C8B-B14F-4D97-AF65-F5344CB8AC3E}">
        <p14:creationId xmlns:p14="http://schemas.microsoft.com/office/powerpoint/2010/main" val="3371062211"/>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3"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print"/>
          <a:srcRect l="21776" r="21705"/>
          <a:stretch/>
        </p:blipFill>
        <p:spPr>
          <a:xfrm>
            <a:off x="0" y="2608031"/>
            <a:ext cx="9155651" cy="2789855"/>
          </a:xfrm>
          <a:prstGeom prst="rect">
            <a:avLst/>
          </a:prstGeom>
        </p:spPr>
      </p:pic>
      <p:pic>
        <p:nvPicPr>
          <p:cNvPr id="19" name="Picture 18"/>
          <p:cNvPicPr>
            <a:picLocks noChangeAspect="1"/>
          </p:cNvPicPr>
          <p:nvPr/>
        </p:nvPicPr>
        <p:blipFill>
          <a:blip r:embed="rId3" cstate="print"/>
          <a:stretch>
            <a:fillRect/>
          </a:stretch>
        </p:blipFill>
        <p:spPr>
          <a:xfrm>
            <a:off x="7829017" y="329329"/>
            <a:ext cx="997107" cy="272893"/>
          </a:xfrm>
          <a:prstGeom prst="rect">
            <a:avLst/>
          </a:prstGeom>
        </p:spPr>
      </p:pic>
      <p:sp>
        <p:nvSpPr>
          <p:cNvPr id="2" name="Rectangle 1"/>
          <p:cNvSpPr/>
          <p:nvPr/>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a:off x="1011881" y="3293781"/>
            <a:ext cx="8132119" cy="535531"/>
          </a:xfrm>
          <a:prstGeom prst="rect">
            <a:avLst/>
          </a:prstGeom>
          <a:noFill/>
        </p:spPr>
        <p:txBody>
          <a:bodyPr wrap="square" rtlCol="0">
            <a:spAutoFit/>
          </a:bodyPr>
          <a:lstStyle/>
          <a:p>
            <a:pPr>
              <a:lnSpc>
                <a:spcPct val="90000"/>
              </a:lnSpc>
            </a:pPr>
            <a:r>
              <a:rPr lang="pt-BR" sz="3200" dirty="0">
                <a:solidFill>
                  <a:srgbClr val="FFFF00"/>
                </a:solidFill>
                <a:latin typeface="Gotham-Bold"/>
                <a:cs typeface="Gotham-Bold"/>
              </a:rPr>
              <a:t>Recursividade</a:t>
            </a:r>
            <a:endParaRPr lang="en-US" sz="3200" dirty="0">
              <a:solidFill>
                <a:srgbClr val="FFFF00"/>
              </a:solidFill>
              <a:latin typeface="Gotham-Bold"/>
              <a:cs typeface="Gotham-Bold"/>
            </a:endParaRPr>
          </a:p>
        </p:txBody>
      </p:sp>
      <p:sp>
        <p:nvSpPr>
          <p:cNvPr id="21" name="TextBox 20"/>
          <p:cNvSpPr txBox="1"/>
          <p:nvPr/>
        </p:nvSpPr>
        <p:spPr>
          <a:xfrm>
            <a:off x="1011882" y="3857840"/>
            <a:ext cx="5541318" cy="400110"/>
          </a:xfrm>
          <a:prstGeom prst="rect">
            <a:avLst/>
          </a:prstGeom>
          <a:noFill/>
        </p:spPr>
        <p:txBody>
          <a:bodyPr wrap="square" rtlCol="0">
            <a:spAutoFit/>
          </a:bodyPr>
          <a:lstStyle/>
          <a:p>
            <a:r>
              <a:rPr lang="pt-BR" sz="2000" dirty="0">
                <a:solidFill>
                  <a:schemeClr val="bg2"/>
                </a:solidFill>
                <a:latin typeface="Gotham-Bold"/>
              </a:rPr>
              <a:t>Códigos de Alta Performance</a:t>
            </a:r>
          </a:p>
        </p:txBody>
      </p:sp>
      <p:sp>
        <p:nvSpPr>
          <p:cNvPr id="22" name="TextBox 21"/>
          <p:cNvSpPr txBox="1"/>
          <p:nvPr/>
        </p:nvSpPr>
        <p:spPr>
          <a:xfrm>
            <a:off x="1011882" y="4444109"/>
            <a:ext cx="6817135" cy="341632"/>
          </a:xfrm>
          <a:prstGeom prst="rect">
            <a:avLst/>
          </a:prstGeom>
          <a:noFill/>
        </p:spPr>
        <p:txBody>
          <a:bodyPr wrap="square" rtlCol="0">
            <a:spAutoFit/>
          </a:bodyPr>
          <a:lstStyle/>
          <a:p>
            <a:pPr>
              <a:lnSpc>
                <a:spcPct val="90000"/>
              </a:lnSpc>
            </a:pPr>
            <a:r>
              <a:rPr lang="en-US" dirty="0" err="1">
                <a:solidFill>
                  <a:srgbClr val="FFFFFF"/>
                </a:solidFill>
                <a:latin typeface="Gotham-Bold"/>
                <a:cs typeface="Gotham-Bold"/>
              </a:rPr>
              <a:t>PROFa</a:t>
            </a:r>
            <a:r>
              <a:rPr lang="en-US" dirty="0">
                <a:solidFill>
                  <a:srgbClr val="FFFFFF"/>
                </a:solidFill>
                <a:latin typeface="Gotham-Bold"/>
                <a:cs typeface="Gotham-Bold"/>
              </a:rPr>
              <a:t>. PATRÍCIA MAGNA  - profpatricia.magna@fiap.com.br</a:t>
            </a:r>
          </a:p>
        </p:txBody>
      </p:sp>
      <p:sp>
        <p:nvSpPr>
          <p:cNvPr id="23" name="Rectangle 22"/>
          <p:cNvSpPr/>
          <p:nvPr/>
        </p:nvSpPr>
        <p:spPr>
          <a:xfrm flipH="1">
            <a:off x="759004" y="3423920"/>
            <a:ext cx="45719" cy="12903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Espaço Reservado para Número de Slide 9"/>
          <p:cNvSpPr>
            <a:spLocks noGrp="1"/>
          </p:cNvSpPr>
          <p:nvPr>
            <p:ph type="sldNum" sz="quarter" idx="12"/>
          </p:nvPr>
        </p:nvSpPr>
        <p:spPr/>
        <p:txBody>
          <a:bodyPr/>
          <a:lstStyle/>
          <a:p>
            <a:fld id="{93E4AAA4-6363-4581-962D-1ACCC2D600C5}" type="slidenum">
              <a:rPr lang="en-US" smtClean="0"/>
              <a:pPr/>
              <a:t>1</a:t>
            </a:fld>
            <a:endParaRPr lang="en-US"/>
          </a:p>
        </p:txBody>
      </p:sp>
    </p:spTree>
    <p:extLst>
      <p:ext uri="{BB962C8B-B14F-4D97-AF65-F5344CB8AC3E}">
        <p14:creationId xmlns:p14="http://schemas.microsoft.com/office/powerpoint/2010/main" val="166844459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pt-BR" dirty="0"/>
              <a:t>Recursividade</a:t>
            </a:r>
          </a:p>
        </p:txBody>
      </p:sp>
      <p:sp>
        <p:nvSpPr>
          <p:cNvPr id="2" name="Espaço Reservado para Número de Slide 1"/>
          <p:cNvSpPr>
            <a:spLocks noGrp="1"/>
          </p:cNvSpPr>
          <p:nvPr>
            <p:ph type="sldNum" sz="quarter" idx="11"/>
          </p:nvPr>
        </p:nvSpPr>
        <p:spPr/>
        <p:txBody>
          <a:bodyPr/>
          <a:lstStyle/>
          <a:p>
            <a:fld id="{93E4AAA4-6363-4581-962D-1ACCC2D600C5}" type="slidenum">
              <a:rPr lang="en-US" smtClean="0"/>
              <a:pPr/>
              <a:t>2</a:t>
            </a:fld>
            <a:endParaRPr lang="en-US"/>
          </a:p>
        </p:txBody>
      </p:sp>
      <p:sp>
        <p:nvSpPr>
          <p:cNvPr id="4" name="Retângulo 3"/>
          <p:cNvSpPr/>
          <p:nvPr/>
        </p:nvSpPr>
        <p:spPr>
          <a:xfrm>
            <a:off x="862642" y="1604514"/>
            <a:ext cx="7246188" cy="2862322"/>
          </a:xfrm>
          <a:prstGeom prst="rect">
            <a:avLst/>
          </a:prstGeom>
        </p:spPr>
        <p:txBody>
          <a:bodyPr wrap="square">
            <a:spAutoFit/>
          </a:bodyPr>
          <a:lstStyle/>
          <a:p>
            <a:r>
              <a:rPr lang="pt-BR" sz="2400" b="1" dirty="0"/>
              <a:t>Recursividade</a:t>
            </a:r>
            <a:r>
              <a:rPr lang="pt-BR" sz="2400" dirty="0"/>
              <a:t> é um termo usado de maneira mais geral para descrever o processo de repetição de um objeto de um jeito similar ao que já fora mostrado. Um bom exemplo disso são as imagens repetidas que aparecem quando dois espelhos são apontados um para o outro.</a:t>
            </a:r>
          </a:p>
          <a:p>
            <a:endParaRPr lang="pt-BR" sz="2000" dirty="0"/>
          </a:p>
          <a:p>
            <a:endParaRPr lang="pt-BR" dirty="0"/>
          </a:p>
          <a:p>
            <a:r>
              <a:rPr lang="pt-BR" dirty="0"/>
              <a:t>https://pt.wikipedia.org/wiki/Recursividade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pt-BR" dirty="0"/>
              <a:t>Recursividade</a:t>
            </a:r>
          </a:p>
        </p:txBody>
      </p:sp>
      <p:sp>
        <p:nvSpPr>
          <p:cNvPr id="2" name="Espaço Reservado para Número de Slide 1"/>
          <p:cNvSpPr>
            <a:spLocks noGrp="1"/>
          </p:cNvSpPr>
          <p:nvPr>
            <p:ph type="sldNum" sz="quarter" idx="11"/>
          </p:nvPr>
        </p:nvSpPr>
        <p:spPr/>
        <p:txBody>
          <a:bodyPr/>
          <a:lstStyle/>
          <a:p>
            <a:fld id="{93E4AAA4-6363-4581-962D-1ACCC2D600C5}" type="slidenum">
              <a:rPr lang="en-US" smtClean="0"/>
              <a:pPr/>
              <a:t>3</a:t>
            </a:fld>
            <a:endParaRPr lang="en-US"/>
          </a:p>
        </p:txBody>
      </p:sp>
      <p:pic>
        <p:nvPicPr>
          <p:cNvPr id="5" name="Imagem 4" descr="imagem_recursiva.jpg"/>
          <p:cNvPicPr>
            <a:picLocks noChangeAspect="1"/>
          </p:cNvPicPr>
          <p:nvPr/>
        </p:nvPicPr>
        <p:blipFill>
          <a:blip r:embed="rId2"/>
          <a:stretch>
            <a:fillRect/>
          </a:stretch>
        </p:blipFill>
        <p:spPr>
          <a:xfrm>
            <a:off x="1924050" y="1145118"/>
            <a:ext cx="5211232" cy="52112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Aplicação de Recursividade em Programação</a:t>
            </a:r>
          </a:p>
        </p:txBody>
      </p:sp>
      <p:sp>
        <p:nvSpPr>
          <p:cNvPr id="3" name="Espaço Reservado para Número de Slide 2"/>
          <p:cNvSpPr>
            <a:spLocks noGrp="1"/>
          </p:cNvSpPr>
          <p:nvPr>
            <p:ph type="sldNum" sz="quarter" idx="11"/>
          </p:nvPr>
        </p:nvSpPr>
        <p:spPr/>
        <p:txBody>
          <a:bodyPr/>
          <a:lstStyle/>
          <a:p>
            <a:fld id="{0DBB9FE3-D63C-4A40-B010-4651D12E128D}" type="slidenum">
              <a:rPr lang="pt-BR" smtClean="0"/>
              <a:pPr/>
              <a:t>4</a:t>
            </a:fld>
            <a:endParaRPr lang="pt-BR"/>
          </a:p>
        </p:txBody>
      </p:sp>
      <p:sp>
        <p:nvSpPr>
          <p:cNvPr id="4" name="Retângulo 3"/>
          <p:cNvSpPr/>
          <p:nvPr/>
        </p:nvSpPr>
        <p:spPr>
          <a:xfrm>
            <a:off x="469557" y="1166843"/>
            <a:ext cx="8217243" cy="4524315"/>
          </a:xfrm>
          <a:prstGeom prst="rect">
            <a:avLst/>
          </a:prstGeom>
        </p:spPr>
        <p:txBody>
          <a:bodyPr wrap="square">
            <a:spAutoFit/>
          </a:bodyPr>
          <a:lstStyle/>
          <a:p>
            <a:r>
              <a:rPr lang="pt-BR" sz="2400" dirty="0"/>
              <a:t>Alguns  problemas têm como propriedade de ter sua solução facilitada a cada instância menor do mesmo problema.</a:t>
            </a:r>
          </a:p>
          <a:p>
            <a:r>
              <a:rPr lang="pt-BR" sz="2400" dirty="0"/>
              <a:t>Diz-se que esses problemas  possuem uma </a:t>
            </a:r>
            <a:r>
              <a:rPr lang="pt-BR" sz="2400" i="1" dirty="0"/>
              <a:t>estrutura recursiva</a:t>
            </a:r>
            <a:r>
              <a:rPr lang="pt-BR" sz="2400" dirty="0"/>
              <a:t>.  </a:t>
            </a:r>
          </a:p>
          <a:p>
            <a:endParaRPr lang="pt-BR" sz="2400" dirty="0"/>
          </a:p>
          <a:p>
            <a:r>
              <a:rPr lang="pt-BR" sz="2400" dirty="0"/>
              <a:t>A resolução desse tipo de problema baseia-se na aplicação do seguinte método:</a:t>
            </a:r>
          </a:p>
          <a:p>
            <a:pPr marL="457200" indent="-457200">
              <a:buFont typeface="+mj-lt"/>
              <a:buAutoNum type="arabicPeriod"/>
            </a:pPr>
            <a:r>
              <a:rPr lang="pt-BR" sz="2400" dirty="0"/>
              <a:t>se a instância em questão for pequena, resolva-a diretamente;</a:t>
            </a:r>
          </a:p>
          <a:p>
            <a:pPr marL="457200" indent="-457200">
              <a:buFont typeface="+mj-lt"/>
              <a:buAutoNum type="arabicPeriod"/>
            </a:pPr>
            <a:r>
              <a:rPr lang="pt-BR" sz="2400" dirty="0"/>
              <a:t>Senão, </a:t>
            </a:r>
            <a:r>
              <a:rPr lang="pt-BR" sz="2400" i="1" dirty="0"/>
              <a:t>reduza-a</a:t>
            </a:r>
            <a:r>
              <a:rPr lang="pt-BR" sz="2400" dirty="0"/>
              <a:t> a uma instância menor do mesmo problema, aplique o método à instância menor,  volte à instância original.</a:t>
            </a:r>
          </a:p>
          <a:p>
            <a:r>
              <a:rPr lang="pt-BR" sz="2400" dirty="0"/>
              <a:t>A aplicação desse método produz um algoritmo </a:t>
            </a:r>
            <a:r>
              <a:rPr lang="pt-BR" sz="2400" i="1" dirty="0"/>
              <a:t>recursivo</a:t>
            </a:r>
            <a:r>
              <a:rPr lang="pt-BR" sz="24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Aplicação de Recursividade em Programação</a:t>
            </a:r>
          </a:p>
        </p:txBody>
      </p:sp>
      <p:sp>
        <p:nvSpPr>
          <p:cNvPr id="3" name="Espaço Reservado para Número de Slide 2"/>
          <p:cNvSpPr>
            <a:spLocks noGrp="1"/>
          </p:cNvSpPr>
          <p:nvPr>
            <p:ph type="sldNum" sz="quarter" idx="11"/>
          </p:nvPr>
        </p:nvSpPr>
        <p:spPr/>
        <p:txBody>
          <a:bodyPr/>
          <a:lstStyle/>
          <a:p>
            <a:fld id="{0DBB9FE3-D63C-4A40-B010-4651D12E128D}" type="slidenum">
              <a:rPr lang="pt-BR" smtClean="0"/>
              <a:pPr/>
              <a:t>5</a:t>
            </a:fld>
            <a:endParaRPr lang="pt-BR"/>
          </a:p>
        </p:txBody>
      </p:sp>
      <p:sp>
        <p:nvSpPr>
          <p:cNvPr id="4" name="Retângulo 3"/>
          <p:cNvSpPr/>
          <p:nvPr/>
        </p:nvSpPr>
        <p:spPr>
          <a:xfrm>
            <a:off x="469557" y="1166843"/>
            <a:ext cx="8217243" cy="3416320"/>
          </a:xfrm>
          <a:prstGeom prst="rect">
            <a:avLst/>
          </a:prstGeom>
        </p:spPr>
        <p:txBody>
          <a:bodyPr wrap="square">
            <a:spAutoFit/>
          </a:bodyPr>
          <a:lstStyle/>
          <a:p>
            <a:r>
              <a:rPr lang="pt-BR" sz="2400" dirty="0"/>
              <a:t>Algoritmo recursivos  são normalmente implementados usando funções recursivas ou métodos recursivos.</a:t>
            </a:r>
          </a:p>
          <a:p>
            <a:endParaRPr lang="pt-BR" sz="2400" dirty="0"/>
          </a:p>
          <a:p>
            <a:r>
              <a:rPr lang="pt-BR" sz="2400" dirty="0"/>
              <a:t>Uma função é dita recursiva quando ela chama a ela mesma para resolver um determinado problema. Passando para a função chamada uma instância menor do problema.</a:t>
            </a:r>
          </a:p>
          <a:p>
            <a:endParaRPr lang="pt-BR" sz="2400" dirty="0"/>
          </a:p>
          <a:p>
            <a:r>
              <a:rPr lang="pt-BR" sz="2400" dirty="0"/>
              <a:t>Um exemplo de uso de recursividade é o percurso de todos os nós de uma árvore (veremos daqui a pouco...).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2400" dirty="0"/>
              <a:t>Definição Matemática da Fun</a:t>
            </a:r>
            <a:r>
              <a:rPr lang="pt-BR" dirty="0"/>
              <a:t>ção Fatorial</a:t>
            </a:r>
            <a:r>
              <a:rPr lang="pt-BR" sz="2850" dirty="0"/>
              <a:t> </a:t>
            </a:r>
            <a:endParaRPr lang="en-US" sz="2850" dirty="0"/>
          </a:p>
        </p:txBody>
      </p:sp>
      <p:grpSp>
        <p:nvGrpSpPr>
          <p:cNvPr id="3" name="Agrupar 2">
            <a:extLst>
              <a:ext uri="{FF2B5EF4-FFF2-40B4-BE49-F238E27FC236}">
                <a16:creationId xmlns:a16="http://schemas.microsoft.com/office/drawing/2014/main" id="{071C0487-FEA8-45D6-ACDF-DB937D83D154}"/>
              </a:ext>
            </a:extLst>
          </p:cNvPr>
          <p:cNvGrpSpPr/>
          <p:nvPr/>
        </p:nvGrpSpPr>
        <p:grpSpPr>
          <a:xfrm>
            <a:off x="2890275" y="1362532"/>
            <a:ext cx="3865418" cy="1859973"/>
            <a:chOff x="2890275" y="1362532"/>
            <a:chExt cx="3865418" cy="1859973"/>
          </a:xfrm>
        </p:grpSpPr>
        <p:sp>
          <p:nvSpPr>
            <p:cNvPr id="9" name="Retângulo 8"/>
            <p:cNvSpPr/>
            <p:nvPr/>
          </p:nvSpPr>
          <p:spPr>
            <a:xfrm>
              <a:off x="2890275" y="1362532"/>
              <a:ext cx="3865418" cy="1859973"/>
            </a:xfrm>
            <a:prstGeom prst="rect">
              <a:avLst/>
            </a:prstGeom>
            <a:solidFill>
              <a:schemeClr val="accent2">
                <a:lumMod val="40000"/>
                <a:lumOff val="60000"/>
              </a:schemeClr>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grpSp>
          <p:nvGrpSpPr>
            <p:cNvPr id="1026" name="Group 2"/>
            <p:cNvGrpSpPr>
              <a:grpSpLocks/>
            </p:cNvGrpSpPr>
            <p:nvPr/>
          </p:nvGrpSpPr>
          <p:grpSpPr bwMode="auto">
            <a:xfrm>
              <a:off x="2890275" y="1570921"/>
              <a:ext cx="3763025" cy="1207215"/>
              <a:chOff x="3681" y="10931"/>
              <a:chExt cx="5338" cy="765"/>
            </a:xfrm>
          </p:grpSpPr>
          <p:sp>
            <p:nvSpPr>
              <p:cNvPr id="1027" name="AutoShape 3"/>
              <p:cNvSpPr>
                <a:spLocks/>
              </p:cNvSpPr>
              <p:nvPr/>
            </p:nvSpPr>
            <p:spPr bwMode="auto">
              <a:xfrm>
                <a:off x="4928" y="10931"/>
                <a:ext cx="262" cy="765"/>
              </a:xfrm>
              <a:prstGeom prst="leftBrace">
                <a:avLst>
                  <a:gd name="adj1" fmla="val 24332"/>
                  <a:gd name="adj2" fmla="val 50000"/>
                </a:avLst>
              </a:prstGeom>
              <a:noFill/>
              <a:ln w="19050">
                <a:solidFill>
                  <a:srgbClr val="000000"/>
                </a:solidFill>
                <a:round/>
                <a:headEnd/>
                <a:tailEnd/>
              </a:ln>
            </p:spPr>
            <p:txBody>
              <a:bodyPr vert="horz" wrap="square" lIns="68580" tIns="34290" rIns="68580" bIns="34290" numCol="1" anchor="t" anchorCtr="0" compatLnSpc="1">
                <a:prstTxWarp prst="textNoShape">
                  <a:avLst/>
                </a:prstTxWarp>
              </a:bodyPr>
              <a:lstStyle/>
              <a:p>
                <a:endParaRPr lang="pt-BR" sz="1350"/>
              </a:p>
            </p:txBody>
          </p:sp>
          <p:sp>
            <p:nvSpPr>
              <p:cNvPr id="1028" name="Text Box 4"/>
              <p:cNvSpPr txBox="1">
                <a:spLocks noChangeArrowheads="1"/>
              </p:cNvSpPr>
              <p:nvPr/>
            </p:nvSpPr>
            <p:spPr bwMode="auto">
              <a:xfrm>
                <a:off x="3681" y="11126"/>
                <a:ext cx="1247" cy="278"/>
              </a:xfrm>
              <a:prstGeom prst="rect">
                <a:avLst/>
              </a:prstGeom>
              <a:noFill/>
              <a:ln w="9525">
                <a:noFill/>
                <a:miter lim="800000"/>
                <a:headEnd/>
                <a:tailEnd/>
              </a:ln>
            </p:spPr>
            <p:txBody>
              <a:bodyPr vert="horz" wrap="square" lIns="68580" tIns="34290" rIns="68580" bIns="34290" numCol="1" anchor="t" anchorCtr="0" compatLnSpc="1">
                <a:prstTxWarp prst="textNoShape">
                  <a:avLst/>
                </a:prstTxWarp>
                <a:spAutoFit/>
              </a:bodyPr>
              <a:lstStyle/>
              <a:p>
                <a:pPr algn="r" defTabSz="685800" fontAlgn="base">
                  <a:spcBef>
                    <a:spcPct val="0"/>
                  </a:spcBef>
                  <a:spcAft>
                    <a:spcPts val="750"/>
                  </a:spcAft>
                </a:pPr>
                <a:r>
                  <a:rPr lang="pt-BR" sz="2400" b="1" dirty="0">
                    <a:latin typeface="Calibri" pitchFamily="34" charset="0"/>
                    <a:cs typeface="Arial" pitchFamily="34" charset="0"/>
                  </a:rPr>
                  <a:t>n! = </a:t>
                </a:r>
                <a:endParaRPr lang="pt-BR" sz="3600" b="1" dirty="0">
                  <a:latin typeface="Arial" pitchFamily="34" charset="0"/>
                  <a:cs typeface="Arial" pitchFamily="34" charset="0"/>
                </a:endParaRPr>
              </a:p>
            </p:txBody>
          </p:sp>
          <p:sp>
            <p:nvSpPr>
              <p:cNvPr id="1029" name="Text Box 5"/>
              <p:cNvSpPr txBox="1">
                <a:spLocks noChangeArrowheads="1"/>
              </p:cNvSpPr>
              <p:nvPr/>
            </p:nvSpPr>
            <p:spPr bwMode="auto">
              <a:xfrm>
                <a:off x="5280" y="11011"/>
                <a:ext cx="3739" cy="685"/>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pPr defTabSz="685800" fontAlgn="base">
                  <a:spcBef>
                    <a:spcPct val="0"/>
                  </a:spcBef>
                  <a:spcAft>
                    <a:spcPts val="750"/>
                  </a:spcAft>
                </a:pPr>
                <a:r>
                  <a:rPr lang="pt-BR" sz="2100" b="1" dirty="0">
                    <a:latin typeface="Calibri" pitchFamily="34" charset="0"/>
                    <a:cs typeface="Arial" pitchFamily="34" charset="0"/>
                  </a:rPr>
                  <a:t>n* (n-1)! , se  n ≠ 0 </a:t>
                </a:r>
              </a:p>
              <a:p>
                <a:pPr defTabSz="685800" fontAlgn="base">
                  <a:spcBef>
                    <a:spcPct val="0"/>
                  </a:spcBef>
                  <a:spcAft>
                    <a:spcPts val="750"/>
                  </a:spcAft>
                </a:pPr>
                <a:r>
                  <a:rPr lang="pt-BR" sz="2100" b="1" dirty="0">
                    <a:latin typeface="Calibri" pitchFamily="34" charset="0"/>
                    <a:cs typeface="Arial" pitchFamily="34" charset="0"/>
                  </a:rPr>
                  <a:t>1, caso contrário</a:t>
                </a:r>
                <a:endParaRPr lang="pt-BR" sz="3300" dirty="0">
                  <a:latin typeface="Arial" pitchFamily="34" charset="0"/>
                  <a:cs typeface="Arial" pitchFamily="34" charset="0"/>
                </a:endParaRPr>
              </a:p>
            </p:txBody>
          </p:sp>
        </p:grpSp>
      </p:grpSp>
    </p:spTree>
    <p:extLst>
      <p:ext uri="{BB962C8B-B14F-4D97-AF65-F5344CB8AC3E}">
        <p14:creationId xmlns:p14="http://schemas.microsoft.com/office/powerpoint/2010/main" val="84000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Aplicação da Função Fatorial n=4</a:t>
            </a:r>
          </a:p>
        </p:txBody>
      </p:sp>
      <p:sp>
        <p:nvSpPr>
          <p:cNvPr id="3" name="Subtítulo 2"/>
          <p:cNvSpPr>
            <a:spLocks noGrp="1"/>
          </p:cNvSpPr>
          <p:nvPr>
            <p:ph type="subTitle" idx="4294967295"/>
          </p:nvPr>
        </p:nvSpPr>
        <p:spPr>
          <a:xfrm>
            <a:off x="5439103" y="1575894"/>
            <a:ext cx="3235339" cy="2601967"/>
          </a:xfrm>
        </p:spPr>
        <p:txBody>
          <a:bodyPr>
            <a:noAutofit/>
          </a:bodyPr>
          <a:lstStyle/>
          <a:p>
            <a:pPr algn="l">
              <a:buFont typeface="Wingdings" panose="05000000000000000000" pitchFamily="2" charset="2"/>
              <a:buChar char="Ø"/>
            </a:pPr>
            <a:r>
              <a:rPr lang="pt-BR" sz="2400" dirty="0"/>
              <a:t>4! = 4 * 3!</a:t>
            </a:r>
          </a:p>
          <a:p>
            <a:pPr algn="l">
              <a:buFont typeface="Wingdings" panose="05000000000000000000" pitchFamily="2" charset="2"/>
              <a:buChar char="Ø"/>
            </a:pPr>
            <a:r>
              <a:rPr lang="pt-BR" sz="2400" dirty="0"/>
              <a:t>3! = 3 * 2!</a:t>
            </a:r>
          </a:p>
          <a:p>
            <a:pPr algn="l">
              <a:buFont typeface="Wingdings" panose="05000000000000000000" pitchFamily="2" charset="2"/>
              <a:buChar char="Ø"/>
            </a:pPr>
            <a:r>
              <a:rPr lang="pt-BR" sz="2400" dirty="0"/>
              <a:t>2! = 2 * 1!</a:t>
            </a:r>
          </a:p>
          <a:p>
            <a:pPr algn="l">
              <a:buFont typeface="Wingdings" panose="05000000000000000000" pitchFamily="2" charset="2"/>
              <a:buChar char="Ø"/>
            </a:pPr>
            <a:r>
              <a:rPr lang="pt-BR" sz="2400" dirty="0"/>
              <a:t>1! = 1 * 0!</a:t>
            </a:r>
          </a:p>
          <a:p>
            <a:pPr algn="l">
              <a:buFont typeface="Wingdings" panose="05000000000000000000" pitchFamily="2" charset="2"/>
              <a:buChar char="Ø"/>
            </a:pPr>
            <a:r>
              <a:rPr lang="pt-BR" sz="2400" dirty="0"/>
              <a:t>0! = 1</a:t>
            </a:r>
          </a:p>
        </p:txBody>
      </p:sp>
      <p:grpSp>
        <p:nvGrpSpPr>
          <p:cNvPr id="4" name="Agrupar 3">
            <a:extLst>
              <a:ext uri="{FF2B5EF4-FFF2-40B4-BE49-F238E27FC236}">
                <a16:creationId xmlns:a16="http://schemas.microsoft.com/office/drawing/2014/main" id="{1D9F4757-5A5A-4979-A5E4-78C6000B7270}"/>
              </a:ext>
            </a:extLst>
          </p:cNvPr>
          <p:cNvGrpSpPr/>
          <p:nvPr/>
        </p:nvGrpSpPr>
        <p:grpSpPr>
          <a:xfrm>
            <a:off x="469557" y="1848149"/>
            <a:ext cx="3865418" cy="1859973"/>
            <a:chOff x="2890275" y="1362532"/>
            <a:chExt cx="3865418" cy="1859973"/>
          </a:xfrm>
        </p:grpSpPr>
        <p:sp>
          <p:nvSpPr>
            <p:cNvPr id="5" name="Retângulo 4">
              <a:extLst>
                <a:ext uri="{FF2B5EF4-FFF2-40B4-BE49-F238E27FC236}">
                  <a16:creationId xmlns:a16="http://schemas.microsoft.com/office/drawing/2014/main" id="{3A7B1178-3691-4F17-A409-48224C553E4A}"/>
                </a:ext>
              </a:extLst>
            </p:cNvPr>
            <p:cNvSpPr/>
            <p:nvPr/>
          </p:nvSpPr>
          <p:spPr>
            <a:xfrm>
              <a:off x="2890275" y="1362532"/>
              <a:ext cx="3865418" cy="1859973"/>
            </a:xfrm>
            <a:prstGeom prst="rect">
              <a:avLst/>
            </a:prstGeom>
            <a:solidFill>
              <a:schemeClr val="accent2">
                <a:lumMod val="40000"/>
                <a:lumOff val="60000"/>
              </a:schemeClr>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a:p>
          </p:txBody>
        </p:sp>
        <p:grpSp>
          <p:nvGrpSpPr>
            <p:cNvPr id="6" name="Group 2">
              <a:extLst>
                <a:ext uri="{FF2B5EF4-FFF2-40B4-BE49-F238E27FC236}">
                  <a16:creationId xmlns:a16="http://schemas.microsoft.com/office/drawing/2014/main" id="{4C08A743-F2FA-4B48-B2EE-F3D3F6B63E2B}"/>
                </a:ext>
              </a:extLst>
            </p:cNvPr>
            <p:cNvGrpSpPr>
              <a:grpSpLocks/>
            </p:cNvGrpSpPr>
            <p:nvPr/>
          </p:nvGrpSpPr>
          <p:grpSpPr bwMode="auto">
            <a:xfrm>
              <a:off x="2890275" y="1570921"/>
              <a:ext cx="3763025" cy="1207215"/>
              <a:chOff x="3681" y="10931"/>
              <a:chExt cx="5338" cy="765"/>
            </a:xfrm>
          </p:grpSpPr>
          <p:sp>
            <p:nvSpPr>
              <p:cNvPr id="7" name="AutoShape 3">
                <a:extLst>
                  <a:ext uri="{FF2B5EF4-FFF2-40B4-BE49-F238E27FC236}">
                    <a16:creationId xmlns:a16="http://schemas.microsoft.com/office/drawing/2014/main" id="{DBD7660C-ACD9-4949-ACCA-A81BEF689D77}"/>
                  </a:ext>
                </a:extLst>
              </p:cNvPr>
              <p:cNvSpPr>
                <a:spLocks/>
              </p:cNvSpPr>
              <p:nvPr/>
            </p:nvSpPr>
            <p:spPr bwMode="auto">
              <a:xfrm>
                <a:off x="4928" y="10931"/>
                <a:ext cx="262" cy="765"/>
              </a:xfrm>
              <a:prstGeom prst="leftBrace">
                <a:avLst>
                  <a:gd name="adj1" fmla="val 24332"/>
                  <a:gd name="adj2" fmla="val 50000"/>
                </a:avLst>
              </a:prstGeom>
              <a:noFill/>
              <a:ln w="19050">
                <a:solidFill>
                  <a:srgbClr val="000000"/>
                </a:solidFill>
                <a:round/>
                <a:headEnd/>
                <a:tailEnd/>
              </a:ln>
            </p:spPr>
            <p:txBody>
              <a:bodyPr vert="horz" wrap="square" lIns="68580" tIns="34290" rIns="68580" bIns="34290" numCol="1" anchor="t" anchorCtr="0" compatLnSpc="1">
                <a:prstTxWarp prst="textNoShape">
                  <a:avLst/>
                </a:prstTxWarp>
              </a:bodyPr>
              <a:lstStyle/>
              <a:p>
                <a:endParaRPr lang="pt-BR" sz="1350"/>
              </a:p>
            </p:txBody>
          </p:sp>
          <p:sp>
            <p:nvSpPr>
              <p:cNvPr id="8" name="Text Box 4">
                <a:extLst>
                  <a:ext uri="{FF2B5EF4-FFF2-40B4-BE49-F238E27FC236}">
                    <a16:creationId xmlns:a16="http://schemas.microsoft.com/office/drawing/2014/main" id="{96C4E24C-0AE8-4AFA-B553-6C1A73B72DB1}"/>
                  </a:ext>
                </a:extLst>
              </p:cNvPr>
              <p:cNvSpPr txBox="1">
                <a:spLocks noChangeArrowheads="1"/>
              </p:cNvSpPr>
              <p:nvPr/>
            </p:nvSpPr>
            <p:spPr bwMode="auto">
              <a:xfrm>
                <a:off x="3681" y="11126"/>
                <a:ext cx="1247" cy="278"/>
              </a:xfrm>
              <a:prstGeom prst="rect">
                <a:avLst/>
              </a:prstGeom>
              <a:noFill/>
              <a:ln w="9525">
                <a:noFill/>
                <a:miter lim="800000"/>
                <a:headEnd/>
                <a:tailEnd/>
              </a:ln>
            </p:spPr>
            <p:txBody>
              <a:bodyPr vert="horz" wrap="square" lIns="68580" tIns="34290" rIns="68580" bIns="34290" numCol="1" anchor="t" anchorCtr="0" compatLnSpc="1">
                <a:prstTxWarp prst="textNoShape">
                  <a:avLst/>
                </a:prstTxWarp>
                <a:spAutoFit/>
              </a:bodyPr>
              <a:lstStyle/>
              <a:p>
                <a:pPr algn="r" defTabSz="685800" fontAlgn="base">
                  <a:spcBef>
                    <a:spcPct val="0"/>
                  </a:spcBef>
                  <a:spcAft>
                    <a:spcPts val="750"/>
                  </a:spcAft>
                </a:pPr>
                <a:r>
                  <a:rPr lang="pt-BR" sz="2400" b="1" dirty="0">
                    <a:latin typeface="Calibri" pitchFamily="34" charset="0"/>
                    <a:cs typeface="Arial" pitchFamily="34" charset="0"/>
                  </a:rPr>
                  <a:t>n! = </a:t>
                </a:r>
                <a:endParaRPr lang="pt-BR" sz="3600" b="1" dirty="0">
                  <a:latin typeface="Arial" pitchFamily="34" charset="0"/>
                  <a:cs typeface="Arial" pitchFamily="34" charset="0"/>
                </a:endParaRPr>
              </a:p>
            </p:txBody>
          </p:sp>
          <p:sp>
            <p:nvSpPr>
              <p:cNvPr id="9" name="Text Box 5">
                <a:extLst>
                  <a:ext uri="{FF2B5EF4-FFF2-40B4-BE49-F238E27FC236}">
                    <a16:creationId xmlns:a16="http://schemas.microsoft.com/office/drawing/2014/main" id="{6F5C4310-4F37-4482-A014-A594762E1E10}"/>
                  </a:ext>
                </a:extLst>
              </p:cNvPr>
              <p:cNvSpPr txBox="1">
                <a:spLocks noChangeArrowheads="1"/>
              </p:cNvSpPr>
              <p:nvPr/>
            </p:nvSpPr>
            <p:spPr bwMode="auto">
              <a:xfrm>
                <a:off x="5280" y="11011"/>
                <a:ext cx="3739" cy="685"/>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pPr defTabSz="685800" fontAlgn="base">
                  <a:spcBef>
                    <a:spcPct val="0"/>
                  </a:spcBef>
                  <a:spcAft>
                    <a:spcPts val="750"/>
                  </a:spcAft>
                </a:pPr>
                <a:r>
                  <a:rPr lang="pt-BR" sz="2100" b="1" dirty="0">
                    <a:latin typeface="Calibri" pitchFamily="34" charset="0"/>
                    <a:cs typeface="Arial" pitchFamily="34" charset="0"/>
                  </a:rPr>
                  <a:t>n* (n-1)! , se  n ≠ 0 </a:t>
                </a:r>
              </a:p>
              <a:p>
                <a:pPr defTabSz="685800" fontAlgn="base">
                  <a:spcBef>
                    <a:spcPct val="0"/>
                  </a:spcBef>
                  <a:spcAft>
                    <a:spcPts val="750"/>
                  </a:spcAft>
                </a:pPr>
                <a:r>
                  <a:rPr lang="pt-BR" sz="2100" b="1" dirty="0">
                    <a:latin typeface="Calibri" pitchFamily="34" charset="0"/>
                    <a:cs typeface="Arial" pitchFamily="34" charset="0"/>
                  </a:rPr>
                  <a:t>1, caso contrário</a:t>
                </a:r>
                <a:endParaRPr lang="pt-BR" sz="3300" dirty="0">
                  <a:latin typeface="Arial" pitchFamily="34" charset="0"/>
                  <a:cs typeface="Arial"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2400" dirty="0"/>
              <a:t>Implementação</a:t>
            </a:r>
            <a:r>
              <a:rPr lang="pt-BR" dirty="0"/>
              <a:t> Recursiva  da Função Fatorial</a:t>
            </a:r>
            <a:r>
              <a:rPr lang="pt-BR" sz="2850" dirty="0"/>
              <a:t> </a:t>
            </a:r>
            <a:endParaRPr lang="en-US" sz="2850" dirty="0"/>
          </a:p>
        </p:txBody>
      </p:sp>
      <p:sp>
        <p:nvSpPr>
          <p:cNvPr id="3" name="Subtítulo 2"/>
          <p:cNvSpPr>
            <a:spLocks noGrp="1"/>
          </p:cNvSpPr>
          <p:nvPr>
            <p:ph type="subTitle" idx="4294967295"/>
          </p:nvPr>
        </p:nvSpPr>
        <p:spPr>
          <a:xfrm>
            <a:off x="1000575" y="1214766"/>
            <a:ext cx="7167563" cy="4113158"/>
          </a:xfrm>
          <a:solidFill>
            <a:schemeClr val="accent2">
              <a:lumMod val="20000"/>
              <a:lumOff val="80000"/>
            </a:schemeClr>
          </a:solidFill>
        </p:spPr>
        <p:txBody>
          <a:bodyPr>
            <a:normAutofit/>
          </a:bodyPr>
          <a:lstStyle/>
          <a:p>
            <a:pPr marL="0" indent="0" algn="l">
              <a:buNone/>
            </a:pPr>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void</a:t>
            </a:r>
            <a:r>
              <a:rPr lang="en-US" sz="1800" b="1" dirty="0">
                <a:solidFill>
                  <a:srgbClr val="000000"/>
                </a:solidFill>
                <a:latin typeface="Consolas" panose="020B0609020204030204" pitchFamily="49" charset="0"/>
              </a:rPr>
              <a:t> main(String[] </a:t>
            </a:r>
            <a:r>
              <a:rPr lang="en-US" sz="1800" b="1" dirty="0" err="1">
                <a:solidFill>
                  <a:srgbClr val="6A3E3E"/>
                </a:solidFill>
                <a:latin typeface="Consolas" panose="020B0609020204030204" pitchFamily="49" charset="0"/>
              </a:rPr>
              <a:t>args</a:t>
            </a:r>
            <a:r>
              <a:rPr lang="en-US" sz="1800" b="1" dirty="0">
                <a:solidFill>
                  <a:srgbClr val="000000"/>
                </a:solidFill>
                <a:latin typeface="Consolas" panose="020B0609020204030204" pitchFamily="49" charset="0"/>
              </a:rPr>
              <a:t>) {</a:t>
            </a:r>
          </a:p>
          <a:p>
            <a:pPr marL="0" indent="361950" algn="l">
              <a:buNone/>
            </a:pPr>
            <a:r>
              <a:rPr lang="pt-BR" sz="1800" b="1" dirty="0" err="1">
                <a:solidFill>
                  <a:srgbClr val="7F0055"/>
                </a:solidFill>
                <a:latin typeface="Consolas" panose="020B0609020204030204" pitchFamily="49" charset="0"/>
              </a:rPr>
              <a:t>int</a:t>
            </a:r>
            <a:r>
              <a:rPr lang="pt-BR" sz="1800" b="1" dirty="0">
                <a:solidFill>
                  <a:srgbClr val="000000"/>
                </a:solidFill>
                <a:latin typeface="Consolas" panose="020B0609020204030204" pitchFamily="49" charset="0"/>
              </a:rPr>
              <a:t>  </a:t>
            </a:r>
            <a:r>
              <a:rPr lang="pt-BR" sz="1800" b="1" dirty="0" err="1">
                <a:solidFill>
                  <a:srgbClr val="6A3E3E"/>
                </a:solidFill>
                <a:latin typeface="Consolas" panose="020B0609020204030204" pitchFamily="49" charset="0"/>
              </a:rPr>
              <a:t>fat</a:t>
            </a:r>
            <a:r>
              <a:rPr lang="pt-BR" sz="1800" b="1" dirty="0">
                <a:solidFill>
                  <a:srgbClr val="000000"/>
                </a:solidFill>
                <a:latin typeface="Consolas" panose="020B0609020204030204" pitchFamily="49" charset="0"/>
              </a:rPr>
              <a:t>;</a:t>
            </a:r>
          </a:p>
          <a:p>
            <a:pPr marL="0" indent="361950" algn="l">
              <a:buNone/>
            </a:pPr>
            <a:r>
              <a:rPr lang="pt-BR" sz="1800" dirty="0" err="1">
                <a:solidFill>
                  <a:srgbClr val="6A3E3E"/>
                </a:solidFill>
                <a:latin typeface="Consolas" panose="020B0609020204030204" pitchFamily="49" charset="0"/>
              </a:rPr>
              <a:t>fat</a:t>
            </a:r>
            <a:r>
              <a:rPr lang="pt-BR" sz="1800" dirty="0">
                <a:solidFill>
                  <a:srgbClr val="000000"/>
                </a:solidFill>
                <a:latin typeface="Consolas" panose="020B0609020204030204" pitchFamily="49" charset="0"/>
              </a:rPr>
              <a:t> = </a:t>
            </a:r>
            <a:r>
              <a:rPr lang="pt-BR" sz="1800" i="1" dirty="0">
                <a:solidFill>
                  <a:srgbClr val="000000"/>
                </a:solidFill>
                <a:latin typeface="Consolas" panose="020B0609020204030204" pitchFamily="49" charset="0"/>
              </a:rPr>
              <a:t>fatorial (4);</a:t>
            </a:r>
          </a:p>
          <a:p>
            <a:pPr marL="0" indent="361950" algn="l">
              <a:buNone/>
            </a:pPr>
            <a:r>
              <a:rPr lang="pt-BR" sz="1800" dirty="0" err="1">
                <a:solidFill>
                  <a:srgbClr val="000000"/>
                </a:solidFill>
                <a:latin typeface="Consolas" panose="020B0609020204030204" pitchFamily="49" charset="0"/>
              </a:rPr>
              <a:t>System.</a:t>
            </a:r>
            <a:r>
              <a:rPr lang="pt-BR" sz="1800" b="1" i="1" dirty="0" err="1">
                <a:solidFill>
                  <a:srgbClr val="0000C0"/>
                </a:solidFill>
                <a:latin typeface="Consolas" panose="020B0609020204030204" pitchFamily="49" charset="0"/>
              </a:rPr>
              <a:t>out</a:t>
            </a:r>
            <a:r>
              <a:rPr lang="pt-BR" sz="1800" b="1" i="1" dirty="0" err="1">
                <a:solidFill>
                  <a:srgbClr val="000000"/>
                </a:solidFill>
                <a:latin typeface="Consolas" panose="020B0609020204030204" pitchFamily="49" charset="0"/>
              </a:rPr>
              <a:t>.println</a:t>
            </a:r>
            <a:r>
              <a:rPr lang="pt-BR" sz="1800" b="1" i="1" dirty="0">
                <a:solidFill>
                  <a:srgbClr val="000000"/>
                </a:solidFill>
                <a:latin typeface="Consolas" panose="020B0609020204030204" pitchFamily="49" charset="0"/>
              </a:rPr>
              <a:t>(</a:t>
            </a:r>
            <a:r>
              <a:rPr lang="pt-BR" sz="1800" b="1" i="1" dirty="0">
                <a:solidFill>
                  <a:srgbClr val="2A00FF"/>
                </a:solidFill>
                <a:latin typeface="Consolas" panose="020B0609020204030204" pitchFamily="49" charset="0"/>
              </a:rPr>
              <a:t>"Fatorial = "</a:t>
            </a:r>
            <a:r>
              <a:rPr lang="pt-BR" sz="1800" b="1" i="1" dirty="0">
                <a:solidFill>
                  <a:srgbClr val="000000"/>
                </a:solidFill>
                <a:latin typeface="Consolas" panose="020B0609020204030204" pitchFamily="49" charset="0"/>
              </a:rPr>
              <a:t> + </a:t>
            </a:r>
            <a:r>
              <a:rPr lang="pt-BR" sz="1800" b="1" i="1" dirty="0" err="1">
                <a:solidFill>
                  <a:srgbClr val="6A3E3E"/>
                </a:solidFill>
                <a:latin typeface="Consolas" panose="020B0609020204030204" pitchFamily="49" charset="0"/>
              </a:rPr>
              <a:t>fat</a:t>
            </a:r>
            <a:r>
              <a:rPr lang="pt-BR" sz="1800" b="1" i="1" dirty="0">
                <a:solidFill>
                  <a:srgbClr val="000000"/>
                </a:solidFill>
                <a:latin typeface="Consolas" panose="020B0609020204030204" pitchFamily="49" charset="0"/>
              </a:rPr>
              <a:t>);</a:t>
            </a:r>
          </a:p>
          <a:p>
            <a:pPr marL="0" indent="0" algn="l">
              <a:buNone/>
            </a:pPr>
            <a:endParaRPr lang="pt-BR" sz="1800" dirty="0">
              <a:latin typeface="Consolas" panose="020B0609020204030204" pitchFamily="49" charset="0"/>
            </a:endParaRPr>
          </a:p>
          <a:p>
            <a:pPr marL="0" indent="0" algn="l">
              <a:buNone/>
            </a:pPr>
            <a:r>
              <a:rPr lang="pt-BR" sz="1800" dirty="0">
                <a:solidFill>
                  <a:srgbClr val="000000"/>
                </a:solidFill>
                <a:latin typeface="Consolas" panose="020B0609020204030204" pitchFamily="49" charset="0"/>
              </a:rPr>
              <a:t>}</a:t>
            </a:r>
          </a:p>
          <a:p>
            <a:pPr marL="0" indent="0" algn="l">
              <a:buNone/>
            </a:pPr>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fatorial</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a:t>
            </a:r>
            <a:r>
              <a:rPr lang="en-US" sz="1800" b="1" dirty="0">
                <a:solidFill>
                  <a:srgbClr val="000000"/>
                </a:solidFill>
                <a:latin typeface="Consolas" panose="020B0609020204030204" pitchFamily="49" charset="0"/>
              </a:rPr>
              <a:t> </a:t>
            </a:r>
            <a:r>
              <a:rPr lang="en-US" sz="1800" b="1" dirty="0">
                <a:solidFill>
                  <a:srgbClr val="6A3E3E"/>
                </a:solidFill>
                <a:latin typeface="Consolas" panose="020B0609020204030204" pitchFamily="49" charset="0"/>
              </a:rPr>
              <a:t>n</a:t>
            </a:r>
            <a:r>
              <a:rPr lang="en-US" sz="1800" b="1" dirty="0">
                <a:solidFill>
                  <a:srgbClr val="000000"/>
                </a:solidFill>
                <a:latin typeface="Consolas" panose="020B0609020204030204" pitchFamily="49" charset="0"/>
              </a:rPr>
              <a:t>) {</a:t>
            </a:r>
          </a:p>
          <a:p>
            <a:pPr marL="0" indent="361950" algn="l">
              <a:buNone/>
            </a:pPr>
            <a:r>
              <a:rPr lang="pt-BR" sz="1800" b="1" dirty="0" err="1">
                <a:solidFill>
                  <a:srgbClr val="7F0055"/>
                </a:solidFill>
                <a:latin typeface="Consolas" panose="020B0609020204030204" pitchFamily="49" charset="0"/>
              </a:rPr>
              <a:t>if</a:t>
            </a:r>
            <a:r>
              <a:rPr lang="pt-BR" sz="1800" b="1" dirty="0">
                <a:solidFill>
                  <a:srgbClr val="000000"/>
                </a:solidFill>
                <a:latin typeface="Consolas" panose="020B0609020204030204" pitchFamily="49" charset="0"/>
              </a:rPr>
              <a:t> (</a:t>
            </a:r>
            <a:r>
              <a:rPr lang="pt-BR" sz="1800" b="1" dirty="0">
                <a:solidFill>
                  <a:srgbClr val="6A3E3E"/>
                </a:solidFill>
                <a:latin typeface="Consolas" panose="020B0609020204030204" pitchFamily="49" charset="0"/>
              </a:rPr>
              <a:t>n</a:t>
            </a:r>
            <a:r>
              <a:rPr lang="pt-BR" sz="1800" b="1" dirty="0">
                <a:solidFill>
                  <a:srgbClr val="000000"/>
                </a:solidFill>
                <a:latin typeface="Consolas" panose="020B0609020204030204" pitchFamily="49" charset="0"/>
              </a:rPr>
              <a:t> != 0)</a:t>
            </a:r>
          </a:p>
          <a:p>
            <a:pPr marL="0" indent="361950" algn="l">
              <a:buNone/>
            </a:pP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return</a:t>
            </a:r>
            <a:r>
              <a:rPr lang="pt-BR" sz="1800" b="1" dirty="0">
                <a:solidFill>
                  <a:srgbClr val="000000"/>
                </a:solidFill>
                <a:latin typeface="Consolas" panose="020B0609020204030204" pitchFamily="49" charset="0"/>
              </a:rPr>
              <a:t> ( </a:t>
            </a:r>
            <a:r>
              <a:rPr lang="pt-BR" sz="1800" b="1" dirty="0">
                <a:solidFill>
                  <a:srgbClr val="6A3E3E"/>
                </a:solidFill>
                <a:latin typeface="Consolas" panose="020B0609020204030204" pitchFamily="49" charset="0"/>
              </a:rPr>
              <a:t>n</a:t>
            </a:r>
            <a:r>
              <a:rPr lang="pt-BR" sz="1800" b="1" dirty="0">
                <a:solidFill>
                  <a:srgbClr val="000000"/>
                </a:solidFill>
                <a:latin typeface="Consolas" panose="020B0609020204030204" pitchFamily="49" charset="0"/>
              </a:rPr>
              <a:t> * </a:t>
            </a:r>
            <a:r>
              <a:rPr lang="pt-BR" sz="1800" b="1" i="1" dirty="0">
                <a:solidFill>
                  <a:srgbClr val="000000"/>
                </a:solidFill>
                <a:latin typeface="Consolas" panose="020B0609020204030204" pitchFamily="49" charset="0"/>
              </a:rPr>
              <a:t>fatorial (</a:t>
            </a:r>
            <a:r>
              <a:rPr lang="pt-BR" sz="1800" b="1" i="1" dirty="0">
                <a:solidFill>
                  <a:srgbClr val="6A3E3E"/>
                </a:solidFill>
                <a:latin typeface="Consolas" panose="020B0609020204030204" pitchFamily="49" charset="0"/>
              </a:rPr>
              <a:t>n</a:t>
            </a:r>
            <a:r>
              <a:rPr lang="pt-BR" sz="1800" b="1" i="1" dirty="0">
                <a:solidFill>
                  <a:srgbClr val="000000"/>
                </a:solidFill>
                <a:latin typeface="Consolas" panose="020B0609020204030204" pitchFamily="49" charset="0"/>
              </a:rPr>
              <a:t>-1) );</a:t>
            </a:r>
          </a:p>
          <a:p>
            <a:pPr marL="0" indent="361950" algn="l">
              <a:buNone/>
            </a:pPr>
            <a:r>
              <a:rPr lang="pt-BR" sz="1800" b="1" dirty="0" err="1">
                <a:solidFill>
                  <a:srgbClr val="7F0055"/>
                </a:solidFill>
                <a:latin typeface="Consolas" panose="020B0609020204030204" pitchFamily="49" charset="0"/>
              </a:rPr>
              <a:t>else</a:t>
            </a:r>
            <a:endParaRPr lang="pt-BR" sz="1800" b="1" dirty="0">
              <a:solidFill>
                <a:srgbClr val="7F0055"/>
              </a:solidFill>
              <a:latin typeface="Consolas" panose="020B0609020204030204" pitchFamily="49" charset="0"/>
            </a:endParaRPr>
          </a:p>
          <a:p>
            <a:pPr marL="0" indent="361950" algn="l">
              <a:buNone/>
            </a:pPr>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return</a:t>
            </a:r>
            <a:r>
              <a:rPr lang="pt-BR" sz="1800" b="1" dirty="0">
                <a:solidFill>
                  <a:srgbClr val="000000"/>
                </a:solidFill>
                <a:latin typeface="Consolas" panose="020B0609020204030204" pitchFamily="49" charset="0"/>
              </a:rPr>
              <a:t> (1);</a:t>
            </a:r>
          </a:p>
          <a:p>
            <a:pPr marL="0" indent="0" algn="l">
              <a:buNone/>
            </a:pPr>
            <a:r>
              <a:rPr lang="pt-BR" sz="1800" dirty="0">
                <a:solidFill>
                  <a:srgbClr val="000000"/>
                </a:solidFill>
                <a:latin typeface="Consolas" panose="020B0609020204030204" pitchFamily="49" charset="0"/>
              </a:rPr>
              <a:t>}</a:t>
            </a:r>
            <a:endParaRPr lang="en-US" dirty="0">
              <a:latin typeface="Consolas" pitchFamily="49" charset="0"/>
              <a:cs typeface="Consolas" pitchFamily="49" charset="0"/>
            </a:endParaRPr>
          </a:p>
        </p:txBody>
      </p:sp>
    </p:spTree>
    <p:extLst>
      <p:ext uri="{BB962C8B-B14F-4D97-AF65-F5344CB8AC3E}">
        <p14:creationId xmlns:p14="http://schemas.microsoft.com/office/powerpoint/2010/main" val="4265780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6"/>
          <p:cNvGrpSpPr/>
          <p:nvPr/>
        </p:nvGrpSpPr>
        <p:grpSpPr>
          <a:xfrm>
            <a:off x="1285852" y="1393017"/>
            <a:ext cx="4572032" cy="1285884"/>
            <a:chOff x="1285852" y="714356"/>
            <a:chExt cx="4572032" cy="1714512"/>
          </a:xfrm>
        </p:grpSpPr>
        <p:sp>
          <p:nvSpPr>
            <p:cNvPr id="5" name="Arredondar Retângulo no Mesmo Canto Lateral 4"/>
            <p:cNvSpPr/>
            <p:nvPr/>
          </p:nvSpPr>
          <p:spPr>
            <a:xfrm>
              <a:off x="1285852" y="714356"/>
              <a:ext cx="4572032" cy="1714512"/>
            </a:xfrm>
            <a:prstGeom prst="round2Same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6" name="CaixaDeTexto 5"/>
            <p:cNvSpPr txBox="1"/>
            <p:nvPr/>
          </p:nvSpPr>
          <p:spPr>
            <a:xfrm>
              <a:off x="1643042" y="928671"/>
              <a:ext cx="4000528" cy="1138773"/>
            </a:xfrm>
            <a:prstGeom prst="rect">
              <a:avLst/>
            </a:prstGeom>
            <a:noFill/>
          </p:spPr>
          <p:txBody>
            <a:bodyPr wrap="square" rtlCol="0">
              <a:spAutoFit/>
            </a:bodyPr>
            <a:lstStyle/>
            <a:p>
              <a:r>
                <a:rPr lang="pt-BR" b="1" dirty="0">
                  <a:latin typeface="DIN Pro Regular" panose="020B0504020101020102" pitchFamily="34" charset="0"/>
                  <a:cs typeface="DIN Pro Regular" panose="020B0504020101020102" pitchFamily="34" charset="0"/>
                </a:rPr>
                <a:t>Ativação 1</a:t>
              </a:r>
            </a:p>
            <a:p>
              <a:endParaRPr lang="pt-BR" sz="1350" dirty="0"/>
            </a:p>
            <a:p>
              <a:r>
                <a:rPr lang="pt-BR" dirty="0">
                  <a:latin typeface="DIN Pro Regular" panose="020B0504020101020102" pitchFamily="34" charset="0"/>
                  <a:cs typeface="DIN Pro Regular" panose="020B0504020101020102" pitchFamily="34" charset="0"/>
                </a:rPr>
                <a:t>n = 4 =&gt; </a:t>
              </a:r>
              <a:r>
                <a:rPr lang="pt-BR" dirty="0" err="1">
                  <a:latin typeface="DIN Pro Regular" panose="020B0504020101020102" pitchFamily="34" charset="0"/>
                  <a:cs typeface="DIN Pro Regular" panose="020B0504020101020102" pitchFamily="34" charset="0"/>
                </a:rPr>
                <a:t>return</a:t>
              </a:r>
              <a:r>
                <a:rPr lang="pt-BR" dirty="0">
                  <a:latin typeface="DIN Pro Regular" panose="020B0504020101020102" pitchFamily="34" charset="0"/>
                  <a:cs typeface="DIN Pro Regular" panose="020B0504020101020102" pitchFamily="34" charset="0"/>
                </a:rPr>
                <a:t> (4 * fatorial (3))</a:t>
              </a:r>
            </a:p>
          </p:txBody>
        </p:sp>
      </p:grpSp>
      <p:sp>
        <p:nvSpPr>
          <p:cNvPr id="3" name="Título 2">
            <a:extLst>
              <a:ext uri="{FF2B5EF4-FFF2-40B4-BE49-F238E27FC236}">
                <a16:creationId xmlns:a16="http://schemas.microsoft.com/office/drawing/2014/main" id="{57A4CC61-71D2-4AE7-B5D1-E4EA2FC3CE3E}"/>
              </a:ext>
            </a:extLst>
          </p:cNvPr>
          <p:cNvSpPr>
            <a:spLocks noGrp="1"/>
          </p:cNvSpPr>
          <p:nvPr>
            <p:ph type="title"/>
          </p:nvPr>
        </p:nvSpPr>
        <p:spPr/>
        <p:txBody>
          <a:bodyPr/>
          <a:lstStyle/>
          <a:p>
            <a:endParaRPr lang="pt-B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3"/>
          <p:cNvGrpSpPr/>
          <p:nvPr/>
        </p:nvGrpSpPr>
        <p:grpSpPr>
          <a:xfrm>
            <a:off x="1071538" y="1393017"/>
            <a:ext cx="4572032" cy="1285884"/>
            <a:chOff x="1285852" y="714356"/>
            <a:chExt cx="4572032" cy="1714512"/>
          </a:xfrm>
        </p:grpSpPr>
        <p:sp>
          <p:nvSpPr>
            <p:cNvPr id="7" name="Arredondar Retângulo no Mesmo Canto Lateral 6"/>
            <p:cNvSpPr/>
            <p:nvPr/>
          </p:nvSpPr>
          <p:spPr>
            <a:xfrm>
              <a:off x="1285852" y="714356"/>
              <a:ext cx="4572032" cy="1714512"/>
            </a:xfrm>
            <a:prstGeom prst="round2SameRect">
              <a:avLst/>
            </a:prstGeom>
            <a:solidFill>
              <a:schemeClr val="tx2">
                <a:lumMod val="40000"/>
                <a:lumOff val="6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1350" b="1" dirty="0">
                <a:solidFill>
                  <a:schemeClr val="tx1"/>
                </a:solidFill>
              </a:endParaRPr>
            </a:p>
          </p:txBody>
        </p:sp>
        <p:sp>
          <p:nvSpPr>
            <p:cNvPr id="8" name="CaixaDeTexto 7"/>
            <p:cNvSpPr txBox="1"/>
            <p:nvPr/>
          </p:nvSpPr>
          <p:spPr>
            <a:xfrm>
              <a:off x="1643042" y="928671"/>
              <a:ext cx="4000528" cy="11387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algn="ctr">
                <a:defRPr sz="135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pt-BR" sz="1600" b="1" dirty="0">
                  <a:solidFill>
                    <a:schemeClr val="tx1"/>
                  </a:solidFill>
                  <a:latin typeface="DIN Pro Regular" panose="020B0504020101020102"/>
                </a:rPr>
                <a:t>Ativação 1</a:t>
              </a:r>
            </a:p>
            <a:p>
              <a:pPr algn="l"/>
              <a:endParaRPr lang="pt-BR" sz="1600" b="1" dirty="0">
                <a:solidFill>
                  <a:schemeClr val="tx1"/>
                </a:solidFill>
                <a:latin typeface="DIN Pro Regular" panose="020B0504020101020102"/>
              </a:endParaRPr>
            </a:p>
            <a:p>
              <a:pPr algn="l"/>
              <a:r>
                <a:rPr lang="pt-BR" sz="1600" b="1" dirty="0">
                  <a:solidFill>
                    <a:schemeClr val="tx1"/>
                  </a:solidFill>
                  <a:latin typeface="DIN Pro Regular" panose="020B0504020101020102"/>
                </a:rPr>
                <a:t>n = 4 =&gt; 4 * fatorial (3) </a:t>
              </a:r>
            </a:p>
          </p:txBody>
        </p:sp>
      </p:grpSp>
      <p:grpSp>
        <p:nvGrpSpPr>
          <p:cNvPr id="3" name="Grupo 8"/>
          <p:cNvGrpSpPr/>
          <p:nvPr/>
        </p:nvGrpSpPr>
        <p:grpSpPr>
          <a:xfrm>
            <a:off x="1357291" y="1982381"/>
            <a:ext cx="4572032" cy="1285884"/>
            <a:chOff x="2643174" y="3500438"/>
            <a:chExt cx="4572032" cy="1714512"/>
          </a:xfrm>
          <a:solidFill>
            <a:schemeClr val="accent3">
              <a:lumMod val="20000"/>
              <a:lumOff val="80000"/>
            </a:schemeClr>
          </a:solidFill>
        </p:grpSpPr>
        <p:sp>
          <p:nvSpPr>
            <p:cNvPr id="5" name="Arredondar Retângulo no Mesmo Canto Lateral 4"/>
            <p:cNvSpPr/>
            <p:nvPr/>
          </p:nvSpPr>
          <p:spPr>
            <a:xfrm>
              <a:off x="2643174" y="3500438"/>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6" name="CaixaDeTexto 5"/>
            <p:cNvSpPr txBox="1"/>
            <p:nvPr/>
          </p:nvSpPr>
          <p:spPr>
            <a:xfrm>
              <a:off x="2857488" y="3643314"/>
              <a:ext cx="4000528" cy="1138773"/>
            </a:xfrm>
            <a:prstGeom prst="rect">
              <a:avLst/>
            </a:prstGeom>
            <a:grpFill/>
          </p:spPr>
          <p:txBody>
            <a:bodyPr wrap="square" rtlCol="0">
              <a:spAutoFit/>
            </a:bodyPr>
            <a:lstStyle/>
            <a:p>
              <a:r>
                <a:rPr lang="pt-BR" b="1" dirty="0">
                  <a:solidFill>
                    <a:srgbClr val="006600"/>
                  </a:solidFill>
                  <a:latin typeface="DIN Pro Regular"/>
                  <a:ea typeface="+mj-ea"/>
                  <a:cs typeface="+mj-cs"/>
                </a:rPr>
                <a:t>Ativação 2</a:t>
              </a:r>
            </a:p>
            <a:p>
              <a:endParaRPr lang="pt-BR" sz="1350" dirty="0">
                <a:solidFill>
                  <a:srgbClr val="006600"/>
                </a:solidFill>
              </a:endParaRPr>
            </a:p>
            <a:p>
              <a:r>
                <a:rPr lang="pt-BR" dirty="0">
                  <a:solidFill>
                    <a:srgbClr val="006600"/>
                  </a:solidFill>
                  <a:latin typeface="DIN Pro Regular"/>
                  <a:ea typeface="+mj-ea"/>
                  <a:cs typeface="+mj-cs"/>
                </a:rPr>
                <a:t>n = 3 =&gt; </a:t>
              </a:r>
              <a:r>
                <a:rPr lang="pt-BR" dirty="0" err="1">
                  <a:solidFill>
                    <a:srgbClr val="006600"/>
                  </a:solidFill>
                  <a:latin typeface="DIN Pro Regular"/>
                  <a:ea typeface="+mj-ea"/>
                  <a:cs typeface="+mj-cs"/>
                </a:rPr>
                <a:t>return</a:t>
              </a:r>
              <a:r>
                <a:rPr lang="pt-BR" dirty="0">
                  <a:solidFill>
                    <a:srgbClr val="006600"/>
                  </a:solidFill>
                  <a:latin typeface="DIN Pro Regular"/>
                  <a:ea typeface="+mj-ea"/>
                  <a:cs typeface="+mj-cs"/>
                </a:rPr>
                <a:t> ( 3 * fatorial (2) )</a:t>
              </a:r>
            </a:p>
          </p:txBody>
        </p:sp>
      </p:grpSp>
      <p:sp>
        <p:nvSpPr>
          <p:cNvPr id="4" name="Título 3">
            <a:extLst>
              <a:ext uri="{FF2B5EF4-FFF2-40B4-BE49-F238E27FC236}">
                <a16:creationId xmlns:a16="http://schemas.microsoft.com/office/drawing/2014/main" id="{54D468DA-16C5-45B1-A806-D74EAA2AD1C8}"/>
              </a:ext>
            </a:extLst>
          </p:cNvPr>
          <p:cNvSpPr>
            <a:spLocks noGrp="1"/>
          </p:cNvSpPr>
          <p:nvPr>
            <p:ph type="title"/>
          </p:nvPr>
        </p:nvSpPr>
        <p:spPr/>
        <p:txBody>
          <a:bodyPr/>
          <a:lstStyle/>
          <a:p>
            <a:endParaRPr lang="pt-B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7"/>
          <p:cNvGrpSpPr/>
          <p:nvPr/>
        </p:nvGrpSpPr>
        <p:grpSpPr>
          <a:xfrm>
            <a:off x="1214415" y="1393017"/>
            <a:ext cx="4572032" cy="1285884"/>
            <a:chOff x="1285852" y="714356"/>
            <a:chExt cx="4572032" cy="1714512"/>
          </a:xfrm>
        </p:grpSpPr>
        <p:sp>
          <p:nvSpPr>
            <p:cNvPr id="9" name="Arredondar Retângulo no Mesmo Canto Lateral 8"/>
            <p:cNvSpPr/>
            <p:nvPr/>
          </p:nvSpPr>
          <p:spPr>
            <a:xfrm>
              <a:off x="1285852" y="714356"/>
              <a:ext cx="4572032" cy="1714512"/>
            </a:xfrm>
            <a:prstGeom prst="round2SameRect">
              <a:avLst/>
            </a:prstGeom>
            <a:solidFill>
              <a:schemeClr val="tx2">
                <a:lumMod val="40000"/>
                <a:lumOff val="6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1600" b="1" dirty="0">
                <a:solidFill>
                  <a:schemeClr val="tx1"/>
                </a:solidFill>
                <a:latin typeface="DIN Pro Regular" panose="020B0504020101020102"/>
              </a:endParaRPr>
            </a:p>
          </p:txBody>
        </p:sp>
        <p:sp>
          <p:nvSpPr>
            <p:cNvPr id="10" name="CaixaDeTexto 9"/>
            <p:cNvSpPr txBox="1"/>
            <p:nvPr/>
          </p:nvSpPr>
          <p:spPr>
            <a:xfrm>
              <a:off x="1643042" y="928671"/>
              <a:ext cx="4000528" cy="1138773"/>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a:defRPr sz="135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sz="1600" dirty="0">
                  <a:solidFill>
                    <a:schemeClr val="tx1"/>
                  </a:solidFill>
                  <a:latin typeface="DIN Pro Regular" panose="020B0504020101020102"/>
                </a:rPr>
                <a:t>Ativação 1</a:t>
              </a:r>
            </a:p>
            <a:p>
              <a:endParaRPr lang="pt-BR" sz="1600" dirty="0">
                <a:solidFill>
                  <a:schemeClr val="tx1"/>
                </a:solidFill>
                <a:latin typeface="DIN Pro Regular" panose="020B0504020101020102"/>
              </a:endParaRPr>
            </a:p>
            <a:p>
              <a:r>
                <a:rPr lang="pt-BR" sz="1600" dirty="0">
                  <a:solidFill>
                    <a:schemeClr val="tx1"/>
                  </a:solidFill>
                  <a:latin typeface="DIN Pro Regular" panose="020B0504020101020102"/>
                </a:rPr>
                <a:t>n = 4 =&gt; 4 * fatorial (3) </a:t>
              </a:r>
            </a:p>
          </p:txBody>
        </p:sp>
      </p:grpSp>
      <p:sp>
        <p:nvSpPr>
          <p:cNvPr id="5" name="Arredondar Retângulo no Mesmo Canto Lateral 4"/>
          <p:cNvSpPr/>
          <p:nvPr/>
        </p:nvSpPr>
        <p:spPr>
          <a:xfrm>
            <a:off x="1357291" y="2035959"/>
            <a:ext cx="4572032" cy="1285884"/>
          </a:xfrm>
          <a:prstGeom prst="round2Same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500167"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18166"/>
            <a:ext cx="4572032" cy="1285884"/>
          </a:xfrm>
          <a:prstGeom prst="round2Same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7" name="CaixaDeTexto 6"/>
          <p:cNvSpPr txBox="1"/>
          <p:nvPr/>
        </p:nvSpPr>
        <p:spPr>
          <a:xfrm>
            <a:off x="1571604" y="2732480"/>
            <a:ext cx="4000528" cy="854080"/>
          </a:xfrm>
          <a:prstGeom prst="rect">
            <a:avLst/>
          </a:prstGeom>
          <a:noFill/>
        </p:spPr>
        <p:txBody>
          <a:bodyPr wrap="square" rtlCol="0">
            <a:spAutoFit/>
          </a:bodyPr>
          <a:lstStyle/>
          <a:p>
            <a:r>
              <a:rPr lang="pt-BR" b="1" dirty="0">
                <a:latin typeface="DIN Pro Regular"/>
                <a:ea typeface="+mj-ea"/>
                <a:cs typeface="+mj-cs"/>
              </a:rPr>
              <a:t>Ativação 3</a:t>
            </a:r>
          </a:p>
          <a:p>
            <a:endParaRPr lang="pt-BR" sz="1350" dirty="0"/>
          </a:p>
          <a:p>
            <a:r>
              <a:rPr lang="pt-BR" dirty="0">
                <a:latin typeface="DIN Pro Regular"/>
                <a:ea typeface="+mj-ea"/>
                <a:cs typeface="+mj-cs"/>
              </a:rPr>
              <a:t>n = 2 =&gt; </a:t>
            </a:r>
            <a:r>
              <a:rPr lang="pt-BR" dirty="0" err="1">
                <a:latin typeface="DIN Pro Regular"/>
                <a:ea typeface="+mj-ea"/>
                <a:cs typeface="+mj-cs"/>
              </a:rPr>
              <a:t>return</a:t>
            </a:r>
            <a:r>
              <a:rPr lang="pt-BR" dirty="0">
                <a:latin typeface="DIN Pro Regular"/>
                <a:ea typeface="+mj-ea"/>
                <a:cs typeface="+mj-cs"/>
              </a:rPr>
              <a:t> (2 * fatorial (1) )</a:t>
            </a:r>
          </a:p>
        </p:txBody>
      </p:sp>
      <p:sp>
        <p:nvSpPr>
          <p:cNvPr id="3" name="Título 2">
            <a:extLst>
              <a:ext uri="{FF2B5EF4-FFF2-40B4-BE49-F238E27FC236}">
                <a16:creationId xmlns:a16="http://schemas.microsoft.com/office/drawing/2014/main" id="{13ECFC93-33EE-4B18-BC35-153D864BD4AE}"/>
              </a:ext>
            </a:extLst>
          </p:cNvPr>
          <p:cNvSpPr>
            <a:spLocks noGrp="1"/>
          </p:cNvSpPr>
          <p:nvPr>
            <p:ph type="title"/>
          </p:nvPr>
        </p:nvSpPr>
        <p:spPr/>
        <p:txBody>
          <a:bodyPr/>
          <a:lstStyle/>
          <a:p>
            <a:endParaRPr lang="pt-B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4"/>
          <p:cNvGrpSpPr/>
          <p:nvPr/>
        </p:nvGrpSpPr>
        <p:grpSpPr>
          <a:xfrm>
            <a:off x="1071538" y="1341043"/>
            <a:ext cx="4572032" cy="1285884"/>
            <a:chOff x="1285852" y="714356"/>
            <a:chExt cx="4572032" cy="1714512"/>
          </a:xfrm>
          <a:solidFill>
            <a:schemeClr val="accent5">
              <a:lumMod val="40000"/>
              <a:lumOff val="60000"/>
            </a:schemeClr>
          </a:solidFill>
        </p:grpSpPr>
        <p:sp>
          <p:nvSpPr>
            <p:cNvPr id="16" name="Arredondar Retângulo no Mesmo Canto Lateral 15"/>
            <p:cNvSpPr/>
            <p:nvPr/>
          </p:nvSpPr>
          <p:spPr>
            <a:xfrm>
              <a:off x="1285852" y="714356"/>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17" name="CaixaDeTexto 16"/>
            <p:cNvSpPr txBox="1"/>
            <p:nvPr/>
          </p:nvSpPr>
          <p:spPr>
            <a:xfrm>
              <a:off x="1643042" y="928671"/>
              <a:ext cx="4000528" cy="1138773"/>
            </a:xfrm>
            <a:prstGeom prst="rect">
              <a:avLst/>
            </a:prstGeom>
            <a:grpFill/>
          </p:spPr>
          <p:txBody>
            <a:bodyPr wrap="square" rtlCol="0">
              <a:spAutoFit/>
            </a:bodyPr>
            <a:lstStyle/>
            <a:p>
              <a:r>
                <a:rPr lang="pt-BR" b="1" dirty="0">
                  <a:latin typeface="DIN Pro Regular" panose="020B0504020101020102" pitchFamily="34" charset="0"/>
                  <a:cs typeface="DIN Pro Regular" panose="020B0504020101020102" pitchFamily="34" charset="0"/>
                </a:rPr>
                <a:t>Ativação 1</a:t>
              </a:r>
            </a:p>
            <a:p>
              <a:endParaRPr lang="pt-BR" sz="1350" dirty="0"/>
            </a:p>
            <a:p>
              <a:r>
                <a:rPr lang="pt-BR" dirty="0">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214415" y="1863296"/>
            <a:ext cx="4572032" cy="1285884"/>
          </a:xfrm>
          <a:prstGeom prst="round2Same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500167"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a:t>
            </a:r>
            <a:r>
              <a:rPr lang="pt-BR" dirty="0">
                <a:solidFill>
                  <a:srgbClr val="006600"/>
                </a:solidFill>
                <a:latin typeface="DIN Pro Regular"/>
                <a:ea typeface="+mj-ea"/>
                <a:cs typeface="+mj-cs"/>
              </a:rPr>
              <a:t> </a:t>
            </a:r>
            <a:r>
              <a:rPr lang="pt-BR" b="1" dirty="0">
                <a:solidFill>
                  <a:srgbClr val="006600"/>
                </a:solidFill>
                <a:latin typeface="DIN Pro Regular"/>
                <a:ea typeface="+mj-ea"/>
                <a:cs typeface="+mj-cs"/>
              </a:rPr>
              <a:t>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85276"/>
            <a:ext cx="4572032" cy="1285884"/>
          </a:xfrm>
          <a:prstGeom prst="round2Same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7" name="CaixaDeTexto 6"/>
          <p:cNvSpPr txBox="1"/>
          <p:nvPr/>
        </p:nvSpPr>
        <p:spPr>
          <a:xfrm>
            <a:off x="1571604" y="2732480"/>
            <a:ext cx="4000528" cy="854080"/>
          </a:xfrm>
          <a:prstGeom prst="rect">
            <a:avLst/>
          </a:prstGeom>
          <a:noFill/>
        </p:spPr>
        <p:txBody>
          <a:bodyPr wrap="square" rtlCol="0">
            <a:spAutoFit/>
          </a:bodyPr>
          <a:lstStyle/>
          <a:p>
            <a:r>
              <a:rPr lang="pt-BR" b="1" dirty="0">
                <a:latin typeface="DIN Pro Regular"/>
                <a:ea typeface="+mj-ea"/>
                <a:cs typeface="+mj-cs"/>
              </a:rPr>
              <a:t>Ativação 3</a:t>
            </a:r>
          </a:p>
          <a:p>
            <a:endParaRPr lang="pt-BR" sz="1350" dirty="0"/>
          </a:p>
          <a:p>
            <a:r>
              <a:rPr lang="pt-BR" dirty="0">
                <a:latin typeface="DIN Pro Regular"/>
                <a:ea typeface="+mj-ea"/>
                <a:cs typeface="+mj-cs"/>
              </a:rPr>
              <a:t>n = 2 =&gt; 2 * fatorial (1) </a:t>
            </a:r>
          </a:p>
        </p:txBody>
      </p:sp>
      <p:grpSp>
        <p:nvGrpSpPr>
          <p:cNvPr id="3" name="Grupo 11"/>
          <p:cNvGrpSpPr/>
          <p:nvPr/>
        </p:nvGrpSpPr>
        <p:grpSpPr>
          <a:xfrm>
            <a:off x="1643043" y="3172494"/>
            <a:ext cx="4572032" cy="1285884"/>
            <a:chOff x="1509690" y="2438392"/>
            <a:chExt cx="4572032" cy="1714512"/>
          </a:xfrm>
          <a:solidFill>
            <a:schemeClr val="bg2">
              <a:lumMod val="90000"/>
            </a:schemeClr>
          </a:solidFill>
        </p:grpSpPr>
        <p:sp>
          <p:nvSpPr>
            <p:cNvPr id="10" name="Arredondar Retângulo no Mesmo Canto Lateral 9"/>
            <p:cNvSpPr/>
            <p:nvPr/>
          </p:nvSpPr>
          <p:spPr>
            <a:xfrm>
              <a:off x="1509690" y="2438392"/>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rgbClr val="0000CC"/>
                </a:solidFill>
              </a:endParaRPr>
            </a:p>
          </p:txBody>
        </p:sp>
        <p:sp>
          <p:nvSpPr>
            <p:cNvPr id="11" name="CaixaDeTexto 10"/>
            <p:cNvSpPr txBox="1"/>
            <p:nvPr/>
          </p:nvSpPr>
          <p:spPr>
            <a:xfrm>
              <a:off x="1724004" y="2652707"/>
              <a:ext cx="4000528" cy="1138773"/>
            </a:xfrm>
            <a:prstGeom prst="rect">
              <a:avLst/>
            </a:prstGeom>
            <a:grpFill/>
          </p:spPr>
          <p:txBody>
            <a:bodyPr wrap="square" rtlCol="0">
              <a:spAutoFit/>
            </a:bodyPr>
            <a:lstStyle/>
            <a:p>
              <a:r>
                <a:rPr lang="pt-BR" b="1" dirty="0">
                  <a:solidFill>
                    <a:srgbClr val="0000CC"/>
                  </a:solidFill>
                  <a:latin typeface="DIN Pro Regular"/>
                  <a:ea typeface="+mj-ea"/>
                  <a:cs typeface="+mj-cs"/>
                </a:rPr>
                <a:t>Ativação 4</a:t>
              </a:r>
            </a:p>
            <a:p>
              <a:r>
                <a:rPr lang="pt-BR" sz="1350" dirty="0">
                  <a:solidFill>
                    <a:srgbClr val="0000CC"/>
                  </a:solidFill>
                </a:rPr>
                <a:t>  		</a:t>
              </a:r>
              <a:endParaRPr lang="pt-BR" sz="1350" b="1" dirty="0"/>
            </a:p>
            <a:p>
              <a:r>
                <a:rPr lang="pt-BR" dirty="0">
                  <a:solidFill>
                    <a:srgbClr val="0000CC"/>
                  </a:solidFill>
                  <a:latin typeface="DIN Pro Regular"/>
                  <a:ea typeface="+mj-ea"/>
                  <a:cs typeface="+mj-cs"/>
                </a:rPr>
                <a:t>n = 1 =&gt; </a:t>
              </a:r>
              <a:r>
                <a:rPr lang="pt-BR" dirty="0" err="1">
                  <a:solidFill>
                    <a:srgbClr val="0000CC"/>
                  </a:solidFill>
                  <a:latin typeface="DIN Pro Regular"/>
                  <a:ea typeface="+mj-ea"/>
                  <a:cs typeface="+mj-cs"/>
                </a:rPr>
                <a:t>return</a:t>
              </a:r>
              <a:r>
                <a:rPr lang="pt-BR" dirty="0">
                  <a:solidFill>
                    <a:srgbClr val="0000CC"/>
                  </a:solidFill>
                  <a:latin typeface="DIN Pro Regular"/>
                  <a:ea typeface="+mj-ea"/>
                  <a:cs typeface="+mj-cs"/>
                </a:rPr>
                <a:t> (1 * fatorial (0))</a:t>
              </a:r>
            </a:p>
          </p:txBody>
        </p:sp>
      </p:grpSp>
      <p:sp>
        <p:nvSpPr>
          <p:cNvPr id="8" name="Título 7">
            <a:extLst>
              <a:ext uri="{FF2B5EF4-FFF2-40B4-BE49-F238E27FC236}">
                <a16:creationId xmlns:a16="http://schemas.microsoft.com/office/drawing/2014/main" id="{3211FFCD-0570-4B37-B41B-ABC3775A1FCB}"/>
              </a:ext>
            </a:extLst>
          </p:cNvPr>
          <p:cNvSpPr>
            <a:spLocks noGrp="1"/>
          </p:cNvSpPr>
          <p:nvPr>
            <p:ph type="title"/>
          </p:nvPr>
        </p:nvSpPr>
        <p:spPr/>
        <p:txBody>
          <a:bodyPr/>
          <a:lstStyle/>
          <a:p>
            <a:endParaRPr lang="pt-B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4"/>
          <p:cNvGrpSpPr/>
          <p:nvPr/>
        </p:nvGrpSpPr>
        <p:grpSpPr>
          <a:xfrm>
            <a:off x="1071538" y="1341043"/>
            <a:ext cx="4572032" cy="1285884"/>
            <a:chOff x="1285852" y="714356"/>
            <a:chExt cx="4572032" cy="1714512"/>
          </a:xfrm>
          <a:solidFill>
            <a:schemeClr val="accent5">
              <a:lumMod val="40000"/>
              <a:lumOff val="60000"/>
            </a:schemeClr>
          </a:solidFill>
        </p:grpSpPr>
        <p:sp>
          <p:nvSpPr>
            <p:cNvPr id="16" name="Arredondar Retângulo no Mesmo Canto Lateral 15"/>
            <p:cNvSpPr/>
            <p:nvPr/>
          </p:nvSpPr>
          <p:spPr>
            <a:xfrm>
              <a:off x="1285852" y="714356"/>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17" name="CaixaDeTexto 16"/>
            <p:cNvSpPr txBox="1"/>
            <p:nvPr/>
          </p:nvSpPr>
          <p:spPr>
            <a:xfrm>
              <a:off x="1643042" y="928671"/>
              <a:ext cx="4000528" cy="1138773"/>
            </a:xfrm>
            <a:prstGeom prst="rect">
              <a:avLst/>
            </a:prstGeom>
            <a:grpFill/>
          </p:spPr>
          <p:txBody>
            <a:bodyPr wrap="square" rtlCol="0">
              <a:spAutoFit/>
            </a:bodyPr>
            <a:lstStyle/>
            <a:p>
              <a:r>
                <a:rPr lang="pt-BR" b="1" dirty="0">
                  <a:latin typeface="DIN Pro Regular" panose="020B0504020101020102" pitchFamily="34" charset="0"/>
                  <a:cs typeface="DIN Pro Regular" panose="020B0504020101020102" pitchFamily="34" charset="0"/>
                </a:rPr>
                <a:t>Ativação 1</a:t>
              </a:r>
            </a:p>
            <a:p>
              <a:endParaRPr lang="pt-BR" sz="1350" dirty="0"/>
            </a:p>
            <a:p>
              <a:r>
                <a:rPr lang="pt-BR" dirty="0">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214415" y="1863296"/>
            <a:ext cx="4572032" cy="1285884"/>
          </a:xfrm>
          <a:prstGeom prst="round2Same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500167"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a:t>
            </a:r>
            <a:r>
              <a:rPr lang="pt-BR" dirty="0">
                <a:solidFill>
                  <a:srgbClr val="006600"/>
                </a:solidFill>
                <a:latin typeface="DIN Pro Regular"/>
                <a:ea typeface="+mj-ea"/>
                <a:cs typeface="+mj-cs"/>
              </a:rPr>
              <a:t> </a:t>
            </a:r>
            <a:r>
              <a:rPr lang="pt-BR" b="1" dirty="0">
                <a:solidFill>
                  <a:srgbClr val="006600"/>
                </a:solidFill>
                <a:latin typeface="DIN Pro Regular"/>
                <a:ea typeface="+mj-ea"/>
                <a:cs typeface="+mj-cs"/>
              </a:rPr>
              <a:t>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85276"/>
            <a:ext cx="4572032" cy="1285884"/>
          </a:xfrm>
          <a:prstGeom prst="round2Same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7" name="CaixaDeTexto 6"/>
          <p:cNvSpPr txBox="1"/>
          <p:nvPr/>
        </p:nvSpPr>
        <p:spPr>
          <a:xfrm>
            <a:off x="1571604" y="2732480"/>
            <a:ext cx="4000528" cy="854080"/>
          </a:xfrm>
          <a:prstGeom prst="rect">
            <a:avLst/>
          </a:prstGeom>
          <a:noFill/>
        </p:spPr>
        <p:txBody>
          <a:bodyPr wrap="square" rtlCol="0">
            <a:spAutoFit/>
          </a:bodyPr>
          <a:lstStyle/>
          <a:p>
            <a:r>
              <a:rPr lang="pt-BR" b="1" dirty="0">
                <a:latin typeface="DIN Pro Regular"/>
                <a:ea typeface="+mj-ea"/>
                <a:cs typeface="+mj-cs"/>
              </a:rPr>
              <a:t>Ativação 3</a:t>
            </a:r>
          </a:p>
          <a:p>
            <a:endParaRPr lang="pt-BR" sz="1350" dirty="0"/>
          </a:p>
          <a:p>
            <a:r>
              <a:rPr lang="pt-BR" dirty="0">
                <a:latin typeface="DIN Pro Regular"/>
                <a:ea typeface="+mj-ea"/>
                <a:cs typeface="+mj-cs"/>
              </a:rPr>
              <a:t>n = 2 =&gt; 2 * fatorial (1) </a:t>
            </a:r>
          </a:p>
        </p:txBody>
      </p:sp>
      <p:grpSp>
        <p:nvGrpSpPr>
          <p:cNvPr id="3" name="Grupo 11"/>
          <p:cNvGrpSpPr/>
          <p:nvPr/>
        </p:nvGrpSpPr>
        <p:grpSpPr>
          <a:xfrm>
            <a:off x="1643043" y="3172494"/>
            <a:ext cx="4572032" cy="1285884"/>
            <a:chOff x="1509690" y="2438392"/>
            <a:chExt cx="4572032" cy="1714512"/>
          </a:xfrm>
          <a:solidFill>
            <a:schemeClr val="bg2">
              <a:lumMod val="90000"/>
            </a:schemeClr>
          </a:solidFill>
        </p:grpSpPr>
        <p:sp>
          <p:nvSpPr>
            <p:cNvPr id="10" name="Arredondar Retângulo no Mesmo Canto Lateral 9"/>
            <p:cNvSpPr/>
            <p:nvPr/>
          </p:nvSpPr>
          <p:spPr>
            <a:xfrm>
              <a:off x="1509690" y="2438392"/>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rgbClr val="0000CC"/>
                </a:solidFill>
              </a:endParaRPr>
            </a:p>
          </p:txBody>
        </p:sp>
        <p:sp>
          <p:nvSpPr>
            <p:cNvPr id="11" name="CaixaDeTexto 10"/>
            <p:cNvSpPr txBox="1"/>
            <p:nvPr/>
          </p:nvSpPr>
          <p:spPr>
            <a:xfrm>
              <a:off x="1724004" y="2652707"/>
              <a:ext cx="4000528" cy="1138773"/>
            </a:xfrm>
            <a:prstGeom prst="rect">
              <a:avLst/>
            </a:prstGeom>
            <a:grpFill/>
          </p:spPr>
          <p:txBody>
            <a:bodyPr wrap="square" rtlCol="0">
              <a:spAutoFit/>
            </a:bodyPr>
            <a:lstStyle/>
            <a:p>
              <a:r>
                <a:rPr lang="pt-BR" b="1" dirty="0">
                  <a:solidFill>
                    <a:srgbClr val="0000CC"/>
                  </a:solidFill>
                  <a:latin typeface="DIN Pro Regular"/>
                  <a:ea typeface="+mj-ea"/>
                  <a:cs typeface="+mj-cs"/>
                </a:rPr>
                <a:t>Ativação 4</a:t>
              </a:r>
            </a:p>
            <a:p>
              <a:endParaRPr lang="pt-BR" sz="1350" dirty="0">
                <a:solidFill>
                  <a:srgbClr val="0000CC"/>
                </a:solidFill>
              </a:endParaRPr>
            </a:p>
            <a:p>
              <a:r>
                <a:rPr lang="pt-BR" dirty="0">
                  <a:solidFill>
                    <a:srgbClr val="0000CC"/>
                  </a:solidFill>
                  <a:latin typeface="DIN Pro Regular"/>
                  <a:ea typeface="+mj-ea"/>
                  <a:cs typeface="+mj-cs"/>
                </a:rPr>
                <a:t>n = 1 =&gt; </a:t>
              </a:r>
              <a:r>
                <a:rPr lang="pt-BR" dirty="0" err="1">
                  <a:solidFill>
                    <a:srgbClr val="0000CC"/>
                  </a:solidFill>
                  <a:latin typeface="DIN Pro Regular"/>
                  <a:ea typeface="+mj-ea"/>
                  <a:cs typeface="+mj-cs"/>
                </a:rPr>
                <a:t>return</a:t>
              </a:r>
              <a:r>
                <a:rPr lang="pt-BR" dirty="0">
                  <a:solidFill>
                    <a:srgbClr val="0000CC"/>
                  </a:solidFill>
                  <a:latin typeface="DIN Pro Regular"/>
                  <a:ea typeface="+mj-ea"/>
                  <a:cs typeface="+mj-cs"/>
                </a:rPr>
                <a:t> (1 * fatorial (0))</a:t>
              </a:r>
            </a:p>
          </p:txBody>
        </p:sp>
      </p:grpSp>
      <p:sp>
        <p:nvSpPr>
          <p:cNvPr id="8" name="Título 7">
            <a:extLst>
              <a:ext uri="{FF2B5EF4-FFF2-40B4-BE49-F238E27FC236}">
                <a16:creationId xmlns:a16="http://schemas.microsoft.com/office/drawing/2014/main" id="{3211FFCD-0570-4B37-B41B-ABC3775A1FCB}"/>
              </a:ext>
            </a:extLst>
          </p:cNvPr>
          <p:cNvSpPr>
            <a:spLocks noGrp="1"/>
          </p:cNvSpPr>
          <p:nvPr>
            <p:ph type="title"/>
          </p:nvPr>
        </p:nvSpPr>
        <p:spPr/>
        <p:txBody>
          <a:bodyPr/>
          <a:lstStyle/>
          <a:p>
            <a:endParaRPr lang="pt-BR"/>
          </a:p>
        </p:txBody>
      </p:sp>
      <p:sp>
        <p:nvSpPr>
          <p:cNvPr id="9" name="Arredondar Retângulo no Mesmo Canto Lateral 12">
            <a:extLst>
              <a:ext uri="{FF2B5EF4-FFF2-40B4-BE49-F238E27FC236}">
                <a16:creationId xmlns:a16="http://schemas.microsoft.com/office/drawing/2014/main" id="{F45B2080-9E2D-4637-AB75-BC2CF3D3719C}"/>
              </a:ext>
            </a:extLst>
          </p:cNvPr>
          <p:cNvSpPr/>
          <p:nvPr/>
        </p:nvSpPr>
        <p:spPr>
          <a:xfrm>
            <a:off x="1857357" y="3804050"/>
            <a:ext cx="4572032" cy="1285884"/>
          </a:xfrm>
          <a:prstGeom prst="round2SameRect">
            <a:avLst/>
          </a:prstGeom>
          <a:solidFill>
            <a:srgbClr val="FFE18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12" name="CaixaDeTexto 11">
            <a:extLst>
              <a:ext uri="{FF2B5EF4-FFF2-40B4-BE49-F238E27FC236}">
                <a16:creationId xmlns:a16="http://schemas.microsoft.com/office/drawing/2014/main" id="{2432420E-4114-454A-B5F8-62BC189B01BE}"/>
              </a:ext>
            </a:extLst>
          </p:cNvPr>
          <p:cNvSpPr txBox="1"/>
          <p:nvPr/>
        </p:nvSpPr>
        <p:spPr>
          <a:xfrm>
            <a:off x="2143109" y="3964786"/>
            <a:ext cx="4000528" cy="854080"/>
          </a:xfrm>
          <a:prstGeom prst="rect">
            <a:avLst/>
          </a:prstGeom>
          <a:noFill/>
        </p:spPr>
        <p:txBody>
          <a:bodyPr wrap="square" rtlCol="0">
            <a:spAutoFit/>
          </a:bodyPr>
          <a:lstStyle/>
          <a:p>
            <a:r>
              <a:rPr lang="pt-BR" b="1" dirty="0">
                <a:solidFill>
                  <a:srgbClr val="C00000"/>
                </a:solidFill>
                <a:latin typeface="DIN Pro Regular"/>
                <a:ea typeface="+mj-ea"/>
                <a:cs typeface="+mj-cs"/>
              </a:rPr>
              <a:t>Ativação 5</a:t>
            </a:r>
          </a:p>
          <a:p>
            <a:endParaRPr lang="pt-BR" sz="1350" dirty="0">
              <a:solidFill>
                <a:srgbClr val="C00000"/>
              </a:solidFill>
            </a:endParaRPr>
          </a:p>
          <a:p>
            <a:r>
              <a:rPr lang="pt-BR" dirty="0">
                <a:solidFill>
                  <a:srgbClr val="C00000"/>
                </a:solidFill>
                <a:latin typeface="DIN Pro Regular"/>
                <a:ea typeface="+mj-ea"/>
                <a:cs typeface="+mj-cs"/>
              </a:rPr>
              <a:t>n = 0 =&gt; </a:t>
            </a:r>
            <a:r>
              <a:rPr lang="pt-BR" dirty="0" err="1">
                <a:solidFill>
                  <a:srgbClr val="C00000"/>
                </a:solidFill>
                <a:latin typeface="DIN Pro Regular"/>
                <a:ea typeface="+mj-ea"/>
                <a:cs typeface="+mj-cs"/>
              </a:rPr>
              <a:t>return</a:t>
            </a:r>
            <a:r>
              <a:rPr lang="pt-BR" dirty="0">
                <a:solidFill>
                  <a:srgbClr val="C00000"/>
                </a:solidFill>
                <a:latin typeface="DIN Pro Regular"/>
                <a:ea typeface="+mj-ea"/>
                <a:cs typeface="+mj-cs"/>
              </a:rPr>
              <a:t> (1)</a:t>
            </a:r>
          </a:p>
        </p:txBody>
      </p:sp>
    </p:spTree>
    <p:extLst>
      <p:ext uri="{BB962C8B-B14F-4D97-AF65-F5344CB8AC3E}">
        <p14:creationId xmlns:p14="http://schemas.microsoft.com/office/powerpoint/2010/main" val="2679530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4"/>
          <p:cNvGrpSpPr/>
          <p:nvPr/>
        </p:nvGrpSpPr>
        <p:grpSpPr>
          <a:xfrm>
            <a:off x="1071538" y="1341043"/>
            <a:ext cx="4572032" cy="1285884"/>
            <a:chOff x="1285852" y="714356"/>
            <a:chExt cx="4572032" cy="1714512"/>
          </a:xfrm>
          <a:solidFill>
            <a:schemeClr val="accent5">
              <a:lumMod val="40000"/>
              <a:lumOff val="60000"/>
            </a:schemeClr>
          </a:solidFill>
        </p:grpSpPr>
        <p:sp>
          <p:nvSpPr>
            <p:cNvPr id="16" name="Arredondar Retângulo no Mesmo Canto Lateral 15"/>
            <p:cNvSpPr/>
            <p:nvPr/>
          </p:nvSpPr>
          <p:spPr>
            <a:xfrm>
              <a:off x="1285852" y="714356"/>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17" name="CaixaDeTexto 16"/>
            <p:cNvSpPr txBox="1"/>
            <p:nvPr/>
          </p:nvSpPr>
          <p:spPr>
            <a:xfrm>
              <a:off x="1643042" y="928671"/>
              <a:ext cx="4000528" cy="1138773"/>
            </a:xfrm>
            <a:prstGeom prst="rect">
              <a:avLst/>
            </a:prstGeom>
            <a:grpFill/>
          </p:spPr>
          <p:txBody>
            <a:bodyPr wrap="square" rtlCol="0">
              <a:spAutoFit/>
            </a:bodyPr>
            <a:lstStyle/>
            <a:p>
              <a:r>
                <a:rPr lang="pt-BR" b="1" dirty="0">
                  <a:latin typeface="DIN Pro Regular" panose="020B0504020101020102" pitchFamily="34" charset="0"/>
                  <a:cs typeface="DIN Pro Regular" panose="020B0504020101020102" pitchFamily="34" charset="0"/>
                </a:rPr>
                <a:t>Ativação 1</a:t>
              </a:r>
            </a:p>
            <a:p>
              <a:endParaRPr lang="pt-BR" sz="1350" dirty="0"/>
            </a:p>
            <a:p>
              <a:r>
                <a:rPr lang="pt-BR" dirty="0">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214415" y="1863296"/>
            <a:ext cx="4572032" cy="1285884"/>
          </a:xfrm>
          <a:prstGeom prst="round2Same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500167"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a:t>
            </a:r>
            <a:r>
              <a:rPr lang="pt-BR" dirty="0">
                <a:solidFill>
                  <a:srgbClr val="006600"/>
                </a:solidFill>
                <a:latin typeface="DIN Pro Regular"/>
                <a:ea typeface="+mj-ea"/>
                <a:cs typeface="+mj-cs"/>
              </a:rPr>
              <a:t> </a:t>
            </a:r>
            <a:r>
              <a:rPr lang="pt-BR" b="1" dirty="0">
                <a:solidFill>
                  <a:srgbClr val="006600"/>
                </a:solidFill>
                <a:latin typeface="DIN Pro Regular"/>
                <a:ea typeface="+mj-ea"/>
                <a:cs typeface="+mj-cs"/>
              </a:rPr>
              <a:t>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85276"/>
            <a:ext cx="4572032" cy="1285884"/>
          </a:xfrm>
          <a:prstGeom prst="round2Same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7" name="CaixaDeTexto 6"/>
          <p:cNvSpPr txBox="1"/>
          <p:nvPr/>
        </p:nvSpPr>
        <p:spPr>
          <a:xfrm>
            <a:off x="1571604" y="2732480"/>
            <a:ext cx="4000528" cy="854080"/>
          </a:xfrm>
          <a:prstGeom prst="rect">
            <a:avLst/>
          </a:prstGeom>
          <a:noFill/>
        </p:spPr>
        <p:txBody>
          <a:bodyPr wrap="square" rtlCol="0">
            <a:spAutoFit/>
          </a:bodyPr>
          <a:lstStyle/>
          <a:p>
            <a:r>
              <a:rPr lang="pt-BR" b="1" dirty="0">
                <a:latin typeface="DIN Pro Regular"/>
                <a:ea typeface="+mj-ea"/>
                <a:cs typeface="+mj-cs"/>
              </a:rPr>
              <a:t>Ativação 3</a:t>
            </a:r>
          </a:p>
          <a:p>
            <a:endParaRPr lang="pt-BR" sz="1350" dirty="0"/>
          </a:p>
          <a:p>
            <a:r>
              <a:rPr lang="pt-BR" dirty="0">
                <a:latin typeface="DIN Pro Regular"/>
                <a:ea typeface="+mj-ea"/>
                <a:cs typeface="+mj-cs"/>
              </a:rPr>
              <a:t>n = 2 =&gt; 2 * fatorial (1) </a:t>
            </a:r>
          </a:p>
        </p:txBody>
      </p:sp>
      <p:grpSp>
        <p:nvGrpSpPr>
          <p:cNvPr id="3" name="Grupo 11"/>
          <p:cNvGrpSpPr/>
          <p:nvPr/>
        </p:nvGrpSpPr>
        <p:grpSpPr>
          <a:xfrm>
            <a:off x="1643043" y="3172494"/>
            <a:ext cx="4572032" cy="1285884"/>
            <a:chOff x="1509690" y="2438392"/>
            <a:chExt cx="4572032" cy="1714512"/>
          </a:xfrm>
          <a:solidFill>
            <a:schemeClr val="bg2">
              <a:lumMod val="90000"/>
            </a:schemeClr>
          </a:solidFill>
        </p:grpSpPr>
        <p:sp>
          <p:nvSpPr>
            <p:cNvPr id="10" name="Arredondar Retângulo no Mesmo Canto Lateral 9"/>
            <p:cNvSpPr/>
            <p:nvPr/>
          </p:nvSpPr>
          <p:spPr>
            <a:xfrm>
              <a:off x="1509690" y="2438392"/>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rgbClr val="0000CC"/>
                </a:solidFill>
              </a:endParaRPr>
            </a:p>
          </p:txBody>
        </p:sp>
        <p:sp>
          <p:nvSpPr>
            <p:cNvPr id="11" name="CaixaDeTexto 10"/>
            <p:cNvSpPr txBox="1"/>
            <p:nvPr/>
          </p:nvSpPr>
          <p:spPr>
            <a:xfrm>
              <a:off x="1724004" y="2652707"/>
              <a:ext cx="4000528" cy="1231107"/>
            </a:xfrm>
            <a:prstGeom prst="rect">
              <a:avLst/>
            </a:prstGeom>
            <a:grpFill/>
          </p:spPr>
          <p:txBody>
            <a:bodyPr wrap="square" rtlCol="0">
              <a:spAutoFit/>
            </a:bodyPr>
            <a:lstStyle/>
            <a:p>
              <a:r>
                <a:rPr lang="pt-BR" b="1" dirty="0">
                  <a:solidFill>
                    <a:srgbClr val="0000CC"/>
                  </a:solidFill>
                  <a:latin typeface="DIN Pro Regular"/>
                  <a:ea typeface="+mj-ea"/>
                  <a:cs typeface="+mj-cs"/>
                </a:rPr>
                <a:t>Ativação 4</a:t>
              </a:r>
            </a:p>
            <a:p>
              <a:r>
                <a:rPr lang="pt-BR" sz="1350" dirty="0">
                  <a:solidFill>
                    <a:srgbClr val="0000CC"/>
                  </a:solidFill>
                </a:rPr>
                <a:t>  			</a:t>
              </a:r>
              <a:r>
                <a:rPr lang="pt-BR" b="1" dirty="0"/>
                <a:t>1</a:t>
              </a:r>
              <a:endParaRPr lang="pt-BR" sz="1350" b="1" dirty="0"/>
            </a:p>
            <a:p>
              <a:r>
                <a:rPr lang="pt-BR" dirty="0">
                  <a:solidFill>
                    <a:srgbClr val="0000CC"/>
                  </a:solidFill>
                  <a:latin typeface="DIN Pro Regular"/>
                  <a:ea typeface="+mj-ea"/>
                  <a:cs typeface="+mj-cs"/>
                </a:rPr>
                <a:t>n = 1 =&gt; </a:t>
              </a:r>
              <a:r>
                <a:rPr lang="pt-BR" dirty="0" err="1">
                  <a:solidFill>
                    <a:srgbClr val="0000CC"/>
                  </a:solidFill>
                  <a:latin typeface="DIN Pro Regular"/>
                  <a:ea typeface="+mj-ea"/>
                  <a:cs typeface="+mj-cs"/>
                </a:rPr>
                <a:t>return</a:t>
              </a:r>
              <a:r>
                <a:rPr lang="pt-BR" dirty="0">
                  <a:solidFill>
                    <a:srgbClr val="0000CC"/>
                  </a:solidFill>
                  <a:latin typeface="DIN Pro Regular"/>
                  <a:ea typeface="+mj-ea"/>
                  <a:cs typeface="+mj-cs"/>
                </a:rPr>
                <a:t> (1 * fatorial (0))</a:t>
              </a:r>
            </a:p>
          </p:txBody>
        </p:sp>
      </p:grpSp>
      <p:sp>
        <p:nvSpPr>
          <p:cNvPr id="8" name="Título 7">
            <a:extLst>
              <a:ext uri="{FF2B5EF4-FFF2-40B4-BE49-F238E27FC236}">
                <a16:creationId xmlns:a16="http://schemas.microsoft.com/office/drawing/2014/main" id="{3211FFCD-0570-4B37-B41B-ABC3775A1FCB}"/>
              </a:ext>
            </a:extLst>
          </p:cNvPr>
          <p:cNvSpPr>
            <a:spLocks noGrp="1"/>
          </p:cNvSpPr>
          <p:nvPr>
            <p:ph type="title"/>
          </p:nvPr>
        </p:nvSpPr>
        <p:spPr/>
        <p:txBody>
          <a:bodyPr/>
          <a:lstStyle/>
          <a:p>
            <a:endParaRPr lang="pt-BR"/>
          </a:p>
        </p:txBody>
      </p:sp>
      <p:cxnSp>
        <p:nvCxnSpPr>
          <p:cNvPr id="13" name="Conector de seta reta 12">
            <a:extLst>
              <a:ext uri="{FF2B5EF4-FFF2-40B4-BE49-F238E27FC236}">
                <a16:creationId xmlns:a16="http://schemas.microsoft.com/office/drawing/2014/main" id="{B8F3A195-F6EF-42B5-88A9-97ACCB809EBD}"/>
              </a:ext>
            </a:extLst>
          </p:cNvPr>
          <p:cNvCxnSpPr/>
          <p:nvPr/>
        </p:nvCxnSpPr>
        <p:spPr>
          <a:xfrm rot="5400000" flipH="1" flipV="1">
            <a:off x="4099214" y="3803074"/>
            <a:ext cx="394855" cy="322118"/>
          </a:xfrm>
          <a:prstGeom prst="straightConnector1">
            <a:avLst/>
          </a:prstGeom>
          <a:ln w="28575">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20478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7"/>
          <p:cNvGrpSpPr/>
          <p:nvPr/>
        </p:nvGrpSpPr>
        <p:grpSpPr>
          <a:xfrm>
            <a:off x="1214415" y="1393017"/>
            <a:ext cx="4572032" cy="1285884"/>
            <a:chOff x="1285852" y="714356"/>
            <a:chExt cx="4572032" cy="1714512"/>
          </a:xfrm>
        </p:grpSpPr>
        <p:sp>
          <p:nvSpPr>
            <p:cNvPr id="9" name="Arredondar Retângulo no Mesmo Canto Lateral 8"/>
            <p:cNvSpPr/>
            <p:nvPr/>
          </p:nvSpPr>
          <p:spPr>
            <a:xfrm>
              <a:off x="1285852" y="714356"/>
              <a:ext cx="4572032" cy="1714512"/>
            </a:xfrm>
            <a:prstGeom prst="round2SameRect">
              <a:avLst/>
            </a:prstGeom>
            <a:solidFill>
              <a:schemeClr val="tx2">
                <a:lumMod val="40000"/>
                <a:lumOff val="6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1600" b="1" dirty="0">
                <a:solidFill>
                  <a:schemeClr val="tx1"/>
                </a:solidFill>
                <a:latin typeface="DIN Pro Regular" panose="020B0504020101020102"/>
              </a:endParaRPr>
            </a:p>
          </p:txBody>
        </p:sp>
        <p:sp>
          <p:nvSpPr>
            <p:cNvPr id="10" name="CaixaDeTexto 9"/>
            <p:cNvSpPr txBox="1"/>
            <p:nvPr/>
          </p:nvSpPr>
          <p:spPr>
            <a:xfrm>
              <a:off x="1643042" y="928671"/>
              <a:ext cx="4000528" cy="1138773"/>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a:defRPr sz="135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sz="1600" dirty="0">
                  <a:solidFill>
                    <a:schemeClr val="tx1"/>
                  </a:solidFill>
                  <a:latin typeface="DIN Pro Regular" panose="020B0504020101020102"/>
                </a:rPr>
                <a:t>Ativação 1</a:t>
              </a:r>
            </a:p>
            <a:p>
              <a:endParaRPr lang="pt-BR" sz="1600" dirty="0">
                <a:solidFill>
                  <a:schemeClr val="tx1"/>
                </a:solidFill>
                <a:latin typeface="DIN Pro Regular" panose="020B0504020101020102"/>
              </a:endParaRPr>
            </a:p>
            <a:p>
              <a:r>
                <a:rPr lang="pt-BR" sz="1600" dirty="0">
                  <a:solidFill>
                    <a:schemeClr val="tx1"/>
                  </a:solidFill>
                  <a:latin typeface="DIN Pro Regular" panose="020B0504020101020102"/>
                </a:rPr>
                <a:t>n = 4 =&gt; 4 * fatorial (3) </a:t>
              </a:r>
            </a:p>
          </p:txBody>
        </p:sp>
      </p:grpSp>
      <p:sp>
        <p:nvSpPr>
          <p:cNvPr id="5" name="Arredondar Retângulo no Mesmo Canto Lateral 4"/>
          <p:cNvSpPr/>
          <p:nvPr/>
        </p:nvSpPr>
        <p:spPr>
          <a:xfrm>
            <a:off x="1357291" y="2035959"/>
            <a:ext cx="4572032" cy="1285884"/>
          </a:xfrm>
          <a:prstGeom prst="round2Same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500167"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18166"/>
            <a:ext cx="4572032" cy="1285884"/>
          </a:xfrm>
          <a:prstGeom prst="round2Same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7" name="CaixaDeTexto 6"/>
          <p:cNvSpPr txBox="1"/>
          <p:nvPr/>
        </p:nvSpPr>
        <p:spPr>
          <a:xfrm>
            <a:off x="1571604" y="2732480"/>
            <a:ext cx="4000528" cy="923330"/>
          </a:xfrm>
          <a:prstGeom prst="rect">
            <a:avLst/>
          </a:prstGeom>
          <a:noFill/>
        </p:spPr>
        <p:txBody>
          <a:bodyPr wrap="square" rtlCol="0">
            <a:spAutoFit/>
          </a:bodyPr>
          <a:lstStyle/>
          <a:p>
            <a:r>
              <a:rPr lang="pt-BR" b="1" dirty="0">
                <a:latin typeface="DIN Pro Regular"/>
                <a:ea typeface="+mj-ea"/>
                <a:cs typeface="+mj-cs"/>
              </a:rPr>
              <a:t>Ativação 3</a:t>
            </a:r>
          </a:p>
          <a:p>
            <a:r>
              <a:rPr lang="pt-BR" b="1" dirty="0">
                <a:latin typeface="DIN Pro Regular"/>
                <a:ea typeface="+mj-ea"/>
                <a:cs typeface="+mj-cs"/>
              </a:rPr>
              <a:t>			1</a:t>
            </a:r>
          </a:p>
          <a:p>
            <a:r>
              <a:rPr lang="pt-BR" dirty="0">
                <a:latin typeface="DIN Pro Regular"/>
                <a:ea typeface="+mj-ea"/>
                <a:cs typeface="+mj-cs"/>
              </a:rPr>
              <a:t>n = 2 =&gt; </a:t>
            </a:r>
            <a:r>
              <a:rPr lang="pt-BR" dirty="0" err="1">
                <a:latin typeface="DIN Pro Regular"/>
                <a:ea typeface="+mj-ea"/>
                <a:cs typeface="+mj-cs"/>
              </a:rPr>
              <a:t>return</a:t>
            </a:r>
            <a:r>
              <a:rPr lang="pt-BR" dirty="0">
                <a:latin typeface="DIN Pro Regular"/>
                <a:ea typeface="+mj-ea"/>
                <a:cs typeface="+mj-cs"/>
              </a:rPr>
              <a:t> (2 * fatorial (1) )</a:t>
            </a:r>
          </a:p>
        </p:txBody>
      </p:sp>
      <p:sp>
        <p:nvSpPr>
          <p:cNvPr id="3" name="Título 2">
            <a:extLst>
              <a:ext uri="{FF2B5EF4-FFF2-40B4-BE49-F238E27FC236}">
                <a16:creationId xmlns:a16="http://schemas.microsoft.com/office/drawing/2014/main" id="{13ECFC93-33EE-4B18-BC35-153D864BD4AE}"/>
              </a:ext>
            </a:extLst>
          </p:cNvPr>
          <p:cNvSpPr>
            <a:spLocks noGrp="1"/>
          </p:cNvSpPr>
          <p:nvPr>
            <p:ph type="title"/>
          </p:nvPr>
        </p:nvSpPr>
        <p:spPr/>
        <p:txBody>
          <a:bodyPr/>
          <a:lstStyle/>
          <a:p>
            <a:endParaRPr lang="pt-BR"/>
          </a:p>
        </p:txBody>
      </p:sp>
      <p:cxnSp>
        <p:nvCxnSpPr>
          <p:cNvPr id="11" name="Conector de seta reta 12">
            <a:extLst>
              <a:ext uri="{FF2B5EF4-FFF2-40B4-BE49-F238E27FC236}">
                <a16:creationId xmlns:a16="http://schemas.microsoft.com/office/drawing/2014/main" id="{A4FB5F7C-83BB-49DB-ACA8-895902D0FC88}"/>
              </a:ext>
            </a:extLst>
          </p:cNvPr>
          <p:cNvCxnSpPr/>
          <p:nvPr/>
        </p:nvCxnSpPr>
        <p:spPr>
          <a:xfrm rot="5400000" flipH="1" flipV="1">
            <a:off x="3777096" y="3228073"/>
            <a:ext cx="394855" cy="322118"/>
          </a:xfrm>
          <a:prstGeom prst="straightConnector1">
            <a:avLst/>
          </a:prstGeom>
          <a:ln w="28575">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71948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3"/>
          <p:cNvGrpSpPr/>
          <p:nvPr/>
        </p:nvGrpSpPr>
        <p:grpSpPr>
          <a:xfrm>
            <a:off x="1071538" y="1393017"/>
            <a:ext cx="4572032" cy="1285884"/>
            <a:chOff x="1285852" y="714356"/>
            <a:chExt cx="4572032" cy="1714512"/>
          </a:xfrm>
        </p:grpSpPr>
        <p:sp>
          <p:nvSpPr>
            <p:cNvPr id="7" name="Arredondar Retângulo no Mesmo Canto Lateral 6"/>
            <p:cNvSpPr/>
            <p:nvPr/>
          </p:nvSpPr>
          <p:spPr>
            <a:xfrm>
              <a:off x="1285852" y="714356"/>
              <a:ext cx="4572032" cy="1714512"/>
            </a:xfrm>
            <a:prstGeom prst="round2SameRect">
              <a:avLst/>
            </a:prstGeom>
            <a:solidFill>
              <a:schemeClr val="tx2">
                <a:lumMod val="40000"/>
                <a:lumOff val="6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pt-BR" sz="1350" b="1" dirty="0">
                <a:solidFill>
                  <a:schemeClr val="tx1"/>
                </a:solidFill>
              </a:endParaRPr>
            </a:p>
          </p:txBody>
        </p:sp>
        <p:sp>
          <p:nvSpPr>
            <p:cNvPr id="8" name="CaixaDeTexto 7"/>
            <p:cNvSpPr txBox="1"/>
            <p:nvPr/>
          </p:nvSpPr>
          <p:spPr>
            <a:xfrm>
              <a:off x="1643042" y="928671"/>
              <a:ext cx="4000528" cy="11387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algn="ctr">
                <a:defRPr sz="135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pt-BR" sz="1600" b="1" dirty="0">
                  <a:solidFill>
                    <a:schemeClr val="tx1"/>
                  </a:solidFill>
                  <a:latin typeface="DIN Pro Regular" panose="020B0504020101020102"/>
                </a:rPr>
                <a:t>Ativação 1</a:t>
              </a:r>
            </a:p>
            <a:p>
              <a:pPr algn="l"/>
              <a:endParaRPr lang="pt-BR" sz="1600" b="1" dirty="0">
                <a:solidFill>
                  <a:schemeClr val="tx1"/>
                </a:solidFill>
                <a:latin typeface="DIN Pro Regular" panose="020B0504020101020102"/>
              </a:endParaRPr>
            </a:p>
            <a:p>
              <a:pPr algn="l"/>
              <a:r>
                <a:rPr lang="pt-BR" sz="1600" b="1" dirty="0">
                  <a:solidFill>
                    <a:schemeClr val="tx1"/>
                  </a:solidFill>
                  <a:latin typeface="DIN Pro Regular" panose="020B0504020101020102"/>
                </a:rPr>
                <a:t>n = 4 =&gt; 4 * fatorial (3) </a:t>
              </a:r>
            </a:p>
          </p:txBody>
        </p:sp>
      </p:grpSp>
      <p:grpSp>
        <p:nvGrpSpPr>
          <p:cNvPr id="3" name="Grupo 8"/>
          <p:cNvGrpSpPr/>
          <p:nvPr/>
        </p:nvGrpSpPr>
        <p:grpSpPr>
          <a:xfrm>
            <a:off x="1357291" y="1982381"/>
            <a:ext cx="4572032" cy="1285884"/>
            <a:chOff x="2643174" y="3500438"/>
            <a:chExt cx="4572032" cy="1714512"/>
          </a:xfrm>
          <a:solidFill>
            <a:schemeClr val="accent3">
              <a:lumMod val="20000"/>
              <a:lumOff val="80000"/>
            </a:schemeClr>
          </a:solidFill>
        </p:grpSpPr>
        <p:sp>
          <p:nvSpPr>
            <p:cNvPr id="5" name="Arredondar Retângulo no Mesmo Canto Lateral 4"/>
            <p:cNvSpPr/>
            <p:nvPr/>
          </p:nvSpPr>
          <p:spPr>
            <a:xfrm>
              <a:off x="2643174" y="3500438"/>
              <a:ext cx="4572032" cy="1714512"/>
            </a:xfrm>
            <a:prstGeom prst="round2Same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6" name="CaixaDeTexto 5"/>
            <p:cNvSpPr txBox="1"/>
            <p:nvPr/>
          </p:nvSpPr>
          <p:spPr>
            <a:xfrm>
              <a:off x="2857488" y="3643314"/>
              <a:ext cx="4000528" cy="1231107"/>
            </a:xfrm>
            <a:prstGeom prst="rect">
              <a:avLst/>
            </a:prstGeom>
            <a:grpFill/>
          </p:spPr>
          <p:txBody>
            <a:bodyPr wrap="square" rtlCol="0">
              <a:spAutoFit/>
            </a:bodyPr>
            <a:lstStyle/>
            <a:p>
              <a:r>
                <a:rPr lang="pt-BR" b="1" dirty="0">
                  <a:solidFill>
                    <a:srgbClr val="006600"/>
                  </a:solidFill>
                  <a:latin typeface="DIN Pro Regular"/>
                  <a:ea typeface="+mj-ea"/>
                  <a:cs typeface="+mj-cs"/>
                </a:rPr>
                <a:t>Ativação 2</a:t>
              </a:r>
            </a:p>
            <a:p>
              <a:r>
                <a:rPr lang="pt-BR" b="1" dirty="0">
                  <a:solidFill>
                    <a:srgbClr val="006600"/>
                  </a:solidFill>
                  <a:latin typeface="DIN Pro Regular"/>
                  <a:ea typeface="+mj-ea"/>
                  <a:cs typeface="+mj-cs"/>
                </a:rPr>
                <a:t>			2</a:t>
              </a:r>
            </a:p>
            <a:p>
              <a:r>
                <a:rPr lang="pt-BR" dirty="0">
                  <a:solidFill>
                    <a:srgbClr val="006600"/>
                  </a:solidFill>
                  <a:latin typeface="DIN Pro Regular"/>
                  <a:ea typeface="+mj-ea"/>
                  <a:cs typeface="+mj-cs"/>
                </a:rPr>
                <a:t>n = 3 =&gt; </a:t>
              </a:r>
              <a:r>
                <a:rPr lang="pt-BR" dirty="0" err="1">
                  <a:solidFill>
                    <a:srgbClr val="006600"/>
                  </a:solidFill>
                  <a:latin typeface="DIN Pro Regular"/>
                  <a:ea typeface="+mj-ea"/>
                  <a:cs typeface="+mj-cs"/>
                </a:rPr>
                <a:t>return</a:t>
              </a:r>
              <a:r>
                <a:rPr lang="pt-BR" dirty="0">
                  <a:solidFill>
                    <a:srgbClr val="006600"/>
                  </a:solidFill>
                  <a:latin typeface="DIN Pro Regular"/>
                  <a:ea typeface="+mj-ea"/>
                  <a:cs typeface="+mj-cs"/>
                </a:rPr>
                <a:t> ( 3 * fatorial (2) )</a:t>
              </a:r>
            </a:p>
          </p:txBody>
        </p:sp>
      </p:grpSp>
      <p:sp>
        <p:nvSpPr>
          <p:cNvPr id="4" name="Título 3">
            <a:extLst>
              <a:ext uri="{FF2B5EF4-FFF2-40B4-BE49-F238E27FC236}">
                <a16:creationId xmlns:a16="http://schemas.microsoft.com/office/drawing/2014/main" id="{54D468DA-16C5-45B1-A806-D74EAA2AD1C8}"/>
              </a:ext>
            </a:extLst>
          </p:cNvPr>
          <p:cNvSpPr>
            <a:spLocks noGrp="1"/>
          </p:cNvSpPr>
          <p:nvPr>
            <p:ph type="title"/>
          </p:nvPr>
        </p:nvSpPr>
        <p:spPr/>
        <p:txBody>
          <a:bodyPr/>
          <a:lstStyle/>
          <a:p>
            <a:endParaRPr lang="pt-BR"/>
          </a:p>
        </p:txBody>
      </p:sp>
      <p:cxnSp>
        <p:nvCxnSpPr>
          <p:cNvPr id="9" name="Conector de seta reta 12">
            <a:extLst>
              <a:ext uri="{FF2B5EF4-FFF2-40B4-BE49-F238E27FC236}">
                <a16:creationId xmlns:a16="http://schemas.microsoft.com/office/drawing/2014/main" id="{1DEBEE19-25CC-49FC-862E-97C5800E1A30}"/>
              </a:ext>
            </a:extLst>
          </p:cNvPr>
          <p:cNvCxnSpPr/>
          <p:nvPr/>
        </p:nvCxnSpPr>
        <p:spPr>
          <a:xfrm rot="5400000" flipH="1" flipV="1">
            <a:off x="3938156" y="2661691"/>
            <a:ext cx="394855" cy="322118"/>
          </a:xfrm>
          <a:prstGeom prst="straightConnector1">
            <a:avLst/>
          </a:prstGeom>
          <a:ln w="28575">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46837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6"/>
          <p:cNvGrpSpPr/>
          <p:nvPr/>
        </p:nvGrpSpPr>
        <p:grpSpPr>
          <a:xfrm>
            <a:off x="1285852" y="1393017"/>
            <a:ext cx="4572032" cy="1285884"/>
            <a:chOff x="1285852" y="714356"/>
            <a:chExt cx="4572032" cy="1714512"/>
          </a:xfrm>
        </p:grpSpPr>
        <p:sp>
          <p:nvSpPr>
            <p:cNvPr id="5" name="Arredondar Retângulo no Mesmo Canto Lateral 4"/>
            <p:cNvSpPr/>
            <p:nvPr/>
          </p:nvSpPr>
          <p:spPr>
            <a:xfrm>
              <a:off x="1285852" y="714356"/>
              <a:ext cx="4572032" cy="1714512"/>
            </a:xfrm>
            <a:prstGeom prst="round2Same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chemeClr val="tx1"/>
                </a:solidFill>
              </a:endParaRPr>
            </a:p>
          </p:txBody>
        </p:sp>
        <p:sp>
          <p:nvSpPr>
            <p:cNvPr id="6" name="CaixaDeTexto 5"/>
            <p:cNvSpPr txBox="1"/>
            <p:nvPr/>
          </p:nvSpPr>
          <p:spPr>
            <a:xfrm>
              <a:off x="1643042" y="928671"/>
              <a:ext cx="4000528" cy="1231107"/>
            </a:xfrm>
            <a:prstGeom prst="rect">
              <a:avLst/>
            </a:prstGeom>
            <a:noFill/>
          </p:spPr>
          <p:txBody>
            <a:bodyPr wrap="square" rtlCol="0">
              <a:spAutoFit/>
            </a:bodyPr>
            <a:lstStyle/>
            <a:p>
              <a:r>
                <a:rPr lang="pt-BR" b="1" dirty="0">
                  <a:latin typeface="DIN Pro Regular" panose="020B0504020101020102" pitchFamily="34" charset="0"/>
                  <a:cs typeface="DIN Pro Regular" panose="020B0504020101020102" pitchFamily="34" charset="0"/>
                </a:rPr>
                <a:t>Ativação 1</a:t>
              </a:r>
            </a:p>
            <a:p>
              <a:r>
                <a:rPr lang="pt-BR" b="1" dirty="0">
                  <a:latin typeface="DIN Pro Regular" panose="020B0504020101020102" pitchFamily="34" charset="0"/>
                  <a:cs typeface="DIN Pro Regular" panose="020B0504020101020102" pitchFamily="34" charset="0"/>
                </a:rPr>
                <a:t>			6</a:t>
              </a:r>
              <a:endParaRPr lang="pt-BR" sz="1350" dirty="0"/>
            </a:p>
            <a:p>
              <a:r>
                <a:rPr lang="pt-BR" dirty="0">
                  <a:latin typeface="DIN Pro Regular" panose="020B0504020101020102" pitchFamily="34" charset="0"/>
                  <a:cs typeface="DIN Pro Regular" panose="020B0504020101020102" pitchFamily="34" charset="0"/>
                </a:rPr>
                <a:t>n = 4 =&gt; </a:t>
              </a:r>
              <a:r>
                <a:rPr lang="pt-BR" dirty="0" err="1">
                  <a:latin typeface="DIN Pro Regular" panose="020B0504020101020102" pitchFamily="34" charset="0"/>
                  <a:cs typeface="DIN Pro Regular" panose="020B0504020101020102" pitchFamily="34" charset="0"/>
                </a:rPr>
                <a:t>return</a:t>
              </a:r>
              <a:r>
                <a:rPr lang="pt-BR" dirty="0">
                  <a:latin typeface="DIN Pro Regular" panose="020B0504020101020102" pitchFamily="34" charset="0"/>
                  <a:cs typeface="DIN Pro Regular" panose="020B0504020101020102" pitchFamily="34" charset="0"/>
                </a:rPr>
                <a:t> (4 * fatorial (3))</a:t>
              </a:r>
            </a:p>
          </p:txBody>
        </p:sp>
      </p:grpSp>
      <p:sp>
        <p:nvSpPr>
          <p:cNvPr id="3" name="Título 2">
            <a:extLst>
              <a:ext uri="{FF2B5EF4-FFF2-40B4-BE49-F238E27FC236}">
                <a16:creationId xmlns:a16="http://schemas.microsoft.com/office/drawing/2014/main" id="{57A4CC61-71D2-4AE7-B5D1-E4EA2FC3CE3E}"/>
              </a:ext>
            </a:extLst>
          </p:cNvPr>
          <p:cNvSpPr>
            <a:spLocks noGrp="1"/>
          </p:cNvSpPr>
          <p:nvPr>
            <p:ph type="title"/>
          </p:nvPr>
        </p:nvSpPr>
        <p:spPr/>
        <p:txBody>
          <a:bodyPr/>
          <a:lstStyle/>
          <a:p>
            <a:endParaRPr lang="pt-BR" dirty="0"/>
          </a:p>
        </p:txBody>
      </p:sp>
      <p:cxnSp>
        <p:nvCxnSpPr>
          <p:cNvPr id="7" name="Conector de seta reta 12">
            <a:extLst>
              <a:ext uri="{FF2B5EF4-FFF2-40B4-BE49-F238E27FC236}">
                <a16:creationId xmlns:a16="http://schemas.microsoft.com/office/drawing/2014/main" id="{510CF256-1BEC-470B-BDBB-DCDEF8BFE79D}"/>
              </a:ext>
            </a:extLst>
          </p:cNvPr>
          <p:cNvCxnSpPr/>
          <p:nvPr/>
        </p:nvCxnSpPr>
        <p:spPr>
          <a:xfrm rot="5400000" flipH="1" flipV="1">
            <a:off x="3938156" y="2072327"/>
            <a:ext cx="394855" cy="322118"/>
          </a:xfrm>
          <a:prstGeom prst="straightConnector1">
            <a:avLst/>
          </a:prstGeom>
          <a:ln w="28575">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07895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9E5225E3-8BD1-43B5-A095-5C68775372F4}"/>
              </a:ext>
            </a:extLst>
          </p:cNvPr>
          <p:cNvSpPr txBox="1"/>
          <p:nvPr/>
        </p:nvSpPr>
        <p:spPr>
          <a:xfrm>
            <a:off x="748863" y="1274218"/>
            <a:ext cx="6251028" cy="3416320"/>
          </a:xfrm>
          <a:prstGeom prst="rect">
            <a:avLst/>
          </a:prstGeom>
          <a:solidFill>
            <a:schemeClr val="accent6">
              <a:lumMod val="60000"/>
              <a:lumOff val="40000"/>
            </a:schemeClr>
          </a:solidFill>
        </p:spPr>
        <p:txBody>
          <a:bodyPr wrap="square">
            <a:spAutoFit/>
          </a:bodyPr>
          <a:lstStyle/>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void</a:t>
            </a:r>
            <a:r>
              <a:rPr lang="en-US" sz="1800" b="1" dirty="0">
                <a:solidFill>
                  <a:srgbClr val="000000"/>
                </a:solidFill>
                <a:latin typeface="Consolas" panose="020B0609020204030204" pitchFamily="49" charset="0"/>
              </a:rPr>
              <a:t> main(String[] </a:t>
            </a:r>
            <a:r>
              <a:rPr lang="en-US" sz="1800" b="1" dirty="0" err="1">
                <a:solidFill>
                  <a:srgbClr val="6A3E3E"/>
                </a:solidFill>
                <a:latin typeface="Consolas" panose="020B0609020204030204" pitchFamily="49" charset="0"/>
              </a:rPr>
              <a:t>args</a:t>
            </a:r>
            <a:r>
              <a:rPr lang="en-US" sz="1800" b="1" dirty="0">
                <a:solidFill>
                  <a:srgbClr val="000000"/>
                </a:solidFill>
                <a:latin typeface="Consolas" panose="020B0609020204030204" pitchFamily="49" charset="0"/>
              </a:rPr>
              <a:t>) {</a:t>
            </a:r>
          </a:p>
          <a:p>
            <a:pPr indent="630238" algn="l"/>
            <a:r>
              <a:rPr lang="pt-BR" sz="1800" b="1" dirty="0" err="1">
                <a:solidFill>
                  <a:srgbClr val="7F0055"/>
                </a:solidFill>
                <a:latin typeface="Consolas" panose="020B0609020204030204" pitchFamily="49" charset="0"/>
              </a:rPr>
              <a:t>int</a:t>
            </a:r>
            <a:r>
              <a:rPr lang="pt-BR" sz="1800" b="1" dirty="0">
                <a:solidFill>
                  <a:srgbClr val="000000"/>
                </a:solidFill>
                <a:latin typeface="Consolas" panose="020B0609020204030204" pitchFamily="49" charset="0"/>
              </a:rPr>
              <a:t>  </a:t>
            </a:r>
            <a:r>
              <a:rPr lang="pt-BR" sz="1800" b="1" dirty="0" err="1">
                <a:solidFill>
                  <a:srgbClr val="6A3E3E"/>
                </a:solidFill>
                <a:latin typeface="Consolas" panose="020B0609020204030204" pitchFamily="49" charset="0"/>
              </a:rPr>
              <a:t>fat</a:t>
            </a:r>
            <a:r>
              <a:rPr lang="pt-BR" sz="1800" b="1" dirty="0">
                <a:solidFill>
                  <a:srgbClr val="000000"/>
                </a:solidFill>
                <a:latin typeface="Consolas" panose="020B0609020204030204" pitchFamily="49" charset="0"/>
              </a:rPr>
              <a:t>;</a:t>
            </a:r>
          </a:p>
          <a:p>
            <a:pPr indent="630238" algn="l"/>
            <a:r>
              <a:rPr lang="pt-BR" sz="1800" dirty="0" err="1">
                <a:solidFill>
                  <a:srgbClr val="6A3E3E"/>
                </a:solidFill>
                <a:latin typeface="Consolas" panose="020B0609020204030204" pitchFamily="49" charset="0"/>
              </a:rPr>
              <a:t>fat</a:t>
            </a:r>
            <a:r>
              <a:rPr lang="pt-BR" sz="1800" dirty="0">
                <a:solidFill>
                  <a:srgbClr val="000000"/>
                </a:solidFill>
                <a:latin typeface="Consolas" panose="020B0609020204030204" pitchFamily="49" charset="0"/>
              </a:rPr>
              <a:t> = </a:t>
            </a:r>
            <a:r>
              <a:rPr lang="pt-BR" sz="1800" i="1" dirty="0">
                <a:solidFill>
                  <a:srgbClr val="000000"/>
                </a:solidFill>
                <a:latin typeface="Consolas" panose="020B0609020204030204" pitchFamily="49" charset="0"/>
              </a:rPr>
              <a:t>fatorial (4);</a:t>
            </a:r>
          </a:p>
          <a:p>
            <a:pPr indent="630238" algn="l"/>
            <a:r>
              <a:rPr lang="pt-BR" sz="1800" dirty="0" err="1">
                <a:solidFill>
                  <a:srgbClr val="000000"/>
                </a:solidFill>
                <a:latin typeface="Consolas" panose="020B0609020204030204" pitchFamily="49" charset="0"/>
              </a:rPr>
              <a:t>System.</a:t>
            </a:r>
            <a:r>
              <a:rPr lang="pt-BR" sz="1800" b="1" i="1" dirty="0" err="1">
                <a:solidFill>
                  <a:srgbClr val="0000C0"/>
                </a:solidFill>
                <a:latin typeface="Consolas" panose="020B0609020204030204" pitchFamily="49" charset="0"/>
              </a:rPr>
              <a:t>out</a:t>
            </a:r>
            <a:r>
              <a:rPr lang="pt-BR" sz="1800" b="1" i="1" dirty="0" err="1">
                <a:solidFill>
                  <a:srgbClr val="000000"/>
                </a:solidFill>
                <a:latin typeface="Consolas" panose="020B0609020204030204" pitchFamily="49" charset="0"/>
              </a:rPr>
              <a:t>.println</a:t>
            </a:r>
            <a:r>
              <a:rPr lang="pt-BR" sz="1800" b="1" i="1" dirty="0">
                <a:solidFill>
                  <a:srgbClr val="000000"/>
                </a:solidFill>
                <a:latin typeface="Consolas" panose="020B0609020204030204" pitchFamily="49" charset="0"/>
              </a:rPr>
              <a:t>(</a:t>
            </a:r>
            <a:r>
              <a:rPr lang="pt-BR" sz="1800" b="1" i="1" dirty="0">
                <a:solidFill>
                  <a:srgbClr val="2A00FF"/>
                </a:solidFill>
                <a:latin typeface="Consolas" panose="020B0609020204030204" pitchFamily="49" charset="0"/>
              </a:rPr>
              <a:t>"Fatorial = "</a:t>
            </a:r>
            <a:r>
              <a:rPr lang="pt-BR" sz="1800" b="1" i="1" dirty="0">
                <a:solidFill>
                  <a:srgbClr val="000000"/>
                </a:solidFill>
                <a:latin typeface="Consolas" panose="020B0609020204030204" pitchFamily="49" charset="0"/>
              </a:rPr>
              <a:t> + </a:t>
            </a:r>
            <a:r>
              <a:rPr lang="pt-BR" sz="1800" b="1" i="1" dirty="0" err="1">
                <a:solidFill>
                  <a:srgbClr val="6A3E3E"/>
                </a:solidFill>
                <a:latin typeface="Consolas" panose="020B0609020204030204" pitchFamily="49" charset="0"/>
              </a:rPr>
              <a:t>fat</a:t>
            </a:r>
            <a:r>
              <a:rPr lang="pt-BR" sz="1800" b="1" i="1" dirty="0">
                <a:solidFill>
                  <a:srgbClr val="000000"/>
                </a:solidFill>
                <a:latin typeface="Consolas" panose="020B0609020204030204" pitchFamily="49" charset="0"/>
              </a:rPr>
              <a:t>);</a:t>
            </a:r>
          </a:p>
          <a:p>
            <a:pPr algn="l"/>
            <a:endParaRPr lang="pt-BR" sz="1800" dirty="0">
              <a:latin typeface="Consolas" panose="020B0609020204030204" pitchFamily="49" charset="0"/>
            </a:endParaRPr>
          </a:p>
          <a:p>
            <a:pPr algn="l"/>
            <a:r>
              <a:rPr lang="pt-BR" sz="1800" dirty="0">
                <a:solidFill>
                  <a:srgbClr val="000000"/>
                </a:solidFill>
                <a:latin typeface="Consolas" panose="020B0609020204030204" pitchFamily="49" charset="0"/>
              </a:rPr>
              <a:t>}</a:t>
            </a:r>
          </a:p>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a:t>
            </a:r>
            <a:r>
              <a:rPr lang="en-US" sz="1800" b="1" dirty="0">
                <a:solidFill>
                  <a:srgbClr val="000000"/>
                </a:solidFill>
                <a:latin typeface="Consolas" panose="020B0609020204030204" pitchFamily="49" charset="0"/>
              </a:rPr>
              <a:t> </a:t>
            </a:r>
            <a:r>
              <a:rPr lang="en-US" sz="1800" b="1" dirty="0" err="1">
                <a:solidFill>
                  <a:srgbClr val="000000"/>
                </a:solidFill>
                <a:latin typeface="Consolas" panose="020B0609020204030204" pitchFamily="49" charset="0"/>
              </a:rPr>
              <a:t>fatorial</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int</a:t>
            </a:r>
            <a:r>
              <a:rPr lang="en-US" sz="1800" b="1" dirty="0">
                <a:solidFill>
                  <a:srgbClr val="000000"/>
                </a:solidFill>
                <a:latin typeface="Consolas" panose="020B0609020204030204" pitchFamily="49" charset="0"/>
              </a:rPr>
              <a:t> </a:t>
            </a:r>
            <a:r>
              <a:rPr lang="en-US" sz="1800" b="1" dirty="0">
                <a:solidFill>
                  <a:srgbClr val="6A3E3E"/>
                </a:solidFill>
                <a:latin typeface="Consolas" panose="020B0609020204030204" pitchFamily="49" charset="0"/>
              </a:rPr>
              <a:t>n</a:t>
            </a:r>
            <a:r>
              <a:rPr lang="en-US" sz="1800" b="1" dirty="0">
                <a:solidFill>
                  <a:srgbClr val="000000"/>
                </a:solidFill>
                <a:latin typeface="Consolas" panose="020B0609020204030204" pitchFamily="49" charset="0"/>
              </a:rPr>
              <a:t>) {</a:t>
            </a:r>
          </a:p>
          <a:p>
            <a:pPr indent="630238" algn="l"/>
            <a:r>
              <a:rPr lang="pt-BR" sz="1800" b="1" dirty="0" err="1">
                <a:solidFill>
                  <a:srgbClr val="7F0055"/>
                </a:solidFill>
                <a:latin typeface="Consolas" panose="020B0609020204030204" pitchFamily="49" charset="0"/>
              </a:rPr>
              <a:t>if</a:t>
            </a:r>
            <a:r>
              <a:rPr lang="pt-BR" sz="1800" b="1" dirty="0">
                <a:solidFill>
                  <a:srgbClr val="000000"/>
                </a:solidFill>
                <a:latin typeface="Consolas" panose="020B0609020204030204" pitchFamily="49" charset="0"/>
              </a:rPr>
              <a:t> (</a:t>
            </a:r>
            <a:r>
              <a:rPr lang="pt-BR" sz="1800" b="1" dirty="0">
                <a:solidFill>
                  <a:srgbClr val="6A3E3E"/>
                </a:solidFill>
                <a:latin typeface="Consolas" panose="020B0609020204030204" pitchFamily="49" charset="0"/>
              </a:rPr>
              <a:t>n</a:t>
            </a:r>
            <a:r>
              <a:rPr lang="pt-BR" sz="1800" b="1" dirty="0">
                <a:solidFill>
                  <a:srgbClr val="000000"/>
                </a:solidFill>
                <a:latin typeface="Consolas" panose="020B0609020204030204" pitchFamily="49" charset="0"/>
              </a:rPr>
              <a:t> != 0)</a:t>
            </a:r>
          </a:p>
          <a:p>
            <a:pPr indent="630238" algn="l"/>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return</a:t>
            </a:r>
            <a:r>
              <a:rPr lang="pt-BR" sz="1800" b="1" dirty="0">
                <a:solidFill>
                  <a:srgbClr val="000000"/>
                </a:solidFill>
                <a:latin typeface="Consolas" panose="020B0609020204030204" pitchFamily="49" charset="0"/>
              </a:rPr>
              <a:t> ( </a:t>
            </a:r>
            <a:r>
              <a:rPr lang="pt-BR" sz="1800" b="1" dirty="0">
                <a:solidFill>
                  <a:srgbClr val="6A3E3E"/>
                </a:solidFill>
                <a:latin typeface="Consolas" panose="020B0609020204030204" pitchFamily="49" charset="0"/>
              </a:rPr>
              <a:t>n</a:t>
            </a:r>
            <a:r>
              <a:rPr lang="pt-BR" sz="1800" b="1" dirty="0">
                <a:solidFill>
                  <a:srgbClr val="000000"/>
                </a:solidFill>
                <a:latin typeface="Consolas" panose="020B0609020204030204" pitchFamily="49" charset="0"/>
              </a:rPr>
              <a:t> * </a:t>
            </a:r>
            <a:r>
              <a:rPr lang="pt-BR" sz="1800" b="1" i="1" dirty="0">
                <a:solidFill>
                  <a:srgbClr val="000000"/>
                </a:solidFill>
                <a:latin typeface="Consolas" panose="020B0609020204030204" pitchFamily="49" charset="0"/>
              </a:rPr>
              <a:t>fatorial (</a:t>
            </a:r>
            <a:r>
              <a:rPr lang="pt-BR" sz="1800" b="1" i="1" dirty="0">
                <a:solidFill>
                  <a:srgbClr val="6A3E3E"/>
                </a:solidFill>
                <a:latin typeface="Consolas" panose="020B0609020204030204" pitchFamily="49" charset="0"/>
              </a:rPr>
              <a:t>n</a:t>
            </a:r>
            <a:r>
              <a:rPr lang="pt-BR" sz="1800" b="1" i="1" dirty="0">
                <a:solidFill>
                  <a:srgbClr val="000000"/>
                </a:solidFill>
                <a:latin typeface="Consolas" panose="020B0609020204030204" pitchFamily="49" charset="0"/>
              </a:rPr>
              <a:t>-1) );</a:t>
            </a:r>
          </a:p>
          <a:p>
            <a:pPr indent="630238" algn="l"/>
            <a:r>
              <a:rPr lang="pt-BR" sz="1800" b="1" dirty="0" err="1">
                <a:solidFill>
                  <a:srgbClr val="7F0055"/>
                </a:solidFill>
                <a:latin typeface="Consolas" panose="020B0609020204030204" pitchFamily="49" charset="0"/>
              </a:rPr>
              <a:t>else</a:t>
            </a:r>
            <a:endParaRPr lang="pt-BR" sz="1800" b="1" dirty="0">
              <a:solidFill>
                <a:srgbClr val="7F0055"/>
              </a:solidFill>
              <a:latin typeface="Consolas" panose="020B0609020204030204" pitchFamily="49" charset="0"/>
            </a:endParaRPr>
          </a:p>
          <a:p>
            <a:pPr indent="630238" algn="l"/>
            <a:r>
              <a:rPr lang="pt-BR" sz="1800" b="1" dirty="0">
                <a:solidFill>
                  <a:srgbClr val="7F0055"/>
                </a:solidFill>
                <a:latin typeface="Consolas" panose="020B0609020204030204" pitchFamily="49" charset="0"/>
              </a:rPr>
              <a:t>	</a:t>
            </a:r>
            <a:r>
              <a:rPr lang="pt-BR" sz="1800" b="1" dirty="0" err="1">
                <a:solidFill>
                  <a:srgbClr val="7F0055"/>
                </a:solidFill>
                <a:latin typeface="Consolas" panose="020B0609020204030204" pitchFamily="49" charset="0"/>
              </a:rPr>
              <a:t>return</a:t>
            </a:r>
            <a:r>
              <a:rPr lang="pt-BR" sz="1800" b="1" dirty="0">
                <a:solidFill>
                  <a:srgbClr val="000000"/>
                </a:solidFill>
                <a:latin typeface="Consolas" panose="020B0609020204030204" pitchFamily="49" charset="0"/>
              </a:rPr>
              <a:t> (1);</a:t>
            </a:r>
          </a:p>
          <a:p>
            <a:pPr algn="l"/>
            <a:r>
              <a:rPr lang="pt-BR" sz="1800" dirty="0">
                <a:solidFill>
                  <a:srgbClr val="000000"/>
                </a:solidFill>
                <a:latin typeface="Consolas" panose="020B0609020204030204" pitchFamily="49" charset="0"/>
              </a:rPr>
              <a:t>}</a:t>
            </a:r>
            <a:endParaRPr lang="pt-BR" dirty="0"/>
          </a:p>
        </p:txBody>
      </p:sp>
      <p:sp>
        <p:nvSpPr>
          <p:cNvPr id="2" name="Título 1"/>
          <p:cNvSpPr>
            <a:spLocks noGrp="1"/>
          </p:cNvSpPr>
          <p:nvPr>
            <p:ph type="title"/>
          </p:nvPr>
        </p:nvSpPr>
        <p:spPr/>
        <p:txBody>
          <a:bodyPr>
            <a:normAutofit fontScale="90000"/>
          </a:bodyPr>
          <a:lstStyle/>
          <a:p>
            <a:r>
              <a:rPr lang="pt-BR" sz="2400" dirty="0"/>
              <a:t>Implementação</a:t>
            </a:r>
            <a:r>
              <a:rPr lang="pt-BR" dirty="0"/>
              <a:t> Recursiva  da Função Fatorial</a:t>
            </a:r>
            <a:r>
              <a:rPr lang="pt-BR" sz="2850" dirty="0"/>
              <a:t> </a:t>
            </a:r>
            <a:endParaRPr lang="en-US" sz="2850" dirty="0"/>
          </a:p>
        </p:txBody>
      </p:sp>
      <p:grpSp>
        <p:nvGrpSpPr>
          <p:cNvPr id="8" name="Agrupar 7">
            <a:extLst>
              <a:ext uri="{FF2B5EF4-FFF2-40B4-BE49-F238E27FC236}">
                <a16:creationId xmlns:a16="http://schemas.microsoft.com/office/drawing/2014/main" id="{075D80EA-A75A-4948-AA6D-6F6531BDA0C9}"/>
              </a:ext>
            </a:extLst>
          </p:cNvPr>
          <p:cNvGrpSpPr/>
          <p:nvPr/>
        </p:nvGrpSpPr>
        <p:grpSpPr>
          <a:xfrm>
            <a:off x="2721344" y="1582798"/>
            <a:ext cx="1153033" cy="624906"/>
            <a:chOff x="2937761" y="3939569"/>
            <a:chExt cx="1153033" cy="624906"/>
          </a:xfrm>
        </p:grpSpPr>
        <p:cxnSp>
          <p:nvCxnSpPr>
            <p:cNvPr id="5" name="Conector de seta reta 3">
              <a:extLst>
                <a:ext uri="{FF2B5EF4-FFF2-40B4-BE49-F238E27FC236}">
                  <a16:creationId xmlns:a16="http://schemas.microsoft.com/office/drawing/2014/main" id="{763A5DD2-A51B-4667-8096-9DAF6640F803}"/>
                </a:ext>
              </a:extLst>
            </p:cNvPr>
            <p:cNvCxnSpPr/>
            <p:nvPr/>
          </p:nvCxnSpPr>
          <p:spPr>
            <a:xfrm flipV="1">
              <a:off x="2937761" y="4024147"/>
              <a:ext cx="571501" cy="540328"/>
            </a:xfrm>
            <a:prstGeom prst="straightConnector1">
              <a:avLst/>
            </a:prstGeom>
            <a:ln w="28575">
              <a:solidFill>
                <a:srgbClr val="5035F5"/>
              </a:solidFill>
              <a:tailEnd type="arrow"/>
            </a:ln>
          </p:spPr>
          <p:style>
            <a:lnRef idx="1">
              <a:schemeClr val="accent1"/>
            </a:lnRef>
            <a:fillRef idx="0">
              <a:schemeClr val="accent1"/>
            </a:fillRef>
            <a:effectRef idx="0">
              <a:schemeClr val="accent1"/>
            </a:effectRef>
            <a:fontRef idx="minor">
              <a:schemeClr val="tx1"/>
            </a:fontRef>
          </p:style>
        </p:cxnSp>
        <p:sp>
          <p:nvSpPr>
            <p:cNvPr id="6" name="CaixaDeTexto 5">
              <a:extLst>
                <a:ext uri="{FF2B5EF4-FFF2-40B4-BE49-F238E27FC236}">
                  <a16:creationId xmlns:a16="http://schemas.microsoft.com/office/drawing/2014/main" id="{C8284CE4-8D80-48B3-8A83-2D1CAE112C91}"/>
                </a:ext>
              </a:extLst>
            </p:cNvPr>
            <p:cNvSpPr txBox="1"/>
            <p:nvPr/>
          </p:nvSpPr>
          <p:spPr>
            <a:xfrm>
              <a:off x="3425776" y="3939569"/>
              <a:ext cx="665018" cy="415498"/>
            </a:xfrm>
            <a:prstGeom prst="rect">
              <a:avLst/>
            </a:prstGeom>
            <a:noFill/>
            <a:ln>
              <a:noFill/>
            </a:ln>
          </p:spPr>
          <p:txBody>
            <a:bodyPr wrap="square" rtlCol="0">
              <a:spAutoFit/>
            </a:bodyPr>
            <a:lstStyle/>
            <a:p>
              <a:r>
                <a:rPr lang="pt-BR" sz="2100" b="1" dirty="0">
                  <a:solidFill>
                    <a:srgbClr val="0000CC"/>
                  </a:solidFill>
                  <a:latin typeface="DIN Pro Regular"/>
                </a:rPr>
                <a:t>24</a:t>
              </a:r>
              <a:endParaRPr lang="pt-BR" sz="1350" b="1" dirty="0">
                <a:solidFill>
                  <a:srgbClr val="0000CC"/>
                </a:solidFill>
                <a:latin typeface="DIN Pro Regular"/>
              </a:endParaRPr>
            </a:p>
          </p:txBody>
        </p:sp>
      </p:grpSp>
    </p:spTree>
    <p:extLst>
      <p:ext uri="{BB962C8B-B14F-4D97-AF65-F5344CB8AC3E}">
        <p14:creationId xmlns:p14="http://schemas.microsoft.com/office/powerpoint/2010/main" val="224290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Outra Forma de Representar as ativações de função recursiva</a:t>
            </a:r>
          </a:p>
        </p:txBody>
      </p:sp>
      <p:pic>
        <p:nvPicPr>
          <p:cNvPr id="4" name="Imagem 3" descr="grafo_fatorial.jpg"/>
          <p:cNvPicPr/>
          <p:nvPr/>
        </p:nvPicPr>
        <p:blipFill>
          <a:blip r:embed="rId2"/>
          <a:srcRect t="3694"/>
          <a:stretch>
            <a:fillRect/>
          </a:stretch>
        </p:blipFill>
        <p:spPr>
          <a:xfrm>
            <a:off x="2869324" y="1434662"/>
            <a:ext cx="2794876" cy="46981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2400" dirty="0"/>
              <a:t>Fun</a:t>
            </a:r>
            <a:r>
              <a:rPr lang="pt-BR" dirty="0"/>
              <a:t>ção Recursiva Máximo Divisor Comum</a:t>
            </a:r>
            <a:r>
              <a:rPr lang="pt-BR" sz="2850" dirty="0"/>
              <a:t> </a:t>
            </a:r>
            <a:endParaRPr lang="en-US" sz="2850" dirty="0"/>
          </a:p>
        </p:txBody>
      </p:sp>
      <p:sp>
        <p:nvSpPr>
          <p:cNvPr id="3" name="Subtítulo 2"/>
          <p:cNvSpPr>
            <a:spLocks noGrp="1"/>
          </p:cNvSpPr>
          <p:nvPr>
            <p:ph type="subTitle" idx="4294967295"/>
          </p:nvPr>
        </p:nvSpPr>
        <p:spPr>
          <a:xfrm>
            <a:off x="1626393" y="1187997"/>
            <a:ext cx="5891213" cy="2998788"/>
          </a:xfrm>
          <a:solidFill>
            <a:schemeClr val="accent6">
              <a:lumMod val="20000"/>
              <a:lumOff val="80000"/>
            </a:schemeClr>
          </a:solidFill>
        </p:spPr>
        <p:txBody>
          <a:bodyPr>
            <a:normAutofit fontScale="55000" lnSpcReduction="20000"/>
          </a:bodyPr>
          <a:lstStyle/>
          <a:p>
            <a:pPr marL="0" indent="0" algn="l">
              <a:buNone/>
            </a:pPr>
            <a:r>
              <a:rPr lang="en-US" dirty="0">
                <a:latin typeface="Consolas" pitchFamily="49" charset="0"/>
                <a:cs typeface="Consolas" pitchFamily="49" charset="0"/>
              </a:rPr>
              <a:t>public static </a:t>
            </a:r>
            <a:r>
              <a:rPr lang="en-US" dirty="0" err="1">
                <a:latin typeface="Consolas" pitchFamily="49" charset="0"/>
                <a:cs typeface="Consolas" pitchFamily="49" charset="0"/>
              </a:rPr>
              <a:t>int</a:t>
            </a:r>
            <a:r>
              <a:rPr lang="en-US" dirty="0">
                <a:latin typeface="Consolas" pitchFamily="49" charset="0"/>
                <a:cs typeface="Consolas" pitchFamily="49" charset="0"/>
              </a:rPr>
              <a:t> </a:t>
            </a:r>
            <a:r>
              <a:rPr lang="en-US" dirty="0" err="1">
                <a:latin typeface="Consolas" pitchFamily="49" charset="0"/>
                <a:cs typeface="Consolas" pitchFamily="49" charset="0"/>
              </a:rPr>
              <a:t>mdc</a:t>
            </a:r>
            <a:r>
              <a:rPr lang="en-US" dirty="0">
                <a:latin typeface="Consolas" pitchFamily="49" charset="0"/>
                <a:cs typeface="Consolas" pitchFamily="49" charset="0"/>
              </a:rPr>
              <a:t>(</a:t>
            </a:r>
            <a:r>
              <a:rPr lang="en-US" dirty="0" err="1">
                <a:latin typeface="Consolas" pitchFamily="49" charset="0"/>
                <a:cs typeface="Consolas" pitchFamily="49" charset="0"/>
              </a:rPr>
              <a:t>int</a:t>
            </a:r>
            <a:r>
              <a:rPr lang="en-US" dirty="0">
                <a:latin typeface="Consolas" pitchFamily="49" charset="0"/>
                <a:cs typeface="Consolas" pitchFamily="49" charset="0"/>
              </a:rPr>
              <a:t> n, </a:t>
            </a:r>
            <a:r>
              <a:rPr lang="en-US" dirty="0" err="1">
                <a:latin typeface="Consolas" pitchFamily="49" charset="0"/>
                <a:cs typeface="Consolas" pitchFamily="49" charset="0"/>
              </a:rPr>
              <a:t>int</a:t>
            </a:r>
            <a:r>
              <a:rPr lang="en-US" dirty="0">
                <a:latin typeface="Consolas" pitchFamily="49" charset="0"/>
                <a:cs typeface="Consolas" pitchFamily="49" charset="0"/>
              </a:rPr>
              <a:t> m){</a:t>
            </a:r>
          </a:p>
          <a:p>
            <a:pPr marL="0" indent="0" algn="l">
              <a:buNone/>
            </a:pPr>
            <a:r>
              <a:rPr lang="en-US" dirty="0">
                <a:latin typeface="Consolas" pitchFamily="49" charset="0"/>
                <a:cs typeface="Consolas" pitchFamily="49" charset="0"/>
              </a:rPr>
              <a:t>	if (n &gt; m)</a:t>
            </a:r>
          </a:p>
          <a:p>
            <a:pPr marL="0" indent="0" algn="l">
              <a:buNone/>
            </a:pPr>
            <a:r>
              <a:rPr lang="en-US" dirty="0">
                <a:latin typeface="Consolas" pitchFamily="49" charset="0"/>
                <a:cs typeface="Consolas" pitchFamily="49" charset="0"/>
              </a:rPr>
              <a:t>		return(</a:t>
            </a:r>
            <a:r>
              <a:rPr lang="en-US" dirty="0" err="1">
                <a:latin typeface="Consolas" pitchFamily="49" charset="0"/>
                <a:cs typeface="Consolas" pitchFamily="49" charset="0"/>
              </a:rPr>
              <a:t>mdc</a:t>
            </a:r>
            <a:r>
              <a:rPr lang="en-US" dirty="0">
                <a:latin typeface="Consolas" pitchFamily="49" charset="0"/>
                <a:cs typeface="Consolas" pitchFamily="49" charset="0"/>
              </a:rPr>
              <a:t>(</a:t>
            </a:r>
            <a:r>
              <a:rPr lang="en-US" dirty="0" err="1">
                <a:latin typeface="Consolas" pitchFamily="49" charset="0"/>
                <a:cs typeface="Consolas" pitchFamily="49" charset="0"/>
              </a:rPr>
              <a:t>m,n</a:t>
            </a:r>
            <a:r>
              <a:rPr lang="en-US" dirty="0">
                <a:latin typeface="Consolas" pitchFamily="49" charset="0"/>
                <a:cs typeface="Consolas" pitchFamily="49" charset="0"/>
              </a:rPr>
              <a:t>));</a:t>
            </a:r>
          </a:p>
          <a:p>
            <a:pPr marL="0" indent="0" algn="l">
              <a:buNone/>
            </a:pPr>
            <a:r>
              <a:rPr lang="en-US" dirty="0">
                <a:latin typeface="Consolas" pitchFamily="49" charset="0"/>
                <a:cs typeface="Consolas" pitchFamily="49" charset="0"/>
              </a:rPr>
              <a:t>	else  {</a:t>
            </a:r>
          </a:p>
          <a:p>
            <a:pPr marL="0" indent="0" algn="l">
              <a:buNone/>
            </a:pPr>
            <a:r>
              <a:rPr lang="en-US" dirty="0">
                <a:latin typeface="Consolas" pitchFamily="49" charset="0"/>
                <a:cs typeface="Consolas" pitchFamily="49" charset="0"/>
              </a:rPr>
              <a:t>		if (n == 0)</a:t>
            </a:r>
          </a:p>
          <a:p>
            <a:pPr marL="0" indent="0" algn="l">
              <a:buNone/>
            </a:pPr>
            <a:r>
              <a:rPr lang="en-US" dirty="0">
                <a:latin typeface="Consolas" pitchFamily="49" charset="0"/>
                <a:cs typeface="Consolas" pitchFamily="49" charset="0"/>
              </a:rPr>
              <a:t>			return(m);</a:t>
            </a:r>
          </a:p>
          <a:p>
            <a:pPr marL="0" indent="0" algn="l">
              <a:buNone/>
            </a:pPr>
            <a:r>
              <a:rPr lang="en-US" dirty="0">
                <a:latin typeface="Consolas" pitchFamily="49" charset="0"/>
                <a:cs typeface="Consolas" pitchFamily="49" charset="0"/>
              </a:rPr>
              <a:t>		else</a:t>
            </a:r>
          </a:p>
          <a:p>
            <a:pPr marL="0" indent="0" algn="l">
              <a:buNone/>
            </a:pPr>
            <a:r>
              <a:rPr lang="en-US" dirty="0">
                <a:latin typeface="Consolas" pitchFamily="49" charset="0"/>
                <a:cs typeface="Consolas" pitchFamily="49" charset="0"/>
              </a:rPr>
              <a:t>			return(mdc(n, </a:t>
            </a:r>
            <a:r>
              <a:rPr lang="en-US" dirty="0" err="1">
                <a:latin typeface="Consolas" pitchFamily="49" charset="0"/>
                <a:cs typeface="Consolas" pitchFamily="49" charset="0"/>
              </a:rPr>
              <a:t>m%n</a:t>
            </a:r>
            <a:r>
              <a:rPr lang="en-US" dirty="0">
                <a:latin typeface="Consolas" pitchFamily="49" charset="0"/>
                <a:cs typeface="Consolas" pitchFamily="49" charset="0"/>
              </a:rPr>
              <a:t>));</a:t>
            </a:r>
          </a:p>
          <a:p>
            <a:pPr marL="0" indent="0" algn="l">
              <a:buNone/>
            </a:pPr>
            <a:r>
              <a:rPr lang="en-US" dirty="0">
                <a:latin typeface="Consolas" pitchFamily="49" charset="0"/>
                <a:cs typeface="Consolas" pitchFamily="49" charset="0"/>
              </a:rPr>
              <a:t>		}</a:t>
            </a:r>
          </a:p>
          <a:p>
            <a:pPr marL="0" indent="0" algn="l">
              <a:buNone/>
            </a:pPr>
            <a:r>
              <a:rPr lang="en-US" dirty="0">
                <a:latin typeface="Consolas" pitchFamily="49" charset="0"/>
                <a:cs typeface="Consolas" pitchFamily="49" charset="0"/>
              </a:rPr>
              <a:t>	}</a:t>
            </a:r>
          </a:p>
          <a:p>
            <a:pPr marL="0" indent="0" algn="l">
              <a:buNone/>
            </a:pPr>
            <a:endParaRPr lang="pt-BR" dirty="0">
              <a:latin typeface="Consolas" pitchFamily="49" charset="0"/>
              <a:cs typeface="Consolas" pitchFamily="49" charset="0"/>
            </a:endParaRPr>
          </a:p>
          <a:p>
            <a:pPr marL="0" indent="0" algn="l">
              <a:buNone/>
            </a:pPr>
            <a:endParaRPr lang="en-US" dirty="0">
              <a:latin typeface="Consolas" pitchFamily="49" charset="0"/>
              <a:cs typeface="Consolas" pitchFamily="49" charset="0"/>
            </a:endParaRPr>
          </a:p>
        </p:txBody>
      </p:sp>
    </p:spTree>
    <p:extLst>
      <p:ext uri="{BB962C8B-B14F-4D97-AF65-F5344CB8AC3E}">
        <p14:creationId xmlns:p14="http://schemas.microsoft.com/office/powerpoint/2010/main" val="1530860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2400" dirty="0"/>
              <a:t>Chamada da Fun</a:t>
            </a:r>
            <a:r>
              <a:rPr lang="pt-BR" dirty="0"/>
              <a:t>ção MDC</a:t>
            </a:r>
            <a:endParaRPr lang="en-US" sz="2850" dirty="0"/>
          </a:p>
        </p:txBody>
      </p:sp>
      <p:sp>
        <p:nvSpPr>
          <p:cNvPr id="3" name="Subtítulo 2"/>
          <p:cNvSpPr>
            <a:spLocks noGrp="1"/>
          </p:cNvSpPr>
          <p:nvPr>
            <p:ph type="subTitle" idx="4294967295"/>
          </p:nvPr>
        </p:nvSpPr>
        <p:spPr>
          <a:xfrm>
            <a:off x="1087821" y="1436304"/>
            <a:ext cx="7300913" cy="4428468"/>
          </a:xfrm>
          <a:solidFill>
            <a:srgbClr val="FFEAA7"/>
          </a:solidFill>
        </p:spPr>
        <p:txBody>
          <a:bodyPr>
            <a:normAutofit/>
          </a:bodyPr>
          <a:lstStyle/>
          <a:p>
            <a:pPr marL="0" indent="0" algn="l">
              <a:buNone/>
            </a:pPr>
            <a:r>
              <a:rPr lang="en-US" sz="1600" dirty="0">
                <a:latin typeface="Consolas" pitchFamily="49" charset="0"/>
                <a:cs typeface="Consolas" pitchFamily="49" charset="0"/>
              </a:rPr>
              <a:t>public static </a:t>
            </a:r>
            <a:r>
              <a:rPr lang="en-US" sz="1600" dirty="0" err="1">
                <a:latin typeface="Consolas" pitchFamily="49" charset="0"/>
                <a:cs typeface="Consolas" pitchFamily="49" charset="0"/>
              </a:rPr>
              <a:t>int</a:t>
            </a:r>
            <a:r>
              <a:rPr lang="en-US" sz="1600" dirty="0">
                <a:latin typeface="Consolas" pitchFamily="49" charset="0"/>
                <a:cs typeface="Consolas" pitchFamily="49" charset="0"/>
              </a:rPr>
              <a:t> </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int</a:t>
            </a:r>
            <a:r>
              <a:rPr lang="en-US" sz="1600" dirty="0">
                <a:latin typeface="Consolas" pitchFamily="49" charset="0"/>
                <a:cs typeface="Consolas" pitchFamily="49" charset="0"/>
              </a:rPr>
              <a:t> n, </a:t>
            </a:r>
            <a:r>
              <a:rPr lang="en-US" sz="1600" dirty="0" err="1">
                <a:latin typeface="Consolas" pitchFamily="49" charset="0"/>
                <a:cs typeface="Consolas" pitchFamily="49" charset="0"/>
              </a:rPr>
              <a:t>int</a:t>
            </a:r>
            <a:r>
              <a:rPr lang="en-US" sz="1600" dirty="0">
                <a:latin typeface="Consolas" pitchFamily="49" charset="0"/>
                <a:cs typeface="Consolas" pitchFamily="49" charset="0"/>
              </a:rPr>
              <a:t> m){</a:t>
            </a:r>
          </a:p>
          <a:p>
            <a:pPr marL="0" indent="0" algn="l">
              <a:buNone/>
            </a:pPr>
            <a:r>
              <a:rPr lang="en-US" sz="1600" dirty="0">
                <a:latin typeface="Consolas" pitchFamily="49" charset="0"/>
                <a:cs typeface="Consolas" pitchFamily="49" charset="0"/>
              </a:rPr>
              <a:t>   if (n &gt; m)</a:t>
            </a:r>
          </a:p>
          <a:p>
            <a:pPr marL="0" indent="0" algn="l">
              <a:buNone/>
            </a:pPr>
            <a:r>
              <a:rPr lang="en-US" sz="1600" dirty="0">
                <a:latin typeface="Consolas" pitchFamily="49" charset="0"/>
                <a:cs typeface="Consolas" pitchFamily="49" charset="0"/>
              </a:rPr>
              <a:t>  	   return(</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m,n</a:t>
            </a:r>
            <a:r>
              <a:rPr lang="en-US" sz="1600" dirty="0">
                <a:latin typeface="Consolas" pitchFamily="49" charset="0"/>
                <a:cs typeface="Consolas" pitchFamily="49" charset="0"/>
              </a:rPr>
              <a:t>));</a:t>
            </a:r>
          </a:p>
          <a:p>
            <a:pPr marL="0" indent="0" algn="l">
              <a:buNone/>
            </a:pPr>
            <a:r>
              <a:rPr lang="en-US" sz="1600" dirty="0">
                <a:latin typeface="Consolas" pitchFamily="49" charset="0"/>
                <a:cs typeface="Consolas" pitchFamily="49" charset="0"/>
              </a:rPr>
              <a:t>   else  {</a:t>
            </a:r>
          </a:p>
          <a:p>
            <a:pPr marL="0" indent="0" algn="l">
              <a:buNone/>
            </a:pPr>
            <a:r>
              <a:rPr lang="en-US" sz="1600" dirty="0">
                <a:latin typeface="Consolas" pitchFamily="49" charset="0"/>
                <a:cs typeface="Consolas" pitchFamily="49" charset="0"/>
              </a:rPr>
              <a:t>	   if (n == 0)</a:t>
            </a:r>
          </a:p>
          <a:p>
            <a:pPr marL="0" indent="0" algn="l">
              <a:buNone/>
            </a:pPr>
            <a:r>
              <a:rPr lang="en-US" sz="1600" dirty="0">
                <a:latin typeface="Consolas" pitchFamily="49" charset="0"/>
                <a:cs typeface="Consolas" pitchFamily="49" charset="0"/>
              </a:rPr>
              <a:t>	        return(m);</a:t>
            </a:r>
          </a:p>
          <a:p>
            <a:pPr marL="0" indent="0" algn="l">
              <a:buNone/>
            </a:pPr>
            <a:r>
              <a:rPr lang="en-US" sz="1600" dirty="0">
                <a:latin typeface="Consolas" pitchFamily="49" charset="0"/>
                <a:cs typeface="Consolas" pitchFamily="49" charset="0"/>
              </a:rPr>
              <a:t>	   else</a:t>
            </a:r>
          </a:p>
          <a:p>
            <a:pPr marL="0" indent="0" algn="l">
              <a:buNone/>
            </a:pPr>
            <a:r>
              <a:rPr lang="en-US" sz="1600" dirty="0">
                <a:latin typeface="Consolas" pitchFamily="49" charset="0"/>
                <a:cs typeface="Consolas" pitchFamily="49" charset="0"/>
              </a:rPr>
              <a:t>	        return(</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n,m%n</a:t>
            </a:r>
            <a:r>
              <a:rPr lang="en-US" sz="1600" dirty="0">
                <a:latin typeface="Consolas" pitchFamily="49" charset="0"/>
                <a:cs typeface="Consolas" pitchFamily="49" charset="0"/>
              </a:rPr>
              <a:t>));</a:t>
            </a:r>
          </a:p>
          <a:p>
            <a:pPr marL="0" indent="0" algn="l">
              <a:buNone/>
            </a:pPr>
            <a:r>
              <a:rPr lang="en-US" sz="1600" dirty="0">
                <a:latin typeface="Consolas" pitchFamily="49" charset="0"/>
                <a:cs typeface="Consolas" pitchFamily="49" charset="0"/>
              </a:rPr>
              <a:t>	   }</a:t>
            </a:r>
          </a:p>
          <a:p>
            <a:pPr marL="0" indent="0" algn="l">
              <a:buNone/>
            </a:pPr>
            <a:r>
              <a:rPr lang="en-US" sz="1600" dirty="0">
                <a:latin typeface="Consolas" pitchFamily="49" charset="0"/>
                <a:cs typeface="Consolas" pitchFamily="49" charset="0"/>
              </a:rPr>
              <a:t>}</a:t>
            </a:r>
          </a:p>
          <a:p>
            <a:pPr marL="0" indent="0" algn="l">
              <a:buNone/>
            </a:pPr>
            <a:r>
              <a:rPr lang="pt-BR" sz="1600" dirty="0" err="1">
                <a:latin typeface="Consolas" pitchFamily="49" charset="0"/>
                <a:cs typeface="Consolas" pitchFamily="49" charset="0"/>
              </a:rPr>
              <a:t>public</a:t>
            </a:r>
            <a:r>
              <a:rPr lang="pt-BR" sz="1600" dirty="0">
                <a:latin typeface="Consolas" pitchFamily="49" charset="0"/>
                <a:cs typeface="Consolas" pitchFamily="49" charset="0"/>
              </a:rPr>
              <a:t> </a:t>
            </a:r>
            <a:r>
              <a:rPr lang="pt-BR" sz="1600" dirty="0" err="1">
                <a:latin typeface="Consolas" pitchFamily="49" charset="0"/>
                <a:cs typeface="Consolas" pitchFamily="49" charset="0"/>
              </a:rPr>
              <a:t>static</a:t>
            </a:r>
            <a:r>
              <a:rPr lang="pt-BR" sz="1600" dirty="0">
                <a:latin typeface="Consolas" pitchFamily="49" charset="0"/>
                <a:cs typeface="Consolas" pitchFamily="49" charset="0"/>
              </a:rPr>
              <a:t> </a:t>
            </a:r>
            <a:r>
              <a:rPr lang="pt-BR" sz="1600" dirty="0" err="1">
                <a:latin typeface="Consolas" pitchFamily="49" charset="0"/>
                <a:cs typeface="Consolas" pitchFamily="49" charset="0"/>
              </a:rPr>
              <a:t>void</a:t>
            </a:r>
            <a:r>
              <a:rPr lang="pt-BR" sz="1600" dirty="0">
                <a:latin typeface="Consolas" pitchFamily="49" charset="0"/>
                <a:cs typeface="Consolas" pitchFamily="49" charset="0"/>
              </a:rPr>
              <a:t> </a:t>
            </a:r>
            <a:r>
              <a:rPr lang="pt-BR" sz="1600" dirty="0" err="1">
                <a:latin typeface="Consolas" pitchFamily="49" charset="0"/>
                <a:cs typeface="Consolas" pitchFamily="49" charset="0"/>
              </a:rPr>
              <a:t>main</a:t>
            </a:r>
            <a:r>
              <a:rPr lang="pt-BR" sz="1600" dirty="0">
                <a:latin typeface="Consolas" pitchFamily="49" charset="0"/>
                <a:cs typeface="Consolas" pitchFamily="49" charset="0"/>
              </a:rPr>
              <a:t>(String[] </a:t>
            </a:r>
            <a:r>
              <a:rPr lang="pt-BR" sz="1600" dirty="0" err="1">
                <a:latin typeface="Consolas" pitchFamily="49" charset="0"/>
                <a:cs typeface="Consolas" pitchFamily="49" charset="0"/>
              </a:rPr>
              <a:t>args</a:t>
            </a:r>
            <a:r>
              <a:rPr lang="pt-BR" sz="1600" dirty="0">
                <a:latin typeface="Consolas" pitchFamily="49" charset="0"/>
                <a:cs typeface="Consolas" pitchFamily="49" charset="0"/>
              </a:rPr>
              <a:t>) {</a:t>
            </a:r>
          </a:p>
          <a:p>
            <a:pPr marL="0" indent="0" algn="l">
              <a:buNone/>
            </a:pPr>
            <a:r>
              <a:rPr lang="pt-BR" sz="1600" dirty="0">
                <a:latin typeface="Consolas" pitchFamily="49" charset="0"/>
                <a:cs typeface="Consolas" pitchFamily="49" charset="0"/>
              </a:rPr>
              <a:t>	</a:t>
            </a:r>
            <a:r>
              <a:rPr lang="pt-BR" sz="1600" dirty="0" err="1">
                <a:latin typeface="Consolas" pitchFamily="49" charset="0"/>
                <a:cs typeface="Consolas" pitchFamily="49" charset="0"/>
              </a:rPr>
              <a:t>int</a:t>
            </a:r>
            <a:r>
              <a:rPr lang="pt-BR" sz="1600" dirty="0">
                <a:latin typeface="Consolas" pitchFamily="49" charset="0"/>
                <a:cs typeface="Consolas" pitchFamily="49" charset="0"/>
              </a:rPr>
              <a:t> x = </a:t>
            </a:r>
            <a:r>
              <a:rPr lang="pt-BR" sz="1600" b="1" dirty="0">
                <a:solidFill>
                  <a:srgbClr val="0000CC"/>
                </a:solidFill>
                <a:latin typeface="Consolas" pitchFamily="49" charset="0"/>
                <a:cs typeface="Consolas" pitchFamily="49" charset="0"/>
              </a:rPr>
              <a:t>mdc (8,4)</a:t>
            </a:r>
            <a:r>
              <a:rPr lang="pt-BR" sz="1600" dirty="0">
                <a:latin typeface="Consolas" pitchFamily="49" charset="0"/>
                <a:cs typeface="Consolas" pitchFamily="49" charset="0"/>
              </a:rPr>
              <a:t>;</a:t>
            </a:r>
          </a:p>
          <a:p>
            <a:pPr marL="0" indent="0" algn="l">
              <a:buNone/>
            </a:pPr>
            <a:r>
              <a:rPr lang="pt-BR" sz="1600" dirty="0">
                <a:latin typeface="Consolas" pitchFamily="49" charset="0"/>
                <a:cs typeface="Consolas" pitchFamily="49" charset="0"/>
              </a:rPr>
              <a:t>	</a:t>
            </a:r>
            <a:r>
              <a:rPr lang="pt-BR" sz="1600" dirty="0" err="1">
                <a:latin typeface="Consolas" pitchFamily="49" charset="0"/>
                <a:cs typeface="Consolas" pitchFamily="49" charset="0"/>
              </a:rPr>
              <a:t>System.out.println</a:t>
            </a:r>
            <a:r>
              <a:rPr lang="pt-BR" sz="1600" dirty="0">
                <a:latin typeface="Consolas" pitchFamily="49" charset="0"/>
                <a:cs typeface="Consolas" pitchFamily="49" charset="0"/>
              </a:rPr>
              <a:t>(" MDC entre 8 e 4 = " + x);</a:t>
            </a:r>
          </a:p>
          <a:p>
            <a:pPr marL="0" indent="0" algn="l">
              <a:buNone/>
            </a:pPr>
            <a:r>
              <a:rPr lang="pt-BR" sz="1600" dirty="0">
                <a:latin typeface="Consolas" pitchFamily="49" charset="0"/>
                <a:cs typeface="Consolas" pitchFamily="49" charset="0"/>
              </a:rPr>
              <a:t>}</a:t>
            </a:r>
          </a:p>
          <a:p>
            <a:pPr marL="0" indent="0" algn="l">
              <a:buNone/>
            </a:pPr>
            <a:endParaRPr lang="pt-BR" sz="1600" dirty="0">
              <a:latin typeface="Consolas" pitchFamily="49" charset="0"/>
              <a:cs typeface="Consolas" pitchFamily="49" charset="0"/>
            </a:endParaRPr>
          </a:p>
          <a:p>
            <a:pPr marL="0" indent="0" algn="l">
              <a:buNone/>
            </a:pPr>
            <a:endParaRPr lang="en-US" sz="1600" dirty="0">
              <a:latin typeface="Consolas" pitchFamily="49" charset="0"/>
              <a:cs typeface="Consolas" pitchFamily="49" charset="0"/>
            </a:endParaRPr>
          </a:p>
        </p:txBody>
      </p:sp>
    </p:spTree>
    <p:extLst>
      <p:ext uri="{BB962C8B-B14F-4D97-AF65-F5344CB8AC3E}">
        <p14:creationId xmlns:p14="http://schemas.microsoft.com/office/powerpoint/2010/main" val="391396415"/>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6"/>
          <p:cNvGrpSpPr/>
          <p:nvPr/>
        </p:nvGrpSpPr>
        <p:grpSpPr>
          <a:xfrm>
            <a:off x="1285852" y="1393017"/>
            <a:ext cx="4572032" cy="1285884"/>
            <a:chOff x="1285852" y="714356"/>
            <a:chExt cx="4572032" cy="1714512"/>
          </a:xfrm>
        </p:grpSpPr>
        <p:sp>
          <p:nvSpPr>
            <p:cNvPr id="5" name="Arredondar Retângulo no Mesmo Canto Lateral 4"/>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rgbClr val="0000CC"/>
                </a:solidFill>
              </a:endParaRPr>
            </a:p>
          </p:txBody>
        </p:sp>
        <p:sp>
          <p:nvSpPr>
            <p:cNvPr id="6" name="CaixaDeTexto 5"/>
            <p:cNvSpPr txBox="1"/>
            <p:nvPr/>
          </p:nvSpPr>
          <p:spPr>
            <a:xfrm>
              <a:off x="1459006" y="928671"/>
              <a:ext cx="4316506"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8, m=4 =&gt; n&gt;m  =&gt; </a:t>
              </a:r>
              <a:r>
                <a:rPr lang="pt-BR" dirty="0" err="1">
                  <a:solidFill>
                    <a:srgbClr val="0000CC"/>
                  </a:solidFill>
                  <a:latin typeface="DIN Pro Regular" panose="020B0504020101020102" pitchFamily="34" charset="0"/>
                  <a:cs typeface="DIN Pro Regular" panose="020B0504020101020102" pitchFamily="34" charset="0"/>
                </a:rPr>
                <a:t>return</a:t>
              </a:r>
              <a:r>
                <a:rPr lang="pt-BR" dirty="0">
                  <a:solidFill>
                    <a:srgbClr val="0000CC"/>
                  </a:solidFill>
                  <a:latin typeface="DIN Pro Regular" panose="020B0504020101020102" pitchFamily="34" charset="0"/>
                  <a:cs typeface="DIN Pro Regular" panose="020B0504020101020102" pitchFamily="34" charset="0"/>
                </a:rPr>
                <a:t>(mdc(4,8))</a:t>
              </a:r>
            </a:p>
          </p:txBody>
        </p:sp>
      </p:grpSp>
      <p:sp>
        <p:nvSpPr>
          <p:cNvPr id="3" name="Título 2">
            <a:extLst>
              <a:ext uri="{FF2B5EF4-FFF2-40B4-BE49-F238E27FC236}">
                <a16:creationId xmlns:a16="http://schemas.microsoft.com/office/drawing/2014/main" id="{9AA6E78D-698B-4AAE-94D6-E5CBB9C16D3F}"/>
              </a:ext>
            </a:extLst>
          </p:cNvPr>
          <p:cNvSpPr>
            <a:spLocks noGrp="1"/>
          </p:cNvSpPr>
          <p:nvPr>
            <p:ph type="title"/>
          </p:nvPr>
        </p:nvSpPr>
        <p:spPr/>
        <p:txBody>
          <a:bodyPr/>
          <a:lstStyle/>
          <a:p>
            <a:endParaRPr lang="pt-B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3"/>
          <p:cNvGrpSpPr/>
          <p:nvPr/>
        </p:nvGrpSpPr>
        <p:grpSpPr>
          <a:xfrm>
            <a:off x="1285852" y="1393017"/>
            <a:ext cx="4572032" cy="1285884"/>
            <a:chOff x="1285852" y="714356"/>
            <a:chExt cx="4572032" cy="1714512"/>
          </a:xfrm>
        </p:grpSpPr>
        <p:sp>
          <p:nvSpPr>
            <p:cNvPr id="7" name="Arredondar Retângulo no Mesmo Canto Lateral 6"/>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8" name="CaixaDeTexto 7"/>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grpSp>
        <p:nvGrpSpPr>
          <p:cNvPr id="3" name="Grupo 8"/>
          <p:cNvGrpSpPr/>
          <p:nvPr/>
        </p:nvGrpSpPr>
        <p:grpSpPr>
          <a:xfrm>
            <a:off x="1706104" y="1900425"/>
            <a:ext cx="4801463" cy="1285884"/>
            <a:chOff x="2643174" y="3500438"/>
            <a:chExt cx="4572032" cy="1714512"/>
          </a:xfrm>
        </p:grpSpPr>
        <p:sp>
          <p:nvSpPr>
            <p:cNvPr id="5" name="Arredondar Retângulo no Mesmo Canto Lateral 4"/>
            <p:cNvSpPr/>
            <p:nvPr/>
          </p:nvSpPr>
          <p:spPr>
            <a:xfrm>
              <a:off x="2643174" y="3500438"/>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2785231" y="3643314"/>
              <a:ext cx="4329953" cy="1097736"/>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350" dirty="0">
                <a:solidFill>
                  <a:srgbClr val="006600"/>
                </a:solidFill>
              </a:endParaRPr>
            </a:p>
            <a:p>
              <a:r>
                <a:rPr lang="pt-BR" sz="1600" dirty="0">
                  <a:solidFill>
                    <a:srgbClr val="006600"/>
                  </a:solidFill>
                  <a:latin typeface="DIN Pro Regular"/>
                  <a:ea typeface="+mj-ea"/>
                  <a:cs typeface="+mj-cs"/>
                </a:rPr>
                <a:t>n=4  e m=8 =&gt; n&lt;m e n≠0 =&gt; </a:t>
              </a:r>
              <a:r>
                <a:rPr lang="pt-BR" sz="1600" dirty="0" err="1">
                  <a:solidFill>
                    <a:srgbClr val="006600"/>
                  </a:solidFill>
                  <a:latin typeface="DIN Pro Regular"/>
                  <a:ea typeface="+mj-ea"/>
                  <a:cs typeface="+mj-cs"/>
                </a:rPr>
                <a:t>return</a:t>
              </a:r>
              <a:r>
                <a:rPr lang="pt-BR" sz="1600" dirty="0">
                  <a:solidFill>
                    <a:srgbClr val="006600"/>
                  </a:solidFill>
                  <a:latin typeface="DIN Pro Regular"/>
                  <a:ea typeface="+mj-ea"/>
                  <a:cs typeface="+mj-cs"/>
                </a:rPr>
                <a:t>(mdc (4, 8%4))</a:t>
              </a:r>
            </a:p>
          </p:txBody>
        </p:sp>
      </p:grpSp>
      <p:sp>
        <p:nvSpPr>
          <p:cNvPr id="4" name="Título 3">
            <a:extLst>
              <a:ext uri="{FF2B5EF4-FFF2-40B4-BE49-F238E27FC236}">
                <a16:creationId xmlns:a16="http://schemas.microsoft.com/office/drawing/2014/main" id="{FA7EF457-F8C6-4421-99C5-11F657FD60C9}"/>
              </a:ext>
            </a:extLst>
          </p:cNvPr>
          <p:cNvSpPr>
            <a:spLocks noGrp="1"/>
          </p:cNvSpPr>
          <p:nvPr>
            <p:ph type="title"/>
          </p:nvPr>
        </p:nvSpPr>
        <p:spPr/>
        <p:txBody>
          <a:bodyPr/>
          <a:lstStyle/>
          <a:p>
            <a:endParaRPr lang="pt-B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3"/>
          <p:cNvGrpSpPr/>
          <p:nvPr/>
        </p:nvGrpSpPr>
        <p:grpSpPr>
          <a:xfrm>
            <a:off x="1285852" y="1393017"/>
            <a:ext cx="4572032" cy="1285884"/>
            <a:chOff x="1285852" y="714356"/>
            <a:chExt cx="4572032" cy="1714512"/>
          </a:xfrm>
        </p:grpSpPr>
        <p:sp>
          <p:nvSpPr>
            <p:cNvPr id="7" name="Arredondar Retângulo no Mesmo Canto Lateral 6"/>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8" name="CaixaDeTexto 7"/>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grpSp>
        <p:nvGrpSpPr>
          <p:cNvPr id="3" name="Grupo 8"/>
          <p:cNvGrpSpPr/>
          <p:nvPr/>
        </p:nvGrpSpPr>
        <p:grpSpPr>
          <a:xfrm>
            <a:off x="1643042" y="1948460"/>
            <a:ext cx="4801463" cy="1285884"/>
            <a:chOff x="2643174" y="3500438"/>
            <a:chExt cx="4572032" cy="1714512"/>
          </a:xfrm>
        </p:grpSpPr>
        <p:sp>
          <p:nvSpPr>
            <p:cNvPr id="5" name="Arredondar Retângulo no Mesmo Canto Lateral 4"/>
            <p:cNvSpPr/>
            <p:nvPr/>
          </p:nvSpPr>
          <p:spPr>
            <a:xfrm>
              <a:off x="2643174" y="3500438"/>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2785231" y="3652741"/>
              <a:ext cx="4329953" cy="1128515"/>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500" dirty="0">
                <a:solidFill>
                  <a:srgbClr val="006600"/>
                </a:solidFill>
                <a:latin typeface="DIN Pro Regular"/>
                <a:ea typeface="+mj-ea"/>
                <a:cs typeface="+mj-cs"/>
              </a:endParaRPr>
            </a:p>
            <a:p>
              <a:r>
                <a:rPr lang="pt-BR" sz="1600" dirty="0">
                  <a:solidFill>
                    <a:srgbClr val="006600"/>
                  </a:solidFill>
                  <a:latin typeface="DIN Pro Regular"/>
                  <a:ea typeface="+mj-ea"/>
                  <a:cs typeface="+mj-cs"/>
                </a:rPr>
                <a:t>n=4  e m=8 =&gt; n&lt;m e n≠0 =&gt; </a:t>
              </a:r>
              <a:r>
                <a:rPr lang="pt-BR" sz="1600" dirty="0" err="1">
                  <a:solidFill>
                    <a:srgbClr val="006600"/>
                  </a:solidFill>
                  <a:latin typeface="DIN Pro Regular"/>
                  <a:ea typeface="+mj-ea"/>
                  <a:cs typeface="+mj-cs"/>
                </a:rPr>
                <a:t>return</a:t>
              </a:r>
              <a:r>
                <a:rPr lang="pt-BR" sz="1600" dirty="0">
                  <a:solidFill>
                    <a:srgbClr val="006600"/>
                  </a:solidFill>
                  <a:latin typeface="DIN Pro Regular"/>
                  <a:ea typeface="+mj-ea"/>
                  <a:cs typeface="+mj-cs"/>
                </a:rPr>
                <a:t>(mdc (4,0))</a:t>
              </a:r>
            </a:p>
          </p:txBody>
        </p:sp>
      </p:grpSp>
      <p:sp>
        <p:nvSpPr>
          <p:cNvPr id="4" name="Título 3">
            <a:extLst>
              <a:ext uri="{FF2B5EF4-FFF2-40B4-BE49-F238E27FC236}">
                <a16:creationId xmlns:a16="http://schemas.microsoft.com/office/drawing/2014/main" id="{CC701B70-F90C-403E-A273-A1456CA1204C}"/>
              </a:ext>
            </a:extLst>
          </p:cNvPr>
          <p:cNvSpPr>
            <a:spLocks noGrp="1"/>
          </p:cNvSpPr>
          <p:nvPr>
            <p:ph type="title"/>
          </p:nvPr>
        </p:nvSpPr>
        <p:spPr/>
        <p:txBody>
          <a:bodyPr/>
          <a:lstStyle/>
          <a:p>
            <a:endParaRPr lang="pt-B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7"/>
          <p:cNvGrpSpPr/>
          <p:nvPr/>
        </p:nvGrpSpPr>
        <p:grpSpPr>
          <a:xfrm>
            <a:off x="1285852" y="1393017"/>
            <a:ext cx="4572032" cy="1285884"/>
            <a:chOff x="1285852" y="714356"/>
            <a:chExt cx="4572032" cy="1714512"/>
          </a:xfrm>
        </p:grpSpPr>
        <p:sp>
          <p:nvSpPr>
            <p:cNvPr id="9" name="Arredondar Retângulo no Mesmo Canto Lateral 8"/>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10" name="CaixaDeTexto 9"/>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614939" y="2031838"/>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861133"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861133" y="2509923"/>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solidFill>
                <a:srgbClr val="C00000"/>
              </a:solidFill>
            </a:endParaRPr>
          </a:p>
        </p:txBody>
      </p:sp>
      <p:sp>
        <p:nvSpPr>
          <p:cNvPr id="7" name="CaixaDeTexto 6"/>
          <p:cNvSpPr txBox="1"/>
          <p:nvPr/>
        </p:nvSpPr>
        <p:spPr>
          <a:xfrm>
            <a:off x="2067893" y="2725824"/>
            <a:ext cx="4365272" cy="854080"/>
          </a:xfrm>
          <a:prstGeom prst="rect">
            <a:avLst/>
          </a:prstGeom>
          <a:noFill/>
        </p:spPr>
        <p:txBody>
          <a:bodyPr wrap="square" rtlCol="0">
            <a:spAutoFit/>
          </a:bodyPr>
          <a:lstStyle/>
          <a:p>
            <a:r>
              <a:rPr lang="pt-BR" b="1" dirty="0">
                <a:solidFill>
                  <a:srgbClr val="C00000"/>
                </a:solidFill>
                <a:latin typeface="DIN Pro Regular"/>
                <a:ea typeface="+mj-ea"/>
                <a:cs typeface="+mj-cs"/>
              </a:rPr>
              <a:t>Ativação 3</a:t>
            </a:r>
          </a:p>
          <a:p>
            <a:endParaRPr lang="pt-BR" sz="1350" dirty="0">
              <a:solidFill>
                <a:srgbClr val="C00000"/>
              </a:solidFill>
            </a:endParaRPr>
          </a:p>
          <a:p>
            <a:r>
              <a:rPr lang="pt-BR" dirty="0">
                <a:solidFill>
                  <a:srgbClr val="C00000"/>
                </a:solidFill>
                <a:latin typeface="DIN Pro Regular"/>
                <a:ea typeface="+mj-ea"/>
                <a:cs typeface="+mj-cs"/>
              </a:rPr>
              <a:t>n= 4  e m=0 =&gt; n&gt;m =&gt; </a:t>
            </a:r>
            <a:r>
              <a:rPr lang="pt-BR" dirty="0" err="1">
                <a:solidFill>
                  <a:srgbClr val="C00000"/>
                </a:solidFill>
                <a:latin typeface="DIN Pro Regular"/>
                <a:ea typeface="+mj-ea"/>
                <a:cs typeface="+mj-cs"/>
              </a:rPr>
              <a:t>return</a:t>
            </a:r>
            <a:r>
              <a:rPr lang="pt-BR" dirty="0">
                <a:solidFill>
                  <a:srgbClr val="C00000"/>
                </a:solidFill>
                <a:latin typeface="DIN Pro Regular"/>
                <a:ea typeface="+mj-ea"/>
                <a:cs typeface="+mj-cs"/>
              </a:rPr>
              <a:t>(mdc (0,4))</a:t>
            </a:r>
          </a:p>
        </p:txBody>
      </p:sp>
      <p:sp>
        <p:nvSpPr>
          <p:cNvPr id="3" name="Título 2">
            <a:extLst>
              <a:ext uri="{FF2B5EF4-FFF2-40B4-BE49-F238E27FC236}">
                <a16:creationId xmlns:a16="http://schemas.microsoft.com/office/drawing/2014/main" id="{725FC517-994C-4C54-AD55-F9CE13631FE0}"/>
              </a:ext>
            </a:extLst>
          </p:cNvPr>
          <p:cNvSpPr>
            <a:spLocks noGrp="1"/>
          </p:cNvSpPr>
          <p:nvPr>
            <p:ph type="title"/>
          </p:nvPr>
        </p:nvSpPr>
        <p:spPr/>
        <p:txBody>
          <a:bodyPr/>
          <a:lstStyle/>
          <a:p>
            <a:endParaRPr lang="pt-B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4"/>
          <p:cNvGrpSpPr/>
          <p:nvPr/>
        </p:nvGrpSpPr>
        <p:grpSpPr>
          <a:xfrm>
            <a:off x="1285852" y="1393017"/>
            <a:ext cx="4572032" cy="1285884"/>
            <a:chOff x="1285852" y="714356"/>
            <a:chExt cx="4572032" cy="1714512"/>
          </a:xfrm>
        </p:grpSpPr>
        <p:sp>
          <p:nvSpPr>
            <p:cNvPr id="16" name="Arredondar Retângulo no Mesmo Canto Lateral 15"/>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17" name="CaixaDeTexto 16"/>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643042" y="1875224"/>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750199" y="2035960"/>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a:t>
            </a:r>
            <a:r>
              <a:rPr lang="pt-BR" dirty="0">
                <a:solidFill>
                  <a:srgbClr val="006600"/>
                </a:solidFill>
                <a:latin typeface="DIN Pro Regular"/>
                <a:ea typeface="+mj-ea"/>
                <a:cs typeface="+mj-cs"/>
              </a:rPr>
              <a:t> </a:t>
            </a:r>
            <a:r>
              <a:rPr lang="pt-BR" b="1" dirty="0">
                <a:solidFill>
                  <a:srgbClr val="006600"/>
                </a:solidFill>
                <a:latin typeface="DIN Pro Regular"/>
                <a:ea typeface="+mj-ea"/>
                <a:cs typeface="+mj-cs"/>
              </a:rPr>
              <a:t>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893076" y="2523394"/>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7" name="CaixaDeTexto 6"/>
          <p:cNvSpPr txBox="1"/>
          <p:nvPr/>
        </p:nvSpPr>
        <p:spPr>
          <a:xfrm>
            <a:off x="2393141" y="2684130"/>
            <a:ext cx="4000528" cy="854080"/>
          </a:xfrm>
          <a:prstGeom prst="rect">
            <a:avLst/>
          </a:prstGeom>
          <a:noFill/>
        </p:spPr>
        <p:txBody>
          <a:bodyPr wrap="square" rtlCol="0">
            <a:spAutoFit/>
          </a:bodyPr>
          <a:lstStyle/>
          <a:p>
            <a:r>
              <a:rPr lang="pt-BR" b="1" dirty="0">
                <a:solidFill>
                  <a:srgbClr val="C00000"/>
                </a:solidFill>
                <a:latin typeface="DIN Pro Regular"/>
                <a:ea typeface="+mj-ea"/>
                <a:cs typeface="+mj-cs"/>
              </a:rPr>
              <a:t>Ativação 3</a:t>
            </a:r>
          </a:p>
          <a:p>
            <a:endParaRPr lang="pt-BR" sz="1350" dirty="0">
              <a:solidFill>
                <a:srgbClr val="C00000"/>
              </a:solidFill>
            </a:endParaRPr>
          </a:p>
          <a:p>
            <a:r>
              <a:rPr lang="pt-BR" dirty="0">
                <a:solidFill>
                  <a:srgbClr val="C00000"/>
                </a:solidFill>
                <a:latin typeface="DIN Pro Regular"/>
                <a:ea typeface="+mj-ea"/>
                <a:cs typeface="+mj-cs"/>
              </a:rPr>
              <a:t>n = 2 =&gt; 2 * fatorial (1) </a:t>
            </a:r>
          </a:p>
        </p:txBody>
      </p:sp>
      <p:grpSp>
        <p:nvGrpSpPr>
          <p:cNvPr id="3" name="Grupo 11"/>
          <p:cNvGrpSpPr/>
          <p:nvPr/>
        </p:nvGrpSpPr>
        <p:grpSpPr>
          <a:xfrm>
            <a:off x="2285984" y="3065109"/>
            <a:ext cx="4572032" cy="1285884"/>
            <a:chOff x="1509690" y="2438392"/>
            <a:chExt cx="4572032" cy="1714512"/>
          </a:xfrm>
        </p:grpSpPr>
        <p:sp>
          <p:nvSpPr>
            <p:cNvPr id="10" name="Arredondar Retângulo no Mesmo Canto Lateral 9"/>
            <p:cNvSpPr/>
            <p:nvPr/>
          </p:nvSpPr>
          <p:spPr>
            <a:xfrm>
              <a:off x="1509690" y="2438392"/>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11" name="CaixaDeTexto 10"/>
            <p:cNvSpPr txBox="1"/>
            <p:nvPr/>
          </p:nvSpPr>
          <p:spPr>
            <a:xfrm>
              <a:off x="1724004" y="2652707"/>
              <a:ext cx="4000528" cy="1138773"/>
            </a:xfrm>
            <a:prstGeom prst="rect">
              <a:avLst/>
            </a:prstGeom>
            <a:noFill/>
          </p:spPr>
          <p:txBody>
            <a:bodyPr wrap="square" rtlCol="0">
              <a:spAutoFit/>
            </a:bodyPr>
            <a:lstStyle/>
            <a:p>
              <a:r>
                <a:rPr lang="pt-BR" b="1" dirty="0">
                  <a:latin typeface="DIN Pro Regular"/>
                  <a:ea typeface="+mj-ea"/>
                  <a:cs typeface="+mj-cs"/>
                </a:rPr>
                <a:t>Ativação 4</a:t>
              </a:r>
            </a:p>
            <a:p>
              <a:endParaRPr lang="pt-BR" sz="1350" dirty="0"/>
            </a:p>
            <a:p>
              <a:r>
                <a:rPr lang="pt-BR" dirty="0"/>
                <a:t>n=0 e m=4  =&gt; n&lt;m e n=0 =&gt;</a:t>
              </a:r>
              <a:r>
                <a:rPr lang="pt-BR" dirty="0" err="1"/>
                <a:t>return</a:t>
              </a:r>
              <a:r>
                <a:rPr lang="pt-BR" dirty="0"/>
                <a:t> (4)</a:t>
              </a:r>
              <a:endParaRPr lang="pt-BR" dirty="0">
                <a:latin typeface="DIN Pro Regular"/>
                <a:ea typeface="+mj-ea"/>
                <a:cs typeface="+mj-cs"/>
              </a:endParaRPr>
            </a:p>
          </p:txBody>
        </p:sp>
      </p:grpSp>
      <p:sp>
        <p:nvSpPr>
          <p:cNvPr id="8" name="Título 7">
            <a:extLst>
              <a:ext uri="{FF2B5EF4-FFF2-40B4-BE49-F238E27FC236}">
                <a16:creationId xmlns:a16="http://schemas.microsoft.com/office/drawing/2014/main" id="{D83FB1B3-3ADB-4045-AB1C-470C5C89F6DE}"/>
              </a:ext>
            </a:extLst>
          </p:cNvPr>
          <p:cNvSpPr>
            <a:spLocks noGrp="1"/>
          </p:cNvSpPr>
          <p:nvPr>
            <p:ph type="title"/>
          </p:nvPr>
        </p:nvSpPr>
        <p:spPr/>
        <p:txBody>
          <a:bodyPr/>
          <a:lstStyle/>
          <a:p>
            <a:endParaRPr lang="pt-B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7"/>
          <p:cNvGrpSpPr/>
          <p:nvPr/>
        </p:nvGrpSpPr>
        <p:grpSpPr>
          <a:xfrm>
            <a:off x="928663" y="1393017"/>
            <a:ext cx="4572032" cy="1285884"/>
            <a:chOff x="1285852" y="714356"/>
            <a:chExt cx="4572032" cy="1714512"/>
          </a:xfrm>
        </p:grpSpPr>
        <p:sp>
          <p:nvSpPr>
            <p:cNvPr id="9" name="Arredondar Retângulo no Mesmo Canto Lateral 8"/>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10" name="CaixaDeTexto 9"/>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sp>
        <p:nvSpPr>
          <p:cNvPr id="5" name="Arredondar Retângulo no Mesmo Canto Lateral 4"/>
          <p:cNvSpPr/>
          <p:nvPr/>
        </p:nvSpPr>
        <p:spPr>
          <a:xfrm>
            <a:off x="1213583" y="2047859"/>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499335" y="2082019"/>
            <a:ext cx="4000528" cy="854080"/>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p>
          <a:p>
            <a:endParaRPr lang="pt-BR" sz="1350" dirty="0"/>
          </a:p>
          <a:p>
            <a:r>
              <a:rPr lang="pt-BR" dirty="0">
                <a:solidFill>
                  <a:srgbClr val="BBFF00"/>
                </a:solidFill>
                <a:latin typeface="DIN Pro Regular"/>
                <a:ea typeface="+mj-ea"/>
                <a:cs typeface="+mj-cs"/>
              </a:rPr>
              <a:t>n = 3 =&gt; 3 * fatorial (2) </a:t>
            </a:r>
          </a:p>
        </p:txBody>
      </p:sp>
      <p:sp>
        <p:nvSpPr>
          <p:cNvPr id="4" name="Arredondar Retângulo no Mesmo Canto Lateral 3"/>
          <p:cNvSpPr/>
          <p:nvPr/>
        </p:nvSpPr>
        <p:spPr>
          <a:xfrm>
            <a:off x="1500166" y="2518166"/>
            <a:ext cx="4572032" cy="1285884"/>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7" name="CaixaDeTexto 6"/>
          <p:cNvSpPr txBox="1"/>
          <p:nvPr/>
        </p:nvSpPr>
        <p:spPr>
          <a:xfrm>
            <a:off x="1571605" y="2732480"/>
            <a:ext cx="4358549" cy="954107"/>
          </a:xfrm>
          <a:prstGeom prst="rect">
            <a:avLst/>
          </a:prstGeom>
          <a:noFill/>
        </p:spPr>
        <p:txBody>
          <a:bodyPr wrap="square" rtlCol="0">
            <a:spAutoFit/>
          </a:bodyPr>
          <a:lstStyle/>
          <a:p>
            <a:r>
              <a:rPr lang="pt-BR" b="1" dirty="0">
                <a:solidFill>
                  <a:srgbClr val="C00000"/>
                </a:solidFill>
                <a:latin typeface="DIN Pro Regular"/>
                <a:ea typeface="+mj-ea"/>
                <a:cs typeface="+mj-cs"/>
              </a:rPr>
              <a:t>Ativação 3</a:t>
            </a:r>
            <a:r>
              <a:rPr lang="pt-BR" sz="1500" dirty="0">
                <a:solidFill>
                  <a:srgbClr val="C00000"/>
                </a:solidFill>
                <a:latin typeface="DIN Pro Regular"/>
              </a:rPr>
              <a:t>						                  </a:t>
            </a:r>
            <a:r>
              <a:rPr lang="pt-BR" sz="2000" b="1" dirty="0">
                <a:solidFill>
                  <a:srgbClr val="C00000"/>
                </a:solidFill>
                <a:latin typeface="DIN Pro Regular"/>
              </a:rPr>
              <a:t>4</a:t>
            </a:r>
            <a:endParaRPr lang="pt-BR" sz="1500" b="1" dirty="0">
              <a:solidFill>
                <a:srgbClr val="C00000"/>
              </a:solidFill>
              <a:latin typeface="DIN Pro Regular"/>
            </a:endParaRPr>
          </a:p>
          <a:p>
            <a:r>
              <a:rPr lang="pt-BR" dirty="0">
                <a:solidFill>
                  <a:srgbClr val="C00000"/>
                </a:solidFill>
                <a:latin typeface="DIN Pro Regular"/>
                <a:ea typeface="+mj-ea"/>
                <a:cs typeface="+mj-cs"/>
              </a:rPr>
              <a:t>n= 4  e m=0 =&gt; n&gt;m =&gt;</a:t>
            </a:r>
            <a:r>
              <a:rPr lang="pt-BR" dirty="0" err="1">
                <a:solidFill>
                  <a:srgbClr val="C00000"/>
                </a:solidFill>
                <a:latin typeface="DIN Pro Regular"/>
                <a:ea typeface="+mj-ea"/>
                <a:cs typeface="+mj-cs"/>
              </a:rPr>
              <a:t>return</a:t>
            </a:r>
            <a:r>
              <a:rPr lang="pt-BR" dirty="0">
                <a:solidFill>
                  <a:srgbClr val="C00000"/>
                </a:solidFill>
                <a:latin typeface="DIN Pro Regular"/>
                <a:ea typeface="+mj-ea"/>
                <a:cs typeface="+mj-cs"/>
              </a:rPr>
              <a:t>(mdc(0,4))</a:t>
            </a:r>
          </a:p>
        </p:txBody>
      </p:sp>
      <p:cxnSp>
        <p:nvCxnSpPr>
          <p:cNvPr id="12" name="Conector de seta reta 11"/>
          <p:cNvCxnSpPr/>
          <p:nvPr/>
        </p:nvCxnSpPr>
        <p:spPr>
          <a:xfrm rot="5400000" flipH="1" flipV="1">
            <a:off x="4713196" y="3222099"/>
            <a:ext cx="405245" cy="34290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 name="Título 2">
            <a:extLst>
              <a:ext uri="{FF2B5EF4-FFF2-40B4-BE49-F238E27FC236}">
                <a16:creationId xmlns:a16="http://schemas.microsoft.com/office/drawing/2014/main" id="{0260480B-B787-434E-89DC-FE86B77771FB}"/>
              </a:ext>
            </a:extLst>
          </p:cNvPr>
          <p:cNvSpPr>
            <a:spLocks noGrp="1"/>
          </p:cNvSpPr>
          <p:nvPr>
            <p:ph type="title"/>
          </p:nvPr>
        </p:nvSpPr>
        <p:spPr/>
        <p:txBody>
          <a:bodyPr/>
          <a:lstStyle/>
          <a:p>
            <a:endParaRPr lang="pt-B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3"/>
          <p:cNvGrpSpPr/>
          <p:nvPr/>
        </p:nvGrpSpPr>
        <p:grpSpPr>
          <a:xfrm>
            <a:off x="1285852" y="1393017"/>
            <a:ext cx="4572032" cy="1285884"/>
            <a:chOff x="1285852" y="714356"/>
            <a:chExt cx="4572032" cy="1714512"/>
          </a:xfrm>
        </p:grpSpPr>
        <p:sp>
          <p:nvSpPr>
            <p:cNvPr id="7" name="Arredondar Retângulo no Mesmo Canto Lateral 6"/>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8" name="CaixaDeTexto 7"/>
            <p:cNvSpPr txBox="1"/>
            <p:nvPr/>
          </p:nvSpPr>
          <p:spPr>
            <a:xfrm>
              <a:off x="1643042" y="928671"/>
              <a:ext cx="4000528" cy="1138773"/>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p>
            <a:p>
              <a:endParaRPr lang="pt-BR" sz="1350" dirty="0">
                <a:solidFill>
                  <a:srgbClr val="0000CC"/>
                </a:solidFill>
              </a:endParaRPr>
            </a:p>
            <a:p>
              <a:r>
                <a:rPr lang="pt-BR" dirty="0">
                  <a:solidFill>
                    <a:srgbClr val="0000CC"/>
                  </a:solidFill>
                  <a:latin typeface="DIN Pro Regular" panose="020B0504020101020102" pitchFamily="34" charset="0"/>
                  <a:cs typeface="DIN Pro Regular" panose="020B0504020101020102" pitchFamily="34" charset="0"/>
                </a:rPr>
                <a:t>n = 4 =&gt; 4 * fatorial (3) </a:t>
              </a:r>
            </a:p>
          </p:txBody>
        </p:sp>
      </p:grpSp>
      <p:grpSp>
        <p:nvGrpSpPr>
          <p:cNvPr id="3" name="Grupo 8"/>
          <p:cNvGrpSpPr/>
          <p:nvPr/>
        </p:nvGrpSpPr>
        <p:grpSpPr>
          <a:xfrm>
            <a:off x="1608330" y="2091528"/>
            <a:ext cx="4572032" cy="1285884"/>
            <a:chOff x="2643174" y="3500438"/>
            <a:chExt cx="4572032" cy="1714512"/>
          </a:xfrm>
        </p:grpSpPr>
        <p:sp>
          <p:nvSpPr>
            <p:cNvPr id="5" name="Arredondar Retângulo no Mesmo Canto Lateral 4"/>
            <p:cNvSpPr/>
            <p:nvPr/>
          </p:nvSpPr>
          <p:spPr>
            <a:xfrm>
              <a:off x="2643174" y="3500438"/>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2796976" y="3634349"/>
              <a:ext cx="4250972" cy="1190069"/>
            </a:xfrm>
            <a:prstGeom prst="rect">
              <a:avLst/>
            </a:prstGeom>
            <a:noFill/>
          </p:spPr>
          <p:txBody>
            <a:bodyPr wrap="square" rtlCol="0">
              <a:spAutoFit/>
            </a:bodyPr>
            <a:lstStyle/>
            <a:p>
              <a:r>
                <a:rPr lang="pt-BR" b="1" dirty="0">
                  <a:solidFill>
                    <a:srgbClr val="006600"/>
                  </a:solidFill>
                  <a:latin typeface="DIN Pro Regular"/>
                  <a:ea typeface="+mj-ea"/>
                  <a:cs typeface="+mj-cs"/>
                </a:rPr>
                <a:t>Ativação 2</a:t>
              </a:r>
              <a:r>
                <a:rPr lang="pt-BR" dirty="0">
                  <a:solidFill>
                    <a:srgbClr val="006600"/>
                  </a:solidFill>
                  <a:latin typeface="DIN Pro Regular"/>
                </a:rPr>
                <a:t>			          		</a:t>
              </a:r>
              <a:r>
                <a:rPr lang="pt-BR" b="1" dirty="0">
                  <a:solidFill>
                    <a:srgbClr val="006600"/>
                  </a:solidFill>
                  <a:latin typeface="DIN Pro Regular"/>
                </a:rPr>
                <a:t>     	                 4</a:t>
              </a:r>
            </a:p>
            <a:p>
              <a:r>
                <a:rPr lang="pt-BR" sz="1600" dirty="0">
                  <a:solidFill>
                    <a:srgbClr val="006600"/>
                  </a:solidFill>
                  <a:latin typeface="DIN Pro Regular"/>
                  <a:ea typeface="+mj-ea"/>
                  <a:cs typeface="+mj-cs"/>
                </a:rPr>
                <a:t>n=4  e m=8 =&gt; n&lt;m e n≠0 =&gt;</a:t>
              </a:r>
              <a:r>
                <a:rPr lang="pt-BR" sz="1600" dirty="0" err="1">
                  <a:solidFill>
                    <a:srgbClr val="006600"/>
                  </a:solidFill>
                  <a:latin typeface="DIN Pro Regular"/>
                  <a:ea typeface="+mj-ea"/>
                  <a:cs typeface="+mj-cs"/>
                </a:rPr>
                <a:t>return</a:t>
              </a:r>
              <a:r>
                <a:rPr lang="pt-BR" sz="1600" dirty="0">
                  <a:solidFill>
                    <a:srgbClr val="006600"/>
                  </a:solidFill>
                  <a:latin typeface="DIN Pro Regular"/>
                  <a:ea typeface="+mj-ea"/>
                  <a:cs typeface="+mj-cs"/>
                </a:rPr>
                <a:t>(mdc(4, 0))</a:t>
              </a:r>
            </a:p>
          </p:txBody>
        </p:sp>
      </p:grpSp>
      <p:cxnSp>
        <p:nvCxnSpPr>
          <p:cNvPr id="10" name="Conector de seta reta 9"/>
          <p:cNvCxnSpPr/>
          <p:nvPr/>
        </p:nvCxnSpPr>
        <p:spPr>
          <a:xfrm flipV="1">
            <a:off x="4974199" y="2734470"/>
            <a:ext cx="446809" cy="394854"/>
          </a:xfrm>
          <a:prstGeom prst="straightConnector1">
            <a:avLst/>
          </a:prstGeom>
          <a:ln w="28575">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4" name="Título 3">
            <a:extLst>
              <a:ext uri="{FF2B5EF4-FFF2-40B4-BE49-F238E27FC236}">
                <a16:creationId xmlns:a16="http://schemas.microsoft.com/office/drawing/2014/main" id="{918CB8B3-3BA0-48F0-90C3-7FD934D38D75}"/>
              </a:ext>
            </a:extLst>
          </p:cNvPr>
          <p:cNvSpPr>
            <a:spLocks noGrp="1"/>
          </p:cNvSpPr>
          <p:nvPr>
            <p:ph type="title"/>
          </p:nvPr>
        </p:nvSpPr>
        <p:spPr/>
        <p:txBody>
          <a:bodyPr/>
          <a:lstStyle/>
          <a:p>
            <a:endParaRPr lang="pt-B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6"/>
          <p:cNvGrpSpPr/>
          <p:nvPr/>
        </p:nvGrpSpPr>
        <p:grpSpPr>
          <a:xfrm>
            <a:off x="1285852" y="1393017"/>
            <a:ext cx="4572032" cy="1285884"/>
            <a:chOff x="1285852" y="714356"/>
            <a:chExt cx="4572032" cy="1714512"/>
          </a:xfrm>
        </p:grpSpPr>
        <p:sp>
          <p:nvSpPr>
            <p:cNvPr id="5" name="Arredondar Retângulo no Mesmo Canto Lateral 4"/>
            <p:cNvSpPr/>
            <p:nvPr/>
          </p:nvSpPr>
          <p:spPr>
            <a:xfrm>
              <a:off x="1285852" y="714356"/>
              <a:ext cx="4572032" cy="1714512"/>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350" dirty="0"/>
            </a:p>
          </p:txBody>
        </p:sp>
        <p:sp>
          <p:nvSpPr>
            <p:cNvPr id="6" name="CaixaDeTexto 5"/>
            <p:cNvSpPr txBox="1"/>
            <p:nvPr/>
          </p:nvSpPr>
          <p:spPr>
            <a:xfrm>
              <a:off x="1643042" y="928671"/>
              <a:ext cx="4000528" cy="1169550"/>
            </a:xfrm>
            <a:prstGeom prst="rect">
              <a:avLst/>
            </a:prstGeom>
            <a:noFill/>
          </p:spPr>
          <p:txBody>
            <a:bodyPr wrap="square" rtlCol="0">
              <a:spAutoFit/>
            </a:bodyPr>
            <a:lstStyle/>
            <a:p>
              <a:r>
                <a:rPr lang="pt-BR" b="1" dirty="0">
                  <a:solidFill>
                    <a:srgbClr val="0000CC"/>
                  </a:solidFill>
                  <a:latin typeface="DIN Pro Regular" panose="020B0504020101020102" pitchFamily="34" charset="0"/>
                  <a:cs typeface="DIN Pro Regular" panose="020B0504020101020102" pitchFamily="34" charset="0"/>
                </a:rPr>
                <a:t>Ativação 1</a:t>
              </a:r>
              <a:r>
                <a:rPr lang="pt-BR" dirty="0">
                  <a:solidFill>
                    <a:srgbClr val="0000CC"/>
                  </a:solidFill>
                  <a:latin typeface="DIN Pro Regular"/>
                </a:rPr>
                <a:t>			         	</a:t>
              </a:r>
              <a:r>
                <a:rPr lang="pt-BR" dirty="0">
                  <a:solidFill>
                    <a:srgbClr val="0000CC"/>
                  </a:solidFill>
                  <a:latin typeface="DIN Pro Regular" panose="020B0504020101020102" pitchFamily="34" charset="0"/>
                  <a:cs typeface="DIN Pro Regular" panose="020B0504020101020102" pitchFamily="34" charset="0"/>
                </a:rPr>
                <a:t>        		     4</a:t>
              </a:r>
              <a:endParaRPr lang="pt-BR" sz="1500" dirty="0">
                <a:solidFill>
                  <a:srgbClr val="0000CC"/>
                </a:solidFill>
                <a:latin typeface="DIN Pro Regular" panose="020B0504020101020102" pitchFamily="34" charset="0"/>
                <a:cs typeface="DIN Pro Regular" panose="020B0504020101020102" pitchFamily="34" charset="0"/>
              </a:endParaRPr>
            </a:p>
            <a:p>
              <a:r>
                <a:rPr lang="pt-BR" sz="1500" dirty="0">
                  <a:solidFill>
                    <a:srgbClr val="0000CC"/>
                  </a:solidFill>
                  <a:latin typeface="DIN Pro Regular" panose="020B0504020101020102" pitchFamily="34" charset="0"/>
                  <a:cs typeface="DIN Pro Regular" panose="020B0504020101020102" pitchFamily="34" charset="0"/>
                </a:rPr>
                <a:t>n=8 e m=4  =&gt; n&gt;m  =&gt; </a:t>
              </a:r>
              <a:r>
                <a:rPr lang="pt-BR" sz="1500" dirty="0" err="1">
                  <a:solidFill>
                    <a:srgbClr val="0000CC"/>
                  </a:solidFill>
                  <a:latin typeface="DIN Pro Regular" panose="020B0504020101020102" pitchFamily="34" charset="0"/>
                  <a:cs typeface="DIN Pro Regular" panose="020B0504020101020102" pitchFamily="34" charset="0"/>
                </a:rPr>
                <a:t>return</a:t>
              </a:r>
              <a:r>
                <a:rPr lang="pt-BR" sz="1500" dirty="0">
                  <a:solidFill>
                    <a:srgbClr val="0000CC"/>
                  </a:solidFill>
                  <a:latin typeface="DIN Pro Regular" panose="020B0504020101020102" pitchFamily="34" charset="0"/>
                  <a:cs typeface="DIN Pro Regular" panose="020B0504020101020102" pitchFamily="34" charset="0"/>
                </a:rPr>
                <a:t>(mdc(4,8))</a:t>
              </a:r>
            </a:p>
          </p:txBody>
        </p:sp>
      </p:grpSp>
      <p:cxnSp>
        <p:nvCxnSpPr>
          <p:cNvPr id="8" name="Conector de seta reta 7"/>
          <p:cNvCxnSpPr/>
          <p:nvPr/>
        </p:nvCxnSpPr>
        <p:spPr>
          <a:xfrm rot="5400000" flipH="1" flipV="1">
            <a:off x="4214402" y="2046452"/>
            <a:ext cx="394854" cy="374073"/>
          </a:xfrm>
          <a:prstGeom prst="straightConnector1">
            <a:avLst/>
          </a:prstGeom>
          <a:ln w="28575">
            <a:solidFill>
              <a:srgbClr val="0000CC"/>
            </a:solidFill>
            <a:tailEnd type="arrow"/>
          </a:ln>
        </p:spPr>
        <p:style>
          <a:lnRef idx="1">
            <a:schemeClr val="accent1"/>
          </a:lnRef>
          <a:fillRef idx="0">
            <a:schemeClr val="accent1"/>
          </a:fillRef>
          <a:effectRef idx="0">
            <a:schemeClr val="accent1"/>
          </a:effectRef>
          <a:fontRef idx="minor">
            <a:schemeClr val="tx1"/>
          </a:fontRef>
        </p:style>
      </p:cxnSp>
      <p:sp>
        <p:nvSpPr>
          <p:cNvPr id="3" name="Título 2">
            <a:extLst>
              <a:ext uri="{FF2B5EF4-FFF2-40B4-BE49-F238E27FC236}">
                <a16:creationId xmlns:a16="http://schemas.microsoft.com/office/drawing/2014/main" id="{E1572030-DC84-48EB-A407-5A2C51EFECEB}"/>
              </a:ext>
            </a:extLst>
          </p:cNvPr>
          <p:cNvSpPr>
            <a:spLocks noGrp="1"/>
          </p:cNvSpPr>
          <p:nvPr>
            <p:ph type="title"/>
          </p:nvPr>
        </p:nvSpPr>
        <p:spPr/>
        <p:txBody>
          <a:bodyPr/>
          <a:lstStyle/>
          <a:p>
            <a:endParaRPr lang="pt-B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2400" dirty="0"/>
              <a:t>Chamada da Fun</a:t>
            </a:r>
            <a:r>
              <a:rPr lang="pt-BR" dirty="0"/>
              <a:t>ção MDC</a:t>
            </a:r>
            <a:endParaRPr lang="en-US" sz="2850" dirty="0"/>
          </a:p>
        </p:txBody>
      </p:sp>
      <p:sp>
        <p:nvSpPr>
          <p:cNvPr id="3" name="Subtítulo 2"/>
          <p:cNvSpPr>
            <a:spLocks noGrp="1"/>
          </p:cNvSpPr>
          <p:nvPr>
            <p:ph type="subTitle" idx="4294967295"/>
          </p:nvPr>
        </p:nvSpPr>
        <p:spPr>
          <a:xfrm>
            <a:off x="1087821" y="1436304"/>
            <a:ext cx="7300913" cy="4428468"/>
          </a:xfrm>
          <a:solidFill>
            <a:srgbClr val="FFEAA7"/>
          </a:solidFill>
        </p:spPr>
        <p:txBody>
          <a:bodyPr>
            <a:normAutofit fontScale="92500" lnSpcReduction="10000"/>
          </a:bodyPr>
          <a:lstStyle/>
          <a:p>
            <a:pPr marL="0" indent="0" algn="l">
              <a:buNone/>
            </a:pPr>
            <a:r>
              <a:rPr lang="en-US" sz="1600" dirty="0">
                <a:latin typeface="Consolas" pitchFamily="49" charset="0"/>
                <a:cs typeface="Consolas" pitchFamily="49" charset="0"/>
              </a:rPr>
              <a:t>public static </a:t>
            </a:r>
            <a:r>
              <a:rPr lang="en-US" sz="1600" dirty="0" err="1">
                <a:latin typeface="Consolas" pitchFamily="49" charset="0"/>
                <a:cs typeface="Consolas" pitchFamily="49" charset="0"/>
              </a:rPr>
              <a:t>int</a:t>
            </a:r>
            <a:r>
              <a:rPr lang="en-US" sz="1600" dirty="0">
                <a:latin typeface="Consolas" pitchFamily="49" charset="0"/>
                <a:cs typeface="Consolas" pitchFamily="49" charset="0"/>
              </a:rPr>
              <a:t> </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int</a:t>
            </a:r>
            <a:r>
              <a:rPr lang="en-US" sz="1600" dirty="0">
                <a:latin typeface="Consolas" pitchFamily="49" charset="0"/>
                <a:cs typeface="Consolas" pitchFamily="49" charset="0"/>
              </a:rPr>
              <a:t> n, </a:t>
            </a:r>
            <a:r>
              <a:rPr lang="en-US" sz="1600" dirty="0" err="1">
                <a:latin typeface="Consolas" pitchFamily="49" charset="0"/>
                <a:cs typeface="Consolas" pitchFamily="49" charset="0"/>
              </a:rPr>
              <a:t>int</a:t>
            </a:r>
            <a:r>
              <a:rPr lang="en-US" sz="1600" dirty="0">
                <a:latin typeface="Consolas" pitchFamily="49" charset="0"/>
                <a:cs typeface="Consolas" pitchFamily="49" charset="0"/>
              </a:rPr>
              <a:t> m){</a:t>
            </a:r>
          </a:p>
          <a:p>
            <a:pPr marL="0" indent="0" algn="l">
              <a:buNone/>
            </a:pPr>
            <a:r>
              <a:rPr lang="en-US" sz="1600" dirty="0">
                <a:latin typeface="Consolas" pitchFamily="49" charset="0"/>
                <a:cs typeface="Consolas" pitchFamily="49" charset="0"/>
              </a:rPr>
              <a:t>   if (n &gt; m)</a:t>
            </a:r>
          </a:p>
          <a:p>
            <a:pPr marL="0" indent="0" algn="l">
              <a:buNone/>
            </a:pPr>
            <a:r>
              <a:rPr lang="en-US" sz="1600" dirty="0">
                <a:latin typeface="Consolas" pitchFamily="49" charset="0"/>
                <a:cs typeface="Consolas" pitchFamily="49" charset="0"/>
              </a:rPr>
              <a:t>  	   return(</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m,n</a:t>
            </a:r>
            <a:r>
              <a:rPr lang="en-US" sz="1600" dirty="0">
                <a:latin typeface="Consolas" pitchFamily="49" charset="0"/>
                <a:cs typeface="Consolas" pitchFamily="49" charset="0"/>
              </a:rPr>
              <a:t>));</a:t>
            </a:r>
          </a:p>
          <a:p>
            <a:pPr marL="0" indent="0" algn="l">
              <a:buNone/>
            </a:pPr>
            <a:r>
              <a:rPr lang="en-US" sz="1600" dirty="0">
                <a:latin typeface="Consolas" pitchFamily="49" charset="0"/>
                <a:cs typeface="Consolas" pitchFamily="49" charset="0"/>
              </a:rPr>
              <a:t>   else  {</a:t>
            </a:r>
          </a:p>
          <a:p>
            <a:pPr marL="0" indent="0" algn="l">
              <a:buNone/>
            </a:pPr>
            <a:r>
              <a:rPr lang="en-US" sz="1600" dirty="0">
                <a:latin typeface="Consolas" pitchFamily="49" charset="0"/>
                <a:cs typeface="Consolas" pitchFamily="49" charset="0"/>
              </a:rPr>
              <a:t>	   if (n == 0)</a:t>
            </a:r>
          </a:p>
          <a:p>
            <a:pPr marL="0" indent="0" algn="l">
              <a:buNone/>
            </a:pPr>
            <a:r>
              <a:rPr lang="en-US" sz="1600" dirty="0">
                <a:latin typeface="Consolas" pitchFamily="49" charset="0"/>
                <a:cs typeface="Consolas" pitchFamily="49" charset="0"/>
              </a:rPr>
              <a:t>	        return(m);</a:t>
            </a:r>
          </a:p>
          <a:p>
            <a:pPr marL="0" indent="0" algn="l">
              <a:buNone/>
            </a:pPr>
            <a:r>
              <a:rPr lang="en-US" sz="1600" dirty="0">
                <a:latin typeface="Consolas" pitchFamily="49" charset="0"/>
                <a:cs typeface="Consolas" pitchFamily="49" charset="0"/>
              </a:rPr>
              <a:t>	   else</a:t>
            </a:r>
          </a:p>
          <a:p>
            <a:pPr marL="0" indent="0" algn="l">
              <a:buNone/>
            </a:pPr>
            <a:r>
              <a:rPr lang="en-US" sz="1600" dirty="0">
                <a:latin typeface="Consolas" pitchFamily="49" charset="0"/>
                <a:cs typeface="Consolas" pitchFamily="49" charset="0"/>
              </a:rPr>
              <a:t>	        return(</a:t>
            </a:r>
            <a:r>
              <a:rPr lang="en-US" sz="1600" dirty="0" err="1">
                <a:latin typeface="Consolas" pitchFamily="49" charset="0"/>
                <a:cs typeface="Consolas" pitchFamily="49" charset="0"/>
              </a:rPr>
              <a:t>mdc</a:t>
            </a:r>
            <a:r>
              <a:rPr lang="en-US" sz="1600" dirty="0">
                <a:latin typeface="Consolas" pitchFamily="49" charset="0"/>
                <a:cs typeface="Consolas" pitchFamily="49" charset="0"/>
              </a:rPr>
              <a:t>(</a:t>
            </a:r>
            <a:r>
              <a:rPr lang="en-US" sz="1600" dirty="0" err="1">
                <a:latin typeface="Consolas" pitchFamily="49" charset="0"/>
                <a:cs typeface="Consolas" pitchFamily="49" charset="0"/>
              </a:rPr>
              <a:t>n,m%n</a:t>
            </a:r>
            <a:r>
              <a:rPr lang="en-US" sz="1600" dirty="0">
                <a:latin typeface="Consolas" pitchFamily="49" charset="0"/>
                <a:cs typeface="Consolas" pitchFamily="49" charset="0"/>
              </a:rPr>
              <a:t>));</a:t>
            </a:r>
          </a:p>
          <a:p>
            <a:pPr marL="0" indent="0" algn="l">
              <a:buNone/>
            </a:pPr>
            <a:r>
              <a:rPr lang="en-US" sz="1600" dirty="0">
                <a:latin typeface="Consolas" pitchFamily="49" charset="0"/>
                <a:cs typeface="Consolas" pitchFamily="49" charset="0"/>
              </a:rPr>
              <a:t>	   }</a:t>
            </a:r>
          </a:p>
          <a:p>
            <a:pPr marL="0" indent="0" algn="l">
              <a:buNone/>
            </a:pPr>
            <a:r>
              <a:rPr lang="en-US" sz="1600" dirty="0">
                <a:latin typeface="Consolas" pitchFamily="49" charset="0"/>
                <a:cs typeface="Consolas" pitchFamily="49" charset="0"/>
              </a:rPr>
              <a:t>}</a:t>
            </a:r>
          </a:p>
          <a:p>
            <a:pPr marL="0" indent="0" algn="l">
              <a:lnSpc>
                <a:spcPct val="150000"/>
              </a:lnSpc>
              <a:buNone/>
            </a:pPr>
            <a:r>
              <a:rPr lang="pt-BR" sz="1600" dirty="0" err="1">
                <a:latin typeface="Consolas" pitchFamily="49" charset="0"/>
                <a:cs typeface="Consolas" pitchFamily="49" charset="0"/>
              </a:rPr>
              <a:t>public</a:t>
            </a:r>
            <a:r>
              <a:rPr lang="pt-BR" sz="1600" dirty="0">
                <a:latin typeface="Consolas" pitchFamily="49" charset="0"/>
                <a:cs typeface="Consolas" pitchFamily="49" charset="0"/>
              </a:rPr>
              <a:t> </a:t>
            </a:r>
            <a:r>
              <a:rPr lang="pt-BR" sz="1600" dirty="0" err="1">
                <a:latin typeface="Consolas" pitchFamily="49" charset="0"/>
                <a:cs typeface="Consolas" pitchFamily="49" charset="0"/>
              </a:rPr>
              <a:t>static</a:t>
            </a:r>
            <a:r>
              <a:rPr lang="pt-BR" sz="1600" dirty="0">
                <a:latin typeface="Consolas" pitchFamily="49" charset="0"/>
                <a:cs typeface="Consolas" pitchFamily="49" charset="0"/>
              </a:rPr>
              <a:t> </a:t>
            </a:r>
            <a:r>
              <a:rPr lang="pt-BR" sz="1600" dirty="0" err="1">
                <a:latin typeface="Consolas" pitchFamily="49" charset="0"/>
                <a:cs typeface="Consolas" pitchFamily="49" charset="0"/>
              </a:rPr>
              <a:t>void</a:t>
            </a:r>
            <a:r>
              <a:rPr lang="pt-BR" sz="1600" dirty="0">
                <a:latin typeface="Consolas" pitchFamily="49" charset="0"/>
                <a:cs typeface="Consolas" pitchFamily="49" charset="0"/>
              </a:rPr>
              <a:t> </a:t>
            </a:r>
            <a:r>
              <a:rPr lang="pt-BR" sz="1600" dirty="0" err="1">
                <a:latin typeface="Consolas" pitchFamily="49" charset="0"/>
                <a:cs typeface="Consolas" pitchFamily="49" charset="0"/>
              </a:rPr>
              <a:t>main</a:t>
            </a:r>
            <a:r>
              <a:rPr lang="pt-BR" sz="1600" dirty="0">
                <a:latin typeface="Consolas" pitchFamily="49" charset="0"/>
                <a:cs typeface="Consolas" pitchFamily="49" charset="0"/>
              </a:rPr>
              <a:t>(String[] </a:t>
            </a:r>
            <a:r>
              <a:rPr lang="pt-BR" sz="1600" dirty="0" err="1">
                <a:latin typeface="Consolas" pitchFamily="49" charset="0"/>
                <a:cs typeface="Consolas" pitchFamily="49" charset="0"/>
              </a:rPr>
              <a:t>args</a:t>
            </a:r>
            <a:r>
              <a:rPr lang="pt-BR" sz="1600" dirty="0">
                <a:latin typeface="Consolas" pitchFamily="49" charset="0"/>
                <a:cs typeface="Consolas" pitchFamily="49" charset="0"/>
              </a:rPr>
              <a:t>) {</a:t>
            </a:r>
          </a:p>
          <a:p>
            <a:pPr marL="0" indent="0" algn="l">
              <a:lnSpc>
                <a:spcPct val="150000"/>
              </a:lnSpc>
              <a:buNone/>
            </a:pPr>
            <a:endParaRPr lang="pt-BR" sz="1600" dirty="0">
              <a:latin typeface="Consolas" pitchFamily="49" charset="0"/>
              <a:cs typeface="Consolas" pitchFamily="49" charset="0"/>
            </a:endParaRPr>
          </a:p>
          <a:p>
            <a:pPr marL="0" indent="0" algn="l">
              <a:lnSpc>
                <a:spcPct val="150000"/>
              </a:lnSpc>
              <a:buNone/>
            </a:pPr>
            <a:r>
              <a:rPr lang="pt-BR" sz="1600" dirty="0">
                <a:latin typeface="Consolas" pitchFamily="49" charset="0"/>
                <a:cs typeface="Consolas" pitchFamily="49" charset="0"/>
              </a:rPr>
              <a:t>	</a:t>
            </a:r>
            <a:r>
              <a:rPr lang="pt-BR" sz="1600" dirty="0" err="1">
                <a:latin typeface="Consolas" pitchFamily="49" charset="0"/>
                <a:cs typeface="Consolas" pitchFamily="49" charset="0"/>
              </a:rPr>
              <a:t>int</a:t>
            </a:r>
            <a:r>
              <a:rPr lang="pt-BR" sz="1600" dirty="0">
                <a:latin typeface="Consolas" pitchFamily="49" charset="0"/>
                <a:cs typeface="Consolas" pitchFamily="49" charset="0"/>
              </a:rPr>
              <a:t> x = </a:t>
            </a:r>
            <a:r>
              <a:rPr lang="pt-BR" sz="1600" b="1" dirty="0">
                <a:solidFill>
                  <a:srgbClr val="0000CC"/>
                </a:solidFill>
                <a:latin typeface="Consolas" pitchFamily="49" charset="0"/>
                <a:cs typeface="Consolas" pitchFamily="49" charset="0"/>
              </a:rPr>
              <a:t>mdc (8,4)</a:t>
            </a:r>
            <a:r>
              <a:rPr lang="pt-BR" sz="1600" dirty="0">
                <a:latin typeface="Consolas" pitchFamily="49" charset="0"/>
                <a:cs typeface="Consolas" pitchFamily="49" charset="0"/>
              </a:rPr>
              <a:t>;</a:t>
            </a:r>
          </a:p>
          <a:p>
            <a:pPr marL="0" indent="0" algn="l">
              <a:lnSpc>
                <a:spcPct val="150000"/>
              </a:lnSpc>
              <a:buNone/>
            </a:pPr>
            <a:r>
              <a:rPr lang="pt-BR" sz="1600" dirty="0">
                <a:latin typeface="Consolas" pitchFamily="49" charset="0"/>
                <a:cs typeface="Consolas" pitchFamily="49" charset="0"/>
              </a:rPr>
              <a:t>	</a:t>
            </a:r>
            <a:r>
              <a:rPr lang="pt-BR" sz="1600" dirty="0" err="1">
                <a:latin typeface="Consolas" pitchFamily="49" charset="0"/>
                <a:cs typeface="Consolas" pitchFamily="49" charset="0"/>
              </a:rPr>
              <a:t>System.out.println</a:t>
            </a:r>
            <a:r>
              <a:rPr lang="pt-BR" sz="1600" dirty="0">
                <a:latin typeface="Consolas" pitchFamily="49" charset="0"/>
                <a:cs typeface="Consolas" pitchFamily="49" charset="0"/>
              </a:rPr>
              <a:t>(" MDC entre 8 e 4 = " + x);</a:t>
            </a:r>
          </a:p>
          <a:p>
            <a:pPr marL="0" indent="0" algn="l">
              <a:lnSpc>
                <a:spcPct val="150000"/>
              </a:lnSpc>
              <a:buNone/>
            </a:pPr>
            <a:r>
              <a:rPr lang="pt-BR" sz="1600" dirty="0">
                <a:latin typeface="Consolas" pitchFamily="49" charset="0"/>
                <a:cs typeface="Consolas" pitchFamily="49" charset="0"/>
              </a:rPr>
              <a:t>}</a:t>
            </a:r>
          </a:p>
          <a:p>
            <a:pPr marL="0" indent="0" algn="l">
              <a:buNone/>
            </a:pPr>
            <a:endParaRPr lang="pt-BR" sz="1600" dirty="0">
              <a:latin typeface="Consolas" pitchFamily="49" charset="0"/>
              <a:cs typeface="Consolas" pitchFamily="49" charset="0"/>
            </a:endParaRPr>
          </a:p>
          <a:p>
            <a:pPr marL="0" indent="0" algn="l">
              <a:buNone/>
            </a:pPr>
            <a:endParaRPr lang="en-US" sz="1600" dirty="0">
              <a:latin typeface="Consolas" pitchFamily="49" charset="0"/>
              <a:cs typeface="Consolas" pitchFamily="49" charset="0"/>
            </a:endParaRPr>
          </a:p>
        </p:txBody>
      </p:sp>
      <p:cxnSp>
        <p:nvCxnSpPr>
          <p:cNvPr id="4" name="Conector de seta reta 7">
            <a:extLst>
              <a:ext uri="{FF2B5EF4-FFF2-40B4-BE49-F238E27FC236}">
                <a16:creationId xmlns:a16="http://schemas.microsoft.com/office/drawing/2014/main" id="{B84C58AE-93DB-4834-B72F-5D7FD95A8253}"/>
              </a:ext>
            </a:extLst>
          </p:cNvPr>
          <p:cNvCxnSpPr>
            <a:cxnSpLocks/>
          </p:cNvCxnSpPr>
          <p:nvPr/>
        </p:nvCxnSpPr>
        <p:spPr>
          <a:xfrm flipV="1">
            <a:off x="2665788" y="4603531"/>
            <a:ext cx="518846" cy="563062"/>
          </a:xfrm>
          <a:prstGeom prst="straightConnector1">
            <a:avLst/>
          </a:prstGeom>
          <a:ln w="28575">
            <a:solidFill>
              <a:srgbClr val="0000CC"/>
            </a:solidFill>
            <a:tailEnd type="arrow"/>
          </a:ln>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EEA61227-3688-4845-A4CB-807DDA80DAB7}"/>
              </a:ext>
            </a:extLst>
          </p:cNvPr>
          <p:cNvSpPr txBox="1"/>
          <p:nvPr/>
        </p:nvSpPr>
        <p:spPr>
          <a:xfrm>
            <a:off x="3184634" y="4327320"/>
            <a:ext cx="665018" cy="415498"/>
          </a:xfrm>
          <a:prstGeom prst="rect">
            <a:avLst/>
          </a:prstGeom>
          <a:noFill/>
          <a:ln>
            <a:noFill/>
          </a:ln>
        </p:spPr>
        <p:txBody>
          <a:bodyPr wrap="square" rtlCol="0">
            <a:spAutoFit/>
          </a:bodyPr>
          <a:lstStyle/>
          <a:p>
            <a:r>
              <a:rPr lang="pt-BR" sz="2100" b="1" dirty="0">
                <a:solidFill>
                  <a:srgbClr val="0000CC"/>
                </a:solidFill>
                <a:latin typeface="DIN Pro Regular"/>
              </a:rPr>
              <a:t>4</a:t>
            </a:r>
            <a:endParaRPr lang="pt-BR" sz="1350" b="1" dirty="0">
              <a:solidFill>
                <a:srgbClr val="0000CC"/>
              </a:solidFill>
              <a:latin typeface="DIN Pro Regular"/>
            </a:endParaRPr>
          </a:p>
        </p:txBody>
      </p:sp>
    </p:spTree>
    <p:extLst>
      <p:ext uri="{BB962C8B-B14F-4D97-AF65-F5344CB8AC3E}">
        <p14:creationId xmlns:p14="http://schemas.microsoft.com/office/powerpoint/2010/main" val="41044528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Exercício 1</a:t>
            </a:r>
          </a:p>
        </p:txBody>
      </p:sp>
      <p:pic>
        <p:nvPicPr>
          <p:cNvPr id="19459" name="Picture 3"/>
          <p:cNvPicPr>
            <a:picLocks noChangeAspect="1" noChangeArrowheads="1"/>
          </p:cNvPicPr>
          <p:nvPr/>
        </p:nvPicPr>
        <p:blipFill>
          <a:blip r:embed="rId3"/>
          <a:srcRect/>
          <a:stretch>
            <a:fillRect/>
          </a:stretch>
        </p:blipFill>
        <p:spPr bwMode="auto">
          <a:xfrm>
            <a:off x="837767" y="1908049"/>
            <a:ext cx="7208455" cy="1844144"/>
          </a:xfrm>
          <a:prstGeom prst="rect">
            <a:avLst/>
          </a:prstGeom>
          <a:noFill/>
          <a:ln w="9525">
            <a:noFill/>
            <a:miter lim="800000"/>
            <a:headEnd/>
            <a:tailEnd/>
          </a:ln>
          <a:effectLst/>
        </p:spPr>
      </p:pic>
      <p:grpSp>
        <p:nvGrpSpPr>
          <p:cNvPr id="5" name="Agrupar 4">
            <a:extLst>
              <a:ext uri="{FF2B5EF4-FFF2-40B4-BE49-F238E27FC236}">
                <a16:creationId xmlns:a16="http://schemas.microsoft.com/office/drawing/2014/main" id="{D3393479-BD8A-70CD-02DA-430A3D979470}"/>
              </a:ext>
            </a:extLst>
          </p:cNvPr>
          <p:cNvGrpSpPr/>
          <p:nvPr/>
        </p:nvGrpSpPr>
        <p:grpSpPr>
          <a:xfrm>
            <a:off x="2176011" y="4341524"/>
            <a:ext cx="4633003" cy="1710712"/>
            <a:chOff x="2176011" y="4341524"/>
            <a:chExt cx="4633003" cy="1710712"/>
          </a:xfrm>
        </p:grpSpPr>
        <p:pic>
          <p:nvPicPr>
            <p:cNvPr id="3" name="Picture 2">
              <a:extLst>
                <a:ext uri="{FF2B5EF4-FFF2-40B4-BE49-F238E27FC236}">
                  <a16:creationId xmlns:a16="http://schemas.microsoft.com/office/drawing/2014/main" id="{9D3AE15A-78B8-F9BF-90DB-2BCA41B8CC54}"/>
                </a:ext>
              </a:extLst>
            </p:cNvPr>
            <p:cNvPicPr>
              <a:picLocks noChangeAspect="1" noChangeArrowheads="1"/>
            </p:cNvPicPr>
            <p:nvPr/>
          </p:nvPicPr>
          <p:blipFill>
            <a:blip r:embed="rId4"/>
            <a:srcRect/>
            <a:stretch>
              <a:fillRect/>
            </a:stretch>
          </p:blipFill>
          <p:spPr bwMode="auto">
            <a:xfrm>
              <a:off x="2176011" y="4574908"/>
              <a:ext cx="4248589" cy="1477328"/>
            </a:xfrm>
            <a:prstGeom prst="rect">
              <a:avLst/>
            </a:prstGeom>
            <a:noFill/>
            <a:ln w="9525">
              <a:noFill/>
              <a:miter lim="800000"/>
              <a:headEnd/>
              <a:tailEnd/>
            </a:ln>
            <a:effectLst/>
          </p:spPr>
        </p:pic>
        <p:sp>
          <p:nvSpPr>
            <p:cNvPr id="4" name="Título 1">
              <a:extLst>
                <a:ext uri="{FF2B5EF4-FFF2-40B4-BE49-F238E27FC236}">
                  <a16:creationId xmlns:a16="http://schemas.microsoft.com/office/drawing/2014/main" id="{4E20342D-7DF9-1516-A952-803B56579E90}"/>
                </a:ext>
              </a:extLst>
            </p:cNvPr>
            <p:cNvSpPr txBox="1">
              <a:spLocks/>
            </p:cNvSpPr>
            <p:nvPr/>
          </p:nvSpPr>
          <p:spPr>
            <a:xfrm>
              <a:off x="2176011" y="4341524"/>
              <a:ext cx="4633003" cy="466767"/>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500" kern="1200">
                  <a:solidFill>
                    <a:schemeClr val="tx1"/>
                  </a:solidFill>
                  <a:latin typeface="+mj-lt"/>
                  <a:ea typeface="+mj-ea"/>
                  <a:cs typeface="+mj-cs"/>
                </a:defRPr>
              </a:lvl1pPr>
            </a:lstStyle>
            <a:p>
              <a:r>
                <a:rPr lang="pt-BR">
                  <a:solidFill>
                    <a:srgbClr val="FF0000"/>
                  </a:solidFill>
                </a:rPr>
                <a:t>Ideia para Resolução de Exercício</a:t>
              </a:r>
              <a:endParaRPr lang="pt-BR"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4157" y="328709"/>
            <a:ext cx="8095000" cy="466767"/>
          </a:xfrm>
        </p:spPr>
        <p:txBody>
          <a:bodyPr>
            <a:normAutofit fontScale="90000"/>
          </a:bodyPr>
          <a:lstStyle/>
          <a:p>
            <a:r>
              <a:rPr lang="pt-BR" dirty="0"/>
              <a:t>Exercício 2</a:t>
            </a:r>
          </a:p>
        </p:txBody>
      </p:sp>
      <p:sp>
        <p:nvSpPr>
          <p:cNvPr id="3" name="CaixaDeTexto 2">
            <a:extLst>
              <a:ext uri="{FF2B5EF4-FFF2-40B4-BE49-F238E27FC236}">
                <a16:creationId xmlns:a16="http://schemas.microsoft.com/office/drawing/2014/main" id="{3F35EE84-2510-5A04-2CC7-4986F0A19744}"/>
              </a:ext>
            </a:extLst>
          </p:cNvPr>
          <p:cNvSpPr txBox="1"/>
          <p:nvPr/>
        </p:nvSpPr>
        <p:spPr>
          <a:xfrm>
            <a:off x="1118507" y="1859339"/>
            <a:ext cx="6906985" cy="3416320"/>
          </a:xfrm>
          <a:prstGeom prst="rect">
            <a:avLst/>
          </a:prstGeom>
          <a:noFill/>
          <a:ln>
            <a:solidFill>
              <a:schemeClr val="accent1"/>
            </a:solidFill>
          </a:ln>
        </p:spPr>
        <p:txBody>
          <a:bodyPr wrap="square" rtlCol="0">
            <a:spAutoFit/>
          </a:bodyPr>
          <a:lstStyle/>
          <a:p>
            <a:pPr algn="l"/>
            <a:r>
              <a:rPr lang="en-US" sz="1800" b="1" dirty="0">
                <a:solidFill>
                  <a:srgbClr val="7F0055"/>
                </a:solidFill>
                <a:latin typeface="Consolas" panose="020B0609020204030204" pitchFamily="49" charset="0"/>
              </a:rPr>
              <a:t>public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b="1"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void</a:t>
            </a:r>
            <a:r>
              <a:rPr lang="en-US" sz="1800" b="1" dirty="0">
                <a:solidFill>
                  <a:srgbClr val="000000"/>
                </a:solidFill>
                <a:latin typeface="Consolas" panose="020B0609020204030204" pitchFamily="49" charset="0"/>
              </a:rPr>
              <a:t> main(String[] </a:t>
            </a:r>
            <a:r>
              <a:rPr lang="en-US" sz="1800" b="1" dirty="0" err="1">
                <a:solidFill>
                  <a:srgbClr val="6A3E3E"/>
                </a:solidFill>
                <a:latin typeface="Consolas" panose="020B0609020204030204" pitchFamily="49" charset="0"/>
              </a:rPr>
              <a:t>args</a:t>
            </a:r>
            <a:r>
              <a:rPr lang="en-US" sz="1800" b="1" dirty="0">
                <a:solidFill>
                  <a:srgbClr val="000000"/>
                </a:solidFill>
                <a:latin typeface="Consolas" panose="020B0609020204030204" pitchFamily="49" charset="0"/>
              </a:rPr>
              <a:t>) {</a:t>
            </a:r>
          </a:p>
          <a:p>
            <a:pPr indent="538163" algn="l"/>
            <a:r>
              <a:rPr lang="pt-BR" sz="1800" b="1" dirty="0" err="1">
                <a:solidFill>
                  <a:srgbClr val="7F0055"/>
                </a:solidFill>
                <a:latin typeface="Consolas" panose="020B0609020204030204" pitchFamily="49" charset="0"/>
              </a:rPr>
              <a:t>int</a:t>
            </a:r>
            <a:r>
              <a:rPr lang="pt-BR" sz="1800" b="1" dirty="0">
                <a:solidFill>
                  <a:srgbClr val="000000"/>
                </a:solidFill>
                <a:latin typeface="Consolas" panose="020B0609020204030204" pitchFamily="49" charset="0"/>
              </a:rPr>
              <a:t> </a:t>
            </a:r>
            <a:r>
              <a:rPr lang="pt-BR" sz="1800" b="1" dirty="0">
                <a:solidFill>
                  <a:srgbClr val="6A3E3E"/>
                </a:solidFill>
                <a:latin typeface="Consolas" panose="020B0609020204030204" pitchFamily="49" charset="0"/>
              </a:rPr>
              <a:t>x</a:t>
            </a:r>
            <a:r>
              <a:rPr lang="pt-BR" sz="1800" b="1" dirty="0">
                <a:solidFill>
                  <a:srgbClr val="000000"/>
                </a:solidFill>
                <a:latin typeface="Consolas" panose="020B0609020204030204" pitchFamily="49" charset="0"/>
              </a:rPr>
              <a:t> = 25;</a:t>
            </a:r>
          </a:p>
          <a:p>
            <a:pPr indent="538163" algn="l"/>
            <a:r>
              <a:rPr lang="pt-BR" sz="1800" b="1" dirty="0" err="1">
                <a:solidFill>
                  <a:srgbClr val="000000"/>
                </a:solidFill>
                <a:latin typeface="Consolas" panose="020B0609020204030204" pitchFamily="49" charset="0"/>
              </a:rPr>
              <a:t>Int</a:t>
            </a:r>
            <a:r>
              <a:rPr lang="pt-BR" sz="1800" b="1" dirty="0">
                <a:solidFill>
                  <a:srgbClr val="000000"/>
                </a:solidFill>
                <a:latin typeface="Consolas" panose="020B0609020204030204" pitchFamily="49" charset="0"/>
              </a:rPr>
              <a:t> y = 2;</a:t>
            </a:r>
          </a:p>
          <a:p>
            <a:pPr indent="538163" algn="l"/>
            <a:r>
              <a:rPr lang="pt-BR" sz="1800" i="1" dirty="0">
                <a:solidFill>
                  <a:srgbClr val="000000"/>
                </a:solidFill>
                <a:latin typeface="Consolas" panose="020B0609020204030204" pitchFamily="49" charset="0"/>
              </a:rPr>
              <a:t>apresenta(</a:t>
            </a:r>
            <a:r>
              <a:rPr lang="pt-BR" sz="1800" i="1" dirty="0">
                <a:solidFill>
                  <a:srgbClr val="6A3E3E"/>
                </a:solidFill>
                <a:latin typeface="Consolas" panose="020B0609020204030204" pitchFamily="49" charset="0"/>
              </a:rPr>
              <a:t>x</a:t>
            </a:r>
            <a:r>
              <a:rPr lang="pt-BR" sz="1800" i="1">
                <a:solidFill>
                  <a:srgbClr val="000000"/>
                </a:solidFill>
                <a:latin typeface="Consolas" panose="020B0609020204030204" pitchFamily="49" charset="0"/>
              </a:rPr>
              <a:t>, </a:t>
            </a:r>
            <a:r>
              <a:rPr lang="pt-BR" i="1">
                <a:solidFill>
                  <a:srgbClr val="000000"/>
                </a:solidFill>
                <a:latin typeface="Consolas" panose="020B0609020204030204" pitchFamily="49" charset="0"/>
              </a:rPr>
              <a:t>y</a:t>
            </a:r>
            <a:r>
              <a:rPr lang="pt-BR" sz="1800" i="1">
                <a:solidFill>
                  <a:srgbClr val="000000"/>
                </a:solidFill>
                <a:latin typeface="Consolas" panose="020B0609020204030204" pitchFamily="49" charset="0"/>
              </a:rPr>
              <a:t>);</a:t>
            </a:r>
            <a:endParaRPr lang="pt-BR" sz="1800" i="1" dirty="0">
              <a:solidFill>
                <a:srgbClr val="000000"/>
              </a:solidFill>
              <a:latin typeface="Consolas" panose="020B0609020204030204" pitchFamily="49" charset="0"/>
            </a:endParaRPr>
          </a:p>
          <a:p>
            <a:pPr algn="l"/>
            <a:r>
              <a:rPr lang="pt-BR" sz="1800" dirty="0">
                <a:solidFill>
                  <a:srgbClr val="000000"/>
                </a:solidFill>
                <a:latin typeface="Consolas" panose="020B0609020204030204" pitchFamily="49" charset="0"/>
              </a:rPr>
              <a:t>}</a:t>
            </a:r>
          </a:p>
          <a:p>
            <a:pPr algn="l"/>
            <a:endParaRPr lang="pt-BR" sz="1800" dirty="0">
              <a:latin typeface="Consolas" panose="020B0609020204030204" pitchFamily="49" charset="0"/>
            </a:endParaRPr>
          </a:p>
          <a:p>
            <a:pPr algn="l"/>
            <a:r>
              <a:rPr lang="pt-BR" sz="1800" b="1" dirty="0" err="1">
                <a:solidFill>
                  <a:srgbClr val="7F0055"/>
                </a:solidFill>
                <a:latin typeface="Consolas" panose="020B0609020204030204" pitchFamily="49" charset="0"/>
              </a:rPr>
              <a:t>public</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static</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void</a:t>
            </a:r>
            <a:r>
              <a:rPr lang="pt-BR" sz="1800" b="1" dirty="0">
                <a:solidFill>
                  <a:srgbClr val="000000"/>
                </a:solidFill>
                <a:latin typeface="Consolas" panose="020B0609020204030204" pitchFamily="49" charset="0"/>
              </a:rPr>
              <a:t> apresenta(</a:t>
            </a:r>
            <a:r>
              <a:rPr lang="pt-BR" sz="1800" b="1" dirty="0" err="1">
                <a:solidFill>
                  <a:srgbClr val="7F0055"/>
                </a:solidFill>
                <a:latin typeface="Consolas" panose="020B0609020204030204" pitchFamily="49" charset="0"/>
              </a:rPr>
              <a:t>int</a:t>
            </a:r>
            <a:r>
              <a:rPr lang="pt-BR" sz="1800" b="1" dirty="0">
                <a:solidFill>
                  <a:srgbClr val="000000"/>
                </a:solidFill>
                <a:latin typeface="Consolas" panose="020B0609020204030204" pitchFamily="49" charset="0"/>
              </a:rPr>
              <a:t> </a:t>
            </a:r>
            <a:r>
              <a:rPr lang="pt-BR" sz="1800" b="1" dirty="0">
                <a:solidFill>
                  <a:srgbClr val="6A3E3E"/>
                </a:solidFill>
                <a:latin typeface="Consolas" panose="020B0609020204030204" pitchFamily="49" charset="0"/>
              </a:rPr>
              <a:t>x</a:t>
            </a:r>
            <a:r>
              <a:rPr lang="pt-BR" sz="1800" b="1" dirty="0">
                <a:solidFill>
                  <a:srgbClr val="000000"/>
                </a:solidFill>
                <a:latin typeface="Consolas" panose="020B0609020204030204" pitchFamily="49" charset="0"/>
              </a:rPr>
              <a:t>, </a:t>
            </a:r>
            <a:r>
              <a:rPr lang="pt-BR" sz="1800" b="1" dirty="0" err="1">
                <a:solidFill>
                  <a:srgbClr val="7F0055"/>
                </a:solidFill>
                <a:latin typeface="Consolas" panose="020B0609020204030204" pitchFamily="49" charset="0"/>
              </a:rPr>
              <a:t>int</a:t>
            </a:r>
            <a:r>
              <a:rPr lang="pt-BR" sz="1800" b="1" dirty="0">
                <a:solidFill>
                  <a:srgbClr val="000000"/>
                </a:solidFill>
                <a:latin typeface="Consolas" panose="020B0609020204030204" pitchFamily="49" charset="0"/>
              </a:rPr>
              <a:t> </a:t>
            </a:r>
            <a:r>
              <a:rPr lang="pt-BR" sz="1800" b="1" dirty="0">
                <a:solidFill>
                  <a:srgbClr val="6A3E3E"/>
                </a:solidFill>
                <a:latin typeface="Consolas" panose="020B0609020204030204" pitchFamily="49" charset="0"/>
              </a:rPr>
              <a:t>y</a:t>
            </a:r>
            <a:r>
              <a:rPr lang="pt-BR" sz="1800" b="1" dirty="0">
                <a:solidFill>
                  <a:srgbClr val="000000"/>
                </a:solidFill>
                <a:latin typeface="Consolas" panose="020B0609020204030204" pitchFamily="49" charset="0"/>
              </a:rPr>
              <a:t>) {</a:t>
            </a:r>
          </a:p>
          <a:p>
            <a:pPr indent="620713" algn="l"/>
            <a:r>
              <a:rPr lang="pt-BR" sz="1800" b="1" dirty="0" err="1">
                <a:solidFill>
                  <a:srgbClr val="7F0055"/>
                </a:solidFill>
                <a:latin typeface="Consolas" panose="020B0609020204030204" pitchFamily="49" charset="0"/>
              </a:rPr>
              <a:t>if</a:t>
            </a:r>
            <a:r>
              <a:rPr lang="pt-BR" sz="1800" b="1" dirty="0">
                <a:solidFill>
                  <a:srgbClr val="000000"/>
                </a:solidFill>
                <a:latin typeface="Consolas" panose="020B0609020204030204" pitchFamily="49" charset="0"/>
              </a:rPr>
              <a:t> (</a:t>
            </a:r>
            <a:r>
              <a:rPr lang="pt-BR" sz="1800" b="1" dirty="0">
                <a:solidFill>
                  <a:srgbClr val="6A3E3E"/>
                </a:solidFill>
                <a:latin typeface="Consolas" panose="020B0609020204030204" pitchFamily="49" charset="0"/>
              </a:rPr>
              <a:t>x</a:t>
            </a:r>
            <a:r>
              <a:rPr lang="pt-BR" sz="1800" b="1" dirty="0">
                <a:solidFill>
                  <a:srgbClr val="000000"/>
                </a:solidFill>
                <a:latin typeface="Consolas" panose="020B0609020204030204" pitchFamily="49" charset="0"/>
              </a:rPr>
              <a:t>!=0) {</a:t>
            </a:r>
          </a:p>
          <a:p>
            <a:pPr indent="620713" algn="l"/>
            <a:r>
              <a:rPr lang="pt-BR" sz="1800" i="1" dirty="0">
                <a:solidFill>
                  <a:srgbClr val="000000"/>
                </a:solidFill>
                <a:latin typeface="Consolas" panose="020B0609020204030204" pitchFamily="49" charset="0"/>
              </a:rPr>
              <a:t>	apresenta(</a:t>
            </a:r>
            <a:r>
              <a:rPr lang="pt-BR" sz="1800" i="1" dirty="0">
                <a:solidFill>
                  <a:srgbClr val="6A3E3E"/>
                </a:solidFill>
                <a:latin typeface="Consolas" panose="020B0609020204030204" pitchFamily="49" charset="0"/>
              </a:rPr>
              <a:t>x</a:t>
            </a:r>
            <a:r>
              <a:rPr lang="pt-BR" sz="1800" i="1" dirty="0">
                <a:solidFill>
                  <a:srgbClr val="000000"/>
                </a:solidFill>
                <a:latin typeface="Consolas" panose="020B0609020204030204" pitchFamily="49" charset="0"/>
              </a:rPr>
              <a:t>/</a:t>
            </a:r>
            <a:r>
              <a:rPr lang="pt-BR" sz="1800" i="1" dirty="0">
                <a:solidFill>
                  <a:srgbClr val="6A3E3E"/>
                </a:solidFill>
                <a:latin typeface="Consolas" panose="020B0609020204030204" pitchFamily="49" charset="0"/>
              </a:rPr>
              <a:t>y</a:t>
            </a:r>
            <a:r>
              <a:rPr lang="pt-BR" sz="1800" i="1" dirty="0">
                <a:solidFill>
                  <a:srgbClr val="000000"/>
                </a:solidFill>
                <a:latin typeface="Consolas" panose="020B0609020204030204" pitchFamily="49" charset="0"/>
              </a:rPr>
              <a:t>, </a:t>
            </a:r>
            <a:r>
              <a:rPr lang="pt-BR" sz="1800" i="1" dirty="0">
                <a:solidFill>
                  <a:srgbClr val="6A3E3E"/>
                </a:solidFill>
                <a:latin typeface="Consolas" panose="020B0609020204030204" pitchFamily="49" charset="0"/>
              </a:rPr>
              <a:t>y</a:t>
            </a:r>
            <a:r>
              <a:rPr lang="pt-BR" sz="1800" i="1" dirty="0">
                <a:solidFill>
                  <a:srgbClr val="000000"/>
                </a:solidFill>
                <a:latin typeface="Consolas" panose="020B0609020204030204" pitchFamily="49" charset="0"/>
              </a:rPr>
              <a:t>);</a:t>
            </a:r>
          </a:p>
          <a:p>
            <a:pPr indent="620713" algn="l"/>
            <a:r>
              <a:rPr lang="pt-BR" sz="1800" dirty="0">
                <a:solidFill>
                  <a:srgbClr val="000000"/>
                </a:solidFill>
                <a:latin typeface="Consolas" panose="020B0609020204030204" pitchFamily="49" charset="0"/>
              </a:rPr>
              <a:t>	</a:t>
            </a:r>
            <a:r>
              <a:rPr lang="pt-BR" sz="1800" dirty="0" err="1">
                <a:solidFill>
                  <a:srgbClr val="000000"/>
                </a:solidFill>
                <a:latin typeface="Consolas" panose="020B0609020204030204" pitchFamily="49" charset="0"/>
              </a:rPr>
              <a:t>System.</a:t>
            </a:r>
            <a:r>
              <a:rPr lang="pt-BR" sz="1800" b="1" i="1" dirty="0" err="1">
                <a:solidFill>
                  <a:srgbClr val="0000C0"/>
                </a:solidFill>
                <a:latin typeface="Consolas" panose="020B0609020204030204" pitchFamily="49" charset="0"/>
              </a:rPr>
              <a:t>out</a:t>
            </a:r>
            <a:r>
              <a:rPr lang="pt-BR" sz="1800" b="1" i="1" dirty="0" err="1">
                <a:solidFill>
                  <a:srgbClr val="000000"/>
                </a:solidFill>
                <a:latin typeface="Consolas" panose="020B0609020204030204" pitchFamily="49" charset="0"/>
              </a:rPr>
              <a:t>.print</a:t>
            </a:r>
            <a:r>
              <a:rPr lang="pt-BR" sz="1800" b="1" i="1" dirty="0">
                <a:solidFill>
                  <a:srgbClr val="000000"/>
                </a:solidFill>
                <a:latin typeface="Consolas" panose="020B0609020204030204" pitchFamily="49" charset="0"/>
              </a:rPr>
              <a:t>(</a:t>
            </a:r>
            <a:r>
              <a:rPr lang="pt-BR" sz="1800" b="1" i="1" dirty="0" err="1">
                <a:solidFill>
                  <a:srgbClr val="6A3E3E"/>
                </a:solidFill>
                <a:latin typeface="Consolas" panose="020B0609020204030204" pitchFamily="49" charset="0"/>
              </a:rPr>
              <a:t>x</a:t>
            </a:r>
            <a:r>
              <a:rPr lang="pt-BR" sz="1800" b="1" i="1" dirty="0" err="1">
                <a:solidFill>
                  <a:srgbClr val="000000"/>
                </a:solidFill>
                <a:latin typeface="Consolas" panose="020B0609020204030204" pitchFamily="49" charset="0"/>
              </a:rPr>
              <a:t>%</a:t>
            </a:r>
            <a:r>
              <a:rPr lang="pt-BR" sz="1800" b="1" i="1" dirty="0" err="1">
                <a:solidFill>
                  <a:srgbClr val="6A3E3E"/>
                </a:solidFill>
                <a:latin typeface="Consolas" panose="020B0609020204030204" pitchFamily="49" charset="0"/>
              </a:rPr>
              <a:t>y</a:t>
            </a:r>
            <a:r>
              <a:rPr lang="pt-BR" sz="1800" b="1" i="1" dirty="0">
                <a:solidFill>
                  <a:srgbClr val="000000"/>
                </a:solidFill>
                <a:latin typeface="Consolas" panose="020B0609020204030204" pitchFamily="49" charset="0"/>
              </a:rPr>
              <a:t>+</a:t>
            </a:r>
            <a:r>
              <a:rPr lang="pt-BR" sz="1800" b="1" i="1" dirty="0">
                <a:solidFill>
                  <a:srgbClr val="2A00FF"/>
                </a:solidFill>
                <a:latin typeface="Consolas" panose="020B0609020204030204" pitchFamily="49" charset="0"/>
              </a:rPr>
              <a:t>" "</a:t>
            </a:r>
            <a:r>
              <a:rPr lang="pt-BR" sz="1800" b="1" i="1" dirty="0">
                <a:solidFill>
                  <a:srgbClr val="000000"/>
                </a:solidFill>
                <a:latin typeface="Consolas" panose="020B0609020204030204" pitchFamily="49" charset="0"/>
              </a:rPr>
              <a:t>);</a:t>
            </a:r>
          </a:p>
          <a:p>
            <a:pPr indent="620713" algn="l"/>
            <a:r>
              <a:rPr lang="pt-BR" sz="1800" dirty="0">
                <a:solidFill>
                  <a:srgbClr val="000000"/>
                </a:solidFill>
                <a:latin typeface="Consolas" panose="020B0609020204030204" pitchFamily="49" charset="0"/>
              </a:rPr>
              <a:t>}</a:t>
            </a:r>
          </a:p>
          <a:p>
            <a:pPr algn="l"/>
            <a:r>
              <a:rPr lang="pt-BR" sz="1800" dirty="0">
                <a:solidFill>
                  <a:srgbClr val="000000"/>
                </a:solidFill>
                <a:latin typeface="Consolas" panose="020B0609020204030204" pitchFamily="49" charset="0"/>
              </a:rPr>
              <a:t>}</a:t>
            </a:r>
            <a:endParaRPr lang="pt-BR" dirty="0"/>
          </a:p>
        </p:txBody>
      </p:sp>
      <p:sp>
        <p:nvSpPr>
          <p:cNvPr id="4" name="CaixaDeTexto 3">
            <a:extLst>
              <a:ext uri="{FF2B5EF4-FFF2-40B4-BE49-F238E27FC236}">
                <a16:creationId xmlns:a16="http://schemas.microsoft.com/office/drawing/2014/main" id="{3FA6013F-11B6-E645-EBF5-1A0043292406}"/>
              </a:ext>
            </a:extLst>
          </p:cNvPr>
          <p:cNvSpPr txBox="1"/>
          <p:nvPr/>
        </p:nvSpPr>
        <p:spPr>
          <a:xfrm>
            <a:off x="604157" y="1321475"/>
            <a:ext cx="6034601" cy="400110"/>
          </a:xfrm>
          <a:prstGeom prst="rect">
            <a:avLst/>
          </a:prstGeom>
          <a:noFill/>
        </p:spPr>
        <p:txBody>
          <a:bodyPr wrap="none" rtlCol="0">
            <a:spAutoFit/>
          </a:bodyPr>
          <a:lstStyle/>
          <a:p>
            <a:r>
              <a:rPr lang="pt-BR" sz="2000" dirty="0"/>
              <a:t>Faça o teste de mesa da execução do programa a seguir:</a:t>
            </a:r>
          </a:p>
        </p:txBody>
      </p:sp>
      <p:sp>
        <p:nvSpPr>
          <p:cNvPr id="5" name="CaixaDeTexto 4">
            <a:extLst>
              <a:ext uri="{FF2B5EF4-FFF2-40B4-BE49-F238E27FC236}">
                <a16:creationId xmlns:a16="http://schemas.microsoft.com/office/drawing/2014/main" id="{39B7AF74-6D5C-8A09-EBD2-F9661E6599EE}"/>
              </a:ext>
            </a:extLst>
          </p:cNvPr>
          <p:cNvSpPr txBox="1"/>
          <p:nvPr/>
        </p:nvSpPr>
        <p:spPr>
          <a:xfrm>
            <a:off x="756557" y="5336470"/>
            <a:ext cx="4833183" cy="1015663"/>
          </a:xfrm>
          <a:prstGeom prst="rect">
            <a:avLst/>
          </a:prstGeom>
          <a:noFill/>
        </p:spPr>
        <p:txBody>
          <a:bodyPr wrap="none" rtlCol="0">
            <a:spAutoFit/>
          </a:bodyPr>
          <a:lstStyle/>
          <a:p>
            <a:r>
              <a:rPr lang="pt-BR" sz="2000" dirty="0"/>
              <a:t>Perguntas:</a:t>
            </a:r>
          </a:p>
          <a:p>
            <a:pPr marL="457200" indent="-457200">
              <a:buAutoNum type="arabicParenR"/>
            </a:pPr>
            <a:r>
              <a:rPr lang="pt-BR" sz="2000" dirty="0"/>
              <a:t>Faça o teste de mesa alterando y para 8.</a:t>
            </a:r>
          </a:p>
          <a:p>
            <a:pPr marL="457200" indent="-457200">
              <a:buAutoNum type="arabicParenR"/>
            </a:pPr>
            <a:r>
              <a:rPr lang="pt-BR" sz="2000" dirty="0"/>
              <a:t>Qual o objetivo do programa?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Espaço Reservado para Texto 5"/>
          <p:cNvSpPr>
            <a:spLocks noGrp="1"/>
          </p:cNvSpPr>
          <p:nvPr>
            <p:ph type="body" sz="quarter" idx="13"/>
          </p:nvPr>
        </p:nvSpPr>
        <p:spPr/>
        <p:txBody>
          <a:bodyPr/>
          <a:lstStyle/>
          <a:p>
            <a:r>
              <a:rPr lang="pt-BR" cap="all" dirty="0" err="1"/>
              <a:t>Tenenbaum</a:t>
            </a:r>
            <a:r>
              <a:rPr lang="pt-BR" cap="all" dirty="0"/>
              <a:t>, </a:t>
            </a:r>
            <a:r>
              <a:rPr lang="pt-BR" cap="all" dirty="0" err="1"/>
              <a:t>A.M.</a:t>
            </a:r>
            <a:r>
              <a:rPr lang="pt-BR" cap="all" dirty="0"/>
              <a:t> e </a:t>
            </a:r>
            <a:r>
              <a:rPr lang="pt-BR" dirty="0"/>
              <a:t>outros - </a:t>
            </a:r>
            <a:r>
              <a:rPr lang="pt-BR" b="1" dirty="0"/>
              <a:t>Estruturas de Dados usando C</a:t>
            </a:r>
            <a:r>
              <a:rPr lang="pt-BR" dirty="0"/>
              <a:t>. </a:t>
            </a:r>
            <a:r>
              <a:rPr lang="pt-BR" dirty="0" err="1"/>
              <a:t>Makron</a:t>
            </a:r>
            <a:r>
              <a:rPr lang="pt-BR" dirty="0"/>
              <a:t> Books do Brasil Editora </a:t>
            </a:r>
            <a:r>
              <a:rPr lang="pt-BR" dirty="0" err="1"/>
              <a:t>Ltda</a:t>
            </a:r>
            <a:r>
              <a:rPr lang="pt-BR" dirty="0"/>
              <a:t>, SP.</a:t>
            </a:r>
          </a:p>
          <a:p>
            <a:r>
              <a:rPr lang="pt-BR" dirty="0"/>
              <a:t>PEREIRA, S. L. </a:t>
            </a:r>
            <a:r>
              <a:rPr lang="pt-BR" b="1" dirty="0"/>
              <a:t>Estrutura de Dados Fundamentais. </a:t>
            </a:r>
            <a:r>
              <a:rPr lang="pt-BR" dirty="0"/>
              <a:t>São Paulo: Érica.</a:t>
            </a:r>
          </a:p>
          <a:p>
            <a:r>
              <a:rPr lang="pt-BR" cap="all" dirty="0"/>
              <a:t>FORBELLONE, </a:t>
            </a:r>
            <a:r>
              <a:rPr lang="pt-BR" cap="all" dirty="0" err="1"/>
              <a:t>A.L.V.</a:t>
            </a:r>
            <a:r>
              <a:rPr lang="pt-BR" cap="all" dirty="0"/>
              <a:t> &amp; EBERSPÄCHER, </a:t>
            </a:r>
            <a:r>
              <a:rPr lang="pt-BR" cap="all" dirty="0" err="1"/>
              <a:t>H.F.</a:t>
            </a:r>
            <a:r>
              <a:rPr lang="pt-BR" cap="all" dirty="0"/>
              <a:t> – </a:t>
            </a:r>
            <a:r>
              <a:rPr lang="pt-BR" b="1" dirty="0"/>
              <a:t>Lógica de Programação: A Construção de Algoritmos e Estruturas de Dados.</a:t>
            </a:r>
            <a:r>
              <a:rPr lang="pt-BR" dirty="0"/>
              <a:t> </a:t>
            </a:r>
            <a:r>
              <a:rPr lang="pt-BR" dirty="0" err="1"/>
              <a:t>Makron</a:t>
            </a:r>
            <a:r>
              <a:rPr lang="pt-BR" dirty="0"/>
              <a:t> Books, São Paulo, SP</a:t>
            </a:r>
          </a:p>
          <a:p>
            <a:r>
              <a:rPr lang="pt-BR" dirty="0"/>
              <a:t>ASCENCIO,</a:t>
            </a:r>
            <a:r>
              <a:rPr lang="pt-BR" dirty="0" err="1"/>
              <a:t>A.F.</a:t>
            </a:r>
            <a:r>
              <a:rPr lang="pt-BR" dirty="0"/>
              <a:t>G e ARAÚJO, </a:t>
            </a:r>
            <a:r>
              <a:rPr lang="pt-BR" dirty="0" err="1"/>
              <a:t>G.S.</a:t>
            </a:r>
            <a:r>
              <a:rPr lang="pt-BR" dirty="0"/>
              <a:t> – Estruturas de Dados: Algoritmos, Análise da Complexidade e Implementação em JAVA e C/C++</a:t>
            </a:r>
          </a:p>
          <a:p>
            <a:pPr>
              <a:buNone/>
            </a:pPr>
            <a:endParaRPr lang="pt-BR" dirty="0"/>
          </a:p>
        </p:txBody>
      </p:sp>
    </p:spTree>
    <p:extLst>
      <p:ext uri="{BB962C8B-B14F-4D97-AF65-F5344CB8AC3E}">
        <p14:creationId xmlns:p14="http://schemas.microsoft.com/office/powerpoint/2010/main" val="222726630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0265D"/>
        </a:solidFill>
        <a:effectLst/>
      </p:bgPr>
    </p:bg>
    <p:spTree>
      <p:nvGrpSpPr>
        <p:cNvPr id="1" name=""/>
        <p:cNvGrpSpPr/>
        <p:nvPr/>
      </p:nvGrpSpPr>
      <p:grpSpPr>
        <a:xfrm>
          <a:off x="0" y="0"/>
          <a:ext cx="0" cy="0"/>
          <a:chOff x="0" y="0"/>
          <a:chExt cx="0" cy="0"/>
        </a:xfrm>
      </p:grpSpPr>
      <p:sp>
        <p:nvSpPr>
          <p:cNvPr id="3" name="Rectangle 2"/>
          <p:cNvSpPr/>
          <p:nvPr/>
        </p:nvSpPr>
        <p:spPr>
          <a:xfrm>
            <a:off x="0" y="2580640"/>
            <a:ext cx="9144000" cy="28244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1026"/>
          <p:cNvSpPr>
            <a:spLocks noChangeArrowheads="1"/>
          </p:cNvSpPr>
          <p:nvPr/>
        </p:nvSpPr>
        <p:spPr bwMode="auto">
          <a:xfrm>
            <a:off x="1053372" y="3222882"/>
            <a:ext cx="7759752" cy="1939635"/>
          </a:xfrm>
          <a:prstGeom prst="rect">
            <a:avLst/>
          </a:prstGeom>
          <a:noFill/>
          <a:ln w="9525">
            <a:noFill/>
            <a:miter lim="800000"/>
            <a:headEnd/>
            <a:tailEnd/>
          </a:ln>
        </p:spPr>
        <p:txBody>
          <a:bodyPr wrap="square" lIns="92075" tIns="46038" rIns="92075" bIns="46038">
            <a:spAutoFit/>
          </a:bodyPr>
          <a:lstStyle/>
          <a:p>
            <a:pPr>
              <a:defRPr/>
            </a:pPr>
            <a:r>
              <a:rPr kumimoji="1" lang="pt-BR" sz="2000" dirty="0">
                <a:solidFill>
                  <a:schemeClr val="bg1"/>
                </a:solidFill>
                <a:latin typeface="Gotham-Bold"/>
                <a:cs typeface="Gotham-Bold"/>
              </a:rPr>
              <a:t>Copyright </a:t>
            </a:r>
            <a:r>
              <a:rPr kumimoji="1" lang="pt-BR" sz="2000">
                <a:solidFill>
                  <a:schemeClr val="bg1"/>
                </a:solidFill>
                <a:latin typeface="Gotham-Bold"/>
                <a:cs typeface="Gotham-Bold"/>
              </a:rPr>
              <a:t>© 2024</a:t>
            </a:r>
            <a:endParaRPr kumimoji="1" lang="pt-BR" sz="2000" dirty="0">
              <a:solidFill>
                <a:schemeClr val="bg1"/>
              </a:solidFill>
              <a:latin typeface="Gotham-Bold"/>
              <a:cs typeface="Gotham-Bold"/>
            </a:endParaRPr>
          </a:p>
          <a:p>
            <a:pPr>
              <a:defRPr/>
            </a:pPr>
            <a:r>
              <a:rPr kumimoji="1" lang="pt-BR" sz="2000" dirty="0" err="1">
                <a:solidFill>
                  <a:schemeClr val="bg1"/>
                </a:solidFill>
                <a:latin typeface="Gotham-Bold"/>
                <a:cs typeface="Gotham-Bold"/>
              </a:rPr>
              <a:t>Profa</a:t>
            </a:r>
            <a:r>
              <a:rPr kumimoji="1" lang="pt-BR" sz="2000" dirty="0">
                <a:solidFill>
                  <a:schemeClr val="bg1"/>
                </a:solidFill>
                <a:latin typeface="Gotham-Bold"/>
                <a:cs typeface="Gotham-Bold"/>
              </a:rPr>
              <a:t>. Patrícia Magna</a:t>
            </a:r>
          </a:p>
          <a:p>
            <a:pPr>
              <a:defRPr/>
            </a:pPr>
            <a:endParaRPr kumimoji="1" lang="pt-BR" sz="2000" dirty="0">
              <a:solidFill>
                <a:schemeClr val="bg1"/>
              </a:solidFill>
              <a:latin typeface="Gotham-Bold"/>
              <a:cs typeface="Gotham-Bold"/>
            </a:endParaRPr>
          </a:p>
          <a:p>
            <a:pPr>
              <a:defRPr/>
            </a:pPr>
            <a:r>
              <a:rPr kumimoji="1" lang="pt-BR" sz="2000" dirty="0">
                <a:solidFill>
                  <a:schemeClr val="bg1"/>
                </a:solidFill>
                <a:latin typeface="Gotham-Bold"/>
                <a:cs typeface="Gotham-Bold"/>
              </a:rPr>
              <a:t>Todos direitos reservados. Reprodução ou divulgação total ou parcial deste documento é expressamente proibido sem o consentimento formal, por escrito, dos professores.</a:t>
            </a:r>
          </a:p>
        </p:txBody>
      </p:sp>
      <p:sp>
        <p:nvSpPr>
          <p:cNvPr id="5" name="Rectangle 4"/>
          <p:cNvSpPr/>
          <p:nvPr/>
        </p:nvSpPr>
        <p:spPr>
          <a:xfrm>
            <a:off x="747966" y="3342641"/>
            <a:ext cx="72000" cy="12395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cstate="print"/>
          <a:stretch>
            <a:fillRect/>
          </a:stretch>
        </p:blipFill>
        <p:spPr>
          <a:xfrm>
            <a:off x="7837508" y="333716"/>
            <a:ext cx="975616" cy="267011"/>
          </a:xfrm>
          <a:prstGeom prst="rect">
            <a:avLst/>
          </a:prstGeom>
        </p:spPr>
      </p:pic>
      <p:sp>
        <p:nvSpPr>
          <p:cNvPr id="9" name="Espaço Reservado para Número de Slide 8"/>
          <p:cNvSpPr>
            <a:spLocks noGrp="1"/>
          </p:cNvSpPr>
          <p:nvPr>
            <p:ph type="sldNum" sz="quarter" idx="12"/>
          </p:nvPr>
        </p:nvSpPr>
        <p:spPr/>
        <p:txBody>
          <a:bodyPr/>
          <a:lstStyle/>
          <a:p>
            <a:fld id="{93E4AAA4-6363-4581-962D-1ACCC2D600C5}" type="slidenum">
              <a:rPr lang="en-US" smtClean="0"/>
              <a:pPr/>
              <a:t>34</a:t>
            </a:fld>
            <a:endParaRPr lang="en-US" dirty="0"/>
          </a:p>
        </p:txBody>
      </p:sp>
    </p:spTree>
    <p:extLst>
      <p:ext uri="{BB962C8B-B14F-4D97-AF65-F5344CB8AC3E}">
        <p14:creationId xmlns:p14="http://schemas.microsoft.com/office/powerpoint/2010/main" val="6995947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heme/theme1.xml><?xml version="1.0" encoding="utf-8"?>
<a:theme xmlns:a="http://schemas.openxmlformats.org/drawingml/2006/main" name="Default Theme">
  <a:themeElements>
    <a:clrScheme name="Opulento">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Escritório Clássico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Default Theme.thmx</Template>
  <TotalTime>1973</TotalTime>
  <Words>1673</Words>
  <Application>Microsoft Office PowerPoint</Application>
  <PresentationFormat>Apresentação na tela (4:3)</PresentationFormat>
  <Paragraphs>271</Paragraphs>
  <Slides>34</Slides>
  <Notes>5</Notes>
  <HiddenSlides>0</HiddenSlides>
  <MMClips>0</MMClips>
  <ScaleCrop>false</ScaleCrop>
  <HeadingPairs>
    <vt:vector size="6" baseType="variant">
      <vt:variant>
        <vt:lpstr>Fontes usadas</vt:lpstr>
      </vt:variant>
      <vt:variant>
        <vt:i4>8</vt:i4>
      </vt:variant>
      <vt:variant>
        <vt:lpstr>Tema</vt:lpstr>
      </vt:variant>
      <vt:variant>
        <vt:i4>4</vt:i4>
      </vt:variant>
      <vt:variant>
        <vt:lpstr>Títulos de slides</vt:lpstr>
      </vt:variant>
      <vt:variant>
        <vt:i4>34</vt:i4>
      </vt:variant>
    </vt:vector>
  </HeadingPairs>
  <TitlesOfParts>
    <vt:vector size="46" baseType="lpstr">
      <vt:lpstr>Arial</vt:lpstr>
      <vt:lpstr>Calibri</vt:lpstr>
      <vt:lpstr>Consolas</vt:lpstr>
      <vt:lpstr>DIN Pro Regular</vt:lpstr>
      <vt:lpstr>Gotham HTF</vt:lpstr>
      <vt:lpstr>Gotham-Bold</vt:lpstr>
      <vt:lpstr>Gotham-Book</vt:lpstr>
      <vt:lpstr>Wingdings</vt:lpstr>
      <vt:lpstr>Default Theme</vt:lpstr>
      <vt:lpstr>1_Personalizar design</vt:lpstr>
      <vt:lpstr>2_Personalizar design</vt:lpstr>
      <vt:lpstr>Office Theme</vt:lpstr>
      <vt:lpstr>Apresentação do PowerPoint</vt:lpstr>
      <vt:lpstr>Recursividade</vt:lpstr>
      <vt:lpstr>Recursividade</vt:lpstr>
      <vt:lpstr>Aplicação de Recursividade em Programação</vt:lpstr>
      <vt:lpstr>Aplicação de Recursividade em Programação</vt:lpstr>
      <vt:lpstr>Definição Matemática da Função Fatorial </vt:lpstr>
      <vt:lpstr>Aplicação da Função Fatorial n=4</vt:lpstr>
      <vt:lpstr>Implementação Recursiva  da Função Fatorial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Implementação Recursiva  da Função Fatorial </vt:lpstr>
      <vt:lpstr>Outra Forma de Representar as ativações de função recursiva</vt:lpstr>
      <vt:lpstr>Função Recursiva Máximo Divisor Comum </vt:lpstr>
      <vt:lpstr>Chamada da Função MDC</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Chamada da Função MDC</vt:lpstr>
      <vt:lpstr>Exercício 1</vt:lpstr>
      <vt:lpstr>Exercício 2</vt:lpstr>
      <vt:lpstr>Apresentação do PowerPoint</vt:lpstr>
      <vt:lpstr>Apresentação do PowerPoint</vt:lpstr>
    </vt:vector>
  </TitlesOfParts>
  <Company>FIAP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Juliana Reyes</dc:creator>
  <cp:lastModifiedBy>Patricia Magna</cp:lastModifiedBy>
  <cp:revision>293</cp:revision>
  <dcterms:created xsi:type="dcterms:W3CDTF">2015-01-30T10:46:50Z</dcterms:created>
  <dcterms:modified xsi:type="dcterms:W3CDTF">2024-04-18T20:14:27Z</dcterms:modified>
</cp:coreProperties>
</file>