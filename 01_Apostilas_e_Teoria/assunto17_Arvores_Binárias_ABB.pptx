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664" r:id="rId3"/>
    <p:sldMasterId id="2147483739" r:id="rId4"/>
  </p:sldMasterIdLst>
  <p:notesMasterIdLst>
    <p:notesMasterId r:id="rId27"/>
  </p:notesMasterIdLst>
  <p:sldIdLst>
    <p:sldId id="267" r:id="rId5"/>
    <p:sldId id="343" r:id="rId6"/>
    <p:sldId id="344" r:id="rId7"/>
    <p:sldId id="345" r:id="rId8"/>
    <p:sldId id="348" r:id="rId9"/>
    <p:sldId id="349" r:id="rId10"/>
    <p:sldId id="350" r:id="rId11"/>
    <p:sldId id="368" r:id="rId12"/>
    <p:sldId id="369" r:id="rId13"/>
    <p:sldId id="351" r:id="rId14"/>
    <p:sldId id="352" r:id="rId15"/>
    <p:sldId id="354" r:id="rId16"/>
    <p:sldId id="353" r:id="rId17"/>
    <p:sldId id="370" r:id="rId18"/>
    <p:sldId id="356" r:id="rId19"/>
    <p:sldId id="357" r:id="rId20"/>
    <p:sldId id="363" r:id="rId21"/>
    <p:sldId id="365" r:id="rId22"/>
    <p:sldId id="364" r:id="rId23"/>
    <p:sldId id="366" r:id="rId24"/>
    <p:sldId id="330" r:id="rId25"/>
    <p:sldId id="265" r:id="rId26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35F5"/>
    <a:srgbClr val="F1350F"/>
    <a:srgbClr val="4639F1"/>
    <a:srgbClr val="020000"/>
    <a:srgbClr val="F0265D"/>
    <a:srgbClr val="EBAFB5"/>
    <a:srgbClr val="F4D3D6"/>
    <a:srgbClr val="F9E8EA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54" autoAdjust="0"/>
    <p:restoredTop sz="89449" autoAdjust="0"/>
  </p:normalViewPr>
  <p:slideViewPr>
    <p:cSldViewPr snapToGrid="0" snapToObjects="1">
      <p:cViewPr varScale="1">
        <p:scale>
          <a:sx n="66" d="100"/>
          <a:sy n="66" d="100"/>
        </p:scale>
        <p:origin x="141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8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10/18/2023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01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23528" y="44625"/>
            <a:ext cx="7272808" cy="720079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Slide 1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9512" y="908720"/>
            <a:ext cx="8712968" cy="5328592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pt-B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7323138" cy="5556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162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44625"/>
            <a:ext cx="7596336" cy="12241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/>
              <a:t>Slide 2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75656" y="1340768"/>
            <a:ext cx="6192688" cy="41044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619672" y="44625"/>
            <a:ext cx="6120680" cy="1008112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/>
              <a:t>Slide 3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47664" y="1268760"/>
            <a:ext cx="6192688" cy="417646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0541-0AF1-4212-AE65-1BEB80F5FDFE}" type="datetime1">
              <a:rPr lang="pt-BR" smtClean="0"/>
              <a:pPr/>
              <a:t>18/10/2023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/>
          <p:nvPr userDrawn="1"/>
        </p:nvSpPr>
        <p:spPr>
          <a:xfrm>
            <a:off x="8044249" y="6343992"/>
            <a:ext cx="1176708" cy="365125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557" y="328709"/>
            <a:ext cx="8229600" cy="466767"/>
          </a:xfrm>
        </p:spPr>
        <p:txBody>
          <a:bodyPr>
            <a:noAutofit/>
          </a:bodyPr>
          <a:lstStyle>
            <a:lvl1pPr algn="l">
              <a:defRPr sz="2500"/>
            </a:lvl1pPr>
          </a:lstStyle>
          <a:p>
            <a:r>
              <a:rPr lang="x-none"/>
              <a:t>Click to edit Master title style</a:t>
            </a:r>
            <a:endParaRPr lang="en-US" dirty="0"/>
          </a:p>
        </p:txBody>
      </p:sp>
      <p:cxnSp>
        <p:nvCxnSpPr>
          <p:cNvPr id="8" name="Conector reto 7"/>
          <p:cNvCxnSpPr/>
          <p:nvPr userDrawn="1"/>
        </p:nvCxnSpPr>
        <p:spPr>
          <a:xfrm>
            <a:off x="457200" y="741405"/>
            <a:ext cx="8229600" cy="0"/>
          </a:xfrm>
          <a:prstGeom prst="line">
            <a:avLst/>
          </a:prstGeom>
          <a:ln w="31750">
            <a:solidFill>
              <a:srgbClr val="F02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1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1" name="Rectangle 18"/>
          <p:cNvSpPr/>
          <p:nvPr userDrawn="1"/>
        </p:nvSpPr>
        <p:spPr>
          <a:xfrm>
            <a:off x="397557" y="364111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503C1-058C-4EB5-96B6-EA88AF55F5C1}" type="datetime1">
              <a:rPr lang="pt-BR" smtClean="0"/>
              <a:pPr/>
              <a:t>18/10/2023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82AD5-A9D0-494C-8394-BFC65EB7C7BD}" type="datetime1">
              <a:rPr lang="pt-BR" smtClean="0"/>
              <a:pPr/>
              <a:t>18/10/2023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603EE-F11D-4783-A4C6-57897F69FFCA}" type="datetime1">
              <a:rPr lang="pt-BR" smtClean="0"/>
              <a:pPr/>
              <a:t>18/10/2023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A8D2D-973D-4AF9-8C55-588478A1F642}" type="datetime1">
              <a:rPr lang="pt-BR" smtClean="0"/>
              <a:pPr/>
              <a:t>18/10/2023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C784B-6016-46C3-92A0-0660F7BEB8A5}" type="datetime1">
              <a:rPr lang="pt-BR" smtClean="0"/>
              <a:pPr/>
              <a:t>18/10/2023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8CD41-7B11-4310-96C9-B1B4BAD9AAE4}" type="datetime1">
              <a:rPr lang="pt-BR" smtClean="0"/>
              <a:pPr/>
              <a:t>18/10/2023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3B408-14A4-48ED-AB74-C47C405CA9AC}" type="datetime1">
              <a:rPr lang="pt-BR" smtClean="0"/>
              <a:pPr/>
              <a:t>18/10/2023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A5105-BAAD-4E4C-956D-5807F8596BA7}" type="datetime1">
              <a:rPr lang="pt-BR" smtClean="0"/>
              <a:pPr/>
              <a:t>18/10/2023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D73F8-814C-48F7-A6AC-19AC16C20047}" type="datetime1">
              <a:rPr lang="pt-BR" smtClean="0"/>
              <a:pPr/>
              <a:t>18/10/2023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8760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BB5F7-809A-49FD-A754-78E41FA3AC7D}" type="datetime1">
              <a:rPr lang="pt-BR" smtClean="0"/>
              <a:pPr/>
              <a:t>18/10/2023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33562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259CB6-618C-4C0D-AD4F-00FFB7EC3806}" type="datetime1">
              <a:rPr lang="pt-BR" smtClean="0"/>
              <a:pPr/>
              <a:t>18/10/2023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050" name="Picture 2" descr="K:\Júnior\B.I\FIAP Shift\Template 4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0"/>
            <a:ext cx="9144000" cy="6858001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8" r:id="rId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3B64BA-2F8D-4903-9D71-2BA133BDD820}" type="datetime1">
              <a:rPr lang="pt-BR" smtClean="0"/>
              <a:pPr/>
              <a:t>18/10/2023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9B6C0-1EBF-4909-A23C-2B4E6C0F9776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074" name="Picture 2" descr="K:\Júnior\B.I\FIAP Shift\Template 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80FC3-7915-4765-A1D7-627DAD4111B6}" type="datetime1">
              <a:rPr lang="pt-BR" smtClean="0"/>
              <a:pPr/>
              <a:t>18/10/2023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BDE16-AB64-4071-8A5E-208E5097AA46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098" name="Picture 2" descr="K:\Júnior\B.I\FIAP Shift\Template 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99393"/>
            <a:ext cx="9276524" cy="6957393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DD337-29BF-4EC3-9532-A7144ADBA665}" type="datetime1">
              <a:rPr lang="pt-BR" smtClean="0"/>
              <a:pPr/>
              <a:t>18/10/2023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3" r:id="rId1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/>
          <a:srcRect l="21776" r="21705"/>
          <a:stretch/>
        </p:blipFill>
        <p:spPr>
          <a:xfrm>
            <a:off x="0" y="2608031"/>
            <a:ext cx="9155651" cy="278985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011881" y="3293781"/>
            <a:ext cx="8132119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-BR" sz="3200" dirty="0">
                <a:solidFill>
                  <a:srgbClr val="FFFF00"/>
                </a:solidFill>
                <a:latin typeface="Gotham-Bold"/>
                <a:cs typeface="Gotham-Bold"/>
              </a:rPr>
              <a:t>Árvores Binárias- Árvore de Busca Binária</a:t>
            </a:r>
            <a:endParaRPr lang="en-US" sz="3200" dirty="0">
              <a:solidFill>
                <a:srgbClr val="FFFF00"/>
              </a:solidFill>
              <a:latin typeface="Gotham-Bold"/>
              <a:cs typeface="Gotham-Bol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11882" y="3857840"/>
            <a:ext cx="55413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2"/>
                </a:solidFill>
                <a:latin typeface="Gotham-Bold"/>
              </a:rPr>
              <a:t>Algoritmos de Alta 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1882" y="4444109"/>
            <a:ext cx="681713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 err="1">
                <a:solidFill>
                  <a:srgbClr val="FFFFFF"/>
                </a:solidFill>
                <a:latin typeface="Gotham-Bold"/>
                <a:cs typeface="Gotham-Bold"/>
              </a:rPr>
              <a:t>PROFa</a:t>
            </a: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. PATRÍCIA MAGNA  - profpatricia.magna@fiap.com.br</a:t>
            </a:r>
          </a:p>
        </p:txBody>
      </p:sp>
      <p:sp>
        <p:nvSpPr>
          <p:cNvPr id="23" name="Rectangle 22"/>
          <p:cNvSpPr/>
          <p:nvPr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444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Árvores Binárias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78093" y="795476"/>
            <a:ext cx="7772400" cy="1066800"/>
          </a:xfrm>
        </p:spPr>
        <p:txBody>
          <a:bodyPr/>
          <a:lstStyle/>
          <a:p>
            <a:pPr algn="ctr">
              <a:spcBef>
                <a:spcPct val="0"/>
              </a:spcBef>
              <a:buFont typeface="Wingdings" pitchFamily="2" charset="2"/>
              <a:buNone/>
            </a:pPr>
            <a:r>
              <a:rPr lang="pt-BR" dirty="0"/>
              <a:t>Uma Árvore Binária é uma árvore que obedece as seguintes condições:</a:t>
            </a:r>
          </a:p>
        </p:txBody>
      </p:sp>
      <p:grpSp>
        <p:nvGrpSpPr>
          <p:cNvPr id="2" name="Group 120"/>
          <p:cNvGrpSpPr>
            <a:grpSpLocks/>
          </p:cNvGrpSpPr>
          <p:nvPr/>
        </p:nvGrpSpPr>
        <p:grpSpPr bwMode="auto">
          <a:xfrm>
            <a:off x="0" y="2133600"/>
            <a:ext cx="971550" cy="685800"/>
            <a:chOff x="192" y="1392"/>
            <a:chExt cx="2041" cy="2304"/>
          </a:xfrm>
        </p:grpSpPr>
        <p:sp>
          <p:nvSpPr>
            <p:cNvPr id="8313" name="Freeform 121"/>
            <p:cNvSpPr>
              <a:spLocks/>
            </p:cNvSpPr>
            <p:nvPr/>
          </p:nvSpPr>
          <p:spPr bwMode="auto">
            <a:xfrm>
              <a:off x="558" y="2204"/>
              <a:ext cx="1390" cy="1492"/>
            </a:xfrm>
            <a:custGeom>
              <a:avLst/>
              <a:gdLst/>
              <a:ahLst/>
              <a:cxnLst>
                <a:cxn ang="0">
                  <a:pos x="130" y="1492"/>
                </a:cxn>
                <a:cxn ang="0">
                  <a:pos x="0" y="1273"/>
                </a:cxn>
                <a:cxn ang="0">
                  <a:pos x="153" y="1371"/>
                </a:cxn>
                <a:cxn ang="0">
                  <a:pos x="130" y="1205"/>
                </a:cxn>
                <a:cxn ang="0">
                  <a:pos x="218" y="1302"/>
                </a:cxn>
                <a:cxn ang="0">
                  <a:pos x="180" y="1102"/>
                </a:cxn>
                <a:cxn ang="0">
                  <a:pos x="384" y="1321"/>
                </a:cxn>
                <a:cxn ang="0">
                  <a:pos x="338" y="1071"/>
                </a:cxn>
                <a:cxn ang="0">
                  <a:pos x="491" y="1283"/>
                </a:cxn>
                <a:cxn ang="0">
                  <a:pos x="468" y="946"/>
                </a:cxn>
                <a:cxn ang="0">
                  <a:pos x="569" y="1273"/>
                </a:cxn>
                <a:cxn ang="0">
                  <a:pos x="578" y="535"/>
                </a:cxn>
                <a:cxn ang="0">
                  <a:pos x="315" y="278"/>
                </a:cxn>
                <a:cxn ang="0">
                  <a:pos x="315" y="278"/>
                </a:cxn>
                <a:cxn ang="0">
                  <a:pos x="325" y="215"/>
                </a:cxn>
                <a:cxn ang="0">
                  <a:pos x="333" y="198"/>
                </a:cxn>
                <a:cxn ang="0">
                  <a:pos x="579" y="410"/>
                </a:cxn>
                <a:cxn ang="0">
                  <a:pos x="614" y="8"/>
                </a:cxn>
                <a:cxn ang="0">
                  <a:pos x="616" y="9"/>
                </a:cxn>
                <a:cxn ang="0">
                  <a:pos x="623" y="11"/>
                </a:cxn>
                <a:cxn ang="0">
                  <a:pos x="633" y="15"/>
                </a:cxn>
                <a:cxn ang="0">
                  <a:pos x="648" y="19"/>
                </a:cxn>
                <a:cxn ang="0">
                  <a:pos x="668" y="20"/>
                </a:cxn>
                <a:cxn ang="0">
                  <a:pos x="691" y="18"/>
                </a:cxn>
                <a:cxn ang="0">
                  <a:pos x="721" y="11"/>
                </a:cxn>
                <a:cxn ang="0">
                  <a:pos x="755" y="0"/>
                </a:cxn>
                <a:cxn ang="0">
                  <a:pos x="771" y="268"/>
                </a:cxn>
                <a:cxn ang="0">
                  <a:pos x="998" y="115"/>
                </a:cxn>
                <a:cxn ang="0">
                  <a:pos x="1008" y="174"/>
                </a:cxn>
                <a:cxn ang="0">
                  <a:pos x="769" y="371"/>
                </a:cxn>
                <a:cxn ang="0">
                  <a:pos x="769" y="1033"/>
                </a:cxn>
                <a:cxn ang="0">
                  <a:pos x="814" y="1325"/>
                </a:cxn>
                <a:cxn ang="0">
                  <a:pos x="925" y="865"/>
                </a:cxn>
                <a:cxn ang="0">
                  <a:pos x="918" y="1290"/>
                </a:cxn>
                <a:cxn ang="0">
                  <a:pos x="1056" y="812"/>
                </a:cxn>
                <a:cxn ang="0">
                  <a:pos x="1021" y="1325"/>
                </a:cxn>
                <a:cxn ang="0">
                  <a:pos x="1140" y="1102"/>
                </a:cxn>
                <a:cxn ang="0">
                  <a:pos x="1136" y="1360"/>
                </a:cxn>
                <a:cxn ang="0">
                  <a:pos x="1258" y="1186"/>
                </a:cxn>
                <a:cxn ang="0">
                  <a:pos x="1261" y="1311"/>
                </a:cxn>
                <a:cxn ang="0">
                  <a:pos x="1390" y="1242"/>
                </a:cxn>
                <a:cxn ang="0">
                  <a:pos x="1230" y="1477"/>
                </a:cxn>
                <a:cxn ang="0">
                  <a:pos x="130" y="1492"/>
                </a:cxn>
              </a:cxnLst>
              <a:rect l="0" t="0" r="r" b="b"/>
              <a:pathLst>
                <a:path w="1390" h="1492">
                  <a:moveTo>
                    <a:pt x="130" y="1492"/>
                  </a:moveTo>
                  <a:lnTo>
                    <a:pt x="0" y="1273"/>
                  </a:lnTo>
                  <a:lnTo>
                    <a:pt x="153" y="1371"/>
                  </a:lnTo>
                  <a:lnTo>
                    <a:pt x="130" y="1205"/>
                  </a:lnTo>
                  <a:lnTo>
                    <a:pt x="218" y="1302"/>
                  </a:lnTo>
                  <a:lnTo>
                    <a:pt x="180" y="1102"/>
                  </a:lnTo>
                  <a:lnTo>
                    <a:pt x="384" y="1321"/>
                  </a:lnTo>
                  <a:lnTo>
                    <a:pt x="338" y="1071"/>
                  </a:lnTo>
                  <a:lnTo>
                    <a:pt x="491" y="1283"/>
                  </a:lnTo>
                  <a:lnTo>
                    <a:pt x="468" y="946"/>
                  </a:lnTo>
                  <a:lnTo>
                    <a:pt x="569" y="1273"/>
                  </a:lnTo>
                  <a:lnTo>
                    <a:pt x="578" y="535"/>
                  </a:lnTo>
                  <a:lnTo>
                    <a:pt x="315" y="278"/>
                  </a:lnTo>
                  <a:lnTo>
                    <a:pt x="315" y="278"/>
                  </a:lnTo>
                  <a:lnTo>
                    <a:pt x="325" y="215"/>
                  </a:lnTo>
                  <a:lnTo>
                    <a:pt x="333" y="198"/>
                  </a:lnTo>
                  <a:lnTo>
                    <a:pt x="579" y="410"/>
                  </a:lnTo>
                  <a:lnTo>
                    <a:pt x="614" y="8"/>
                  </a:lnTo>
                  <a:lnTo>
                    <a:pt x="616" y="9"/>
                  </a:lnTo>
                  <a:lnTo>
                    <a:pt x="623" y="11"/>
                  </a:lnTo>
                  <a:lnTo>
                    <a:pt x="633" y="15"/>
                  </a:lnTo>
                  <a:lnTo>
                    <a:pt x="648" y="19"/>
                  </a:lnTo>
                  <a:lnTo>
                    <a:pt x="668" y="20"/>
                  </a:lnTo>
                  <a:lnTo>
                    <a:pt x="691" y="18"/>
                  </a:lnTo>
                  <a:lnTo>
                    <a:pt x="721" y="11"/>
                  </a:lnTo>
                  <a:lnTo>
                    <a:pt x="755" y="0"/>
                  </a:lnTo>
                  <a:lnTo>
                    <a:pt x="771" y="268"/>
                  </a:lnTo>
                  <a:lnTo>
                    <a:pt x="998" y="115"/>
                  </a:lnTo>
                  <a:lnTo>
                    <a:pt x="1008" y="174"/>
                  </a:lnTo>
                  <a:lnTo>
                    <a:pt x="769" y="371"/>
                  </a:lnTo>
                  <a:lnTo>
                    <a:pt x="769" y="1033"/>
                  </a:lnTo>
                  <a:lnTo>
                    <a:pt x="814" y="1325"/>
                  </a:lnTo>
                  <a:lnTo>
                    <a:pt x="925" y="865"/>
                  </a:lnTo>
                  <a:lnTo>
                    <a:pt x="918" y="1290"/>
                  </a:lnTo>
                  <a:lnTo>
                    <a:pt x="1056" y="812"/>
                  </a:lnTo>
                  <a:lnTo>
                    <a:pt x="1021" y="1325"/>
                  </a:lnTo>
                  <a:lnTo>
                    <a:pt x="1140" y="1102"/>
                  </a:lnTo>
                  <a:lnTo>
                    <a:pt x="1136" y="1360"/>
                  </a:lnTo>
                  <a:lnTo>
                    <a:pt x="1258" y="1186"/>
                  </a:lnTo>
                  <a:lnTo>
                    <a:pt x="1261" y="1311"/>
                  </a:lnTo>
                  <a:lnTo>
                    <a:pt x="1390" y="1242"/>
                  </a:lnTo>
                  <a:lnTo>
                    <a:pt x="1230" y="1477"/>
                  </a:lnTo>
                  <a:lnTo>
                    <a:pt x="130" y="1492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14" name="Freeform 122"/>
            <p:cNvSpPr>
              <a:spLocks/>
            </p:cNvSpPr>
            <p:nvPr/>
          </p:nvSpPr>
          <p:spPr bwMode="auto">
            <a:xfrm>
              <a:off x="1072" y="3390"/>
              <a:ext cx="46" cy="260"/>
            </a:xfrm>
            <a:custGeom>
              <a:avLst/>
              <a:gdLst/>
              <a:ahLst/>
              <a:cxnLst>
                <a:cxn ang="0">
                  <a:pos x="41" y="245"/>
                </a:cxn>
                <a:cxn ang="0">
                  <a:pos x="0" y="0"/>
                </a:cxn>
                <a:cxn ang="0">
                  <a:pos x="0" y="166"/>
                </a:cxn>
                <a:cxn ang="0">
                  <a:pos x="19" y="260"/>
                </a:cxn>
                <a:cxn ang="0">
                  <a:pos x="46" y="260"/>
                </a:cxn>
                <a:cxn ang="0">
                  <a:pos x="41" y="245"/>
                </a:cxn>
              </a:cxnLst>
              <a:rect l="0" t="0" r="r" b="b"/>
              <a:pathLst>
                <a:path w="46" h="260">
                  <a:moveTo>
                    <a:pt x="41" y="245"/>
                  </a:moveTo>
                  <a:lnTo>
                    <a:pt x="0" y="0"/>
                  </a:lnTo>
                  <a:lnTo>
                    <a:pt x="0" y="166"/>
                  </a:lnTo>
                  <a:lnTo>
                    <a:pt x="19" y="260"/>
                  </a:lnTo>
                  <a:lnTo>
                    <a:pt x="46" y="260"/>
                  </a:lnTo>
                  <a:lnTo>
                    <a:pt x="41" y="245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15" name="Freeform 123"/>
            <p:cNvSpPr>
              <a:spLocks/>
            </p:cNvSpPr>
            <p:nvPr/>
          </p:nvSpPr>
          <p:spPr bwMode="auto">
            <a:xfrm>
              <a:off x="632" y="3381"/>
              <a:ext cx="431" cy="286"/>
            </a:xfrm>
            <a:custGeom>
              <a:avLst/>
              <a:gdLst/>
              <a:ahLst/>
              <a:cxnLst>
                <a:cxn ang="0">
                  <a:pos x="431" y="273"/>
                </a:cxn>
                <a:cxn ang="0">
                  <a:pos x="315" y="28"/>
                </a:cxn>
                <a:cxn ang="0">
                  <a:pos x="356" y="264"/>
                </a:cxn>
                <a:cxn ang="0">
                  <a:pos x="250" y="129"/>
                </a:cxn>
                <a:cxn ang="0">
                  <a:pos x="144" y="0"/>
                </a:cxn>
                <a:cxn ang="0">
                  <a:pos x="190" y="254"/>
                </a:cxn>
                <a:cxn ang="0">
                  <a:pos x="92" y="125"/>
                </a:cxn>
                <a:cxn ang="0">
                  <a:pos x="106" y="254"/>
                </a:cxn>
                <a:cxn ang="0">
                  <a:pos x="0" y="190"/>
                </a:cxn>
                <a:cxn ang="0">
                  <a:pos x="79" y="286"/>
                </a:cxn>
                <a:cxn ang="0">
                  <a:pos x="431" y="273"/>
                </a:cxn>
              </a:cxnLst>
              <a:rect l="0" t="0" r="r" b="b"/>
              <a:pathLst>
                <a:path w="431" h="286">
                  <a:moveTo>
                    <a:pt x="431" y="273"/>
                  </a:moveTo>
                  <a:lnTo>
                    <a:pt x="315" y="28"/>
                  </a:lnTo>
                  <a:lnTo>
                    <a:pt x="356" y="264"/>
                  </a:lnTo>
                  <a:lnTo>
                    <a:pt x="250" y="129"/>
                  </a:lnTo>
                  <a:lnTo>
                    <a:pt x="144" y="0"/>
                  </a:lnTo>
                  <a:lnTo>
                    <a:pt x="190" y="254"/>
                  </a:lnTo>
                  <a:lnTo>
                    <a:pt x="92" y="125"/>
                  </a:lnTo>
                  <a:lnTo>
                    <a:pt x="106" y="254"/>
                  </a:lnTo>
                  <a:lnTo>
                    <a:pt x="0" y="190"/>
                  </a:lnTo>
                  <a:lnTo>
                    <a:pt x="79" y="286"/>
                  </a:lnTo>
                  <a:lnTo>
                    <a:pt x="431" y="273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16" name="Freeform 124"/>
            <p:cNvSpPr>
              <a:spLocks/>
            </p:cNvSpPr>
            <p:nvPr/>
          </p:nvSpPr>
          <p:spPr bwMode="auto">
            <a:xfrm>
              <a:off x="1386" y="3242"/>
              <a:ext cx="190" cy="412"/>
            </a:xfrm>
            <a:custGeom>
              <a:avLst/>
              <a:gdLst/>
              <a:ahLst/>
              <a:cxnLst>
                <a:cxn ang="0">
                  <a:pos x="0" y="412"/>
                </a:cxn>
                <a:cxn ang="0">
                  <a:pos x="0" y="352"/>
                </a:cxn>
                <a:cxn ang="0">
                  <a:pos x="60" y="112"/>
                </a:cxn>
                <a:cxn ang="0">
                  <a:pos x="78" y="375"/>
                </a:cxn>
                <a:cxn ang="0">
                  <a:pos x="190" y="0"/>
                </a:cxn>
                <a:cxn ang="0">
                  <a:pos x="152" y="412"/>
                </a:cxn>
                <a:cxn ang="0">
                  <a:pos x="0" y="412"/>
                </a:cxn>
              </a:cxnLst>
              <a:rect l="0" t="0" r="r" b="b"/>
              <a:pathLst>
                <a:path w="190" h="412">
                  <a:moveTo>
                    <a:pt x="0" y="412"/>
                  </a:moveTo>
                  <a:lnTo>
                    <a:pt x="0" y="352"/>
                  </a:lnTo>
                  <a:lnTo>
                    <a:pt x="60" y="112"/>
                  </a:lnTo>
                  <a:lnTo>
                    <a:pt x="78" y="375"/>
                  </a:lnTo>
                  <a:lnTo>
                    <a:pt x="190" y="0"/>
                  </a:lnTo>
                  <a:lnTo>
                    <a:pt x="152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17" name="Freeform 125"/>
            <p:cNvSpPr>
              <a:spLocks/>
            </p:cNvSpPr>
            <p:nvPr/>
          </p:nvSpPr>
          <p:spPr bwMode="auto">
            <a:xfrm>
              <a:off x="1562" y="3446"/>
              <a:ext cx="106" cy="208"/>
            </a:xfrm>
            <a:custGeom>
              <a:avLst/>
              <a:gdLst/>
              <a:ahLst/>
              <a:cxnLst>
                <a:cxn ang="0">
                  <a:pos x="0" y="208"/>
                </a:cxn>
                <a:cxn ang="0">
                  <a:pos x="101" y="0"/>
                </a:cxn>
                <a:cxn ang="0">
                  <a:pos x="106" y="204"/>
                </a:cxn>
                <a:cxn ang="0">
                  <a:pos x="0" y="208"/>
                </a:cxn>
              </a:cxnLst>
              <a:rect l="0" t="0" r="r" b="b"/>
              <a:pathLst>
                <a:path w="106" h="208">
                  <a:moveTo>
                    <a:pt x="0" y="208"/>
                  </a:moveTo>
                  <a:lnTo>
                    <a:pt x="101" y="0"/>
                  </a:lnTo>
                  <a:lnTo>
                    <a:pt x="106" y="204"/>
                  </a:lnTo>
                  <a:lnTo>
                    <a:pt x="0" y="208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18" name="Freeform 126"/>
            <p:cNvSpPr>
              <a:spLocks/>
            </p:cNvSpPr>
            <p:nvPr/>
          </p:nvSpPr>
          <p:spPr bwMode="auto">
            <a:xfrm>
              <a:off x="1691" y="3496"/>
              <a:ext cx="97" cy="154"/>
            </a:xfrm>
            <a:custGeom>
              <a:avLst/>
              <a:gdLst/>
              <a:ahLst/>
              <a:cxnLst>
                <a:cxn ang="0">
                  <a:pos x="0" y="154"/>
                </a:cxn>
                <a:cxn ang="0">
                  <a:pos x="97" y="0"/>
                </a:cxn>
                <a:cxn ang="0">
                  <a:pos x="78" y="149"/>
                </a:cxn>
                <a:cxn ang="0">
                  <a:pos x="0" y="154"/>
                </a:cxn>
              </a:cxnLst>
              <a:rect l="0" t="0" r="r" b="b"/>
              <a:pathLst>
                <a:path w="97" h="154">
                  <a:moveTo>
                    <a:pt x="0" y="154"/>
                  </a:moveTo>
                  <a:lnTo>
                    <a:pt x="97" y="0"/>
                  </a:lnTo>
                  <a:lnTo>
                    <a:pt x="78" y="149"/>
                  </a:lnTo>
                  <a:lnTo>
                    <a:pt x="0" y="154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19" name="Freeform 127"/>
            <p:cNvSpPr>
              <a:spLocks/>
            </p:cNvSpPr>
            <p:nvPr/>
          </p:nvSpPr>
          <p:spPr bwMode="auto">
            <a:xfrm>
              <a:off x="1798" y="3525"/>
              <a:ext cx="64" cy="96"/>
            </a:xfrm>
            <a:custGeom>
              <a:avLst/>
              <a:gdLst/>
              <a:ahLst/>
              <a:cxnLst>
                <a:cxn ang="0">
                  <a:pos x="0" y="96"/>
                </a:cxn>
                <a:cxn ang="0">
                  <a:pos x="18" y="41"/>
                </a:cxn>
                <a:cxn ang="0">
                  <a:pos x="64" y="0"/>
                </a:cxn>
                <a:cxn ang="0">
                  <a:pos x="50" y="36"/>
                </a:cxn>
                <a:cxn ang="0">
                  <a:pos x="0" y="96"/>
                </a:cxn>
              </a:cxnLst>
              <a:rect l="0" t="0" r="r" b="b"/>
              <a:pathLst>
                <a:path w="64" h="96">
                  <a:moveTo>
                    <a:pt x="0" y="96"/>
                  </a:moveTo>
                  <a:lnTo>
                    <a:pt x="18" y="41"/>
                  </a:lnTo>
                  <a:lnTo>
                    <a:pt x="64" y="0"/>
                  </a:lnTo>
                  <a:lnTo>
                    <a:pt x="50" y="36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20" name="Freeform 128"/>
            <p:cNvSpPr>
              <a:spLocks/>
            </p:cNvSpPr>
            <p:nvPr/>
          </p:nvSpPr>
          <p:spPr bwMode="auto">
            <a:xfrm>
              <a:off x="1132" y="2294"/>
              <a:ext cx="71" cy="1360"/>
            </a:xfrm>
            <a:custGeom>
              <a:avLst/>
              <a:gdLst/>
              <a:ahLst/>
              <a:cxnLst>
                <a:cxn ang="0">
                  <a:pos x="0" y="1360"/>
                </a:cxn>
                <a:cxn ang="0">
                  <a:pos x="51" y="0"/>
                </a:cxn>
                <a:cxn ang="0">
                  <a:pos x="52" y="3"/>
                </a:cxn>
                <a:cxn ang="0">
                  <a:pos x="56" y="5"/>
                </a:cxn>
                <a:cxn ang="0">
                  <a:pos x="62" y="6"/>
                </a:cxn>
                <a:cxn ang="0">
                  <a:pos x="71" y="1"/>
                </a:cxn>
                <a:cxn ang="0">
                  <a:pos x="64" y="1360"/>
                </a:cxn>
                <a:cxn ang="0">
                  <a:pos x="0" y="1360"/>
                </a:cxn>
              </a:cxnLst>
              <a:rect l="0" t="0" r="r" b="b"/>
              <a:pathLst>
                <a:path w="71" h="1360">
                  <a:moveTo>
                    <a:pt x="0" y="1360"/>
                  </a:moveTo>
                  <a:lnTo>
                    <a:pt x="51" y="0"/>
                  </a:lnTo>
                  <a:lnTo>
                    <a:pt x="52" y="3"/>
                  </a:lnTo>
                  <a:lnTo>
                    <a:pt x="56" y="5"/>
                  </a:lnTo>
                  <a:lnTo>
                    <a:pt x="62" y="6"/>
                  </a:lnTo>
                  <a:lnTo>
                    <a:pt x="71" y="1"/>
                  </a:lnTo>
                  <a:lnTo>
                    <a:pt x="64" y="1360"/>
                  </a:lnTo>
                  <a:lnTo>
                    <a:pt x="0" y="136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21" name="Freeform 129"/>
            <p:cNvSpPr>
              <a:spLocks/>
            </p:cNvSpPr>
            <p:nvPr/>
          </p:nvSpPr>
          <p:spPr bwMode="auto">
            <a:xfrm>
              <a:off x="1214" y="2258"/>
              <a:ext cx="55" cy="1392"/>
            </a:xfrm>
            <a:custGeom>
              <a:avLst/>
              <a:gdLst/>
              <a:ahLst/>
              <a:cxnLst>
                <a:cxn ang="0">
                  <a:pos x="0" y="1392"/>
                </a:cxn>
                <a:cxn ang="0">
                  <a:pos x="23" y="4"/>
                </a:cxn>
                <a:cxn ang="0">
                  <a:pos x="24" y="5"/>
                </a:cxn>
                <a:cxn ang="0">
                  <a:pos x="30" y="7"/>
                </a:cxn>
                <a:cxn ang="0">
                  <a:pos x="39" y="6"/>
                </a:cxn>
                <a:cxn ang="0">
                  <a:pos x="52" y="0"/>
                </a:cxn>
                <a:cxn ang="0">
                  <a:pos x="55" y="1392"/>
                </a:cxn>
                <a:cxn ang="0">
                  <a:pos x="0" y="1392"/>
                </a:cxn>
              </a:cxnLst>
              <a:rect l="0" t="0" r="r" b="b"/>
              <a:pathLst>
                <a:path w="55" h="1392">
                  <a:moveTo>
                    <a:pt x="0" y="1392"/>
                  </a:moveTo>
                  <a:lnTo>
                    <a:pt x="23" y="4"/>
                  </a:lnTo>
                  <a:lnTo>
                    <a:pt x="24" y="5"/>
                  </a:lnTo>
                  <a:lnTo>
                    <a:pt x="30" y="7"/>
                  </a:lnTo>
                  <a:lnTo>
                    <a:pt x="39" y="6"/>
                  </a:lnTo>
                  <a:lnTo>
                    <a:pt x="52" y="0"/>
                  </a:lnTo>
                  <a:lnTo>
                    <a:pt x="55" y="1392"/>
                  </a:lnTo>
                  <a:lnTo>
                    <a:pt x="0" y="1392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22" name="Freeform 130"/>
            <p:cNvSpPr>
              <a:spLocks/>
            </p:cNvSpPr>
            <p:nvPr/>
          </p:nvSpPr>
          <p:spPr bwMode="auto">
            <a:xfrm>
              <a:off x="1283" y="2225"/>
              <a:ext cx="51" cy="1420"/>
            </a:xfrm>
            <a:custGeom>
              <a:avLst/>
              <a:gdLst/>
              <a:ahLst/>
              <a:cxnLst>
                <a:cxn ang="0">
                  <a:pos x="10" y="1420"/>
                </a:cxn>
                <a:cxn ang="0">
                  <a:pos x="0" y="14"/>
                </a:cxn>
                <a:cxn ang="0">
                  <a:pos x="19" y="0"/>
                </a:cxn>
                <a:cxn ang="0">
                  <a:pos x="29" y="1081"/>
                </a:cxn>
                <a:cxn ang="0">
                  <a:pos x="51" y="1415"/>
                </a:cxn>
                <a:cxn ang="0">
                  <a:pos x="10" y="1420"/>
                </a:cxn>
              </a:cxnLst>
              <a:rect l="0" t="0" r="r" b="b"/>
              <a:pathLst>
                <a:path w="51" h="1420">
                  <a:moveTo>
                    <a:pt x="10" y="1420"/>
                  </a:moveTo>
                  <a:lnTo>
                    <a:pt x="0" y="14"/>
                  </a:lnTo>
                  <a:lnTo>
                    <a:pt x="19" y="0"/>
                  </a:lnTo>
                  <a:lnTo>
                    <a:pt x="29" y="1081"/>
                  </a:lnTo>
                  <a:lnTo>
                    <a:pt x="51" y="1415"/>
                  </a:lnTo>
                  <a:lnTo>
                    <a:pt x="10" y="142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23" name="Freeform 131"/>
            <p:cNvSpPr>
              <a:spLocks/>
            </p:cNvSpPr>
            <p:nvPr/>
          </p:nvSpPr>
          <p:spPr bwMode="auto">
            <a:xfrm>
              <a:off x="1334" y="2350"/>
              <a:ext cx="204" cy="190"/>
            </a:xfrm>
            <a:custGeom>
              <a:avLst/>
              <a:gdLst/>
              <a:ahLst/>
              <a:cxnLst>
                <a:cxn ang="0">
                  <a:pos x="5" y="153"/>
                </a:cxn>
                <a:cxn ang="0">
                  <a:pos x="204" y="0"/>
                </a:cxn>
                <a:cxn ang="0">
                  <a:pos x="204" y="14"/>
                </a:cxn>
                <a:cxn ang="0">
                  <a:pos x="0" y="190"/>
                </a:cxn>
                <a:cxn ang="0">
                  <a:pos x="5" y="153"/>
                </a:cxn>
              </a:cxnLst>
              <a:rect l="0" t="0" r="r" b="b"/>
              <a:pathLst>
                <a:path w="204" h="190">
                  <a:moveTo>
                    <a:pt x="5" y="153"/>
                  </a:moveTo>
                  <a:lnTo>
                    <a:pt x="204" y="0"/>
                  </a:lnTo>
                  <a:lnTo>
                    <a:pt x="204" y="14"/>
                  </a:lnTo>
                  <a:lnTo>
                    <a:pt x="0" y="190"/>
                  </a:lnTo>
                  <a:lnTo>
                    <a:pt x="5" y="153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24" name="Freeform 132"/>
            <p:cNvSpPr>
              <a:spLocks/>
            </p:cNvSpPr>
            <p:nvPr/>
          </p:nvSpPr>
          <p:spPr bwMode="auto">
            <a:xfrm>
              <a:off x="896" y="2438"/>
              <a:ext cx="236" cy="255"/>
            </a:xfrm>
            <a:custGeom>
              <a:avLst/>
              <a:gdLst/>
              <a:ahLst/>
              <a:cxnLst>
                <a:cxn ang="0">
                  <a:pos x="236" y="255"/>
                </a:cxn>
                <a:cxn ang="0">
                  <a:pos x="231" y="198"/>
                </a:cxn>
                <a:cxn ang="0">
                  <a:pos x="10" y="0"/>
                </a:cxn>
                <a:cxn ang="0">
                  <a:pos x="0" y="41"/>
                </a:cxn>
                <a:cxn ang="0">
                  <a:pos x="236" y="255"/>
                </a:cxn>
              </a:cxnLst>
              <a:rect l="0" t="0" r="r" b="b"/>
              <a:pathLst>
                <a:path w="236" h="255">
                  <a:moveTo>
                    <a:pt x="236" y="255"/>
                  </a:moveTo>
                  <a:lnTo>
                    <a:pt x="231" y="198"/>
                  </a:lnTo>
                  <a:lnTo>
                    <a:pt x="10" y="0"/>
                  </a:lnTo>
                  <a:lnTo>
                    <a:pt x="0" y="41"/>
                  </a:lnTo>
                  <a:lnTo>
                    <a:pt x="236" y="255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25" name="Freeform 133"/>
            <p:cNvSpPr>
              <a:spLocks/>
            </p:cNvSpPr>
            <p:nvPr/>
          </p:nvSpPr>
          <p:spPr bwMode="auto">
            <a:xfrm>
              <a:off x="192" y="2275"/>
              <a:ext cx="691" cy="554"/>
            </a:xfrm>
            <a:custGeom>
              <a:avLst/>
              <a:gdLst/>
              <a:ahLst/>
              <a:cxnLst>
                <a:cxn ang="0">
                  <a:pos x="662" y="404"/>
                </a:cxn>
                <a:cxn ang="0">
                  <a:pos x="651" y="415"/>
                </a:cxn>
                <a:cxn ang="0">
                  <a:pos x="621" y="443"/>
                </a:cxn>
                <a:cxn ang="0">
                  <a:pos x="574" y="476"/>
                </a:cxn>
                <a:cxn ang="0">
                  <a:pos x="514" y="505"/>
                </a:cxn>
                <a:cxn ang="0">
                  <a:pos x="339" y="550"/>
                </a:cxn>
                <a:cxn ang="0">
                  <a:pos x="346" y="520"/>
                </a:cxn>
                <a:cxn ang="0">
                  <a:pos x="359" y="474"/>
                </a:cxn>
                <a:cxn ang="0">
                  <a:pos x="370" y="420"/>
                </a:cxn>
                <a:cxn ang="0">
                  <a:pos x="376" y="389"/>
                </a:cxn>
                <a:cxn ang="0">
                  <a:pos x="381" y="354"/>
                </a:cxn>
                <a:cxn ang="0">
                  <a:pos x="394" y="305"/>
                </a:cxn>
                <a:cxn ang="0">
                  <a:pos x="414" y="262"/>
                </a:cxn>
                <a:cxn ang="0">
                  <a:pos x="422" y="250"/>
                </a:cxn>
                <a:cxn ang="0">
                  <a:pos x="387" y="254"/>
                </a:cxn>
                <a:cxn ang="0">
                  <a:pos x="332" y="262"/>
                </a:cxn>
                <a:cxn ang="0">
                  <a:pos x="271" y="265"/>
                </a:cxn>
                <a:cxn ang="0">
                  <a:pos x="239" y="267"/>
                </a:cxn>
                <a:cxn ang="0">
                  <a:pos x="206" y="268"/>
                </a:cxn>
                <a:cxn ang="0">
                  <a:pos x="151" y="263"/>
                </a:cxn>
                <a:cxn ang="0">
                  <a:pos x="90" y="244"/>
                </a:cxn>
                <a:cxn ang="0">
                  <a:pos x="59" y="227"/>
                </a:cxn>
                <a:cxn ang="0">
                  <a:pos x="46" y="218"/>
                </a:cxn>
                <a:cxn ang="0">
                  <a:pos x="29" y="199"/>
                </a:cxn>
                <a:cxn ang="0">
                  <a:pos x="9" y="168"/>
                </a:cxn>
                <a:cxn ang="0">
                  <a:pos x="5" y="145"/>
                </a:cxn>
                <a:cxn ang="0">
                  <a:pos x="37" y="128"/>
                </a:cxn>
                <a:cxn ang="0">
                  <a:pos x="89" y="100"/>
                </a:cxn>
                <a:cxn ang="0">
                  <a:pos x="142" y="70"/>
                </a:cxn>
                <a:cxn ang="0">
                  <a:pos x="172" y="55"/>
                </a:cxn>
                <a:cxn ang="0">
                  <a:pos x="206" y="40"/>
                </a:cxn>
                <a:cxn ang="0">
                  <a:pos x="260" y="19"/>
                </a:cxn>
                <a:cxn ang="0">
                  <a:pos x="320" y="4"/>
                </a:cxn>
                <a:cxn ang="0">
                  <a:pos x="354" y="2"/>
                </a:cxn>
                <a:cxn ang="0">
                  <a:pos x="395" y="0"/>
                </a:cxn>
                <a:cxn ang="0">
                  <a:pos x="457" y="2"/>
                </a:cxn>
                <a:cxn ang="0">
                  <a:pos x="519" y="10"/>
                </a:cxn>
                <a:cxn ang="0">
                  <a:pos x="546" y="22"/>
                </a:cxn>
                <a:cxn ang="0">
                  <a:pos x="570" y="40"/>
                </a:cxn>
                <a:cxn ang="0">
                  <a:pos x="606" y="74"/>
                </a:cxn>
                <a:cxn ang="0">
                  <a:pos x="641" y="118"/>
                </a:cxn>
                <a:cxn ang="0">
                  <a:pos x="691" y="144"/>
                </a:cxn>
              </a:cxnLst>
              <a:rect l="0" t="0" r="r" b="b"/>
              <a:pathLst>
                <a:path w="691" h="554">
                  <a:moveTo>
                    <a:pt x="671" y="190"/>
                  </a:moveTo>
                  <a:lnTo>
                    <a:pt x="662" y="404"/>
                  </a:lnTo>
                  <a:lnTo>
                    <a:pt x="660" y="406"/>
                  </a:lnTo>
                  <a:lnTo>
                    <a:pt x="651" y="415"/>
                  </a:lnTo>
                  <a:lnTo>
                    <a:pt x="639" y="428"/>
                  </a:lnTo>
                  <a:lnTo>
                    <a:pt x="621" y="443"/>
                  </a:lnTo>
                  <a:lnTo>
                    <a:pt x="599" y="459"/>
                  </a:lnTo>
                  <a:lnTo>
                    <a:pt x="574" y="476"/>
                  </a:lnTo>
                  <a:lnTo>
                    <a:pt x="545" y="491"/>
                  </a:lnTo>
                  <a:lnTo>
                    <a:pt x="514" y="505"/>
                  </a:lnTo>
                  <a:lnTo>
                    <a:pt x="337" y="554"/>
                  </a:lnTo>
                  <a:lnTo>
                    <a:pt x="339" y="550"/>
                  </a:lnTo>
                  <a:lnTo>
                    <a:pt x="342" y="538"/>
                  </a:lnTo>
                  <a:lnTo>
                    <a:pt x="346" y="520"/>
                  </a:lnTo>
                  <a:lnTo>
                    <a:pt x="352" y="499"/>
                  </a:lnTo>
                  <a:lnTo>
                    <a:pt x="359" y="474"/>
                  </a:lnTo>
                  <a:lnTo>
                    <a:pt x="365" y="446"/>
                  </a:lnTo>
                  <a:lnTo>
                    <a:pt x="370" y="420"/>
                  </a:lnTo>
                  <a:lnTo>
                    <a:pt x="375" y="394"/>
                  </a:lnTo>
                  <a:lnTo>
                    <a:pt x="376" y="389"/>
                  </a:lnTo>
                  <a:lnTo>
                    <a:pt x="377" y="375"/>
                  </a:lnTo>
                  <a:lnTo>
                    <a:pt x="381" y="354"/>
                  </a:lnTo>
                  <a:lnTo>
                    <a:pt x="386" y="330"/>
                  </a:lnTo>
                  <a:lnTo>
                    <a:pt x="394" y="305"/>
                  </a:lnTo>
                  <a:lnTo>
                    <a:pt x="402" y="281"/>
                  </a:lnTo>
                  <a:lnTo>
                    <a:pt x="414" y="262"/>
                  </a:lnTo>
                  <a:lnTo>
                    <a:pt x="427" y="249"/>
                  </a:lnTo>
                  <a:lnTo>
                    <a:pt x="422" y="250"/>
                  </a:lnTo>
                  <a:lnTo>
                    <a:pt x="409" y="252"/>
                  </a:lnTo>
                  <a:lnTo>
                    <a:pt x="387" y="254"/>
                  </a:lnTo>
                  <a:lnTo>
                    <a:pt x="361" y="258"/>
                  </a:lnTo>
                  <a:lnTo>
                    <a:pt x="332" y="262"/>
                  </a:lnTo>
                  <a:lnTo>
                    <a:pt x="301" y="264"/>
                  </a:lnTo>
                  <a:lnTo>
                    <a:pt x="271" y="265"/>
                  </a:lnTo>
                  <a:lnTo>
                    <a:pt x="244" y="267"/>
                  </a:lnTo>
                  <a:lnTo>
                    <a:pt x="239" y="267"/>
                  </a:lnTo>
                  <a:lnTo>
                    <a:pt x="226" y="268"/>
                  </a:lnTo>
                  <a:lnTo>
                    <a:pt x="206" y="268"/>
                  </a:lnTo>
                  <a:lnTo>
                    <a:pt x="180" y="267"/>
                  </a:lnTo>
                  <a:lnTo>
                    <a:pt x="151" y="263"/>
                  </a:lnTo>
                  <a:lnTo>
                    <a:pt x="121" y="257"/>
                  </a:lnTo>
                  <a:lnTo>
                    <a:pt x="90" y="244"/>
                  </a:lnTo>
                  <a:lnTo>
                    <a:pt x="60" y="228"/>
                  </a:lnTo>
                  <a:lnTo>
                    <a:pt x="59" y="227"/>
                  </a:lnTo>
                  <a:lnTo>
                    <a:pt x="54" y="224"/>
                  </a:lnTo>
                  <a:lnTo>
                    <a:pt x="46" y="218"/>
                  </a:lnTo>
                  <a:lnTo>
                    <a:pt x="37" y="210"/>
                  </a:lnTo>
                  <a:lnTo>
                    <a:pt x="29" y="199"/>
                  </a:lnTo>
                  <a:lnTo>
                    <a:pt x="19" y="185"/>
                  </a:lnTo>
                  <a:lnTo>
                    <a:pt x="9" y="168"/>
                  </a:lnTo>
                  <a:lnTo>
                    <a:pt x="0" y="148"/>
                  </a:lnTo>
                  <a:lnTo>
                    <a:pt x="5" y="145"/>
                  </a:lnTo>
                  <a:lnTo>
                    <a:pt x="17" y="138"/>
                  </a:lnTo>
                  <a:lnTo>
                    <a:pt x="37" y="128"/>
                  </a:lnTo>
                  <a:lnTo>
                    <a:pt x="61" y="114"/>
                  </a:lnTo>
                  <a:lnTo>
                    <a:pt x="89" y="100"/>
                  </a:lnTo>
                  <a:lnTo>
                    <a:pt x="116" y="85"/>
                  </a:lnTo>
                  <a:lnTo>
                    <a:pt x="142" y="70"/>
                  </a:lnTo>
                  <a:lnTo>
                    <a:pt x="167" y="58"/>
                  </a:lnTo>
                  <a:lnTo>
                    <a:pt x="172" y="55"/>
                  </a:lnTo>
                  <a:lnTo>
                    <a:pt x="186" y="49"/>
                  </a:lnTo>
                  <a:lnTo>
                    <a:pt x="206" y="40"/>
                  </a:lnTo>
                  <a:lnTo>
                    <a:pt x="231" y="29"/>
                  </a:lnTo>
                  <a:lnTo>
                    <a:pt x="260" y="19"/>
                  </a:lnTo>
                  <a:lnTo>
                    <a:pt x="290" y="10"/>
                  </a:lnTo>
                  <a:lnTo>
                    <a:pt x="320" y="4"/>
                  </a:lnTo>
                  <a:lnTo>
                    <a:pt x="347" y="2"/>
                  </a:lnTo>
                  <a:lnTo>
                    <a:pt x="354" y="2"/>
                  </a:lnTo>
                  <a:lnTo>
                    <a:pt x="370" y="0"/>
                  </a:lnTo>
                  <a:lnTo>
                    <a:pt x="395" y="0"/>
                  </a:lnTo>
                  <a:lnTo>
                    <a:pt x="425" y="0"/>
                  </a:lnTo>
                  <a:lnTo>
                    <a:pt x="457" y="2"/>
                  </a:lnTo>
                  <a:lnTo>
                    <a:pt x="490" y="5"/>
                  </a:lnTo>
                  <a:lnTo>
                    <a:pt x="519" y="10"/>
                  </a:lnTo>
                  <a:lnTo>
                    <a:pt x="542" y="19"/>
                  </a:lnTo>
                  <a:lnTo>
                    <a:pt x="546" y="22"/>
                  </a:lnTo>
                  <a:lnTo>
                    <a:pt x="556" y="29"/>
                  </a:lnTo>
                  <a:lnTo>
                    <a:pt x="570" y="40"/>
                  </a:lnTo>
                  <a:lnTo>
                    <a:pt x="587" y="55"/>
                  </a:lnTo>
                  <a:lnTo>
                    <a:pt x="606" y="74"/>
                  </a:lnTo>
                  <a:lnTo>
                    <a:pt x="624" y="94"/>
                  </a:lnTo>
                  <a:lnTo>
                    <a:pt x="641" y="118"/>
                  </a:lnTo>
                  <a:lnTo>
                    <a:pt x="654" y="142"/>
                  </a:lnTo>
                  <a:lnTo>
                    <a:pt x="691" y="144"/>
                  </a:lnTo>
                  <a:lnTo>
                    <a:pt x="671" y="19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26" name="Freeform 134"/>
            <p:cNvSpPr>
              <a:spLocks/>
            </p:cNvSpPr>
            <p:nvPr/>
          </p:nvSpPr>
          <p:spPr bwMode="auto">
            <a:xfrm>
              <a:off x="756" y="2083"/>
              <a:ext cx="193" cy="295"/>
            </a:xfrm>
            <a:custGeom>
              <a:avLst/>
              <a:gdLst/>
              <a:ahLst/>
              <a:cxnLst>
                <a:cxn ang="0">
                  <a:pos x="113" y="295"/>
                </a:cxn>
                <a:cxn ang="0">
                  <a:pos x="110" y="292"/>
                </a:cxn>
                <a:cxn ang="0">
                  <a:pos x="98" y="284"/>
                </a:cxn>
                <a:cxn ang="0">
                  <a:pos x="83" y="271"/>
                </a:cxn>
                <a:cxn ang="0">
                  <a:pos x="66" y="256"/>
                </a:cxn>
                <a:cxn ang="0">
                  <a:pos x="47" y="237"/>
                </a:cxn>
                <a:cxn ang="0">
                  <a:pos x="30" y="219"/>
                </a:cxn>
                <a:cxn ang="0">
                  <a:pos x="17" y="199"/>
                </a:cxn>
                <a:cxn ang="0">
                  <a:pos x="10" y="180"/>
                </a:cxn>
                <a:cxn ang="0">
                  <a:pos x="7" y="167"/>
                </a:cxn>
                <a:cxn ang="0">
                  <a:pos x="1" y="136"/>
                </a:cxn>
                <a:cxn ang="0">
                  <a:pos x="0" y="96"/>
                </a:cxn>
                <a:cxn ang="0">
                  <a:pos x="6" y="59"/>
                </a:cxn>
                <a:cxn ang="0">
                  <a:pos x="41" y="0"/>
                </a:cxn>
                <a:cxn ang="0">
                  <a:pos x="193" y="115"/>
                </a:cxn>
                <a:cxn ang="0">
                  <a:pos x="113" y="295"/>
                </a:cxn>
              </a:cxnLst>
              <a:rect l="0" t="0" r="r" b="b"/>
              <a:pathLst>
                <a:path w="193" h="295">
                  <a:moveTo>
                    <a:pt x="113" y="295"/>
                  </a:moveTo>
                  <a:lnTo>
                    <a:pt x="110" y="292"/>
                  </a:lnTo>
                  <a:lnTo>
                    <a:pt x="98" y="284"/>
                  </a:lnTo>
                  <a:lnTo>
                    <a:pt x="83" y="271"/>
                  </a:lnTo>
                  <a:lnTo>
                    <a:pt x="66" y="256"/>
                  </a:lnTo>
                  <a:lnTo>
                    <a:pt x="47" y="237"/>
                  </a:lnTo>
                  <a:lnTo>
                    <a:pt x="30" y="219"/>
                  </a:lnTo>
                  <a:lnTo>
                    <a:pt x="17" y="199"/>
                  </a:lnTo>
                  <a:lnTo>
                    <a:pt x="10" y="180"/>
                  </a:lnTo>
                  <a:lnTo>
                    <a:pt x="7" y="167"/>
                  </a:lnTo>
                  <a:lnTo>
                    <a:pt x="1" y="136"/>
                  </a:lnTo>
                  <a:lnTo>
                    <a:pt x="0" y="96"/>
                  </a:lnTo>
                  <a:lnTo>
                    <a:pt x="6" y="59"/>
                  </a:lnTo>
                  <a:lnTo>
                    <a:pt x="41" y="0"/>
                  </a:lnTo>
                  <a:lnTo>
                    <a:pt x="193" y="115"/>
                  </a:lnTo>
                  <a:lnTo>
                    <a:pt x="113" y="295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27" name="Freeform 135"/>
            <p:cNvSpPr>
              <a:spLocks/>
            </p:cNvSpPr>
            <p:nvPr/>
          </p:nvSpPr>
          <p:spPr bwMode="auto">
            <a:xfrm>
              <a:off x="413" y="1904"/>
              <a:ext cx="304" cy="349"/>
            </a:xfrm>
            <a:custGeom>
              <a:avLst/>
              <a:gdLst/>
              <a:ahLst/>
              <a:cxnLst>
                <a:cxn ang="0">
                  <a:pos x="304" y="349"/>
                </a:cxn>
                <a:cxn ang="0">
                  <a:pos x="304" y="341"/>
                </a:cxn>
                <a:cxn ang="0">
                  <a:pos x="301" y="321"/>
                </a:cxn>
                <a:cxn ang="0">
                  <a:pos x="298" y="291"/>
                </a:cxn>
                <a:cxn ang="0">
                  <a:pos x="291" y="254"/>
                </a:cxn>
                <a:cxn ang="0">
                  <a:pos x="281" y="213"/>
                </a:cxn>
                <a:cxn ang="0">
                  <a:pos x="269" y="171"/>
                </a:cxn>
                <a:cxn ang="0">
                  <a:pos x="250" y="133"/>
                </a:cxn>
                <a:cxn ang="0">
                  <a:pos x="228" y="99"/>
                </a:cxn>
                <a:cxn ang="0">
                  <a:pos x="226" y="98"/>
                </a:cxn>
                <a:cxn ang="0">
                  <a:pos x="224" y="91"/>
                </a:cxn>
                <a:cxn ang="0">
                  <a:pos x="218" y="84"/>
                </a:cxn>
                <a:cxn ang="0">
                  <a:pos x="210" y="74"/>
                </a:cxn>
                <a:cxn ang="0">
                  <a:pos x="200" y="63"/>
                </a:cxn>
                <a:cxn ang="0">
                  <a:pos x="186" y="52"/>
                </a:cxn>
                <a:cxn ang="0">
                  <a:pos x="170" y="39"/>
                </a:cxn>
                <a:cxn ang="0">
                  <a:pos x="151" y="27"/>
                </a:cxn>
                <a:cxn ang="0">
                  <a:pos x="148" y="25"/>
                </a:cxn>
                <a:cxn ang="0">
                  <a:pos x="136" y="22"/>
                </a:cxn>
                <a:cxn ang="0">
                  <a:pos x="119" y="17"/>
                </a:cxn>
                <a:cxn ang="0">
                  <a:pos x="99" y="10"/>
                </a:cxn>
                <a:cxn ang="0">
                  <a:pos x="75" y="5"/>
                </a:cxn>
                <a:cxn ang="0">
                  <a:pos x="50" y="2"/>
                </a:cxn>
                <a:cxn ang="0">
                  <a:pos x="25" y="0"/>
                </a:cxn>
                <a:cxn ang="0">
                  <a:pos x="1" y="2"/>
                </a:cxn>
                <a:cxn ang="0">
                  <a:pos x="0" y="18"/>
                </a:cxn>
                <a:cxn ang="0">
                  <a:pos x="0" y="57"/>
                </a:cxn>
                <a:cxn ang="0">
                  <a:pos x="5" y="104"/>
                </a:cxn>
                <a:cxn ang="0">
                  <a:pos x="19" y="148"/>
                </a:cxn>
                <a:cxn ang="0">
                  <a:pos x="20" y="150"/>
                </a:cxn>
                <a:cxn ang="0">
                  <a:pos x="24" y="158"/>
                </a:cxn>
                <a:cxn ang="0">
                  <a:pos x="30" y="169"/>
                </a:cxn>
                <a:cxn ang="0">
                  <a:pos x="39" y="184"/>
                </a:cxn>
                <a:cxn ang="0">
                  <a:pos x="53" y="200"/>
                </a:cxn>
                <a:cxn ang="0">
                  <a:pos x="69" y="219"/>
                </a:cxn>
                <a:cxn ang="0">
                  <a:pos x="90" y="239"/>
                </a:cxn>
                <a:cxn ang="0">
                  <a:pos x="116" y="259"/>
                </a:cxn>
                <a:cxn ang="0">
                  <a:pos x="120" y="261"/>
                </a:cxn>
                <a:cxn ang="0">
                  <a:pos x="133" y="268"/>
                </a:cxn>
                <a:cxn ang="0">
                  <a:pos x="151" y="278"/>
                </a:cxn>
                <a:cxn ang="0">
                  <a:pos x="175" y="290"/>
                </a:cxn>
                <a:cxn ang="0">
                  <a:pos x="204" y="305"/>
                </a:cxn>
                <a:cxn ang="0">
                  <a:pos x="235" y="320"/>
                </a:cxn>
                <a:cxn ang="0">
                  <a:pos x="269" y="335"/>
                </a:cxn>
                <a:cxn ang="0">
                  <a:pos x="304" y="349"/>
                </a:cxn>
              </a:cxnLst>
              <a:rect l="0" t="0" r="r" b="b"/>
              <a:pathLst>
                <a:path w="304" h="349">
                  <a:moveTo>
                    <a:pt x="304" y="349"/>
                  </a:moveTo>
                  <a:lnTo>
                    <a:pt x="304" y="341"/>
                  </a:lnTo>
                  <a:lnTo>
                    <a:pt x="301" y="321"/>
                  </a:lnTo>
                  <a:lnTo>
                    <a:pt x="298" y="291"/>
                  </a:lnTo>
                  <a:lnTo>
                    <a:pt x="291" y="254"/>
                  </a:lnTo>
                  <a:lnTo>
                    <a:pt x="281" y="213"/>
                  </a:lnTo>
                  <a:lnTo>
                    <a:pt x="269" y="171"/>
                  </a:lnTo>
                  <a:lnTo>
                    <a:pt x="250" y="133"/>
                  </a:lnTo>
                  <a:lnTo>
                    <a:pt x="228" y="99"/>
                  </a:lnTo>
                  <a:lnTo>
                    <a:pt x="226" y="98"/>
                  </a:lnTo>
                  <a:lnTo>
                    <a:pt x="224" y="91"/>
                  </a:lnTo>
                  <a:lnTo>
                    <a:pt x="218" y="84"/>
                  </a:lnTo>
                  <a:lnTo>
                    <a:pt x="210" y="74"/>
                  </a:lnTo>
                  <a:lnTo>
                    <a:pt x="200" y="63"/>
                  </a:lnTo>
                  <a:lnTo>
                    <a:pt x="186" y="52"/>
                  </a:lnTo>
                  <a:lnTo>
                    <a:pt x="170" y="39"/>
                  </a:lnTo>
                  <a:lnTo>
                    <a:pt x="151" y="27"/>
                  </a:lnTo>
                  <a:lnTo>
                    <a:pt x="148" y="25"/>
                  </a:lnTo>
                  <a:lnTo>
                    <a:pt x="136" y="22"/>
                  </a:lnTo>
                  <a:lnTo>
                    <a:pt x="119" y="17"/>
                  </a:lnTo>
                  <a:lnTo>
                    <a:pt x="99" y="10"/>
                  </a:lnTo>
                  <a:lnTo>
                    <a:pt x="75" y="5"/>
                  </a:lnTo>
                  <a:lnTo>
                    <a:pt x="50" y="2"/>
                  </a:lnTo>
                  <a:lnTo>
                    <a:pt x="25" y="0"/>
                  </a:lnTo>
                  <a:lnTo>
                    <a:pt x="1" y="2"/>
                  </a:lnTo>
                  <a:lnTo>
                    <a:pt x="0" y="18"/>
                  </a:lnTo>
                  <a:lnTo>
                    <a:pt x="0" y="57"/>
                  </a:lnTo>
                  <a:lnTo>
                    <a:pt x="5" y="104"/>
                  </a:lnTo>
                  <a:lnTo>
                    <a:pt x="19" y="148"/>
                  </a:lnTo>
                  <a:lnTo>
                    <a:pt x="20" y="150"/>
                  </a:lnTo>
                  <a:lnTo>
                    <a:pt x="24" y="158"/>
                  </a:lnTo>
                  <a:lnTo>
                    <a:pt x="30" y="169"/>
                  </a:lnTo>
                  <a:lnTo>
                    <a:pt x="39" y="184"/>
                  </a:lnTo>
                  <a:lnTo>
                    <a:pt x="53" y="200"/>
                  </a:lnTo>
                  <a:lnTo>
                    <a:pt x="69" y="219"/>
                  </a:lnTo>
                  <a:lnTo>
                    <a:pt x="90" y="239"/>
                  </a:lnTo>
                  <a:lnTo>
                    <a:pt x="116" y="259"/>
                  </a:lnTo>
                  <a:lnTo>
                    <a:pt x="120" y="261"/>
                  </a:lnTo>
                  <a:lnTo>
                    <a:pt x="133" y="268"/>
                  </a:lnTo>
                  <a:lnTo>
                    <a:pt x="151" y="278"/>
                  </a:lnTo>
                  <a:lnTo>
                    <a:pt x="175" y="290"/>
                  </a:lnTo>
                  <a:lnTo>
                    <a:pt x="204" y="305"/>
                  </a:lnTo>
                  <a:lnTo>
                    <a:pt x="235" y="320"/>
                  </a:lnTo>
                  <a:lnTo>
                    <a:pt x="269" y="335"/>
                  </a:lnTo>
                  <a:lnTo>
                    <a:pt x="304" y="349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28" name="Freeform 136"/>
            <p:cNvSpPr>
              <a:spLocks/>
            </p:cNvSpPr>
            <p:nvPr/>
          </p:nvSpPr>
          <p:spPr bwMode="auto">
            <a:xfrm>
              <a:off x="196" y="2280"/>
              <a:ext cx="663" cy="545"/>
            </a:xfrm>
            <a:custGeom>
              <a:avLst/>
              <a:gdLst/>
              <a:ahLst/>
              <a:cxnLst>
                <a:cxn ang="0">
                  <a:pos x="570" y="45"/>
                </a:cxn>
                <a:cxn ang="0">
                  <a:pos x="563" y="39"/>
                </a:cxn>
                <a:cxn ang="0">
                  <a:pos x="547" y="25"/>
                </a:cxn>
                <a:cxn ang="0">
                  <a:pos x="521" y="10"/>
                </a:cxn>
                <a:cxn ang="0">
                  <a:pos x="490" y="0"/>
                </a:cxn>
                <a:cxn ang="0">
                  <a:pos x="483" y="0"/>
                </a:cxn>
                <a:cxn ang="0">
                  <a:pos x="466" y="0"/>
                </a:cxn>
                <a:cxn ang="0">
                  <a:pos x="441" y="0"/>
                </a:cxn>
                <a:cxn ang="0">
                  <a:pos x="410" y="0"/>
                </a:cxn>
                <a:cxn ang="0">
                  <a:pos x="376" y="2"/>
                </a:cxn>
                <a:cxn ang="0">
                  <a:pos x="341" y="4"/>
                </a:cxn>
                <a:cxn ang="0">
                  <a:pos x="308" y="9"/>
                </a:cxn>
                <a:cxn ang="0">
                  <a:pos x="281" y="14"/>
                </a:cxn>
                <a:cxn ang="0">
                  <a:pos x="265" y="20"/>
                </a:cxn>
                <a:cxn ang="0">
                  <a:pos x="223" y="35"/>
                </a:cxn>
                <a:cxn ang="0">
                  <a:pos x="171" y="55"/>
                </a:cxn>
                <a:cxn ang="0">
                  <a:pos x="121" y="77"/>
                </a:cxn>
                <a:cxn ang="0">
                  <a:pos x="106" y="84"/>
                </a:cxn>
                <a:cxn ang="0">
                  <a:pos x="71" y="102"/>
                </a:cxn>
                <a:cxn ang="0">
                  <a:pos x="30" y="125"/>
                </a:cxn>
                <a:cxn ang="0">
                  <a:pos x="0" y="147"/>
                </a:cxn>
                <a:cxn ang="0">
                  <a:pos x="0" y="152"/>
                </a:cxn>
                <a:cxn ang="0">
                  <a:pos x="3" y="167"/>
                </a:cxn>
                <a:cxn ang="0">
                  <a:pos x="15" y="188"/>
                </a:cxn>
                <a:cxn ang="0">
                  <a:pos x="38" y="213"/>
                </a:cxn>
                <a:cxn ang="0">
                  <a:pos x="50" y="220"/>
                </a:cxn>
                <a:cxn ang="0">
                  <a:pos x="81" y="238"/>
                </a:cxn>
                <a:cxn ang="0">
                  <a:pos x="125" y="255"/>
                </a:cxn>
                <a:cxn ang="0">
                  <a:pos x="173" y="264"/>
                </a:cxn>
                <a:cxn ang="0">
                  <a:pos x="180" y="264"/>
                </a:cxn>
                <a:cxn ang="0">
                  <a:pos x="196" y="264"/>
                </a:cxn>
                <a:cxn ang="0">
                  <a:pos x="222" y="263"/>
                </a:cxn>
                <a:cxn ang="0">
                  <a:pos x="256" y="260"/>
                </a:cxn>
                <a:cxn ang="0">
                  <a:pos x="295" y="258"/>
                </a:cxn>
                <a:cxn ang="0">
                  <a:pos x="338" y="253"/>
                </a:cxn>
                <a:cxn ang="0">
                  <a:pos x="383" y="245"/>
                </a:cxn>
                <a:cxn ang="0">
                  <a:pos x="431" y="237"/>
                </a:cxn>
                <a:cxn ang="0">
                  <a:pos x="426" y="243"/>
                </a:cxn>
                <a:cxn ang="0">
                  <a:pos x="413" y="264"/>
                </a:cxn>
                <a:cxn ang="0">
                  <a:pos x="395" y="306"/>
                </a:cxn>
                <a:cxn ang="0">
                  <a:pos x="375" y="375"/>
                </a:cxn>
                <a:cxn ang="0">
                  <a:pos x="441" y="514"/>
                </a:cxn>
                <a:cxn ang="0">
                  <a:pos x="455" y="510"/>
                </a:cxn>
                <a:cxn ang="0">
                  <a:pos x="491" y="498"/>
                </a:cxn>
                <a:cxn ang="0">
                  <a:pos x="536" y="480"/>
                </a:cxn>
                <a:cxn ang="0">
                  <a:pos x="580" y="459"/>
                </a:cxn>
                <a:cxn ang="0">
                  <a:pos x="663" y="195"/>
                </a:cxn>
                <a:cxn ang="0">
                  <a:pos x="658" y="174"/>
                </a:cxn>
                <a:cxn ang="0">
                  <a:pos x="650" y="133"/>
                </a:cxn>
              </a:cxnLst>
              <a:rect l="0" t="0" r="r" b="b"/>
              <a:pathLst>
                <a:path w="663" h="545">
                  <a:moveTo>
                    <a:pt x="650" y="133"/>
                  </a:moveTo>
                  <a:lnTo>
                    <a:pt x="570" y="45"/>
                  </a:lnTo>
                  <a:lnTo>
                    <a:pt x="568" y="44"/>
                  </a:lnTo>
                  <a:lnTo>
                    <a:pt x="563" y="39"/>
                  </a:lnTo>
                  <a:lnTo>
                    <a:pt x="556" y="33"/>
                  </a:lnTo>
                  <a:lnTo>
                    <a:pt x="547" y="25"/>
                  </a:lnTo>
                  <a:lnTo>
                    <a:pt x="535" y="18"/>
                  </a:lnTo>
                  <a:lnTo>
                    <a:pt x="521" y="10"/>
                  </a:lnTo>
                  <a:lnTo>
                    <a:pt x="506" y="4"/>
                  </a:lnTo>
                  <a:lnTo>
                    <a:pt x="490" y="0"/>
                  </a:lnTo>
                  <a:lnTo>
                    <a:pt x="488" y="0"/>
                  </a:lnTo>
                  <a:lnTo>
                    <a:pt x="483" y="0"/>
                  </a:lnTo>
                  <a:lnTo>
                    <a:pt x="476" y="0"/>
                  </a:lnTo>
                  <a:lnTo>
                    <a:pt x="466" y="0"/>
                  </a:lnTo>
                  <a:lnTo>
                    <a:pt x="455" y="0"/>
                  </a:lnTo>
                  <a:lnTo>
                    <a:pt x="441" y="0"/>
                  </a:lnTo>
                  <a:lnTo>
                    <a:pt x="426" y="0"/>
                  </a:lnTo>
                  <a:lnTo>
                    <a:pt x="410" y="0"/>
                  </a:lnTo>
                  <a:lnTo>
                    <a:pt x="393" y="2"/>
                  </a:lnTo>
                  <a:lnTo>
                    <a:pt x="376" y="2"/>
                  </a:lnTo>
                  <a:lnTo>
                    <a:pt x="358" y="3"/>
                  </a:lnTo>
                  <a:lnTo>
                    <a:pt x="341" y="4"/>
                  </a:lnTo>
                  <a:lnTo>
                    <a:pt x="325" y="7"/>
                  </a:lnTo>
                  <a:lnTo>
                    <a:pt x="308" y="9"/>
                  </a:lnTo>
                  <a:lnTo>
                    <a:pt x="295" y="12"/>
                  </a:lnTo>
                  <a:lnTo>
                    <a:pt x="281" y="14"/>
                  </a:lnTo>
                  <a:lnTo>
                    <a:pt x="276" y="15"/>
                  </a:lnTo>
                  <a:lnTo>
                    <a:pt x="265" y="20"/>
                  </a:lnTo>
                  <a:lnTo>
                    <a:pt x="246" y="27"/>
                  </a:lnTo>
                  <a:lnTo>
                    <a:pt x="223" y="35"/>
                  </a:lnTo>
                  <a:lnTo>
                    <a:pt x="198" y="45"/>
                  </a:lnTo>
                  <a:lnTo>
                    <a:pt x="171" y="55"/>
                  </a:lnTo>
                  <a:lnTo>
                    <a:pt x="145" y="67"/>
                  </a:lnTo>
                  <a:lnTo>
                    <a:pt x="121" y="77"/>
                  </a:lnTo>
                  <a:lnTo>
                    <a:pt x="117" y="79"/>
                  </a:lnTo>
                  <a:lnTo>
                    <a:pt x="106" y="84"/>
                  </a:lnTo>
                  <a:lnTo>
                    <a:pt x="90" y="92"/>
                  </a:lnTo>
                  <a:lnTo>
                    <a:pt x="71" y="102"/>
                  </a:lnTo>
                  <a:lnTo>
                    <a:pt x="50" y="113"/>
                  </a:lnTo>
                  <a:lnTo>
                    <a:pt x="30" y="125"/>
                  </a:lnTo>
                  <a:lnTo>
                    <a:pt x="12" y="137"/>
                  </a:lnTo>
                  <a:lnTo>
                    <a:pt x="0" y="147"/>
                  </a:lnTo>
                  <a:lnTo>
                    <a:pt x="0" y="148"/>
                  </a:lnTo>
                  <a:lnTo>
                    <a:pt x="0" y="152"/>
                  </a:lnTo>
                  <a:lnTo>
                    <a:pt x="1" y="158"/>
                  </a:lnTo>
                  <a:lnTo>
                    <a:pt x="3" y="167"/>
                  </a:lnTo>
                  <a:lnTo>
                    <a:pt x="7" y="177"/>
                  </a:lnTo>
                  <a:lnTo>
                    <a:pt x="15" y="188"/>
                  </a:lnTo>
                  <a:lnTo>
                    <a:pt x="25" y="200"/>
                  </a:lnTo>
                  <a:lnTo>
                    <a:pt x="38" y="213"/>
                  </a:lnTo>
                  <a:lnTo>
                    <a:pt x="41" y="215"/>
                  </a:lnTo>
                  <a:lnTo>
                    <a:pt x="50" y="220"/>
                  </a:lnTo>
                  <a:lnTo>
                    <a:pt x="63" y="228"/>
                  </a:lnTo>
                  <a:lnTo>
                    <a:pt x="81" y="238"/>
                  </a:lnTo>
                  <a:lnTo>
                    <a:pt x="102" y="247"/>
                  </a:lnTo>
                  <a:lnTo>
                    <a:pt x="125" y="255"/>
                  </a:lnTo>
                  <a:lnTo>
                    <a:pt x="148" y="262"/>
                  </a:lnTo>
                  <a:lnTo>
                    <a:pt x="173" y="264"/>
                  </a:lnTo>
                  <a:lnTo>
                    <a:pt x="175" y="264"/>
                  </a:lnTo>
                  <a:lnTo>
                    <a:pt x="180" y="264"/>
                  </a:lnTo>
                  <a:lnTo>
                    <a:pt x="186" y="264"/>
                  </a:lnTo>
                  <a:lnTo>
                    <a:pt x="196" y="264"/>
                  </a:lnTo>
                  <a:lnTo>
                    <a:pt x="208" y="263"/>
                  </a:lnTo>
                  <a:lnTo>
                    <a:pt x="222" y="263"/>
                  </a:lnTo>
                  <a:lnTo>
                    <a:pt x="237" y="262"/>
                  </a:lnTo>
                  <a:lnTo>
                    <a:pt x="256" y="260"/>
                  </a:lnTo>
                  <a:lnTo>
                    <a:pt x="275" y="259"/>
                  </a:lnTo>
                  <a:lnTo>
                    <a:pt x="295" y="258"/>
                  </a:lnTo>
                  <a:lnTo>
                    <a:pt x="316" y="255"/>
                  </a:lnTo>
                  <a:lnTo>
                    <a:pt x="338" y="253"/>
                  </a:lnTo>
                  <a:lnTo>
                    <a:pt x="361" y="249"/>
                  </a:lnTo>
                  <a:lnTo>
                    <a:pt x="383" y="245"/>
                  </a:lnTo>
                  <a:lnTo>
                    <a:pt x="407" y="242"/>
                  </a:lnTo>
                  <a:lnTo>
                    <a:pt x="431" y="237"/>
                  </a:lnTo>
                  <a:lnTo>
                    <a:pt x="430" y="238"/>
                  </a:lnTo>
                  <a:lnTo>
                    <a:pt x="426" y="243"/>
                  </a:lnTo>
                  <a:lnTo>
                    <a:pt x="421" y="252"/>
                  </a:lnTo>
                  <a:lnTo>
                    <a:pt x="413" y="264"/>
                  </a:lnTo>
                  <a:lnTo>
                    <a:pt x="405" y="283"/>
                  </a:lnTo>
                  <a:lnTo>
                    <a:pt x="395" y="306"/>
                  </a:lnTo>
                  <a:lnTo>
                    <a:pt x="385" y="338"/>
                  </a:lnTo>
                  <a:lnTo>
                    <a:pt x="375" y="375"/>
                  </a:lnTo>
                  <a:lnTo>
                    <a:pt x="333" y="545"/>
                  </a:lnTo>
                  <a:lnTo>
                    <a:pt x="441" y="514"/>
                  </a:lnTo>
                  <a:lnTo>
                    <a:pt x="445" y="513"/>
                  </a:lnTo>
                  <a:lnTo>
                    <a:pt x="455" y="510"/>
                  </a:lnTo>
                  <a:lnTo>
                    <a:pt x="471" y="505"/>
                  </a:lnTo>
                  <a:lnTo>
                    <a:pt x="491" y="498"/>
                  </a:lnTo>
                  <a:lnTo>
                    <a:pt x="512" y="490"/>
                  </a:lnTo>
                  <a:lnTo>
                    <a:pt x="536" y="480"/>
                  </a:lnTo>
                  <a:lnTo>
                    <a:pt x="558" y="470"/>
                  </a:lnTo>
                  <a:lnTo>
                    <a:pt x="580" y="459"/>
                  </a:lnTo>
                  <a:lnTo>
                    <a:pt x="660" y="406"/>
                  </a:lnTo>
                  <a:lnTo>
                    <a:pt x="663" y="195"/>
                  </a:lnTo>
                  <a:lnTo>
                    <a:pt x="662" y="189"/>
                  </a:lnTo>
                  <a:lnTo>
                    <a:pt x="658" y="174"/>
                  </a:lnTo>
                  <a:lnTo>
                    <a:pt x="655" y="154"/>
                  </a:lnTo>
                  <a:lnTo>
                    <a:pt x="650" y="133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29" name="Freeform 137"/>
            <p:cNvSpPr>
              <a:spLocks/>
            </p:cNvSpPr>
            <p:nvPr/>
          </p:nvSpPr>
          <p:spPr bwMode="auto">
            <a:xfrm>
              <a:off x="661" y="2468"/>
              <a:ext cx="136" cy="45"/>
            </a:xfrm>
            <a:custGeom>
              <a:avLst/>
              <a:gdLst/>
              <a:ahLst/>
              <a:cxnLst>
                <a:cxn ang="0">
                  <a:pos x="0" y="42"/>
                </a:cxn>
                <a:cxn ang="0">
                  <a:pos x="136" y="0"/>
                </a:cxn>
                <a:cxn ang="0">
                  <a:pos x="105" y="45"/>
                </a:cxn>
                <a:cxn ang="0">
                  <a:pos x="0" y="42"/>
                </a:cxn>
              </a:cxnLst>
              <a:rect l="0" t="0" r="r" b="b"/>
              <a:pathLst>
                <a:path w="136" h="45">
                  <a:moveTo>
                    <a:pt x="0" y="42"/>
                  </a:moveTo>
                  <a:lnTo>
                    <a:pt x="136" y="0"/>
                  </a:lnTo>
                  <a:lnTo>
                    <a:pt x="105" y="45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30" name="Freeform 138"/>
            <p:cNvSpPr>
              <a:spLocks/>
            </p:cNvSpPr>
            <p:nvPr/>
          </p:nvSpPr>
          <p:spPr bwMode="auto">
            <a:xfrm>
              <a:off x="789" y="2482"/>
              <a:ext cx="49" cy="156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32" y="0"/>
                </a:cxn>
                <a:cxn ang="0">
                  <a:pos x="49" y="156"/>
                </a:cxn>
                <a:cxn ang="0">
                  <a:pos x="48" y="152"/>
                </a:cxn>
                <a:cxn ang="0">
                  <a:pos x="45" y="141"/>
                </a:cxn>
                <a:cxn ang="0">
                  <a:pos x="40" y="124"/>
                </a:cxn>
                <a:cxn ang="0">
                  <a:pos x="34" y="106"/>
                </a:cxn>
                <a:cxn ang="0">
                  <a:pos x="27" y="86"/>
                </a:cxn>
                <a:cxn ang="0">
                  <a:pos x="19" y="68"/>
                </a:cxn>
                <a:cxn ang="0">
                  <a:pos x="9" y="53"/>
                </a:cxn>
                <a:cxn ang="0">
                  <a:pos x="0" y="45"/>
                </a:cxn>
              </a:cxnLst>
              <a:rect l="0" t="0" r="r" b="b"/>
              <a:pathLst>
                <a:path w="49" h="156">
                  <a:moveTo>
                    <a:pt x="0" y="45"/>
                  </a:moveTo>
                  <a:lnTo>
                    <a:pt x="32" y="0"/>
                  </a:lnTo>
                  <a:lnTo>
                    <a:pt x="49" y="156"/>
                  </a:lnTo>
                  <a:lnTo>
                    <a:pt x="48" y="152"/>
                  </a:lnTo>
                  <a:lnTo>
                    <a:pt x="45" y="141"/>
                  </a:lnTo>
                  <a:lnTo>
                    <a:pt x="40" y="124"/>
                  </a:lnTo>
                  <a:lnTo>
                    <a:pt x="34" y="106"/>
                  </a:lnTo>
                  <a:lnTo>
                    <a:pt x="27" y="86"/>
                  </a:lnTo>
                  <a:lnTo>
                    <a:pt x="19" y="68"/>
                  </a:lnTo>
                  <a:lnTo>
                    <a:pt x="9" y="53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31" name="Freeform 139"/>
            <p:cNvSpPr>
              <a:spLocks/>
            </p:cNvSpPr>
            <p:nvPr/>
          </p:nvSpPr>
          <p:spPr bwMode="auto">
            <a:xfrm>
              <a:off x="699" y="2544"/>
              <a:ext cx="104" cy="181"/>
            </a:xfrm>
            <a:custGeom>
              <a:avLst/>
              <a:gdLst/>
              <a:ahLst/>
              <a:cxnLst>
                <a:cxn ang="0">
                  <a:pos x="67" y="0"/>
                </a:cxn>
                <a:cxn ang="0">
                  <a:pos x="104" y="132"/>
                </a:cxn>
                <a:cxn ang="0">
                  <a:pos x="32" y="181"/>
                </a:cxn>
                <a:cxn ang="0">
                  <a:pos x="0" y="62"/>
                </a:cxn>
                <a:cxn ang="0">
                  <a:pos x="67" y="0"/>
                </a:cxn>
              </a:cxnLst>
              <a:rect l="0" t="0" r="r" b="b"/>
              <a:pathLst>
                <a:path w="104" h="181">
                  <a:moveTo>
                    <a:pt x="67" y="0"/>
                  </a:moveTo>
                  <a:lnTo>
                    <a:pt x="104" y="132"/>
                  </a:lnTo>
                  <a:lnTo>
                    <a:pt x="32" y="181"/>
                  </a:lnTo>
                  <a:lnTo>
                    <a:pt x="0" y="62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32" name="Freeform 140"/>
            <p:cNvSpPr>
              <a:spLocks/>
            </p:cNvSpPr>
            <p:nvPr/>
          </p:nvSpPr>
          <p:spPr bwMode="auto">
            <a:xfrm>
              <a:off x="602" y="2544"/>
              <a:ext cx="115" cy="74"/>
            </a:xfrm>
            <a:custGeom>
              <a:avLst/>
              <a:gdLst/>
              <a:ahLst/>
              <a:cxnLst>
                <a:cxn ang="0">
                  <a:pos x="115" y="4"/>
                </a:cxn>
                <a:cxn ang="0">
                  <a:pos x="39" y="0"/>
                </a:cxn>
                <a:cxn ang="0">
                  <a:pos x="37" y="2"/>
                </a:cxn>
                <a:cxn ang="0">
                  <a:pos x="32" y="7"/>
                </a:cxn>
                <a:cxn ang="0">
                  <a:pos x="26" y="16"/>
                </a:cxn>
                <a:cxn ang="0">
                  <a:pos x="20" y="26"/>
                </a:cxn>
                <a:cxn ang="0">
                  <a:pos x="12" y="37"/>
                </a:cxn>
                <a:cxn ang="0">
                  <a:pos x="6" y="50"/>
                </a:cxn>
                <a:cxn ang="0">
                  <a:pos x="1" y="62"/>
                </a:cxn>
                <a:cxn ang="0">
                  <a:pos x="0" y="74"/>
                </a:cxn>
                <a:cxn ang="0">
                  <a:pos x="84" y="52"/>
                </a:cxn>
                <a:cxn ang="0">
                  <a:pos x="115" y="4"/>
                </a:cxn>
              </a:cxnLst>
              <a:rect l="0" t="0" r="r" b="b"/>
              <a:pathLst>
                <a:path w="115" h="74">
                  <a:moveTo>
                    <a:pt x="115" y="4"/>
                  </a:moveTo>
                  <a:lnTo>
                    <a:pt x="39" y="0"/>
                  </a:lnTo>
                  <a:lnTo>
                    <a:pt x="37" y="2"/>
                  </a:lnTo>
                  <a:lnTo>
                    <a:pt x="32" y="7"/>
                  </a:lnTo>
                  <a:lnTo>
                    <a:pt x="26" y="16"/>
                  </a:lnTo>
                  <a:lnTo>
                    <a:pt x="20" y="26"/>
                  </a:lnTo>
                  <a:lnTo>
                    <a:pt x="12" y="37"/>
                  </a:lnTo>
                  <a:lnTo>
                    <a:pt x="6" y="50"/>
                  </a:lnTo>
                  <a:lnTo>
                    <a:pt x="1" y="62"/>
                  </a:lnTo>
                  <a:lnTo>
                    <a:pt x="0" y="74"/>
                  </a:lnTo>
                  <a:lnTo>
                    <a:pt x="84" y="52"/>
                  </a:lnTo>
                  <a:lnTo>
                    <a:pt x="115" y="4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33" name="Freeform 141"/>
            <p:cNvSpPr>
              <a:spLocks/>
            </p:cNvSpPr>
            <p:nvPr/>
          </p:nvSpPr>
          <p:spPr bwMode="auto">
            <a:xfrm>
              <a:off x="574" y="2635"/>
              <a:ext cx="77" cy="110"/>
            </a:xfrm>
            <a:custGeom>
              <a:avLst/>
              <a:gdLst/>
              <a:ahLst/>
              <a:cxnLst>
                <a:cxn ang="0">
                  <a:pos x="24" y="10"/>
                </a:cxn>
                <a:cxn ang="0">
                  <a:pos x="77" y="0"/>
                </a:cxn>
                <a:cxn ang="0">
                  <a:pos x="0" y="110"/>
                </a:cxn>
                <a:cxn ang="0">
                  <a:pos x="24" y="10"/>
                </a:cxn>
              </a:cxnLst>
              <a:rect l="0" t="0" r="r" b="b"/>
              <a:pathLst>
                <a:path w="77" h="110">
                  <a:moveTo>
                    <a:pt x="24" y="10"/>
                  </a:moveTo>
                  <a:lnTo>
                    <a:pt x="77" y="0"/>
                  </a:lnTo>
                  <a:lnTo>
                    <a:pt x="0" y="110"/>
                  </a:lnTo>
                  <a:lnTo>
                    <a:pt x="24" y="1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34" name="Freeform 142"/>
            <p:cNvSpPr>
              <a:spLocks/>
            </p:cNvSpPr>
            <p:nvPr/>
          </p:nvSpPr>
          <p:spPr bwMode="auto">
            <a:xfrm>
              <a:off x="571" y="2731"/>
              <a:ext cx="56" cy="53"/>
            </a:xfrm>
            <a:custGeom>
              <a:avLst/>
              <a:gdLst/>
              <a:ahLst/>
              <a:cxnLst>
                <a:cxn ang="0">
                  <a:pos x="0" y="53"/>
                </a:cxn>
                <a:cxn ang="0">
                  <a:pos x="38" y="0"/>
                </a:cxn>
                <a:cxn ang="0">
                  <a:pos x="56" y="39"/>
                </a:cxn>
                <a:cxn ang="0">
                  <a:pos x="0" y="53"/>
                </a:cxn>
              </a:cxnLst>
              <a:rect l="0" t="0" r="r" b="b"/>
              <a:pathLst>
                <a:path w="56" h="53">
                  <a:moveTo>
                    <a:pt x="0" y="53"/>
                  </a:moveTo>
                  <a:lnTo>
                    <a:pt x="38" y="0"/>
                  </a:lnTo>
                  <a:lnTo>
                    <a:pt x="56" y="39"/>
                  </a:lnTo>
                  <a:lnTo>
                    <a:pt x="0" y="53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35" name="Freeform 143"/>
            <p:cNvSpPr>
              <a:spLocks/>
            </p:cNvSpPr>
            <p:nvPr/>
          </p:nvSpPr>
          <p:spPr bwMode="auto">
            <a:xfrm>
              <a:off x="633" y="2645"/>
              <a:ext cx="63" cy="115"/>
            </a:xfrm>
            <a:custGeom>
              <a:avLst/>
              <a:gdLst/>
              <a:ahLst/>
              <a:cxnLst>
                <a:cxn ang="0">
                  <a:pos x="0" y="55"/>
                </a:cxn>
                <a:cxn ang="0">
                  <a:pos x="39" y="0"/>
                </a:cxn>
                <a:cxn ang="0">
                  <a:pos x="63" y="100"/>
                </a:cxn>
                <a:cxn ang="0">
                  <a:pos x="18" y="115"/>
                </a:cxn>
                <a:cxn ang="0">
                  <a:pos x="0" y="55"/>
                </a:cxn>
              </a:cxnLst>
              <a:rect l="0" t="0" r="r" b="b"/>
              <a:pathLst>
                <a:path w="63" h="115">
                  <a:moveTo>
                    <a:pt x="0" y="55"/>
                  </a:moveTo>
                  <a:lnTo>
                    <a:pt x="39" y="0"/>
                  </a:lnTo>
                  <a:lnTo>
                    <a:pt x="63" y="100"/>
                  </a:lnTo>
                  <a:lnTo>
                    <a:pt x="18" y="115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36" name="Freeform 144"/>
            <p:cNvSpPr>
              <a:spLocks/>
            </p:cNvSpPr>
            <p:nvPr/>
          </p:nvSpPr>
          <p:spPr bwMode="auto">
            <a:xfrm>
              <a:off x="629" y="2417"/>
              <a:ext cx="170" cy="65"/>
            </a:xfrm>
            <a:custGeom>
              <a:avLst/>
              <a:gdLst/>
              <a:ahLst/>
              <a:cxnLst>
                <a:cxn ang="0">
                  <a:pos x="25" y="0"/>
                </a:cxn>
                <a:cxn ang="0">
                  <a:pos x="170" y="0"/>
                </a:cxn>
                <a:cxn ang="0">
                  <a:pos x="167" y="2"/>
                </a:cxn>
                <a:cxn ang="0">
                  <a:pos x="157" y="8"/>
                </a:cxn>
                <a:cxn ang="0">
                  <a:pos x="139" y="17"/>
                </a:cxn>
                <a:cxn ang="0">
                  <a:pos x="118" y="28"/>
                </a:cxn>
                <a:cxn ang="0">
                  <a:pos x="93" y="40"/>
                </a:cxn>
                <a:cxn ang="0">
                  <a:pos x="64" y="50"/>
                </a:cxn>
                <a:cxn ang="0">
                  <a:pos x="33" y="58"/>
                </a:cxn>
                <a:cxn ang="0">
                  <a:pos x="0" y="65"/>
                </a:cxn>
                <a:cxn ang="0">
                  <a:pos x="25" y="0"/>
                </a:cxn>
              </a:cxnLst>
              <a:rect l="0" t="0" r="r" b="b"/>
              <a:pathLst>
                <a:path w="170" h="65">
                  <a:moveTo>
                    <a:pt x="25" y="0"/>
                  </a:moveTo>
                  <a:lnTo>
                    <a:pt x="170" y="0"/>
                  </a:lnTo>
                  <a:lnTo>
                    <a:pt x="167" y="2"/>
                  </a:lnTo>
                  <a:lnTo>
                    <a:pt x="157" y="8"/>
                  </a:lnTo>
                  <a:lnTo>
                    <a:pt x="139" y="17"/>
                  </a:lnTo>
                  <a:lnTo>
                    <a:pt x="118" y="28"/>
                  </a:lnTo>
                  <a:lnTo>
                    <a:pt x="93" y="40"/>
                  </a:lnTo>
                  <a:lnTo>
                    <a:pt x="64" y="50"/>
                  </a:lnTo>
                  <a:lnTo>
                    <a:pt x="33" y="58"/>
                  </a:lnTo>
                  <a:lnTo>
                    <a:pt x="0" y="65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37" name="Freeform 145"/>
            <p:cNvSpPr>
              <a:spLocks/>
            </p:cNvSpPr>
            <p:nvPr/>
          </p:nvSpPr>
          <p:spPr bwMode="auto">
            <a:xfrm>
              <a:off x="418" y="2417"/>
              <a:ext cx="209" cy="100"/>
            </a:xfrm>
            <a:custGeom>
              <a:avLst/>
              <a:gdLst/>
              <a:ahLst/>
              <a:cxnLst>
                <a:cxn ang="0">
                  <a:pos x="209" y="0"/>
                </a:cxn>
                <a:cxn ang="0">
                  <a:pos x="149" y="78"/>
                </a:cxn>
                <a:cxn ang="0">
                  <a:pos x="145" y="80"/>
                </a:cxn>
                <a:cxn ang="0">
                  <a:pos x="136" y="82"/>
                </a:cxn>
                <a:cxn ang="0">
                  <a:pos x="121" y="86"/>
                </a:cxn>
                <a:cxn ang="0">
                  <a:pos x="101" y="91"/>
                </a:cxn>
                <a:cxn ang="0">
                  <a:pos x="79" y="95"/>
                </a:cxn>
                <a:cxn ang="0">
                  <a:pos x="54" y="98"/>
                </a:cxn>
                <a:cxn ang="0">
                  <a:pos x="28" y="100"/>
                </a:cxn>
                <a:cxn ang="0">
                  <a:pos x="0" y="100"/>
                </a:cxn>
                <a:cxn ang="0">
                  <a:pos x="84" y="0"/>
                </a:cxn>
                <a:cxn ang="0">
                  <a:pos x="209" y="0"/>
                </a:cxn>
              </a:cxnLst>
              <a:rect l="0" t="0" r="r" b="b"/>
              <a:pathLst>
                <a:path w="209" h="100">
                  <a:moveTo>
                    <a:pt x="209" y="0"/>
                  </a:moveTo>
                  <a:lnTo>
                    <a:pt x="149" y="78"/>
                  </a:lnTo>
                  <a:lnTo>
                    <a:pt x="145" y="80"/>
                  </a:lnTo>
                  <a:lnTo>
                    <a:pt x="136" y="82"/>
                  </a:lnTo>
                  <a:lnTo>
                    <a:pt x="121" y="86"/>
                  </a:lnTo>
                  <a:lnTo>
                    <a:pt x="101" y="91"/>
                  </a:lnTo>
                  <a:lnTo>
                    <a:pt x="79" y="95"/>
                  </a:lnTo>
                  <a:lnTo>
                    <a:pt x="54" y="98"/>
                  </a:lnTo>
                  <a:lnTo>
                    <a:pt x="28" y="100"/>
                  </a:lnTo>
                  <a:lnTo>
                    <a:pt x="0" y="100"/>
                  </a:lnTo>
                  <a:lnTo>
                    <a:pt x="84" y="0"/>
                  </a:lnTo>
                  <a:lnTo>
                    <a:pt x="209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38" name="Freeform 146"/>
            <p:cNvSpPr>
              <a:spLocks/>
            </p:cNvSpPr>
            <p:nvPr/>
          </p:nvSpPr>
          <p:spPr bwMode="auto">
            <a:xfrm>
              <a:off x="317" y="2433"/>
              <a:ext cx="115" cy="84"/>
            </a:xfrm>
            <a:custGeom>
              <a:avLst/>
              <a:gdLst/>
              <a:ahLst/>
              <a:cxnLst>
                <a:cxn ang="0">
                  <a:pos x="115" y="0"/>
                </a:cxn>
                <a:cxn ang="0">
                  <a:pos x="70" y="80"/>
                </a:cxn>
                <a:cxn ang="0">
                  <a:pos x="67" y="81"/>
                </a:cxn>
                <a:cxn ang="0">
                  <a:pos x="62" y="82"/>
                </a:cxn>
                <a:cxn ang="0">
                  <a:pos x="54" y="84"/>
                </a:cxn>
                <a:cxn ang="0">
                  <a:pos x="42" y="84"/>
                </a:cxn>
                <a:cxn ang="0">
                  <a:pos x="31" y="82"/>
                </a:cxn>
                <a:cxn ang="0">
                  <a:pos x="20" y="79"/>
                </a:cxn>
                <a:cxn ang="0">
                  <a:pos x="9" y="71"/>
                </a:cxn>
                <a:cxn ang="0">
                  <a:pos x="0" y="60"/>
                </a:cxn>
                <a:cxn ang="0">
                  <a:pos x="1" y="57"/>
                </a:cxn>
                <a:cxn ang="0">
                  <a:pos x="2" y="52"/>
                </a:cxn>
                <a:cxn ang="0">
                  <a:pos x="6" y="45"/>
                </a:cxn>
                <a:cxn ang="0">
                  <a:pos x="10" y="36"/>
                </a:cxn>
                <a:cxn ang="0">
                  <a:pos x="16" y="26"/>
                </a:cxn>
                <a:cxn ang="0">
                  <a:pos x="24" y="17"/>
                </a:cxn>
                <a:cxn ang="0">
                  <a:pos x="32" y="10"/>
                </a:cxn>
                <a:cxn ang="0">
                  <a:pos x="42" y="4"/>
                </a:cxn>
                <a:cxn ang="0">
                  <a:pos x="115" y="0"/>
                </a:cxn>
              </a:cxnLst>
              <a:rect l="0" t="0" r="r" b="b"/>
              <a:pathLst>
                <a:path w="115" h="84">
                  <a:moveTo>
                    <a:pt x="115" y="0"/>
                  </a:moveTo>
                  <a:lnTo>
                    <a:pt x="70" y="80"/>
                  </a:lnTo>
                  <a:lnTo>
                    <a:pt x="67" y="81"/>
                  </a:lnTo>
                  <a:lnTo>
                    <a:pt x="62" y="82"/>
                  </a:lnTo>
                  <a:lnTo>
                    <a:pt x="54" y="84"/>
                  </a:lnTo>
                  <a:lnTo>
                    <a:pt x="42" y="84"/>
                  </a:lnTo>
                  <a:lnTo>
                    <a:pt x="31" y="82"/>
                  </a:lnTo>
                  <a:lnTo>
                    <a:pt x="20" y="79"/>
                  </a:lnTo>
                  <a:lnTo>
                    <a:pt x="9" y="71"/>
                  </a:lnTo>
                  <a:lnTo>
                    <a:pt x="0" y="60"/>
                  </a:lnTo>
                  <a:lnTo>
                    <a:pt x="1" y="57"/>
                  </a:lnTo>
                  <a:lnTo>
                    <a:pt x="2" y="52"/>
                  </a:lnTo>
                  <a:lnTo>
                    <a:pt x="6" y="45"/>
                  </a:lnTo>
                  <a:lnTo>
                    <a:pt x="10" y="36"/>
                  </a:lnTo>
                  <a:lnTo>
                    <a:pt x="16" y="26"/>
                  </a:lnTo>
                  <a:lnTo>
                    <a:pt x="24" y="17"/>
                  </a:lnTo>
                  <a:lnTo>
                    <a:pt x="32" y="10"/>
                  </a:lnTo>
                  <a:lnTo>
                    <a:pt x="42" y="4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39" name="Freeform 147"/>
            <p:cNvSpPr>
              <a:spLocks/>
            </p:cNvSpPr>
            <p:nvPr/>
          </p:nvSpPr>
          <p:spPr bwMode="auto">
            <a:xfrm>
              <a:off x="244" y="2433"/>
              <a:ext cx="59" cy="56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0" y="15"/>
                </a:cxn>
                <a:cxn ang="0">
                  <a:pos x="2" y="16"/>
                </a:cxn>
                <a:cxn ang="0">
                  <a:pos x="3" y="20"/>
                </a:cxn>
                <a:cxn ang="0">
                  <a:pos x="7" y="25"/>
                </a:cxn>
                <a:cxn ang="0">
                  <a:pos x="10" y="31"/>
                </a:cxn>
                <a:cxn ang="0">
                  <a:pos x="15" y="39"/>
                </a:cxn>
                <a:cxn ang="0">
                  <a:pos x="23" y="45"/>
                </a:cxn>
                <a:cxn ang="0">
                  <a:pos x="30" y="51"/>
                </a:cxn>
                <a:cxn ang="0">
                  <a:pos x="39" y="56"/>
                </a:cxn>
                <a:cxn ang="0">
                  <a:pos x="43" y="55"/>
                </a:cxn>
                <a:cxn ang="0">
                  <a:pos x="49" y="47"/>
                </a:cxn>
                <a:cxn ang="0">
                  <a:pos x="57" y="31"/>
                </a:cxn>
                <a:cxn ang="0">
                  <a:pos x="59" y="0"/>
                </a:cxn>
              </a:cxnLst>
              <a:rect l="0" t="0" r="r" b="b"/>
              <a:pathLst>
                <a:path w="59" h="56">
                  <a:moveTo>
                    <a:pt x="59" y="0"/>
                  </a:moveTo>
                  <a:lnTo>
                    <a:pt x="0" y="15"/>
                  </a:lnTo>
                  <a:lnTo>
                    <a:pt x="2" y="16"/>
                  </a:lnTo>
                  <a:lnTo>
                    <a:pt x="3" y="20"/>
                  </a:lnTo>
                  <a:lnTo>
                    <a:pt x="7" y="25"/>
                  </a:lnTo>
                  <a:lnTo>
                    <a:pt x="10" y="31"/>
                  </a:lnTo>
                  <a:lnTo>
                    <a:pt x="15" y="39"/>
                  </a:lnTo>
                  <a:lnTo>
                    <a:pt x="23" y="45"/>
                  </a:lnTo>
                  <a:lnTo>
                    <a:pt x="30" y="51"/>
                  </a:lnTo>
                  <a:lnTo>
                    <a:pt x="39" y="56"/>
                  </a:lnTo>
                  <a:lnTo>
                    <a:pt x="43" y="55"/>
                  </a:lnTo>
                  <a:lnTo>
                    <a:pt x="49" y="47"/>
                  </a:lnTo>
                  <a:lnTo>
                    <a:pt x="57" y="31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40" name="Freeform 148"/>
            <p:cNvSpPr>
              <a:spLocks/>
            </p:cNvSpPr>
            <p:nvPr/>
          </p:nvSpPr>
          <p:spPr bwMode="auto">
            <a:xfrm>
              <a:off x="252" y="2388"/>
              <a:ext cx="55" cy="21"/>
            </a:xfrm>
            <a:custGeom>
              <a:avLst/>
              <a:gdLst/>
              <a:ahLst/>
              <a:cxnLst>
                <a:cxn ang="0">
                  <a:pos x="0" y="21"/>
                </a:cxn>
                <a:cxn ang="0">
                  <a:pos x="51" y="0"/>
                </a:cxn>
                <a:cxn ang="0">
                  <a:pos x="55" y="14"/>
                </a:cxn>
                <a:cxn ang="0">
                  <a:pos x="0" y="21"/>
                </a:cxn>
              </a:cxnLst>
              <a:rect l="0" t="0" r="r" b="b"/>
              <a:pathLst>
                <a:path w="55" h="21">
                  <a:moveTo>
                    <a:pt x="0" y="21"/>
                  </a:moveTo>
                  <a:lnTo>
                    <a:pt x="51" y="0"/>
                  </a:lnTo>
                  <a:lnTo>
                    <a:pt x="55" y="14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41" name="Freeform 149"/>
            <p:cNvSpPr>
              <a:spLocks/>
            </p:cNvSpPr>
            <p:nvPr/>
          </p:nvSpPr>
          <p:spPr bwMode="auto">
            <a:xfrm>
              <a:off x="348" y="2343"/>
              <a:ext cx="105" cy="52"/>
            </a:xfrm>
            <a:custGeom>
              <a:avLst/>
              <a:gdLst/>
              <a:ahLst/>
              <a:cxnLst>
                <a:cxn ang="0">
                  <a:pos x="0" y="52"/>
                </a:cxn>
                <a:cxn ang="0">
                  <a:pos x="0" y="25"/>
                </a:cxn>
                <a:cxn ang="0">
                  <a:pos x="1" y="25"/>
                </a:cxn>
                <a:cxn ang="0">
                  <a:pos x="6" y="22"/>
                </a:cxn>
                <a:cxn ang="0">
                  <a:pos x="14" y="20"/>
                </a:cxn>
                <a:cxn ang="0">
                  <a:pos x="23" y="16"/>
                </a:cxn>
                <a:cxn ang="0">
                  <a:pos x="33" y="12"/>
                </a:cxn>
                <a:cxn ang="0">
                  <a:pos x="43" y="9"/>
                </a:cxn>
                <a:cxn ang="0">
                  <a:pos x="53" y="4"/>
                </a:cxn>
                <a:cxn ang="0">
                  <a:pos x="63" y="0"/>
                </a:cxn>
                <a:cxn ang="0">
                  <a:pos x="105" y="52"/>
                </a:cxn>
                <a:cxn ang="0">
                  <a:pos x="0" y="52"/>
                </a:cxn>
              </a:cxnLst>
              <a:rect l="0" t="0" r="r" b="b"/>
              <a:pathLst>
                <a:path w="105" h="52">
                  <a:moveTo>
                    <a:pt x="0" y="52"/>
                  </a:moveTo>
                  <a:lnTo>
                    <a:pt x="0" y="25"/>
                  </a:lnTo>
                  <a:lnTo>
                    <a:pt x="1" y="25"/>
                  </a:lnTo>
                  <a:lnTo>
                    <a:pt x="6" y="22"/>
                  </a:lnTo>
                  <a:lnTo>
                    <a:pt x="14" y="20"/>
                  </a:lnTo>
                  <a:lnTo>
                    <a:pt x="23" y="16"/>
                  </a:lnTo>
                  <a:lnTo>
                    <a:pt x="33" y="12"/>
                  </a:lnTo>
                  <a:lnTo>
                    <a:pt x="43" y="9"/>
                  </a:lnTo>
                  <a:lnTo>
                    <a:pt x="53" y="4"/>
                  </a:lnTo>
                  <a:lnTo>
                    <a:pt x="63" y="0"/>
                  </a:lnTo>
                  <a:lnTo>
                    <a:pt x="105" y="5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42" name="Freeform 150"/>
            <p:cNvSpPr>
              <a:spLocks/>
            </p:cNvSpPr>
            <p:nvPr/>
          </p:nvSpPr>
          <p:spPr bwMode="auto">
            <a:xfrm>
              <a:off x="442" y="2308"/>
              <a:ext cx="187" cy="84"/>
            </a:xfrm>
            <a:custGeom>
              <a:avLst/>
              <a:gdLst/>
              <a:ahLst/>
              <a:cxnLst>
                <a:cxn ang="0">
                  <a:pos x="74" y="80"/>
                </a:cxn>
                <a:cxn ang="0">
                  <a:pos x="0" y="29"/>
                </a:cxn>
                <a:cxn ang="0">
                  <a:pos x="1" y="27"/>
                </a:cxn>
                <a:cxn ang="0">
                  <a:pos x="7" y="25"/>
                </a:cxn>
                <a:cxn ang="0">
                  <a:pos x="15" y="21"/>
                </a:cxn>
                <a:cxn ang="0">
                  <a:pos x="27" y="16"/>
                </a:cxn>
                <a:cxn ang="0">
                  <a:pos x="41" y="11"/>
                </a:cxn>
                <a:cxn ang="0">
                  <a:pos x="59" y="6"/>
                </a:cxn>
                <a:cxn ang="0">
                  <a:pos x="79" y="2"/>
                </a:cxn>
                <a:cxn ang="0">
                  <a:pos x="101" y="0"/>
                </a:cxn>
                <a:cxn ang="0">
                  <a:pos x="187" y="84"/>
                </a:cxn>
                <a:cxn ang="0">
                  <a:pos x="74" y="80"/>
                </a:cxn>
              </a:cxnLst>
              <a:rect l="0" t="0" r="r" b="b"/>
              <a:pathLst>
                <a:path w="187" h="84">
                  <a:moveTo>
                    <a:pt x="74" y="80"/>
                  </a:moveTo>
                  <a:lnTo>
                    <a:pt x="0" y="29"/>
                  </a:lnTo>
                  <a:lnTo>
                    <a:pt x="1" y="27"/>
                  </a:lnTo>
                  <a:lnTo>
                    <a:pt x="7" y="25"/>
                  </a:lnTo>
                  <a:lnTo>
                    <a:pt x="15" y="21"/>
                  </a:lnTo>
                  <a:lnTo>
                    <a:pt x="27" y="16"/>
                  </a:lnTo>
                  <a:lnTo>
                    <a:pt x="41" y="11"/>
                  </a:lnTo>
                  <a:lnTo>
                    <a:pt x="59" y="6"/>
                  </a:lnTo>
                  <a:lnTo>
                    <a:pt x="79" y="2"/>
                  </a:lnTo>
                  <a:lnTo>
                    <a:pt x="101" y="0"/>
                  </a:lnTo>
                  <a:lnTo>
                    <a:pt x="187" y="84"/>
                  </a:lnTo>
                  <a:lnTo>
                    <a:pt x="74" y="8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43" name="Freeform 151"/>
            <p:cNvSpPr>
              <a:spLocks/>
            </p:cNvSpPr>
            <p:nvPr/>
          </p:nvSpPr>
          <p:spPr bwMode="auto">
            <a:xfrm>
              <a:off x="598" y="2303"/>
              <a:ext cx="185" cy="8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2"/>
                </a:cxn>
                <a:cxn ang="0">
                  <a:pos x="11" y="1"/>
                </a:cxn>
                <a:cxn ang="0">
                  <a:pos x="23" y="1"/>
                </a:cxn>
                <a:cxn ang="0">
                  <a:pos x="38" y="0"/>
                </a:cxn>
                <a:cxn ang="0">
                  <a:pos x="55" y="1"/>
                </a:cxn>
                <a:cxn ang="0">
                  <a:pos x="73" y="2"/>
                </a:cxn>
                <a:cxn ang="0">
                  <a:pos x="89" y="5"/>
                </a:cxn>
                <a:cxn ang="0">
                  <a:pos x="105" y="9"/>
                </a:cxn>
                <a:cxn ang="0">
                  <a:pos x="108" y="10"/>
                </a:cxn>
                <a:cxn ang="0">
                  <a:pos x="113" y="12"/>
                </a:cxn>
                <a:cxn ang="0">
                  <a:pos x="123" y="17"/>
                </a:cxn>
                <a:cxn ang="0">
                  <a:pos x="134" y="25"/>
                </a:cxn>
                <a:cxn ang="0">
                  <a:pos x="146" y="36"/>
                </a:cxn>
                <a:cxn ang="0">
                  <a:pos x="159" y="50"/>
                </a:cxn>
                <a:cxn ang="0">
                  <a:pos x="173" y="67"/>
                </a:cxn>
                <a:cxn ang="0">
                  <a:pos x="185" y="89"/>
                </a:cxn>
                <a:cxn ang="0">
                  <a:pos x="80" y="89"/>
                </a:cxn>
                <a:cxn ang="0">
                  <a:pos x="0" y="2"/>
                </a:cxn>
              </a:cxnLst>
              <a:rect l="0" t="0" r="r" b="b"/>
              <a:pathLst>
                <a:path w="185" h="89">
                  <a:moveTo>
                    <a:pt x="0" y="2"/>
                  </a:moveTo>
                  <a:lnTo>
                    <a:pt x="3" y="2"/>
                  </a:lnTo>
                  <a:lnTo>
                    <a:pt x="11" y="1"/>
                  </a:lnTo>
                  <a:lnTo>
                    <a:pt x="23" y="1"/>
                  </a:lnTo>
                  <a:lnTo>
                    <a:pt x="38" y="0"/>
                  </a:lnTo>
                  <a:lnTo>
                    <a:pt x="55" y="1"/>
                  </a:lnTo>
                  <a:lnTo>
                    <a:pt x="73" y="2"/>
                  </a:lnTo>
                  <a:lnTo>
                    <a:pt x="89" y="5"/>
                  </a:lnTo>
                  <a:lnTo>
                    <a:pt x="105" y="9"/>
                  </a:lnTo>
                  <a:lnTo>
                    <a:pt x="108" y="10"/>
                  </a:lnTo>
                  <a:lnTo>
                    <a:pt x="113" y="12"/>
                  </a:lnTo>
                  <a:lnTo>
                    <a:pt x="123" y="17"/>
                  </a:lnTo>
                  <a:lnTo>
                    <a:pt x="134" y="25"/>
                  </a:lnTo>
                  <a:lnTo>
                    <a:pt x="146" y="36"/>
                  </a:lnTo>
                  <a:lnTo>
                    <a:pt x="159" y="50"/>
                  </a:lnTo>
                  <a:lnTo>
                    <a:pt x="173" y="67"/>
                  </a:lnTo>
                  <a:lnTo>
                    <a:pt x="185" y="89"/>
                  </a:lnTo>
                  <a:lnTo>
                    <a:pt x="80" y="89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44" name="Freeform 152"/>
            <p:cNvSpPr>
              <a:spLocks/>
            </p:cNvSpPr>
            <p:nvPr/>
          </p:nvSpPr>
          <p:spPr bwMode="auto">
            <a:xfrm>
              <a:off x="536" y="2132"/>
              <a:ext cx="150" cy="80"/>
            </a:xfrm>
            <a:custGeom>
              <a:avLst/>
              <a:gdLst/>
              <a:ahLst/>
              <a:cxnLst>
                <a:cxn ang="0">
                  <a:pos x="150" y="80"/>
                </a:cxn>
                <a:cxn ang="0">
                  <a:pos x="148" y="77"/>
                </a:cxn>
                <a:cxn ang="0">
                  <a:pos x="145" y="72"/>
                </a:cxn>
                <a:cxn ang="0">
                  <a:pos x="138" y="65"/>
                </a:cxn>
                <a:cxn ang="0">
                  <a:pos x="130" y="53"/>
                </a:cxn>
                <a:cxn ang="0">
                  <a:pos x="120" y="41"/>
                </a:cxn>
                <a:cxn ang="0">
                  <a:pos x="108" y="28"/>
                </a:cxn>
                <a:cxn ang="0">
                  <a:pos x="96" y="13"/>
                </a:cxn>
                <a:cxn ang="0">
                  <a:pos x="83" y="0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12" y="7"/>
                </a:cxn>
                <a:cxn ang="0">
                  <a:pos x="27" y="17"/>
                </a:cxn>
                <a:cxn ang="0">
                  <a:pos x="46" y="28"/>
                </a:cxn>
                <a:cxn ang="0">
                  <a:pos x="68" y="41"/>
                </a:cxn>
                <a:cxn ang="0">
                  <a:pos x="95" y="53"/>
                </a:cxn>
                <a:cxn ang="0">
                  <a:pos x="121" y="67"/>
                </a:cxn>
                <a:cxn ang="0">
                  <a:pos x="150" y="80"/>
                </a:cxn>
              </a:cxnLst>
              <a:rect l="0" t="0" r="r" b="b"/>
              <a:pathLst>
                <a:path w="150" h="80">
                  <a:moveTo>
                    <a:pt x="150" y="80"/>
                  </a:moveTo>
                  <a:lnTo>
                    <a:pt x="148" y="77"/>
                  </a:lnTo>
                  <a:lnTo>
                    <a:pt x="145" y="72"/>
                  </a:lnTo>
                  <a:lnTo>
                    <a:pt x="138" y="65"/>
                  </a:lnTo>
                  <a:lnTo>
                    <a:pt x="130" y="53"/>
                  </a:lnTo>
                  <a:lnTo>
                    <a:pt x="120" y="41"/>
                  </a:lnTo>
                  <a:lnTo>
                    <a:pt x="108" y="28"/>
                  </a:lnTo>
                  <a:lnTo>
                    <a:pt x="96" y="13"/>
                  </a:lnTo>
                  <a:lnTo>
                    <a:pt x="83" y="0"/>
                  </a:lnTo>
                  <a:lnTo>
                    <a:pt x="0" y="0"/>
                  </a:lnTo>
                  <a:lnTo>
                    <a:pt x="3" y="2"/>
                  </a:lnTo>
                  <a:lnTo>
                    <a:pt x="12" y="7"/>
                  </a:lnTo>
                  <a:lnTo>
                    <a:pt x="27" y="17"/>
                  </a:lnTo>
                  <a:lnTo>
                    <a:pt x="46" y="28"/>
                  </a:lnTo>
                  <a:lnTo>
                    <a:pt x="68" y="41"/>
                  </a:lnTo>
                  <a:lnTo>
                    <a:pt x="95" y="53"/>
                  </a:lnTo>
                  <a:lnTo>
                    <a:pt x="121" y="67"/>
                  </a:lnTo>
                  <a:lnTo>
                    <a:pt x="150" y="8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45" name="Freeform 153"/>
            <p:cNvSpPr>
              <a:spLocks/>
            </p:cNvSpPr>
            <p:nvPr/>
          </p:nvSpPr>
          <p:spPr bwMode="auto">
            <a:xfrm>
              <a:off x="463" y="2058"/>
              <a:ext cx="133" cy="39"/>
            </a:xfrm>
            <a:custGeom>
              <a:avLst/>
              <a:gdLst/>
              <a:ahLst/>
              <a:cxnLst>
                <a:cxn ang="0">
                  <a:pos x="133" y="39"/>
                </a:cxn>
                <a:cxn ang="0">
                  <a:pos x="104" y="0"/>
                </a:cxn>
                <a:cxn ang="0">
                  <a:pos x="0" y="4"/>
                </a:cxn>
                <a:cxn ang="0">
                  <a:pos x="1" y="5"/>
                </a:cxn>
                <a:cxn ang="0">
                  <a:pos x="8" y="10"/>
                </a:cxn>
                <a:cxn ang="0">
                  <a:pos x="18" y="20"/>
                </a:cxn>
                <a:cxn ang="0">
                  <a:pos x="35" y="35"/>
                </a:cxn>
                <a:cxn ang="0">
                  <a:pos x="133" y="39"/>
                </a:cxn>
              </a:cxnLst>
              <a:rect l="0" t="0" r="r" b="b"/>
              <a:pathLst>
                <a:path w="133" h="39">
                  <a:moveTo>
                    <a:pt x="133" y="39"/>
                  </a:moveTo>
                  <a:lnTo>
                    <a:pt x="104" y="0"/>
                  </a:lnTo>
                  <a:lnTo>
                    <a:pt x="0" y="4"/>
                  </a:lnTo>
                  <a:lnTo>
                    <a:pt x="1" y="5"/>
                  </a:lnTo>
                  <a:lnTo>
                    <a:pt x="8" y="10"/>
                  </a:lnTo>
                  <a:lnTo>
                    <a:pt x="18" y="20"/>
                  </a:lnTo>
                  <a:lnTo>
                    <a:pt x="35" y="35"/>
                  </a:lnTo>
                  <a:lnTo>
                    <a:pt x="133" y="39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46" name="Freeform 154"/>
            <p:cNvSpPr>
              <a:spLocks/>
            </p:cNvSpPr>
            <p:nvPr/>
          </p:nvSpPr>
          <p:spPr bwMode="auto">
            <a:xfrm>
              <a:off x="441" y="1999"/>
              <a:ext cx="106" cy="31"/>
            </a:xfrm>
            <a:custGeom>
              <a:avLst/>
              <a:gdLst/>
              <a:ahLst/>
              <a:cxnLst>
                <a:cxn ang="0">
                  <a:pos x="106" y="31"/>
                </a:cxn>
                <a:cxn ang="0">
                  <a:pos x="77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6"/>
                </a:cxn>
                <a:cxn ang="0">
                  <a:pos x="3" y="15"/>
                </a:cxn>
                <a:cxn ang="0">
                  <a:pos x="12" y="28"/>
                </a:cxn>
                <a:cxn ang="0">
                  <a:pos x="106" y="31"/>
                </a:cxn>
              </a:cxnLst>
              <a:rect l="0" t="0" r="r" b="b"/>
              <a:pathLst>
                <a:path w="106" h="31">
                  <a:moveTo>
                    <a:pt x="106" y="31"/>
                  </a:moveTo>
                  <a:lnTo>
                    <a:pt x="77" y="0"/>
                  </a:lnTo>
                  <a:lnTo>
                    <a:pt x="1" y="0"/>
                  </a:lnTo>
                  <a:lnTo>
                    <a:pt x="0" y="1"/>
                  </a:lnTo>
                  <a:lnTo>
                    <a:pt x="0" y="6"/>
                  </a:lnTo>
                  <a:lnTo>
                    <a:pt x="3" y="15"/>
                  </a:lnTo>
                  <a:lnTo>
                    <a:pt x="12" y="28"/>
                  </a:lnTo>
                  <a:lnTo>
                    <a:pt x="106" y="31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47" name="Freeform 155"/>
            <p:cNvSpPr>
              <a:spLocks/>
            </p:cNvSpPr>
            <p:nvPr/>
          </p:nvSpPr>
          <p:spPr bwMode="auto">
            <a:xfrm>
              <a:off x="494" y="1927"/>
              <a:ext cx="90" cy="90"/>
            </a:xfrm>
            <a:custGeom>
              <a:avLst/>
              <a:gdLst/>
              <a:ahLst/>
              <a:cxnLst>
                <a:cxn ang="0">
                  <a:pos x="18" y="24"/>
                </a:cxn>
                <a:cxn ang="0">
                  <a:pos x="0" y="0"/>
                </a:cxn>
                <a:cxn ang="0">
                  <a:pos x="59" y="27"/>
                </a:cxn>
                <a:cxn ang="0">
                  <a:pos x="64" y="32"/>
                </a:cxn>
                <a:cxn ang="0">
                  <a:pos x="75" y="45"/>
                </a:cxn>
                <a:cxn ang="0">
                  <a:pos x="85" y="65"/>
                </a:cxn>
                <a:cxn ang="0">
                  <a:pos x="90" y="90"/>
                </a:cxn>
                <a:cxn ang="0">
                  <a:pos x="18" y="24"/>
                </a:cxn>
              </a:cxnLst>
              <a:rect l="0" t="0" r="r" b="b"/>
              <a:pathLst>
                <a:path w="90" h="90">
                  <a:moveTo>
                    <a:pt x="18" y="24"/>
                  </a:moveTo>
                  <a:lnTo>
                    <a:pt x="0" y="0"/>
                  </a:lnTo>
                  <a:lnTo>
                    <a:pt x="59" y="27"/>
                  </a:lnTo>
                  <a:lnTo>
                    <a:pt x="64" y="32"/>
                  </a:lnTo>
                  <a:lnTo>
                    <a:pt x="75" y="45"/>
                  </a:lnTo>
                  <a:lnTo>
                    <a:pt x="85" y="65"/>
                  </a:lnTo>
                  <a:lnTo>
                    <a:pt x="90" y="90"/>
                  </a:lnTo>
                  <a:lnTo>
                    <a:pt x="18" y="24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48" name="Freeform 156"/>
            <p:cNvSpPr>
              <a:spLocks/>
            </p:cNvSpPr>
            <p:nvPr/>
          </p:nvSpPr>
          <p:spPr bwMode="auto">
            <a:xfrm>
              <a:off x="592" y="2010"/>
              <a:ext cx="59" cy="94"/>
            </a:xfrm>
            <a:custGeom>
              <a:avLst/>
              <a:gdLst/>
              <a:ahLst/>
              <a:cxnLst>
                <a:cxn ang="0">
                  <a:pos x="0" y="28"/>
                </a:cxn>
                <a:cxn ang="0">
                  <a:pos x="14" y="0"/>
                </a:cxn>
                <a:cxn ang="0">
                  <a:pos x="15" y="2"/>
                </a:cxn>
                <a:cxn ang="0">
                  <a:pos x="19" y="3"/>
                </a:cxn>
                <a:cxn ang="0">
                  <a:pos x="24" y="8"/>
                </a:cxn>
                <a:cxn ang="0">
                  <a:pos x="30" y="13"/>
                </a:cxn>
                <a:cxn ang="0">
                  <a:pos x="36" y="22"/>
                </a:cxn>
                <a:cxn ang="0">
                  <a:pos x="44" y="33"/>
                </a:cxn>
                <a:cxn ang="0">
                  <a:pos x="51" y="47"/>
                </a:cxn>
                <a:cxn ang="0">
                  <a:pos x="59" y="63"/>
                </a:cxn>
                <a:cxn ang="0">
                  <a:pos x="49" y="94"/>
                </a:cxn>
                <a:cxn ang="0">
                  <a:pos x="47" y="92"/>
                </a:cxn>
                <a:cxn ang="0">
                  <a:pos x="44" y="85"/>
                </a:cxn>
                <a:cxn ang="0">
                  <a:pos x="37" y="77"/>
                </a:cxn>
                <a:cxn ang="0">
                  <a:pos x="31" y="67"/>
                </a:cxn>
                <a:cxn ang="0">
                  <a:pos x="22" y="55"/>
                </a:cxn>
                <a:cxn ang="0">
                  <a:pos x="15" y="44"/>
                </a:cxn>
                <a:cxn ang="0">
                  <a:pos x="7" y="34"/>
                </a:cxn>
                <a:cxn ang="0">
                  <a:pos x="0" y="28"/>
                </a:cxn>
              </a:cxnLst>
              <a:rect l="0" t="0" r="r" b="b"/>
              <a:pathLst>
                <a:path w="59" h="94">
                  <a:moveTo>
                    <a:pt x="0" y="28"/>
                  </a:moveTo>
                  <a:lnTo>
                    <a:pt x="14" y="0"/>
                  </a:lnTo>
                  <a:lnTo>
                    <a:pt x="15" y="2"/>
                  </a:lnTo>
                  <a:lnTo>
                    <a:pt x="19" y="3"/>
                  </a:lnTo>
                  <a:lnTo>
                    <a:pt x="24" y="8"/>
                  </a:lnTo>
                  <a:lnTo>
                    <a:pt x="30" y="13"/>
                  </a:lnTo>
                  <a:lnTo>
                    <a:pt x="36" y="22"/>
                  </a:lnTo>
                  <a:lnTo>
                    <a:pt x="44" y="33"/>
                  </a:lnTo>
                  <a:lnTo>
                    <a:pt x="51" y="47"/>
                  </a:lnTo>
                  <a:lnTo>
                    <a:pt x="59" y="63"/>
                  </a:lnTo>
                  <a:lnTo>
                    <a:pt x="49" y="94"/>
                  </a:lnTo>
                  <a:lnTo>
                    <a:pt x="47" y="92"/>
                  </a:lnTo>
                  <a:lnTo>
                    <a:pt x="44" y="85"/>
                  </a:lnTo>
                  <a:lnTo>
                    <a:pt x="37" y="77"/>
                  </a:lnTo>
                  <a:lnTo>
                    <a:pt x="31" y="67"/>
                  </a:lnTo>
                  <a:lnTo>
                    <a:pt x="22" y="55"/>
                  </a:lnTo>
                  <a:lnTo>
                    <a:pt x="15" y="44"/>
                  </a:lnTo>
                  <a:lnTo>
                    <a:pt x="7" y="34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49" name="Freeform 157"/>
            <p:cNvSpPr>
              <a:spLocks/>
            </p:cNvSpPr>
            <p:nvPr/>
          </p:nvSpPr>
          <p:spPr bwMode="auto">
            <a:xfrm>
              <a:off x="661" y="2100"/>
              <a:ext cx="28" cy="69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7" y="0"/>
                </a:cxn>
                <a:cxn ang="0">
                  <a:pos x="28" y="69"/>
                </a:cxn>
                <a:cxn ang="0">
                  <a:pos x="0" y="24"/>
                </a:cxn>
              </a:cxnLst>
              <a:rect l="0" t="0" r="r" b="b"/>
              <a:pathLst>
                <a:path w="28" h="69">
                  <a:moveTo>
                    <a:pt x="0" y="24"/>
                  </a:moveTo>
                  <a:lnTo>
                    <a:pt x="7" y="0"/>
                  </a:lnTo>
                  <a:lnTo>
                    <a:pt x="28" y="69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50" name="Freeform 158"/>
            <p:cNvSpPr>
              <a:spLocks/>
            </p:cNvSpPr>
            <p:nvPr/>
          </p:nvSpPr>
          <p:spPr bwMode="auto">
            <a:xfrm>
              <a:off x="789" y="2120"/>
              <a:ext cx="39" cy="78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18" y="5"/>
                </a:cxn>
                <a:cxn ang="0">
                  <a:pos x="25" y="22"/>
                </a:cxn>
                <a:cxn ang="0">
                  <a:pos x="34" y="47"/>
                </a:cxn>
                <a:cxn ang="0">
                  <a:pos x="39" y="78"/>
                </a:cxn>
                <a:cxn ang="0">
                  <a:pos x="0" y="70"/>
                </a:cxn>
                <a:cxn ang="0">
                  <a:pos x="0" y="63"/>
                </a:cxn>
                <a:cxn ang="0">
                  <a:pos x="0" y="44"/>
                </a:cxn>
                <a:cxn ang="0">
                  <a:pos x="4" y="22"/>
                </a:cxn>
                <a:cxn ang="0">
                  <a:pos x="14" y="0"/>
                </a:cxn>
              </a:cxnLst>
              <a:rect l="0" t="0" r="r" b="b"/>
              <a:pathLst>
                <a:path w="39" h="78">
                  <a:moveTo>
                    <a:pt x="14" y="0"/>
                  </a:moveTo>
                  <a:lnTo>
                    <a:pt x="18" y="5"/>
                  </a:lnTo>
                  <a:lnTo>
                    <a:pt x="25" y="22"/>
                  </a:lnTo>
                  <a:lnTo>
                    <a:pt x="34" y="47"/>
                  </a:lnTo>
                  <a:lnTo>
                    <a:pt x="39" y="78"/>
                  </a:lnTo>
                  <a:lnTo>
                    <a:pt x="0" y="70"/>
                  </a:lnTo>
                  <a:lnTo>
                    <a:pt x="0" y="63"/>
                  </a:lnTo>
                  <a:lnTo>
                    <a:pt x="0" y="44"/>
                  </a:lnTo>
                  <a:lnTo>
                    <a:pt x="4" y="22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51" name="Freeform 159"/>
            <p:cNvSpPr>
              <a:spLocks/>
            </p:cNvSpPr>
            <p:nvPr/>
          </p:nvSpPr>
          <p:spPr bwMode="auto">
            <a:xfrm>
              <a:off x="786" y="2214"/>
              <a:ext cx="60" cy="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8" y="18"/>
                </a:cxn>
                <a:cxn ang="0">
                  <a:pos x="60" y="98"/>
                </a:cxn>
                <a:cxn ang="0">
                  <a:pos x="58" y="98"/>
                </a:cxn>
                <a:cxn ang="0">
                  <a:pos x="53" y="95"/>
                </a:cxn>
                <a:cxn ang="0">
                  <a:pos x="47" y="90"/>
                </a:cxn>
                <a:cxn ang="0">
                  <a:pos x="40" y="81"/>
                </a:cxn>
                <a:cxn ang="0">
                  <a:pos x="30" y="69"/>
                </a:cxn>
                <a:cxn ang="0">
                  <a:pos x="20" y="53"/>
                </a:cxn>
                <a:cxn ang="0">
                  <a:pos x="10" y="29"/>
                </a:cxn>
                <a:cxn ang="0">
                  <a:pos x="0" y="0"/>
                </a:cxn>
              </a:cxnLst>
              <a:rect l="0" t="0" r="r" b="b"/>
              <a:pathLst>
                <a:path w="60" h="98">
                  <a:moveTo>
                    <a:pt x="0" y="0"/>
                  </a:moveTo>
                  <a:lnTo>
                    <a:pt x="48" y="18"/>
                  </a:lnTo>
                  <a:lnTo>
                    <a:pt x="60" y="98"/>
                  </a:lnTo>
                  <a:lnTo>
                    <a:pt x="58" y="98"/>
                  </a:lnTo>
                  <a:lnTo>
                    <a:pt x="53" y="95"/>
                  </a:lnTo>
                  <a:lnTo>
                    <a:pt x="47" y="90"/>
                  </a:lnTo>
                  <a:lnTo>
                    <a:pt x="40" y="81"/>
                  </a:lnTo>
                  <a:lnTo>
                    <a:pt x="30" y="69"/>
                  </a:lnTo>
                  <a:lnTo>
                    <a:pt x="20" y="53"/>
                  </a:lnTo>
                  <a:lnTo>
                    <a:pt x="10" y="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52" name="Freeform 160"/>
            <p:cNvSpPr>
              <a:spLocks/>
            </p:cNvSpPr>
            <p:nvPr/>
          </p:nvSpPr>
          <p:spPr bwMode="auto">
            <a:xfrm>
              <a:off x="873" y="2198"/>
              <a:ext cx="55" cy="121"/>
            </a:xfrm>
            <a:custGeom>
              <a:avLst/>
              <a:gdLst/>
              <a:ahLst/>
              <a:cxnLst>
                <a:cxn ang="0">
                  <a:pos x="0" y="121"/>
                </a:cxn>
                <a:cxn ang="0">
                  <a:pos x="0" y="34"/>
                </a:cxn>
                <a:cxn ang="0">
                  <a:pos x="55" y="0"/>
                </a:cxn>
                <a:cxn ang="0">
                  <a:pos x="53" y="4"/>
                </a:cxn>
                <a:cxn ang="0">
                  <a:pos x="46" y="15"/>
                </a:cxn>
                <a:cxn ang="0">
                  <a:pos x="38" y="30"/>
                </a:cxn>
                <a:cxn ang="0">
                  <a:pos x="28" y="49"/>
                </a:cxn>
                <a:cxn ang="0">
                  <a:pos x="18" y="69"/>
                </a:cxn>
                <a:cxn ang="0">
                  <a:pos x="9" y="89"/>
                </a:cxn>
                <a:cxn ang="0">
                  <a:pos x="3" y="107"/>
                </a:cxn>
                <a:cxn ang="0">
                  <a:pos x="0" y="121"/>
                </a:cxn>
              </a:cxnLst>
              <a:rect l="0" t="0" r="r" b="b"/>
              <a:pathLst>
                <a:path w="55" h="121">
                  <a:moveTo>
                    <a:pt x="0" y="121"/>
                  </a:moveTo>
                  <a:lnTo>
                    <a:pt x="0" y="34"/>
                  </a:lnTo>
                  <a:lnTo>
                    <a:pt x="55" y="0"/>
                  </a:lnTo>
                  <a:lnTo>
                    <a:pt x="53" y="4"/>
                  </a:lnTo>
                  <a:lnTo>
                    <a:pt x="46" y="15"/>
                  </a:lnTo>
                  <a:lnTo>
                    <a:pt x="38" y="30"/>
                  </a:lnTo>
                  <a:lnTo>
                    <a:pt x="28" y="49"/>
                  </a:lnTo>
                  <a:lnTo>
                    <a:pt x="18" y="69"/>
                  </a:lnTo>
                  <a:lnTo>
                    <a:pt x="9" y="89"/>
                  </a:lnTo>
                  <a:lnTo>
                    <a:pt x="3" y="107"/>
                  </a:lnTo>
                  <a:lnTo>
                    <a:pt x="0" y="121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53" name="Freeform 161"/>
            <p:cNvSpPr>
              <a:spLocks/>
            </p:cNvSpPr>
            <p:nvPr/>
          </p:nvSpPr>
          <p:spPr bwMode="auto">
            <a:xfrm>
              <a:off x="842" y="2135"/>
              <a:ext cx="55" cy="73"/>
            </a:xfrm>
            <a:custGeom>
              <a:avLst/>
              <a:gdLst/>
              <a:ahLst/>
              <a:cxnLst>
                <a:cxn ang="0">
                  <a:pos x="20" y="73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7" y="5"/>
                </a:cxn>
                <a:cxn ang="0">
                  <a:pos x="15" y="10"/>
                </a:cxn>
                <a:cxn ang="0">
                  <a:pos x="24" y="18"/>
                </a:cxn>
                <a:cxn ang="0">
                  <a:pos x="34" y="25"/>
                </a:cxn>
                <a:cxn ang="0">
                  <a:pos x="42" y="33"/>
                </a:cxn>
                <a:cxn ang="0">
                  <a:pos x="50" y="39"/>
                </a:cxn>
                <a:cxn ang="0">
                  <a:pos x="55" y="45"/>
                </a:cxn>
                <a:cxn ang="0">
                  <a:pos x="20" y="73"/>
                </a:cxn>
              </a:cxnLst>
              <a:rect l="0" t="0" r="r" b="b"/>
              <a:pathLst>
                <a:path w="55" h="73">
                  <a:moveTo>
                    <a:pt x="20" y="73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7" y="5"/>
                  </a:lnTo>
                  <a:lnTo>
                    <a:pt x="15" y="10"/>
                  </a:lnTo>
                  <a:lnTo>
                    <a:pt x="24" y="18"/>
                  </a:lnTo>
                  <a:lnTo>
                    <a:pt x="34" y="25"/>
                  </a:lnTo>
                  <a:lnTo>
                    <a:pt x="42" y="33"/>
                  </a:lnTo>
                  <a:lnTo>
                    <a:pt x="50" y="39"/>
                  </a:lnTo>
                  <a:lnTo>
                    <a:pt x="55" y="45"/>
                  </a:lnTo>
                  <a:lnTo>
                    <a:pt x="20" y="73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54" name="Freeform 162"/>
            <p:cNvSpPr>
              <a:spLocks/>
            </p:cNvSpPr>
            <p:nvPr/>
          </p:nvSpPr>
          <p:spPr bwMode="auto">
            <a:xfrm>
              <a:off x="433" y="1933"/>
              <a:ext cx="65" cy="49"/>
            </a:xfrm>
            <a:custGeom>
              <a:avLst/>
              <a:gdLst/>
              <a:ahLst/>
              <a:cxnLst>
                <a:cxn ang="0">
                  <a:pos x="65" y="42"/>
                </a:cxn>
                <a:cxn ang="0">
                  <a:pos x="64" y="41"/>
                </a:cxn>
                <a:cxn ang="0">
                  <a:pos x="60" y="37"/>
                </a:cxn>
                <a:cxn ang="0">
                  <a:pos x="55" y="33"/>
                </a:cxn>
                <a:cxn ang="0">
                  <a:pos x="48" y="25"/>
                </a:cxn>
                <a:cxn ang="0">
                  <a:pos x="39" y="19"/>
                </a:cxn>
                <a:cxn ang="0">
                  <a:pos x="30" y="11"/>
                </a:cxn>
                <a:cxn ang="0">
                  <a:pos x="20" y="5"/>
                </a:cxn>
                <a:cxn ang="0">
                  <a:pos x="9" y="0"/>
                </a:cxn>
                <a:cxn ang="0">
                  <a:pos x="6" y="5"/>
                </a:cxn>
                <a:cxn ang="0">
                  <a:pos x="3" y="16"/>
                </a:cxn>
                <a:cxn ang="0">
                  <a:pos x="0" y="33"/>
                </a:cxn>
                <a:cxn ang="0">
                  <a:pos x="6" y="49"/>
                </a:cxn>
                <a:cxn ang="0">
                  <a:pos x="65" y="42"/>
                </a:cxn>
              </a:cxnLst>
              <a:rect l="0" t="0" r="r" b="b"/>
              <a:pathLst>
                <a:path w="65" h="49">
                  <a:moveTo>
                    <a:pt x="65" y="42"/>
                  </a:moveTo>
                  <a:lnTo>
                    <a:pt x="64" y="41"/>
                  </a:lnTo>
                  <a:lnTo>
                    <a:pt x="60" y="37"/>
                  </a:lnTo>
                  <a:lnTo>
                    <a:pt x="55" y="33"/>
                  </a:lnTo>
                  <a:lnTo>
                    <a:pt x="48" y="25"/>
                  </a:lnTo>
                  <a:lnTo>
                    <a:pt x="39" y="19"/>
                  </a:lnTo>
                  <a:lnTo>
                    <a:pt x="30" y="11"/>
                  </a:lnTo>
                  <a:lnTo>
                    <a:pt x="20" y="5"/>
                  </a:lnTo>
                  <a:lnTo>
                    <a:pt x="9" y="0"/>
                  </a:lnTo>
                  <a:lnTo>
                    <a:pt x="6" y="5"/>
                  </a:lnTo>
                  <a:lnTo>
                    <a:pt x="3" y="16"/>
                  </a:lnTo>
                  <a:lnTo>
                    <a:pt x="0" y="33"/>
                  </a:lnTo>
                  <a:lnTo>
                    <a:pt x="6" y="49"/>
                  </a:lnTo>
                  <a:lnTo>
                    <a:pt x="65" y="42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55" name="Freeform 163"/>
            <p:cNvSpPr>
              <a:spLocks/>
            </p:cNvSpPr>
            <p:nvPr/>
          </p:nvSpPr>
          <p:spPr bwMode="auto">
            <a:xfrm>
              <a:off x="789" y="1486"/>
              <a:ext cx="1020" cy="694"/>
            </a:xfrm>
            <a:custGeom>
              <a:avLst/>
              <a:gdLst/>
              <a:ahLst/>
              <a:cxnLst>
                <a:cxn ang="0">
                  <a:pos x="474" y="677"/>
                </a:cxn>
                <a:cxn ang="0">
                  <a:pos x="514" y="688"/>
                </a:cxn>
                <a:cxn ang="0">
                  <a:pos x="569" y="694"/>
                </a:cxn>
                <a:cxn ang="0">
                  <a:pos x="603" y="689"/>
                </a:cxn>
                <a:cxn ang="0">
                  <a:pos x="682" y="671"/>
                </a:cxn>
                <a:cxn ang="0">
                  <a:pos x="747" y="643"/>
                </a:cxn>
                <a:cxn ang="0">
                  <a:pos x="794" y="606"/>
                </a:cxn>
                <a:cxn ang="0">
                  <a:pos x="868" y="529"/>
                </a:cxn>
                <a:cxn ang="0">
                  <a:pos x="1015" y="226"/>
                </a:cxn>
                <a:cxn ang="0">
                  <a:pos x="953" y="230"/>
                </a:cxn>
                <a:cxn ang="0">
                  <a:pos x="857" y="245"/>
                </a:cxn>
                <a:cxn ang="0">
                  <a:pos x="810" y="257"/>
                </a:cxn>
                <a:cxn ang="0">
                  <a:pos x="749" y="280"/>
                </a:cxn>
                <a:cxn ang="0">
                  <a:pos x="677" y="322"/>
                </a:cxn>
                <a:cxn ang="0">
                  <a:pos x="658" y="338"/>
                </a:cxn>
                <a:cxn ang="0">
                  <a:pos x="622" y="372"/>
                </a:cxn>
                <a:cxn ang="0">
                  <a:pos x="602" y="378"/>
                </a:cxn>
                <a:cxn ang="0">
                  <a:pos x="579" y="228"/>
                </a:cxn>
                <a:cxn ang="0">
                  <a:pos x="568" y="181"/>
                </a:cxn>
                <a:cxn ang="0">
                  <a:pos x="525" y="75"/>
                </a:cxn>
                <a:cxn ang="0">
                  <a:pos x="473" y="2"/>
                </a:cxn>
                <a:cxn ang="0">
                  <a:pos x="443" y="30"/>
                </a:cxn>
                <a:cxn ang="0">
                  <a:pos x="403" y="88"/>
                </a:cxn>
                <a:cxn ang="0">
                  <a:pos x="385" y="135"/>
                </a:cxn>
                <a:cxn ang="0">
                  <a:pos x="358" y="211"/>
                </a:cxn>
                <a:cxn ang="0">
                  <a:pos x="338" y="291"/>
                </a:cxn>
                <a:cxn ang="0">
                  <a:pos x="325" y="350"/>
                </a:cxn>
                <a:cxn ang="0">
                  <a:pos x="312" y="378"/>
                </a:cxn>
                <a:cxn ang="0">
                  <a:pos x="292" y="338"/>
                </a:cxn>
                <a:cxn ang="0">
                  <a:pos x="260" y="287"/>
                </a:cxn>
                <a:cxn ang="0">
                  <a:pos x="237" y="263"/>
                </a:cxn>
                <a:cxn ang="0">
                  <a:pos x="183" y="220"/>
                </a:cxn>
                <a:cxn ang="0">
                  <a:pos x="119" y="183"/>
                </a:cxn>
                <a:cxn ang="0">
                  <a:pos x="0" y="300"/>
                </a:cxn>
                <a:cxn ang="0">
                  <a:pos x="8" y="367"/>
                </a:cxn>
                <a:cxn ang="0">
                  <a:pos x="32" y="466"/>
                </a:cxn>
                <a:cxn ang="0">
                  <a:pos x="58" y="514"/>
                </a:cxn>
                <a:cxn ang="0">
                  <a:pos x="117" y="588"/>
                </a:cxn>
                <a:cxn ang="0">
                  <a:pos x="205" y="659"/>
                </a:cxn>
                <a:cxn ang="0">
                  <a:pos x="217" y="662"/>
                </a:cxn>
                <a:cxn ang="0">
                  <a:pos x="247" y="667"/>
                </a:cxn>
                <a:cxn ang="0">
                  <a:pos x="289" y="673"/>
                </a:cxn>
                <a:cxn ang="0">
                  <a:pos x="338" y="676"/>
                </a:cxn>
                <a:cxn ang="0">
                  <a:pos x="389" y="672"/>
                </a:cxn>
                <a:cxn ang="0">
                  <a:pos x="410" y="667"/>
                </a:cxn>
                <a:cxn ang="0">
                  <a:pos x="432" y="664"/>
                </a:cxn>
                <a:cxn ang="0">
                  <a:pos x="464" y="673"/>
                </a:cxn>
              </a:cxnLst>
              <a:rect l="0" t="0" r="r" b="b"/>
              <a:pathLst>
                <a:path w="1020" h="694">
                  <a:moveTo>
                    <a:pt x="464" y="673"/>
                  </a:moveTo>
                  <a:lnTo>
                    <a:pt x="467" y="674"/>
                  </a:lnTo>
                  <a:lnTo>
                    <a:pt x="474" y="677"/>
                  </a:lnTo>
                  <a:lnTo>
                    <a:pt x="484" y="681"/>
                  </a:lnTo>
                  <a:lnTo>
                    <a:pt x="498" y="684"/>
                  </a:lnTo>
                  <a:lnTo>
                    <a:pt x="514" y="688"/>
                  </a:lnTo>
                  <a:lnTo>
                    <a:pt x="532" y="692"/>
                  </a:lnTo>
                  <a:lnTo>
                    <a:pt x="550" y="694"/>
                  </a:lnTo>
                  <a:lnTo>
                    <a:pt x="569" y="694"/>
                  </a:lnTo>
                  <a:lnTo>
                    <a:pt x="573" y="694"/>
                  </a:lnTo>
                  <a:lnTo>
                    <a:pt x="585" y="693"/>
                  </a:lnTo>
                  <a:lnTo>
                    <a:pt x="603" y="689"/>
                  </a:lnTo>
                  <a:lnTo>
                    <a:pt x="627" y="686"/>
                  </a:lnTo>
                  <a:lnTo>
                    <a:pt x="653" y="679"/>
                  </a:lnTo>
                  <a:lnTo>
                    <a:pt x="682" y="671"/>
                  </a:lnTo>
                  <a:lnTo>
                    <a:pt x="713" y="659"/>
                  </a:lnTo>
                  <a:lnTo>
                    <a:pt x="743" y="646"/>
                  </a:lnTo>
                  <a:lnTo>
                    <a:pt x="747" y="643"/>
                  </a:lnTo>
                  <a:lnTo>
                    <a:pt x="758" y="636"/>
                  </a:lnTo>
                  <a:lnTo>
                    <a:pt x="773" y="623"/>
                  </a:lnTo>
                  <a:lnTo>
                    <a:pt x="794" y="606"/>
                  </a:lnTo>
                  <a:lnTo>
                    <a:pt x="817" y="584"/>
                  </a:lnTo>
                  <a:lnTo>
                    <a:pt x="842" y="558"/>
                  </a:lnTo>
                  <a:lnTo>
                    <a:pt x="868" y="529"/>
                  </a:lnTo>
                  <a:lnTo>
                    <a:pt x="892" y="496"/>
                  </a:lnTo>
                  <a:lnTo>
                    <a:pt x="1020" y="226"/>
                  </a:lnTo>
                  <a:lnTo>
                    <a:pt x="1015" y="226"/>
                  </a:lnTo>
                  <a:lnTo>
                    <a:pt x="1002" y="227"/>
                  </a:lnTo>
                  <a:lnTo>
                    <a:pt x="980" y="228"/>
                  </a:lnTo>
                  <a:lnTo>
                    <a:pt x="953" y="230"/>
                  </a:lnTo>
                  <a:lnTo>
                    <a:pt x="922" y="233"/>
                  </a:lnTo>
                  <a:lnTo>
                    <a:pt x="889" y="238"/>
                  </a:lnTo>
                  <a:lnTo>
                    <a:pt x="857" y="245"/>
                  </a:lnTo>
                  <a:lnTo>
                    <a:pt x="825" y="253"/>
                  </a:lnTo>
                  <a:lnTo>
                    <a:pt x="822" y="255"/>
                  </a:lnTo>
                  <a:lnTo>
                    <a:pt x="810" y="257"/>
                  </a:lnTo>
                  <a:lnTo>
                    <a:pt x="794" y="262"/>
                  </a:lnTo>
                  <a:lnTo>
                    <a:pt x="773" y="270"/>
                  </a:lnTo>
                  <a:lnTo>
                    <a:pt x="749" y="280"/>
                  </a:lnTo>
                  <a:lnTo>
                    <a:pt x="724" y="291"/>
                  </a:lnTo>
                  <a:lnTo>
                    <a:pt x="700" y="306"/>
                  </a:lnTo>
                  <a:lnTo>
                    <a:pt x="677" y="322"/>
                  </a:lnTo>
                  <a:lnTo>
                    <a:pt x="674" y="325"/>
                  </a:lnTo>
                  <a:lnTo>
                    <a:pt x="668" y="330"/>
                  </a:lnTo>
                  <a:lnTo>
                    <a:pt x="658" y="338"/>
                  </a:lnTo>
                  <a:lnTo>
                    <a:pt x="647" y="350"/>
                  </a:lnTo>
                  <a:lnTo>
                    <a:pt x="634" y="361"/>
                  </a:lnTo>
                  <a:lnTo>
                    <a:pt x="622" y="372"/>
                  </a:lnTo>
                  <a:lnTo>
                    <a:pt x="612" y="383"/>
                  </a:lnTo>
                  <a:lnTo>
                    <a:pt x="603" y="392"/>
                  </a:lnTo>
                  <a:lnTo>
                    <a:pt x="602" y="378"/>
                  </a:lnTo>
                  <a:lnTo>
                    <a:pt x="598" y="340"/>
                  </a:lnTo>
                  <a:lnTo>
                    <a:pt x="590" y="287"/>
                  </a:lnTo>
                  <a:lnTo>
                    <a:pt x="579" y="228"/>
                  </a:lnTo>
                  <a:lnTo>
                    <a:pt x="578" y="222"/>
                  </a:lnTo>
                  <a:lnTo>
                    <a:pt x="574" y="206"/>
                  </a:lnTo>
                  <a:lnTo>
                    <a:pt x="568" y="181"/>
                  </a:lnTo>
                  <a:lnTo>
                    <a:pt x="558" y="150"/>
                  </a:lnTo>
                  <a:lnTo>
                    <a:pt x="543" y="113"/>
                  </a:lnTo>
                  <a:lnTo>
                    <a:pt x="525" y="75"/>
                  </a:lnTo>
                  <a:lnTo>
                    <a:pt x="503" y="36"/>
                  </a:lnTo>
                  <a:lnTo>
                    <a:pt x="475" y="0"/>
                  </a:lnTo>
                  <a:lnTo>
                    <a:pt x="473" y="2"/>
                  </a:lnTo>
                  <a:lnTo>
                    <a:pt x="465" y="7"/>
                  </a:lnTo>
                  <a:lnTo>
                    <a:pt x="455" y="17"/>
                  </a:lnTo>
                  <a:lnTo>
                    <a:pt x="443" y="30"/>
                  </a:lnTo>
                  <a:lnTo>
                    <a:pt x="429" y="46"/>
                  </a:lnTo>
                  <a:lnTo>
                    <a:pt x="415" y="66"/>
                  </a:lnTo>
                  <a:lnTo>
                    <a:pt x="403" y="88"/>
                  </a:lnTo>
                  <a:lnTo>
                    <a:pt x="393" y="115"/>
                  </a:lnTo>
                  <a:lnTo>
                    <a:pt x="390" y="120"/>
                  </a:lnTo>
                  <a:lnTo>
                    <a:pt x="385" y="135"/>
                  </a:lnTo>
                  <a:lnTo>
                    <a:pt x="377" y="156"/>
                  </a:lnTo>
                  <a:lnTo>
                    <a:pt x="368" y="182"/>
                  </a:lnTo>
                  <a:lnTo>
                    <a:pt x="358" y="211"/>
                  </a:lnTo>
                  <a:lnTo>
                    <a:pt x="349" y="240"/>
                  </a:lnTo>
                  <a:lnTo>
                    <a:pt x="342" y="267"/>
                  </a:lnTo>
                  <a:lnTo>
                    <a:pt x="338" y="291"/>
                  </a:lnTo>
                  <a:lnTo>
                    <a:pt x="335" y="300"/>
                  </a:lnTo>
                  <a:lnTo>
                    <a:pt x="330" y="322"/>
                  </a:lnTo>
                  <a:lnTo>
                    <a:pt x="325" y="350"/>
                  </a:lnTo>
                  <a:lnTo>
                    <a:pt x="323" y="375"/>
                  </a:lnTo>
                  <a:lnTo>
                    <a:pt x="313" y="382"/>
                  </a:lnTo>
                  <a:lnTo>
                    <a:pt x="312" y="378"/>
                  </a:lnTo>
                  <a:lnTo>
                    <a:pt x="307" y="370"/>
                  </a:lnTo>
                  <a:lnTo>
                    <a:pt x="299" y="356"/>
                  </a:lnTo>
                  <a:lnTo>
                    <a:pt x="292" y="338"/>
                  </a:lnTo>
                  <a:lnTo>
                    <a:pt x="282" y="321"/>
                  </a:lnTo>
                  <a:lnTo>
                    <a:pt x="270" y="303"/>
                  </a:lnTo>
                  <a:lnTo>
                    <a:pt x="260" y="287"/>
                  </a:lnTo>
                  <a:lnTo>
                    <a:pt x="250" y="275"/>
                  </a:lnTo>
                  <a:lnTo>
                    <a:pt x="247" y="271"/>
                  </a:lnTo>
                  <a:lnTo>
                    <a:pt x="237" y="263"/>
                  </a:lnTo>
                  <a:lnTo>
                    <a:pt x="223" y="251"/>
                  </a:lnTo>
                  <a:lnTo>
                    <a:pt x="204" y="236"/>
                  </a:lnTo>
                  <a:lnTo>
                    <a:pt x="183" y="220"/>
                  </a:lnTo>
                  <a:lnTo>
                    <a:pt x="162" y="205"/>
                  </a:lnTo>
                  <a:lnTo>
                    <a:pt x="139" y="192"/>
                  </a:lnTo>
                  <a:lnTo>
                    <a:pt x="119" y="183"/>
                  </a:lnTo>
                  <a:lnTo>
                    <a:pt x="10" y="160"/>
                  </a:lnTo>
                  <a:lnTo>
                    <a:pt x="0" y="295"/>
                  </a:lnTo>
                  <a:lnTo>
                    <a:pt x="0" y="300"/>
                  </a:lnTo>
                  <a:lnTo>
                    <a:pt x="2" y="316"/>
                  </a:lnTo>
                  <a:lnTo>
                    <a:pt x="4" y="338"/>
                  </a:lnTo>
                  <a:lnTo>
                    <a:pt x="8" y="367"/>
                  </a:lnTo>
                  <a:lnTo>
                    <a:pt x="13" y="398"/>
                  </a:lnTo>
                  <a:lnTo>
                    <a:pt x="20" y="432"/>
                  </a:lnTo>
                  <a:lnTo>
                    <a:pt x="32" y="466"/>
                  </a:lnTo>
                  <a:lnTo>
                    <a:pt x="45" y="496"/>
                  </a:lnTo>
                  <a:lnTo>
                    <a:pt x="49" y="501"/>
                  </a:lnTo>
                  <a:lnTo>
                    <a:pt x="58" y="514"/>
                  </a:lnTo>
                  <a:lnTo>
                    <a:pt x="73" y="536"/>
                  </a:lnTo>
                  <a:lnTo>
                    <a:pt x="93" y="561"/>
                  </a:lnTo>
                  <a:lnTo>
                    <a:pt x="117" y="588"/>
                  </a:lnTo>
                  <a:lnTo>
                    <a:pt x="144" y="614"/>
                  </a:lnTo>
                  <a:lnTo>
                    <a:pt x="174" y="639"/>
                  </a:lnTo>
                  <a:lnTo>
                    <a:pt x="205" y="659"/>
                  </a:lnTo>
                  <a:lnTo>
                    <a:pt x="207" y="659"/>
                  </a:lnTo>
                  <a:lnTo>
                    <a:pt x="210" y="661"/>
                  </a:lnTo>
                  <a:lnTo>
                    <a:pt x="217" y="662"/>
                  </a:lnTo>
                  <a:lnTo>
                    <a:pt x="224" y="663"/>
                  </a:lnTo>
                  <a:lnTo>
                    <a:pt x="234" y="666"/>
                  </a:lnTo>
                  <a:lnTo>
                    <a:pt x="247" y="667"/>
                  </a:lnTo>
                  <a:lnTo>
                    <a:pt x="259" y="669"/>
                  </a:lnTo>
                  <a:lnTo>
                    <a:pt x="274" y="671"/>
                  </a:lnTo>
                  <a:lnTo>
                    <a:pt x="289" y="673"/>
                  </a:lnTo>
                  <a:lnTo>
                    <a:pt x="304" y="674"/>
                  </a:lnTo>
                  <a:lnTo>
                    <a:pt x="322" y="674"/>
                  </a:lnTo>
                  <a:lnTo>
                    <a:pt x="338" y="676"/>
                  </a:lnTo>
                  <a:lnTo>
                    <a:pt x="355" y="674"/>
                  </a:lnTo>
                  <a:lnTo>
                    <a:pt x="373" y="674"/>
                  </a:lnTo>
                  <a:lnTo>
                    <a:pt x="389" y="672"/>
                  </a:lnTo>
                  <a:lnTo>
                    <a:pt x="405" y="669"/>
                  </a:lnTo>
                  <a:lnTo>
                    <a:pt x="407" y="669"/>
                  </a:lnTo>
                  <a:lnTo>
                    <a:pt x="410" y="667"/>
                  </a:lnTo>
                  <a:lnTo>
                    <a:pt x="415" y="666"/>
                  </a:lnTo>
                  <a:lnTo>
                    <a:pt x="423" y="664"/>
                  </a:lnTo>
                  <a:lnTo>
                    <a:pt x="432" y="664"/>
                  </a:lnTo>
                  <a:lnTo>
                    <a:pt x="442" y="666"/>
                  </a:lnTo>
                  <a:lnTo>
                    <a:pt x="453" y="668"/>
                  </a:lnTo>
                  <a:lnTo>
                    <a:pt x="464" y="673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56" name="Freeform 164"/>
            <p:cNvSpPr>
              <a:spLocks/>
            </p:cNvSpPr>
            <p:nvPr/>
          </p:nvSpPr>
          <p:spPr bwMode="auto">
            <a:xfrm>
              <a:off x="868" y="1392"/>
              <a:ext cx="241" cy="330"/>
            </a:xfrm>
            <a:custGeom>
              <a:avLst/>
              <a:gdLst/>
              <a:ahLst/>
              <a:cxnLst>
                <a:cxn ang="0">
                  <a:pos x="241" y="330"/>
                </a:cxn>
                <a:cxn ang="0">
                  <a:pos x="238" y="209"/>
                </a:cxn>
                <a:cxn ang="0">
                  <a:pos x="238" y="205"/>
                </a:cxn>
                <a:cxn ang="0">
                  <a:pos x="236" y="194"/>
                </a:cxn>
                <a:cxn ang="0">
                  <a:pos x="234" y="179"/>
                </a:cxn>
                <a:cxn ang="0">
                  <a:pos x="230" y="159"/>
                </a:cxn>
                <a:cxn ang="0">
                  <a:pos x="225" y="137"/>
                </a:cxn>
                <a:cxn ang="0">
                  <a:pos x="218" y="114"/>
                </a:cxn>
                <a:cxn ang="0">
                  <a:pos x="206" y="92"/>
                </a:cxn>
                <a:cxn ang="0">
                  <a:pos x="193" y="72"/>
                </a:cxn>
                <a:cxn ang="0">
                  <a:pos x="191" y="70"/>
                </a:cxn>
                <a:cxn ang="0">
                  <a:pos x="185" y="65"/>
                </a:cxn>
                <a:cxn ang="0">
                  <a:pos x="176" y="57"/>
                </a:cxn>
                <a:cxn ang="0">
                  <a:pos x="165" y="47"/>
                </a:cxn>
                <a:cxn ang="0">
                  <a:pos x="149" y="37"/>
                </a:cxn>
                <a:cxn ang="0">
                  <a:pos x="131" y="27"/>
                </a:cxn>
                <a:cxn ang="0">
                  <a:pos x="109" y="17"/>
                </a:cxn>
                <a:cxn ang="0">
                  <a:pos x="85" y="10"/>
                </a:cxn>
                <a:cxn ang="0">
                  <a:pos x="9" y="0"/>
                </a:cxn>
                <a:cxn ang="0">
                  <a:pos x="1" y="97"/>
                </a:cxn>
                <a:cxn ang="0">
                  <a:pos x="0" y="109"/>
                </a:cxn>
                <a:cxn ang="0">
                  <a:pos x="1" y="136"/>
                </a:cxn>
                <a:cxn ang="0">
                  <a:pos x="8" y="171"/>
                </a:cxn>
                <a:cxn ang="0">
                  <a:pos x="23" y="205"/>
                </a:cxn>
                <a:cxn ang="0">
                  <a:pos x="25" y="206"/>
                </a:cxn>
                <a:cxn ang="0">
                  <a:pos x="30" y="211"/>
                </a:cxn>
                <a:cxn ang="0">
                  <a:pos x="39" y="219"/>
                </a:cxn>
                <a:cxn ang="0">
                  <a:pos x="51" y="229"/>
                </a:cxn>
                <a:cxn ang="0">
                  <a:pos x="66" y="240"/>
                </a:cxn>
                <a:cxn ang="0">
                  <a:pos x="84" y="252"/>
                </a:cxn>
                <a:cxn ang="0">
                  <a:pos x="104" y="265"/>
                </a:cxn>
                <a:cxn ang="0">
                  <a:pos x="126" y="277"/>
                </a:cxn>
                <a:cxn ang="0">
                  <a:pos x="129" y="279"/>
                </a:cxn>
                <a:cxn ang="0">
                  <a:pos x="138" y="282"/>
                </a:cxn>
                <a:cxn ang="0">
                  <a:pos x="150" y="289"/>
                </a:cxn>
                <a:cxn ang="0">
                  <a:pos x="165" y="296"/>
                </a:cxn>
                <a:cxn ang="0">
                  <a:pos x="184" y="304"/>
                </a:cxn>
                <a:cxn ang="0">
                  <a:pos x="203" y="312"/>
                </a:cxn>
                <a:cxn ang="0">
                  <a:pos x="223" y="321"/>
                </a:cxn>
                <a:cxn ang="0">
                  <a:pos x="241" y="330"/>
                </a:cxn>
              </a:cxnLst>
              <a:rect l="0" t="0" r="r" b="b"/>
              <a:pathLst>
                <a:path w="241" h="330">
                  <a:moveTo>
                    <a:pt x="241" y="330"/>
                  </a:moveTo>
                  <a:lnTo>
                    <a:pt x="238" y="209"/>
                  </a:lnTo>
                  <a:lnTo>
                    <a:pt x="238" y="205"/>
                  </a:lnTo>
                  <a:lnTo>
                    <a:pt x="236" y="194"/>
                  </a:lnTo>
                  <a:lnTo>
                    <a:pt x="234" y="179"/>
                  </a:lnTo>
                  <a:lnTo>
                    <a:pt x="230" y="159"/>
                  </a:lnTo>
                  <a:lnTo>
                    <a:pt x="225" y="137"/>
                  </a:lnTo>
                  <a:lnTo>
                    <a:pt x="218" y="114"/>
                  </a:lnTo>
                  <a:lnTo>
                    <a:pt x="206" y="92"/>
                  </a:lnTo>
                  <a:lnTo>
                    <a:pt x="193" y="72"/>
                  </a:lnTo>
                  <a:lnTo>
                    <a:pt x="191" y="70"/>
                  </a:lnTo>
                  <a:lnTo>
                    <a:pt x="185" y="65"/>
                  </a:lnTo>
                  <a:lnTo>
                    <a:pt x="176" y="57"/>
                  </a:lnTo>
                  <a:lnTo>
                    <a:pt x="165" y="47"/>
                  </a:lnTo>
                  <a:lnTo>
                    <a:pt x="149" y="37"/>
                  </a:lnTo>
                  <a:lnTo>
                    <a:pt x="131" y="27"/>
                  </a:lnTo>
                  <a:lnTo>
                    <a:pt x="109" y="17"/>
                  </a:lnTo>
                  <a:lnTo>
                    <a:pt x="85" y="10"/>
                  </a:lnTo>
                  <a:lnTo>
                    <a:pt x="9" y="0"/>
                  </a:lnTo>
                  <a:lnTo>
                    <a:pt x="1" y="97"/>
                  </a:lnTo>
                  <a:lnTo>
                    <a:pt x="0" y="109"/>
                  </a:lnTo>
                  <a:lnTo>
                    <a:pt x="1" y="136"/>
                  </a:lnTo>
                  <a:lnTo>
                    <a:pt x="8" y="171"/>
                  </a:lnTo>
                  <a:lnTo>
                    <a:pt x="23" y="205"/>
                  </a:lnTo>
                  <a:lnTo>
                    <a:pt x="25" y="206"/>
                  </a:lnTo>
                  <a:lnTo>
                    <a:pt x="30" y="211"/>
                  </a:lnTo>
                  <a:lnTo>
                    <a:pt x="39" y="219"/>
                  </a:lnTo>
                  <a:lnTo>
                    <a:pt x="51" y="229"/>
                  </a:lnTo>
                  <a:lnTo>
                    <a:pt x="66" y="240"/>
                  </a:lnTo>
                  <a:lnTo>
                    <a:pt x="84" y="252"/>
                  </a:lnTo>
                  <a:lnTo>
                    <a:pt x="104" y="265"/>
                  </a:lnTo>
                  <a:lnTo>
                    <a:pt x="126" y="277"/>
                  </a:lnTo>
                  <a:lnTo>
                    <a:pt x="129" y="279"/>
                  </a:lnTo>
                  <a:lnTo>
                    <a:pt x="138" y="282"/>
                  </a:lnTo>
                  <a:lnTo>
                    <a:pt x="150" y="289"/>
                  </a:lnTo>
                  <a:lnTo>
                    <a:pt x="165" y="296"/>
                  </a:lnTo>
                  <a:lnTo>
                    <a:pt x="184" y="304"/>
                  </a:lnTo>
                  <a:lnTo>
                    <a:pt x="203" y="312"/>
                  </a:lnTo>
                  <a:lnTo>
                    <a:pt x="223" y="321"/>
                  </a:lnTo>
                  <a:lnTo>
                    <a:pt x="241" y="33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57" name="Freeform 165"/>
            <p:cNvSpPr>
              <a:spLocks/>
            </p:cNvSpPr>
            <p:nvPr/>
          </p:nvSpPr>
          <p:spPr bwMode="auto">
            <a:xfrm>
              <a:off x="1399" y="1407"/>
              <a:ext cx="243" cy="329"/>
            </a:xfrm>
            <a:custGeom>
              <a:avLst/>
              <a:gdLst/>
              <a:ahLst/>
              <a:cxnLst>
                <a:cxn ang="0">
                  <a:pos x="4" y="329"/>
                </a:cxn>
                <a:cxn ang="0">
                  <a:pos x="8" y="329"/>
                </a:cxn>
                <a:cxn ang="0">
                  <a:pos x="19" y="327"/>
                </a:cxn>
                <a:cxn ang="0">
                  <a:pos x="34" y="326"/>
                </a:cxn>
                <a:cxn ang="0">
                  <a:pos x="54" y="324"/>
                </a:cxn>
                <a:cxn ang="0">
                  <a:pos x="75" y="319"/>
                </a:cxn>
                <a:cxn ang="0">
                  <a:pos x="97" y="311"/>
                </a:cxn>
                <a:cxn ang="0">
                  <a:pos x="117" y="301"/>
                </a:cxn>
                <a:cxn ang="0">
                  <a:pos x="133" y="287"/>
                </a:cxn>
                <a:cxn ang="0">
                  <a:pos x="135" y="285"/>
                </a:cxn>
                <a:cxn ang="0">
                  <a:pos x="140" y="277"/>
                </a:cxn>
                <a:cxn ang="0">
                  <a:pos x="149" y="266"/>
                </a:cxn>
                <a:cxn ang="0">
                  <a:pos x="159" y="250"/>
                </a:cxn>
                <a:cxn ang="0">
                  <a:pos x="170" y="231"/>
                </a:cxn>
                <a:cxn ang="0">
                  <a:pos x="182" y="210"/>
                </a:cxn>
                <a:cxn ang="0">
                  <a:pos x="193" y="185"/>
                </a:cxn>
                <a:cxn ang="0">
                  <a:pos x="202" y="159"/>
                </a:cxn>
                <a:cxn ang="0">
                  <a:pos x="203" y="154"/>
                </a:cxn>
                <a:cxn ang="0">
                  <a:pos x="208" y="139"/>
                </a:cxn>
                <a:cxn ang="0">
                  <a:pos x="214" y="119"/>
                </a:cxn>
                <a:cxn ang="0">
                  <a:pos x="223" y="94"/>
                </a:cxn>
                <a:cxn ang="0">
                  <a:pos x="230" y="67"/>
                </a:cxn>
                <a:cxn ang="0">
                  <a:pos x="237" y="41"/>
                </a:cxn>
                <a:cxn ang="0">
                  <a:pos x="242" y="19"/>
                </a:cxn>
                <a:cxn ang="0">
                  <a:pos x="243" y="2"/>
                </a:cxn>
                <a:cxn ang="0">
                  <a:pos x="240" y="2"/>
                </a:cxn>
                <a:cxn ang="0">
                  <a:pos x="233" y="1"/>
                </a:cxn>
                <a:cxn ang="0">
                  <a:pos x="220" y="0"/>
                </a:cxn>
                <a:cxn ang="0">
                  <a:pos x="205" y="0"/>
                </a:cxn>
                <a:cxn ang="0">
                  <a:pos x="189" y="0"/>
                </a:cxn>
                <a:cxn ang="0">
                  <a:pos x="170" y="2"/>
                </a:cxn>
                <a:cxn ang="0">
                  <a:pos x="152" y="6"/>
                </a:cxn>
                <a:cxn ang="0">
                  <a:pos x="133" y="12"/>
                </a:cxn>
                <a:cxn ang="0">
                  <a:pos x="129" y="14"/>
                </a:cxn>
                <a:cxn ang="0">
                  <a:pos x="122" y="19"/>
                </a:cxn>
                <a:cxn ang="0">
                  <a:pos x="108" y="26"/>
                </a:cxn>
                <a:cxn ang="0">
                  <a:pos x="94" y="35"/>
                </a:cxn>
                <a:cxn ang="0">
                  <a:pos x="78" y="46"/>
                </a:cxn>
                <a:cxn ang="0">
                  <a:pos x="62" y="60"/>
                </a:cxn>
                <a:cxn ang="0">
                  <a:pos x="49" y="74"/>
                </a:cxn>
                <a:cxn ang="0">
                  <a:pos x="39" y="89"/>
                </a:cxn>
                <a:cxn ang="0">
                  <a:pos x="38" y="91"/>
                </a:cxn>
                <a:cxn ang="0">
                  <a:pos x="33" y="100"/>
                </a:cxn>
                <a:cxn ang="0">
                  <a:pos x="25" y="112"/>
                </a:cxn>
                <a:cxn ang="0">
                  <a:pos x="18" y="130"/>
                </a:cxn>
                <a:cxn ang="0">
                  <a:pos x="10" y="151"/>
                </a:cxn>
                <a:cxn ang="0">
                  <a:pos x="5" y="177"/>
                </a:cxn>
                <a:cxn ang="0">
                  <a:pos x="0" y="206"/>
                </a:cxn>
                <a:cxn ang="0">
                  <a:pos x="0" y="239"/>
                </a:cxn>
                <a:cxn ang="0">
                  <a:pos x="4" y="329"/>
                </a:cxn>
              </a:cxnLst>
              <a:rect l="0" t="0" r="r" b="b"/>
              <a:pathLst>
                <a:path w="243" h="329">
                  <a:moveTo>
                    <a:pt x="4" y="329"/>
                  </a:moveTo>
                  <a:lnTo>
                    <a:pt x="8" y="329"/>
                  </a:lnTo>
                  <a:lnTo>
                    <a:pt x="19" y="327"/>
                  </a:lnTo>
                  <a:lnTo>
                    <a:pt x="34" y="326"/>
                  </a:lnTo>
                  <a:lnTo>
                    <a:pt x="54" y="324"/>
                  </a:lnTo>
                  <a:lnTo>
                    <a:pt x="75" y="319"/>
                  </a:lnTo>
                  <a:lnTo>
                    <a:pt x="97" y="311"/>
                  </a:lnTo>
                  <a:lnTo>
                    <a:pt x="117" y="301"/>
                  </a:lnTo>
                  <a:lnTo>
                    <a:pt x="133" y="287"/>
                  </a:lnTo>
                  <a:lnTo>
                    <a:pt x="135" y="285"/>
                  </a:lnTo>
                  <a:lnTo>
                    <a:pt x="140" y="277"/>
                  </a:lnTo>
                  <a:lnTo>
                    <a:pt x="149" y="266"/>
                  </a:lnTo>
                  <a:lnTo>
                    <a:pt x="159" y="250"/>
                  </a:lnTo>
                  <a:lnTo>
                    <a:pt x="170" y="231"/>
                  </a:lnTo>
                  <a:lnTo>
                    <a:pt x="182" y="210"/>
                  </a:lnTo>
                  <a:lnTo>
                    <a:pt x="193" y="185"/>
                  </a:lnTo>
                  <a:lnTo>
                    <a:pt x="202" y="159"/>
                  </a:lnTo>
                  <a:lnTo>
                    <a:pt x="203" y="154"/>
                  </a:lnTo>
                  <a:lnTo>
                    <a:pt x="208" y="139"/>
                  </a:lnTo>
                  <a:lnTo>
                    <a:pt x="214" y="119"/>
                  </a:lnTo>
                  <a:lnTo>
                    <a:pt x="223" y="94"/>
                  </a:lnTo>
                  <a:lnTo>
                    <a:pt x="230" y="67"/>
                  </a:lnTo>
                  <a:lnTo>
                    <a:pt x="237" y="41"/>
                  </a:lnTo>
                  <a:lnTo>
                    <a:pt x="242" y="19"/>
                  </a:lnTo>
                  <a:lnTo>
                    <a:pt x="243" y="2"/>
                  </a:lnTo>
                  <a:lnTo>
                    <a:pt x="240" y="2"/>
                  </a:lnTo>
                  <a:lnTo>
                    <a:pt x="233" y="1"/>
                  </a:lnTo>
                  <a:lnTo>
                    <a:pt x="220" y="0"/>
                  </a:lnTo>
                  <a:lnTo>
                    <a:pt x="205" y="0"/>
                  </a:lnTo>
                  <a:lnTo>
                    <a:pt x="189" y="0"/>
                  </a:lnTo>
                  <a:lnTo>
                    <a:pt x="170" y="2"/>
                  </a:lnTo>
                  <a:lnTo>
                    <a:pt x="152" y="6"/>
                  </a:lnTo>
                  <a:lnTo>
                    <a:pt x="133" y="12"/>
                  </a:lnTo>
                  <a:lnTo>
                    <a:pt x="129" y="14"/>
                  </a:lnTo>
                  <a:lnTo>
                    <a:pt x="122" y="19"/>
                  </a:lnTo>
                  <a:lnTo>
                    <a:pt x="108" y="26"/>
                  </a:lnTo>
                  <a:lnTo>
                    <a:pt x="94" y="35"/>
                  </a:lnTo>
                  <a:lnTo>
                    <a:pt x="78" y="46"/>
                  </a:lnTo>
                  <a:lnTo>
                    <a:pt x="62" y="60"/>
                  </a:lnTo>
                  <a:lnTo>
                    <a:pt x="49" y="74"/>
                  </a:lnTo>
                  <a:lnTo>
                    <a:pt x="39" y="89"/>
                  </a:lnTo>
                  <a:lnTo>
                    <a:pt x="38" y="91"/>
                  </a:lnTo>
                  <a:lnTo>
                    <a:pt x="33" y="100"/>
                  </a:lnTo>
                  <a:lnTo>
                    <a:pt x="25" y="112"/>
                  </a:lnTo>
                  <a:lnTo>
                    <a:pt x="18" y="130"/>
                  </a:lnTo>
                  <a:lnTo>
                    <a:pt x="10" y="151"/>
                  </a:lnTo>
                  <a:lnTo>
                    <a:pt x="5" y="177"/>
                  </a:lnTo>
                  <a:lnTo>
                    <a:pt x="0" y="206"/>
                  </a:lnTo>
                  <a:lnTo>
                    <a:pt x="0" y="239"/>
                  </a:lnTo>
                  <a:lnTo>
                    <a:pt x="4" y="329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58" name="Freeform 166"/>
            <p:cNvSpPr>
              <a:spLocks/>
            </p:cNvSpPr>
            <p:nvPr/>
          </p:nvSpPr>
          <p:spPr bwMode="auto">
            <a:xfrm>
              <a:off x="984" y="2055"/>
              <a:ext cx="167" cy="77"/>
            </a:xfrm>
            <a:custGeom>
              <a:avLst/>
              <a:gdLst/>
              <a:ahLst/>
              <a:cxnLst>
                <a:cxn ang="0">
                  <a:pos x="167" y="73"/>
                </a:cxn>
                <a:cxn ang="0">
                  <a:pos x="87" y="0"/>
                </a:cxn>
                <a:cxn ang="0">
                  <a:pos x="85" y="2"/>
                </a:cxn>
                <a:cxn ang="0">
                  <a:pos x="80" y="7"/>
                </a:cxn>
                <a:cxn ang="0">
                  <a:pos x="74" y="13"/>
                </a:cxn>
                <a:cxn ang="0">
                  <a:pos x="64" y="20"/>
                </a:cxn>
                <a:cxn ang="0">
                  <a:pos x="52" y="29"/>
                </a:cxn>
                <a:cxn ang="0">
                  <a:pos x="37" y="37"/>
                </a:cxn>
                <a:cxn ang="0">
                  <a:pos x="20" y="44"/>
                </a:cxn>
                <a:cxn ang="0">
                  <a:pos x="0" y="49"/>
                </a:cxn>
                <a:cxn ang="0">
                  <a:pos x="0" y="50"/>
                </a:cxn>
                <a:cxn ang="0">
                  <a:pos x="3" y="52"/>
                </a:cxn>
                <a:cxn ang="0">
                  <a:pos x="7" y="54"/>
                </a:cxn>
                <a:cxn ang="0">
                  <a:pos x="14" y="58"/>
                </a:cxn>
                <a:cxn ang="0">
                  <a:pos x="23" y="62"/>
                </a:cxn>
                <a:cxn ang="0">
                  <a:pos x="37" y="65"/>
                </a:cxn>
                <a:cxn ang="0">
                  <a:pos x="54" y="69"/>
                </a:cxn>
                <a:cxn ang="0">
                  <a:pos x="77" y="73"/>
                </a:cxn>
                <a:cxn ang="0">
                  <a:pos x="79" y="73"/>
                </a:cxn>
                <a:cxn ang="0">
                  <a:pos x="87" y="74"/>
                </a:cxn>
                <a:cxn ang="0">
                  <a:pos x="97" y="75"/>
                </a:cxn>
                <a:cxn ang="0">
                  <a:pos x="110" y="75"/>
                </a:cxn>
                <a:cxn ang="0">
                  <a:pos x="124" y="77"/>
                </a:cxn>
                <a:cxn ang="0">
                  <a:pos x="139" y="77"/>
                </a:cxn>
                <a:cxn ang="0">
                  <a:pos x="154" y="75"/>
                </a:cxn>
                <a:cxn ang="0">
                  <a:pos x="167" y="73"/>
                </a:cxn>
              </a:cxnLst>
              <a:rect l="0" t="0" r="r" b="b"/>
              <a:pathLst>
                <a:path w="167" h="77">
                  <a:moveTo>
                    <a:pt x="167" y="73"/>
                  </a:moveTo>
                  <a:lnTo>
                    <a:pt x="87" y="0"/>
                  </a:lnTo>
                  <a:lnTo>
                    <a:pt x="85" y="2"/>
                  </a:lnTo>
                  <a:lnTo>
                    <a:pt x="80" y="7"/>
                  </a:lnTo>
                  <a:lnTo>
                    <a:pt x="74" y="13"/>
                  </a:lnTo>
                  <a:lnTo>
                    <a:pt x="64" y="20"/>
                  </a:lnTo>
                  <a:lnTo>
                    <a:pt x="52" y="29"/>
                  </a:lnTo>
                  <a:lnTo>
                    <a:pt x="37" y="37"/>
                  </a:lnTo>
                  <a:lnTo>
                    <a:pt x="20" y="44"/>
                  </a:lnTo>
                  <a:lnTo>
                    <a:pt x="0" y="49"/>
                  </a:lnTo>
                  <a:lnTo>
                    <a:pt x="0" y="50"/>
                  </a:lnTo>
                  <a:lnTo>
                    <a:pt x="3" y="52"/>
                  </a:lnTo>
                  <a:lnTo>
                    <a:pt x="7" y="54"/>
                  </a:lnTo>
                  <a:lnTo>
                    <a:pt x="14" y="58"/>
                  </a:lnTo>
                  <a:lnTo>
                    <a:pt x="23" y="62"/>
                  </a:lnTo>
                  <a:lnTo>
                    <a:pt x="37" y="65"/>
                  </a:lnTo>
                  <a:lnTo>
                    <a:pt x="54" y="69"/>
                  </a:lnTo>
                  <a:lnTo>
                    <a:pt x="77" y="73"/>
                  </a:lnTo>
                  <a:lnTo>
                    <a:pt x="79" y="73"/>
                  </a:lnTo>
                  <a:lnTo>
                    <a:pt x="87" y="74"/>
                  </a:lnTo>
                  <a:lnTo>
                    <a:pt x="97" y="75"/>
                  </a:lnTo>
                  <a:lnTo>
                    <a:pt x="110" y="75"/>
                  </a:lnTo>
                  <a:lnTo>
                    <a:pt x="124" y="77"/>
                  </a:lnTo>
                  <a:lnTo>
                    <a:pt x="139" y="77"/>
                  </a:lnTo>
                  <a:lnTo>
                    <a:pt x="154" y="75"/>
                  </a:lnTo>
                  <a:lnTo>
                    <a:pt x="167" y="73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59" name="Freeform 167"/>
            <p:cNvSpPr>
              <a:spLocks/>
            </p:cNvSpPr>
            <p:nvPr/>
          </p:nvSpPr>
          <p:spPr bwMode="auto">
            <a:xfrm>
              <a:off x="862" y="1979"/>
              <a:ext cx="181" cy="96"/>
            </a:xfrm>
            <a:custGeom>
              <a:avLst/>
              <a:gdLst/>
              <a:ahLst/>
              <a:cxnLst>
                <a:cxn ang="0">
                  <a:pos x="181" y="63"/>
                </a:cxn>
                <a:cxn ang="0">
                  <a:pos x="94" y="96"/>
                </a:cxn>
                <a:cxn ang="0">
                  <a:pos x="91" y="95"/>
                </a:cxn>
                <a:cxn ang="0">
                  <a:pos x="85" y="90"/>
                </a:cxn>
                <a:cxn ang="0">
                  <a:pos x="75" y="83"/>
                </a:cxn>
                <a:cxn ang="0">
                  <a:pos x="62" y="73"/>
                </a:cxn>
                <a:cxn ang="0">
                  <a:pos x="49" y="59"/>
                </a:cxn>
                <a:cxn ang="0">
                  <a:pos x="32" y="43"/>
                </a:cxn>
                <a:cxn ang="0">
                  <a:pos x="16" y="23"/>
                </a:cxn>
                <a:cxn ang="0">
                  <a:pos x="0" y="0"/>
                </a:cxn>
                <a:cxn ang="0">
                  <a:pos x="160" y="16"/>
                </a:cxn>
                <a:cxn ang="0">
                  <a:pos x="181" y="63"/>
                </a:cxn>
              </a:cxnLst>
              <a:rect l="0" t="0" r="r" b="b"/>
              <a:pathLst>
                <a:path w="181" h="96">
                  <a:moveTo>
                    <a:pt x="181" y="63"/>
                  </a:moveTo>
                  <a:lnTo>
                    <a:pt x="94" y="96"/>
                  </a:lnTo>
                  <a:lnTo>
                    <a:pt x="91" y="95"/>
                  </a:lnTo>
                  <a:lnTo>
                    <a:pt x="85" y="90"/>
                  </a:lnTo>
                  <a:lnTo>
                    <a:pt x="75" y="83"/>
                  </a:lnTo>
                  <a:lnTo>
                    <a:pt x="62" y="73"/>
                  </a:lnTo>
                  <a:lnTo>
                    <a:pt x="49" y="59"/>
                  </a:lnTo>
                  <a:lnTo>
                    <a:pt x="32" y="43"/>
                  </a:lnTo>
                  <a:lnTo>
                    <a:pt x="16" y="23"/>
                  </a:lnTo>
                  <a:lnTo>
                    <a:pt x="0" y="0"/>
                  </a:lnTo>
                  <a:lnTo>
                    <a:pt x="160" y="16"/>
                  </a:lnTo>
                  <a:lnTo>
                    <a:pt x="181" y="63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60" name="Freeform 168"/>
            <p:cNvSpPr>
              <a:spLocks/>
            </p:cNvSpPr>
            <p:nvPr/>
          </p:nvSpPr>
          <p:spPr bwMode="auto">
            <a:xfrm>
              <a:off x="833" y="1861"/>
              <a:ext cx="158" cy="101"/>
            </a:xfrm>
            <a:custGeom>
              <a:avLst/>
              <a:gdLst/>
              <a:ahLst/>
              <a:cxnLst>
                <a:cxn ang="0">
                  <a:pos x="158" y="101"/>
                </a:cxn>
                <a:cxn ang="0">
                  <a:pos x="89" y="13"/>
                </a:cxn>
                <a:cxn ang="0">
                  <a:pos x="1" y="0"/>
                </a:cxn>
                <a:cxn ang="0">
                  <a:pos x="0" y="7"/>
                </a:cxn>
                <a:cxn ang="0">
                  <a:pos x="0" y="26"/>
                </a:cxn>
                <a:cxn ang="0">
                  <a:pos x="5" y="52"/>
                </a:cxn>
                <a:cxn ang="0">
                  <a:pos x="19" y="83"/>
                </a:cxn>
                <a:cxn ang="0">
                  <a:pos x="158" y="101"/>
                </a:cxn>
              </a:cxnLst>
              <a:rect l="0" t="0" r="r" b="b"/>
              <a:pathLst>
                <a:path w="158" h="101">
                  <a:moveTo>
                    <a:pt x="158" y="101"/>
                  </a:moveTo>
                  <a:lnTo>
                    <a:pt x="89" y="13"/>
                  </a:lnTo>
                  <a:lnTo>
                    <a:pt x="1" y="0"/>
                  </a:lnTo>
                  <a:lnTo>
                    <a:pt x="0" y="7"/>
                  </a:lnTo>
                  <a:lnTo>
                    <a:pt x="0" y="26"/>
                  </a:lnTo>
                  <a:lnTo>
                    <a:pt x="5" y="52"/>
                  </a:lnTo>
                  <a:lnTo>
                    <a:pt x="19" y="83"/>
                  </a:lnTo>
                  <a:lnTo>
                    <a:pt x="158" y="101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61" name="Freeform 169"/>
            <p:cNvSpPr>
              <a:spLocks/>
            </p:cNvSpPr>
            <p:nvPr/>
          </p:nvSpPr>
          <p:spPr bwMode="auto">
            <a:xfrm>
              <a:off x="818" y="1726"/>
              <a:ext cx="75" cy="103"/>
            </a:xfrm>
            <a:custGeom>
              <a:avLst/>
              <a:gdLst/>
              <a:ahLst/>
              <a:cxnLst>
                <a:cxn ang="0">
                  <a:pos x="75" y="103"/>
                </a:cxn>
                <a:cxn ang="0">
                  <a:pos x="10" y="0"/>
                </a:cxn>
                <a:cxn ang="0">
                  <a:pos x="8" y="8"/>
                </a:cxn>
                <a:cxn ang="0">
                  <a:pos x="3" y="28"/>
                </a:cxn>
                <a:cxn ang="0">
                  <a:pos x="0" y="57"/>
                </a:cxn>
                <a:cxn ang="0">
                  <a:pos x="3" y="86"/>
                </a:cxn>
                <a:cxn ang="0">
                  <a:pos x="4" y="87"/>
                </a:cxn>
                <a:cxn ang="0">
                  <a:pos x="6" y="90"/>
                </a:cxn>
                <a:cxn ang="0">
                  <a:pos x="11" y="92"/>
                </a:cxn>
                <a:cxn ang="0">
                  <a:pos x="19" y="96"/>
                </a:cxn>
                <a:cxn ang="0">
                  <a:pos x="28" y="100"/>
                </a:cxn>
                <a:cxn ang="0">
                  <a:pos x="40" y="102"/>
                </a:cxn>
                <a:cxn ang="0">
                  <a:pos x="56" y="103"/>
                </a:cxn>
                <a:cxn ang="0">
                  <a:pos x="75" y="103"/>
                </a:cxn>
              </a:cxnLst>
              <a:rect l="0" t="0" r="r" b="b"/>
              <a:pathLst>
                <a:path w="75" h="103">
                  <a:moveTo>
                    <a:pt x="75" y="103"/>
                  </a:moveTo>
                  <a:lnTo>
                    <a:pt x="10" y="0"/>
                  </a:lnTo>
                  <a:lnTo>
                    <a:pt x="8" y="8"/>
                  </a:lnTo>
                  <a:lnTo>
                    <a:pt x="3" y="28"/>
                  </a:lnTo>
                  <a:lnTo>
                    <a:pt x="0" y="57"/>
                  </a:lnTo>
                  <a:lnTo>
                    <a:pt x="3" y="86"/>
                  </a:lnTo>
                  <a:lnTo>
                    <a:pt x="4" y="87"/>
                  </a:lnTo>
                  <a:lnTo>
                    <a:pt x="6" y="90"/>
                  </a:lnTo>
                  <a:lnTo>
                    <a:pt x="11" y="92"/>
                  </a:lnTo>
                  <a:lnTo>
                    <a:pt x="19" y="96"/>
                  </a:lnTo>
                  <a:lnTo>
                    <a:pt x="28" y="100"/>
                  </a:lnTo>
                  <a:lnTo>
                    <a:pt x="40" y="102"/>
                  </a:lnTo>
                  <a:lnTo>
                    <a:pt x="56" y="103"/>
                  </a:lnTo>
                  <a:lnTo>
                    <a:pt x="75" y="103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62" name="Freeform 170"/>
            <p:cNvSpPr>
              <a:spLocks/>
            </p:cNvSpPr>
            <p:nvPr/>
          </p:nvSpPr>
          <p:spPr bwMode="auto">
            <a:xfrm>
              <a:off x="828" y="1669"/>
              <a:ext cx="121" cy="170"/>
            </a:xfrm>
            <a:custGeom>
              <a:avLst/>
              <a:gdLst/>
              <a:ahLst/>
              <a:cxnLst>
                <a:cxn ang="0">
                  <a:pos x="114" y="170"/>
                </a:cxn>
                <a:cxn ang="0">
                  <a:pos x="0" y="0"/>
                </a:cxn>
                <a:cxn ang="0">
                  <a:pos x="4" y="2"/>
                </a:cxn>
                <a:cxn ang="0">
                  <a:pos x="15" y="5"/>
                </a:cxn>
                <a:cxn ang="0">
                  <a:pos x="31" y="12"/>
                </a:cxn>
                <a:cxn ang="0">
                  <a:pos x="51" y="19"/>
                </a:cxn>
                <a:cxn ang="0">
                  <a:pos x="73" y="28"/>
                </a:cxn>
                <a:cxn ang="0">
                  <a:pos x="91" y="38"/>
                </a:cxn>
                <a:cxn ang="0">
                  <a:pos x="109" y="49"/>
                </a:cxn>
                <a:cxn ang="0">
                  <a:pos x="121" y="60"/>
                </a:cxn>
                <a:cxn ang="0">
                  <a:pos x="121" y="69"/>
                </a:cxn>
                <a:cxn ang="0">
                  <a:pos x="120" y="92"/>
                </a:cxn>
                <a:cxn ang="0">
                  <a:pos x="118" y="127"/>
                </a:cxn>
                <a:cxn ang="0">
                  <a:pos x="114" y="170"/>
                </a:cxn>
              </a:cxnLst>
              <a:rect l="0" t="0" r="r" b="b"/>
              <a:pathLst>
                <a:path w="121" h="170">
                  <a:moveTo>
                    <a:pt x="114" y="170"/>
                  </a:moveTo>
                  <a:lnTo>
                    <a:pt x="0" y="0"/>
                  </a:lnTo>
                  <a:lnTo>
                    <a:pt x="4" y="2"/>
                  </a:lnTo>
                  <a:lnTo>
                    <a:pt x="15" y="5"/>
                  </a:lnTo>
                  <a:lnTo>
                    <a:pt x="31" y="12"/>
                  </a:lnTo>
                  <a:lnTo>
                    <a:pt x="51" y="19"/>
                  </a:lnTo>
                  <a:lnTo>
                    <a:pt x="73" y="28"/>
                  </a:lnTo>
                  <a:lnTo>
                    <a:pt x="91" y="38"/>
                  </a:lnTo>
                  <a:lnTo>
                    <a:pt x="109" y="49"/>
                  </a:lnTo>
                  <a:lnTo>
                    <a:pt x="121" y="60"/>
                  </a:lnTo>
                  <a:lnTo>
                    <a:pt x="121" y="69"/>
                  </a:lnTo>
                  <a:lnTo>
                    <a:pt x="120" y="92"/>
                  </a:lnTo>
                  <a:lnTo>
                    <a:pt x="118" y="127"/>
                  </a:lnTo>
                  <a:lnTo>
                    <a:pt x="114" y="17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63" name="Freeform 171"/>
            <p:cNvSpPr>
              <a:spLocks/>
            </p:cNvSpPr>
            <p:nvPr/>
          </p:nvSpPr>
          <p:spPr bwMode="auto">
            <a:xfrm>
              <a:off x="967" y="1753"/>
              <a:ext cx="82" cy="198"/>
            </a:xfrm>
            <a:custGeom>
              <a:avLst/>
              <a:gdLst/>
              <a:ahLst/>
              <a:cxnLst>
                <a:cxn ang="0">
                  <a:pos x="0" y="129"/>
                </a:cxn>
                <a:cxn ang="0">
                  <a:pos x="17" y="0"/>
                </a:cxn>
                <a:cxn ang="0">
                  <a:pos x="19" y="1"/>
                </a:cxn>
                <a:cxn ang="0">
                  <a:pos x="24" y="4"/>
                </a:cxn>
                <a:cxn ang="0">
                  <a:pos x="31" y="10"/>
                </a:cxn>
                <a:cxn ang="0">
                  <a:pos x="40" y="18"/>
                </a:cxn>
                <a:cxn ang="0">
                  <a:pos x="50" y="28"/>
                </a:cxn>
                <a:cxn ang="0">
                  <a:pos x="61" y="40"/>
                </a:cxn>
                <a:cxn ang="0">
                  <a:pos x="71" y="55"/>
                </a:cxn>
                <a:cxn ang="0">
                  <a:pos x="82" y="73"/>
                </a:cxn>
                <a:cxn ang="0">
                  <a:pos x="51" y="198"/>
                </a:cxn>
                <a:cxn ang="0">
                  <a:pos x="0" y="129"/>
                </a:cxn>
              </a:cxnLst>
              <a:rect l="0" t="0" r="r" b="b"/>
              <a:pathLst>
                <a:path w="82" h="198">
                  <a:moveTo>
                    <a:pt x="0" y="129"/>
                  </a:moveTo>
                  <a:lnTo>
                    <a:pt x="17" y="0"/>
                  </a:lnTo>
                  <a:lnTo>
                    <a:pt x="19" y="1"/>
                  </a:lnTo>
                  <a:lnTo>
                    <a:pt x="24" y="4"/>
                  </a:lnTo>
                  <a:lnTo>
                    <a:pt x="31" y="10"/>
                  </a:lnTo>
                  <a:lnTo>
                    <a:pt x="40" y="18"/>
                  </a:lnTo>
                  <a:lnTo>
                    <a:pt x="50" y="28"/>
                  </a:lnTo>
                  <a:lnTo>
                    <a:pt x="61" y="40"/>
                  </a:lnTo>
                  <a:lnTo>
                    <a:pt x="71" y="55"/>
                  </a:lnTo>
                  <a:lnTo>
                    <a:pt x="82" y="73"/>
                  </a:lnTo>
                  <a:lnTo>
                    <a:pt x="51" y="198"/>
                  </a:lnTo>
                  <a:lnTo>
                    <a:pt x="0" y="129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64" name="Freeform 172"/>
            <p:cNvSpPr>
              <a:spLocks/>
            </p:cNvSpPr>
            <p:nvPr/>
          </p:nvSpPr>
          <p:spPr bwMode="auto">
            <a:xfrm>
              <a:off x="1049" y="1878"/>
              <a:ext cx="125" cy="222"/>
            </a:xfrm>
            <a:custGeom>
              <a:avLst/>
              <a:gdLst/>
              <a:ahLst/>
              <a:cxnLst>
                <a:cxn ang="0">
                  <a:pos x="0" y="104"/>
                </a:cxn>
                <a:cxn ang="0">
                  <a:pos x="22" y="0"/>
                </a:cxn>
                <a:cxn ang="0">
                  <a:pos x="25" y="5"/>
                </a:cxn>
                <a:cxn ang="0">
                  <a:pos x="33" y="20"/>
                </a:cxn>
                <a:cxn ang="0">
                  <a:pos x="47" y="43"/>
                </a:cxn>
                <a:cxn ang="0">
                  <a:pos x="62" y="71"/>
                </a:cxn>
                <a:cxn ang="0">
                  <a:pos x="79" y="105"/>
                </a:cxn>
                <a:cxn ang="0">
                  <a:pos x="95" y="140"/>
                </a:cxn>
                <a:cxn ang="0">
                  <a:pos x="112" y="176"/>
                </a:cxn>
                <a:cxn ang="0">
                  <a:pos x="125" y="211"/>
                </a:cxn>
                <a:cxn ang="0">
                  <a:pos x="125" y="222"/>
                </a:cxn>
                <a:cxn ang="0">
                  <a:pos x="0" y="104"/>
                </a:cxn>
              </a:cxnLst>
              <a:rect l="0" t="0" r="r" b="b"/>
              <a:pathLst>
                <a:path w="125" h="222">
                  <a:moveTo>
                    <a:pt x="0" y="104"/>
                  </a:moveTo>
                  <a:lnTo>
                    <a:pt x="22" y="0"/>
                  </a:lnTo>
                  <a:lnTo>
                    <a:pt x="25" y="5"/>
                  </a:lnTo>
                  <a:lnTo>
                    <a:pt x="33" y="20"/>
                  </a:lnTo>
                  <a:lnTo>
                    <a:pt x="47" y="43"/>
                  </a:lnTo>
                  <a:lnTo>
                    <a:pt x="62" y="71"/>
                  </a:lnTo>
                  <a:lnTo>
                    <a:pt x="79" y="105"/>
                  </a:lnTo>
                  <a:lnTo>
                    <a:pt x="95" y="140"/>
                  </a:lnTo>
                  <a:lnTo>
                    <a:pt x="112" y="176"/>
                  </a:lnTo>
                  <a:lnTo>
                    <a:pt x="125" y="211"/>
                  </a:lnTo>
                  <a:lnTo>
                    <a:pt x="125" y="222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65" name="Freeform 173"/>
            <p:cNvSpPr>
              <a:spLocks/>
            </p:cNvSpPr>
            <p:nvPr/>
          </p:nvSpPr>
          <p:spPr bwMode="auto">
            <a:xfrm>
              <a:off x="956" y="1611"/>
              <a:ext cx="118" cy="72"/>
            </a:xfrm>
            <a:custGeom>
              <a:avLst/>
              <a:gdLst/>
              <a:ahLst/>
              <a:cxnLst>
                <a:cxn ang="0">
                  <a:pos x="118" y="72"/>
                </a:cxn>
                <a:cxn ang="0">
                  <a:pos x="80" y="3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10" y="10"/>
                </a:cxn>
                <a:cxn ang="0">
                  <a:pos x="22" y="18"/>
                </a:cxn>
                <a:cxn ang="0">
                  <a:pos x="37" y="31"/>
                </a:cxn>
                <a:cxn ang="0">
                  <a:pos x="55" y="43"/>
                </a:cxn>
                <a:cxn ang="0">
                  <a:pos x="75" y="55"/>
                </a:cxn>
                <a:cxn ang="0">
                  <a:pos x="96" y="65"/>
                </a:cxn>
                <a:cxn ang="0">
                  <a:pos x="118" y="72"/>
                </a:cxn>
              </a:cxnLst>
              <a:rect l="0" t="0" r="r" b="b"/>
              <a:pathLst>
                <a:path w="118" h="72">
                  <a:moveTo>
                    <a:pt x="118" y="72"/>
                  </a:moveTo>
                  <a:lnTo>
                    <a:pt x="80" y="3"/>
                  </a:lnTo>
                  <a:lnTo>
                    <a:pt x="0" y="0"/>
                  </a:lnTo>
                  <a:lnTo>
                    <a:pt x="2" y="2"/>
                  </a:lnTo>
                  <a:lnTo>
                    <a:pt x="10" y="10"/>
                  </a:lnTo>
                  <a:lnTo>
                    <a:pt x="22" y="18"/>
                  </a:lnTo>
                  <a:lnTo>
                    <a:pt x="37" y="31"/>
                  </a:lnTo>
                  <a:lnTo>
                    <a:pt x="55" y="43"/>
                  </a:lnTo>
                  <a:lnTo>
                    <a:pt x="75" y="55"/>
                  </a:lnTo>
                  <a:lnTo>
                    <a:pt x="96" y="65"/>
                  </a:lnTo>
                  <a:lnTo>
                    <a:pt x="118" y="72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66" name="Freeform 174"/>
            <p:cNvSpPr>
              <a:spLocks/>
            </p:cNvSpPr>
            <p:nvPr/>
          </p:nvSpPr>
          <p:spPr bwMode="auto">
            <a:xfrm>
              <a:off x="897" y="1513"/>
              <a:ext cx="119" cy="76"/>
            </a:xfrm>
            <a:custGeom>
              <a:avLst/>
              <a:gdLst/>
              <a:ahLst/>
              <a:cxnLst>
                <a:cxn ang="0">
                  <a:pos x="119" y="76"/>
                </a:cxn>
                <a:cxn ang="0">
                  <a:pos x="74" y="4"/>
                </a:cxn>
                <a:cxn ang="0">
                  <a:pos x="0" y="0"/>
                </a:cxn>
                <a:cxn ang="0">
                  <a:pos x="0" y="9"/>
                </a:cxn>
                <a:cxn ang="0">
                  <a:pos x="2" y="30"/>
                </a:cxn>
                <a:cxn ang="0">
                  <a:pos x="10" y="56"/>
                </a:cxn>
                <a:cxn ang="0">
                  <a:pos x="27" y="76"/>
                </a:cxn>
                <a:cxn ang="0">
                  <a:pos x="119" y="76"/>
                </a:cxn>
              </a:cxnLst>
              <a:rect l="0" t="0" r="r" b="b"/>
              <a:pathLst>
                <a:path w="119" h="76">
                  <a:moveTo>
                    <a:pt x="119" y="76"/>
                  </a:moveTo>
                  <a:lnTo>
                    <a:pt x="74" y="4"/>
                  </a:lnTo>
                  <a:lnTo>
                    <a:pt x="0" y="0"/>
                  </a:lnTo>
                  <a:lnTo>
                    <a:pt x="0" y="9"/>
                  </a:lnTo>
                  <a:lnTo>
                    <a:pt x="2" y="30"/>
                  </a:lnTo>
                  <a:lnTo>
                    <a:pt x="10" y="56"/>
                  </a:lnTo>
                  <a:lnTo>
                    <a:pt x="27" y="76"/>
                  </a:lnTo>
                  <a:lnTo>
                    <a:pt x="119" y="76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67" name="Freeform 175"/>
            <p:cNvSpPr>
              <a:spLocks/>
            </p:cNvSpPr>
            <p:nvPr/>
          </p:nvSpPr>
          <p:spPr bwMode="auto">
            <a:xfrm>
              <a:off x="901" y="1437"/>
              <a:ext cx="52" cy="56"/>
            </a:xfrm>
            <a:custGeom>
              <a:avLst/>
              <a:gdLst/>
              <a:ahLst/>
              <a:cxnLst>
                <a:cxn ang="0">
                  <a:pos x="52" y="56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0" y="21"/>
                </a:cxn>
                <a:cxn ang="0">
                  <a:pos x="0" y="39"/>
                </a:cxn>
                <a:cxn ang="0">
                  <a:pos x="0" y="52"/>
                </a:cxn>
                <a:cxn ang="0">
                  <a:pos x="52" y="56"/>
                </a:cxn>
              </a:cxnLst>
              <a:rect l="0" t="0" r="r" b="b"/>
              <a:pathLst>
                <a:path w="52" h="56">
                  <a:moveTo>
                    <a:pt x="52" y="5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21"/>
                  </a:lnTo>
                  <a:lnTo>
                    <a:pt x="0" y="39"/>
                  </a:lnTo>
                  <a:lnTo>
                    <a:pt x="0" y="52"/>
                  </a:lnTo>
                  <a:lnTo>
                    <a:pt x="52" y="56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68" name="Freeform 176"/>
            <p:cNvSpPr>
              <a:spLocks/>
            </p:cNvSpPr>
            <p:nvPr/>
          </p:nvSpPr>
          <p:spPr bwMode="auto">
            <a:xfrm>
              <a:off x="939" y="1432"/>
              <a:ext cx="73" cy="7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" y="1"/>
                </a:cxn>
                <a:cxn ang="0">
                  <a:pos x="7" y="0"/>
                </a:cxn>
                <a:cxn ang="0">
                  <a:pos x="13" y="0"/>
                </a:cxn>
                <a:cxn ang="0">
                  <a:pos x="22" y="1"/>
                </a:cxn>
                <a:cxn ang="0">
                  <a:pos x="33" y="5"/>
                </a:cxn>
                <a:cxn ang="0">
                  <a:pos x="45" y="10"/>
                </a:cxn>
                <a:cxn ang="0">
                  <a:pos x="59" y="19"/>
                </a:cxn>
                <a:cxn ang="0">
                  <a:pos x="73" y="32"/>
                </a:cxn>
                <a:cxn ang="0">
                  <a:pos x="69" y="79"/>
                </a:cxn>
                <a:cxn ang="0">
                  <a:pos x="67" y="76"/>
                </a:cxn>
                <a:cxn ang="0">
                  <a:pos x="60" y="69"/>
                </a:cxn>
                <a:cxn ang="0">
                  <a:pos x="52" y="59"/>
                </a:cxn>
                <a:cxn ang="0">
                  <a:pos x="40" y="45"/>
                </a:cxn>
                <a:cxn ang="0">
                  <a:pos x="29" y="32"/>
                </a:cxn>
                <a:cxn ang="0">
                  <a:pos x="18" y="20"/>
                </a:cxn>
                <a:cxn ang="0">
                  <a:pos x="8" y="9"/>
                </a:cxn>
                <a:cxn ang="0">
                  <a:pos x="0" y="1"/>
                </a:cxn>
              </a:cxnLst>
              <a:rect l="0" t="0" r="r" b="b"/>
              <a:pathLst>
                <a:path w="73" h="79">
                  <a:moveTo>
                    <a:pt x="0" y="1"/>
                  </a:moveTo>
                  <a:lnTo>
                    <a:pt x="2" y="1"/>
                  </a:lnTo>
                  <a:lnTo>
                    <a:pt x="7" y="0"/>
                  </a:lnTo>
                  <a:lnTo>
                    <a:pt x="13" y="0"/>
                  </a:lnTo>
                  <a:lnTo>
                    <a:pt x="22" y="1"/>
                  </a:lnTo>
                  <a:lnTo>
                    <a:pt x="33" y="5"/>
                  </a:lnTo>
                  <a:lnTo>
                    <a:pt x="45" y="10"/>
                  </a:lnTo>
                  <a:lnTo>
                    <a:pt x="59" y="19"/>
                  </a:lnTo>
                  <a:lnTo>
                    <a:pt x="73" y="32"/>
                  </a:lnTo>
                  <a:lnTo>
                    <a:pt x="69" y="79"/>
                  </a:lnTo>
                  <a:lnTo>
                    <a:pt x="67" y="76"/>
                  </a:lnTo>
                  <a:lnTo>
                    <a:pt x="60" y="69"/>
                  </a:lnTo>
                  <a:lnTo>
                    <a:pt x="52" y="59"/>
                  </a:lnTo>
                  <a:lnTo>
                    <a:pt x="40" y="45"/>
                  </a:lnTo>
                  <a:lnTo>
                    <a:pt x="29" y="32"/>
                  </a:lnTo>
                  <a:lnTo>
                    <a:pt x="18" y="20"/>
                  </a:lnTo>
                  <a:lnTo>
                    <a:pt x="8" y="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69" name="Freeform 177"/>
            <p:cNvSpPr>
              <a:spLocks/>
            </p:cNvSpPr>
            <p:nvPr/>
          </p:nvSpPr>
          <p:spPr bwMode="auto">
            <a:xfrm>
              <a:off x="1039" y="1503"/>
              <a:ext cx="49" cy="15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63"/>
                </a:cxn>
                <a:cxn ang="0">
                  <a:pos x="49" y="156"/>
                </a:cxn>
                <a:cxn ang="0">
                  <a:pos x="49" y="153"/>
                </a:cxn>
                <a:cxn ang="0">
                  <a:pos x="48" y="141"/>
                </a:cxn>
                <a:cxn ang="0">
                  <a:pos x="44" y="125"/>
                </a:cxn>
                <a:cxn ang="0">
                  <a:pos x="40" y="104"/>
                </a:cxn>
                <a:cxn ang="0">
                  <a:pos x="34" y="80"/>
                </a:cxn>
                <a:cxn ang="0">
                  <a:pos x="25" y="54"/>
                </a:cxn>
                <a:cxn ang="0">
                  <a:pos x="14" y="26"/>
                </a:cxn>
                <a:cxn ang="0">
                  <a:pos x="0" y="0"/>
                </a:cxn>
              </a:cxnLst>
              <a:rect l="0" t="0" r="r" b="b"/>
              <a:pathLst>
                <a:path w="49" h="156">
                  <a:moveTo>
                    <a:pt x="0" y="0"/>
                  </a:moveTo>
                  <a:lnTo>
                    <a:pt x="0" y="63"/>
                  </a:lnTo>
                  <a:lnTo>
                    <a:pt x="49" y="156"/>
                  </a:lnTo>
                  <a:lnTo>
                    <a:pt x="49" y="153"/>
                  </a:lnTo>
                  <a:lnTo>
                    <a:pt x="48" y="141"/>
                  </a:lnTo>
                  <a:lnTo>
                    <a:pt x="44" y="125"/>
                  </a:lnTo>
                  <a:lnTo>
                    <a:pt x="40" y="104"/>
                  </a:lnTo>
                  <a:lnTo>
                    <a:pt x="34" y="80"/>
                  </a:lnTo>
                  <a:lnTo>
                    <a:pt x="25" y="54"/>
                  </a:lnTo>
                  <a:lnTo>
                    <a:pt x="14" y="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70" name="Freeform 178"/>
            <p:cNvSpPr>
              <a:spLocks/>
            </p:cNvSpPr>
            <p:nvPr/>
          </p:nvSpPr>
          <p:spPr bwMode="auto">
            <a:xfrm>
              <a:off x="1141" y="1806"/>
              <a:ext cx="88" cy="214"/>
            </a:xfrm>
            <a:custGeom>
              <a:avLst/>
              <a:gdLst/>
              <a:ahLst/>
              <a:cxnLst>
                <a:cxn ang="0">
                  <a:pos x="88" y="214"/>
                </a:cxn>
                <a:cxn ang="0">
                  <a:pos x="78" y="80"/>
                </a:cxn>
                <a:cxn ang="0">
                  <a:pos x="6" y="0"/>
                </a:cxn>
                <a:cxn ang="0">
                  <a:pos x="5" y="11"/>
                </a:cxn>
                <a:cxn ang="0">
                  <a:pos x="2" y="37"/>
                </a:cxn>
                <a:cxn ang="0">
                  <a:pos x="0" y="70"/>
                </a:cxn>
                <a:cxn ang="0">
                  <a:pos x="2" y="96"/>
                </a:cxn>
                <a:cxn ang="0">
                  <a:pos x="88" y="214"/>
                </a:cxn>
              </a:cxnLst>
              <a:rect l="0" t="0" r="r" b="b"/>
              <a:pathLst>
                <a:path w="88" h="214">
                  <a:moveTo>
                    <a:pt x="88" y="214"/>
                  </a:moveTo>
                  <a:lnTo>
                    <a:pt x="78" y="80"/>
                  </a:lnTo>
                  <a:lnTo>
                    <a:pt x="6" y="0"/>
                  </a:lnTo>
                  <a:lnTo>
                    <a:pt x="5" y="11"/>
                  </a:lnTo>
                  <a:lnTo>
                    <a:pt x="2" y="37"/>
                  </a:lnTo>
                  <a:lnTo>
                    <a:pt x="0" y="70"/>
                  </a:lnTo>
                  <a:lnTo>
                    <a:pt x="2" y="96"/>
                  </a:lnTo>
                  <a:lnTo>
                    <a:pt x="88" y="214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71" name="Freeform 179"/>
            <p:cNvSpPr>
              <a:spLocks/>
            </p:cNvSpPr>
            <p:nvPr/>
          </p:nvSpPr>
          <p:spPr bwMode="auto">
            <a:xfrm>
              <a:off x="1161" y="1691"/>
              <a:ext cx="75" cy="138"/>
            </a:xfrm>
            <a:custGeom>
              <a:avLst/>
              <a:gdLst/>
              <a:ahLst/>
              <a:cxnLst>
                <a:cxn ang="0">
                  <a:pos x="72" y="138"/>
                </a:cxn>
                <a:cxn ang="0">
                  <a:pos x="75" y="83"/>
                </a:cxn>
                <a:cxn ang="0">
                  <a:pos x="25" y="0"/>
                </a:cxn>
                <a:cxn ang="0">
                  <a:pos x="21" y="3"/>
                </a:cxn>
                <a:cxn ang="0">
                  <a:pos x="11" y="17"/>
                </a:cxn>
                <a:cxn ang="0">
                  <a:pos x="2" y="42"/>
                </a:cxn>
                <a:cxn ang="0">
                  <a:pos x="0" y="80"/>
                </a:cxn>
                <a:cxn ang="0">
                  <a:pos x="72" y="138"/>
                </a:cxn>
              </a:cxnLst>
              <a:rect l="0" t="0" r="r" b="b"/>
              <a:pathLst>
                <a:path w="75" h="138">
                  <a:moveTo>
                    <a:pt x="72" y="138"/>
                  </a:moveTo>
                  <a:lnTo>
                    <a:pt x="75" y="83"/>
                  </a:lnTo>
                  <a:lnTo>
                    <a:pt x="25" y="0"/>
                  </a:lnTo>
                  <a:lnTo>
                    <a:pt x="21" y="3"/>
                  </a:lnTo>
                  <a:lnTo>
                    <a:pt x="11" y="17"/>
                  </a:lnTo>
                  <a:lnTo>
                    <a:pt x="2" y="42"/>
                  </a:lnTo>
                  <a:lnTo>
                    <a:pt x="0" y="80"/>
                  </a:lnTo>
                  <a:lnTo>
                    <a:pt x="72" y="138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72" name="Freeform 180"/>
            <p:cNvSpPr>
              <a:spLocks/>
            </p:cNvSpPr>
            <p:nvPr/>
          </p:nvSpPr>
          <p:spPr bwMode="auto">
            <a:xfrm>
              <a:off x="1198" y="1552"/>
              <a:ext cx="45" cy="149"/>
            </a:xfrm>
            <a:custGeom>
              <a:avLst/>
              <a:gdLst/>
              <a:ahLst/>
              <a:cxnLst>
                <a:cxn ang="0">
                  <a:pos x="35" y="149"/>
                </a:cxn>
                <a:cxn ang="0">
                  <a:pos x="45" y="0"/>
                </a:cxn>
                <a:cxn ang="0">
                  <a:pos x="44" y="1"/>
                </a:cxn>
                <a:cxn ang="0">
                  <a:pos x="39" y="6"/>
                </a:cxn>
                <a:cxn ang="0">
                  <a:pos x="31" y="14"/>
                </a:cxn>
                <a:cxn ang="0">
                  <a:pos x="24" y="26"/>
                </a:cxn>
                <a:cxn ang="0">
                  <a:pos x="16" y="41"/>
                </a:cxn>
                <a:cxn ang="0">
                  <a:pos x="9" y="61"/>
                </a:cxn>
                <a:cxn ang="0">
                  <a:pos x="3" y="86"/>
                </a:cxn>
                <a:cxn ang="0">
                  <a:pos x="0" y="115"/>
                </a:cxn>
                <a:cxn ang="0">
                  <a:pos x="35" y="149"/>
                </a:cxn>
              </a:cxnLst>
              <a:rect l="0" t="0" r="r" b="b"/>
              <a:pathLst>
                <a:path w="45" h="149">
                  <a:moveTo>
                    <a:pt x="35" y="149"/>
                  </a:moveTo>
                  <a:lnTo>
                    <a:pt x="45" y="0"/>
                  </a:lnTo>
                  <a:lnTo>
                    <a:pt x="44" y="1"/>
                  </a:lnTo>
                  <a:lnTo>
                    <a:pt x="39" y="6"/>
                  </a:lnTo>
                  <a:lnTo>
                    <a:pt x="31" y="14"/>
                  </a:lnTo>
                  <a:lnTo>
                    <a:pt x="24" y="26"/>
                  </a:lnTo>
                  <a:lnTo>
                    <a:pt x="16" y="41"/>
                  </a:lnTo>
                  <a:lnTo>
                    <a:pt x="9" y="61"/>
                  </a:lnTo>
                  <a:lnTo>
                    <a:pt x="3" y="86"/>
                  </a:lnTo>
                  <a:lnTo>
                    <a:pt x="0" y="115"/>
                  </a:lnTo>
                  <a:lnTo>
                    <a:pt x="35" y="149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73" name="Freeform 181"/>
            <p:cNvSpPr>
              <a:spLocks/>
            </p:cNvSpPr>
            <p:nvPr/>
          </p:nvSpPr>
          <p:spPr bwMode="auto">
            <a:xfrm>
              <a:off x="1261" y="1558"/>
              <a:ext cx="68" cy="181"/>
            </a:xfrm>
            <a:custGeom>
              <a:avLst/>
              <a:gdLst/>
              <a:ahLst/>
              <a:cxnLst>
                <a:cxn ang="0">
                  <a:pos x="0" y="181"/>
                </a:cxn>
                <a:cxn ang="0">
                  <a:pos x="13" y="0"/>
                </a:cxn>
                <a:cxn ang="0">
                  <a:pos x="16" y="3"/>
                </a:cxn>
                <a:cxn ang="0">
                  <a:pos x="21" y="9"/>
                </a:cxn>
                <a:cxn ang="0">
                  <a:pos x="28" y="20"/>
                </a:cxn>
                <a:cxn ang="0">
                  <a:pos x="37" y="35"/>
                </a:cxn>
                <a:cxn ang="0">
                  <a:pos x="47" y="53"/>
                </a:cxn>
                <a:cxn ang="0">
                  <a:pos x="56" y="73"/>
                </a:cxn>
                <a:cxn ang="0">
                  <a:pos x="63" y="95"/>
                </a:cxn>
                <a:cxn ang="0">
                  <a:pos x="68" y="119"/>
                </a:cxn>
                <a:cxn ang="0">
                  <a:pos x="68" y="136"/>
                </a:cxn>
                <a:cxn ang="0">
                  <a:pos x="0" y="181"/>
                </a:cxn>
              </a:cxnLst>
              <a:rect l="0" t="0" r="r" b="b"/>
              <a:pathLst>
                <a:path w="68" h="181">
                  <a:moveTo>
                    <a:pt x="0" y="181"/>
                  </a:moveTo>
                  <a:lnTo>
                    <a:pt x="13" y="0"/>
                  </a:lnTo>
                  <a:lnTo>
                    <a:pt x="16" y="3"/>
                  </a:lnTo>
                  <a:lnTo>
                    <a:pt x="21" y="9"/>
                  </a:lnTo>
                  <a:lnTo>
                    <a:pt x="28" y="20"/>
                  </a:lnTo>
                  <a:lnTo>
                    <a:pt x="37" y="35"/>
                  </a:lnTo>
                  <a:lnTo>
                    <a:pt x="47" y="53"/>
                  </a:lnTo>
                  <a:lnTo>
                    <a:pt x="56" y="73"/>
                  </a:lnTo>
                  <a:lnTo>
                    <a:pt x="63" y="95"/>
                  </a:lnTo>
                  <a:lnTo>
                    <a:pt x="68" y="119"/>
                  </a:lnTo>
                  <a:lnTo>
                    <a:pt x="68" y="136"/>
                  </a:lnTo>
                  <a:lnTo>
                    <a:pt x="0" y="181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74" name="Freeform 182"/>
            <p:cNvSpPr>
              <a:spLocks/>
            </p:cNvSpPr>
            <p:nvPr/>
          </p:nvSpPr>
          <p:spPr bwMode="auto">
            <a:xfrm>
              <a:off x="1261" y="1726"/>
              <a:ext cx="86" cy="135"/>
            </a:xfrm>
            <a:custGeom>
              <a:avLst/>
              <a:gdLst/>
              <a:ahLst/>
              <a:cxnLst>
                <a:cxn ang="0">
                  <a:pos x="0" y="41"/>
                </a:cxn>
                <a:cxn ang="0">
                  <a:pos x="72" y="0"/>
                </a:cxn>
                <a:cxn ang="0">
                  <a:pos x="75" y="3"/>
                </a:cxn>
                <a:cxn ang="0">
                  <a:pos x="81" y="16"/>
                </a:cxn>
                <a:cxn ang="0">
                  <a:pos x="86" y="35"/>
                </a:cxn>
                <a:cxn ang="0">
                  <a:pos x="86" y="58"/>
                </a:cxn>
                <a:cxn ang="0">
                  <a:pos x="3" y="135"/>
                </a:cxn>
                <a:cxn ang="0">
                  <a:pos x="0" y="41"/>
                </a:cxn>
              </a:cxnLst>
              <a:rect l="0" t="0" r="r" b="b"/>
              <a:pathLst>
                <a:path w="86" h="135">
                  <a:moveTo>
                    <a:pt x="0" y="41"/>
                  </a:moveTo>
                  <a:lnTo>
                    <a:pt x="72" y="0"/>
                  </a:lnTo>
                  <a:lnTo>
                    <a:pt x="75" y="3"/>
                  </a:lnTo>
                  <a:lnTo>
                    <a:pt x="81" y="16"/>
                  </a:lnTo>
                  <a:lnTo>
                    <a:pt x="86" y="35"/>
                  </a:lnTo>
                  <a:lnTo>
                    <a:pt x="86" y="58"/>
                  </a:lnTo>
                  <a:lnTo>
                    <a:pt x="3" y="135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75" name="Freeform 183"/>
            <p:cNvSpPr>
              <a:spLocks/>
            </p:cNvSpPr>
            <p:nvPr/>
          </p:nvSpPr>
          <p:spPr bwMode="auto">
            <a:xfrm>
              <a:off x="1261" y="1819"/>
              <a:ext cx="97" cy="285"/>
            </a:xfrm>
            <a:custGeom>
              <a:avLst/>
              <a:gdLst/>
              <a:ahLst/>
              <a:cxnLst>
                <a:cxn ang="0">
                  <a:pos x="0" y="77"/>
                </a:cxn>
                <a:cxn ang="0">
                  <a:pos x="0" y="285"/>
                </a:cxn>
                <a:cxn ang="0">
                  <a:pos x="2" y="283"/>
                </a:cxn>
                <a:cxn ang="0">
                  <a:pos x="7" y="276"/>
                </a:cxn>
                <a:cxn ang="0">
                  <a:pos x="15" y="266"/>
                </a:cxn>
                <a:cxn ang="0">
                  <a:pos x="25" y="253"/>
                </a:cxn>
                <a:cxn ang="0">
                  <a:pos x="36" y="236"/>
                </a:cxn>
                <a:cxn ang="0">
                  <a:pos x="47" y="218"/>
                </a:cxn>
                <a:cxn ang="0">
                  <a:pos x="57" y="196"/>
                </a:cxn>
                <a:cxn ang="0">
                  <a:pos x="66" y="174"/>
                </a:cxn>
                <a:cxn ang="0">
                  <a:pos x="71" y="154"/>
                </a:cxn>
                <a:cxn ang="0">
                  <a:pos x="82" y="105"/>
                </a:cxn>
                <a:cxn ang="0">
                  <a:pos x="92" y="48"/>
                </a:cxn>
                <a:cxn ang="0">
                  <a:pos x="97" y="0"/>
                </a:cxn>
                <a:cxn ang="0">
                  <a:pos x="0" y="77"/>
                </a:cxn>
              </a:cxnLst>
              <a:rect l="0" t="0" r="r" b="b"/>
              <a:pathLst>
                <a:path w="97" h="285">
                  <a:moveTo>
                    <a:pt x="0" y="77"/>
                  </a:moveTo>
                  <a:lnTo>
                    <a:pt x="0" y="285"/>
                  </a:lnTo>
                  <a:lnTo>
                    <a:pt x="2" y="283"/>
                  </a:lnTo>
                  <a:lnTo>
                    <a:pt x="7" y="276"/>
                  </a:lnTo>
                  <a:lnTo>
                    <a:pt x="15" y="266"/>
                  </a:lnTo>
                  <a:lnTo>
                    <a:pt x="25" y="253"/>
                  </a:lnTo>
                  <a:lnTo>
                    <a:pt x="36" y="236"/>
                  </a:lnTo>
                  <a:lnTo>
                    <a:pt x="47" y="218"/>
                  </a:lnTo>
                  <a:lnTo>
                    <a:pt x="57" y="196"/>
                  </a:lnTo>
                  <a:lnTo>
                    <a:pt x="66" y="174"/>
                  </a:lnTo>
                  <a:lnTo>
                    <a:pt x="71" y="154"/>
                  </a:lnTo>
                  <a:lnTo>
                    <a:pt x="82" y="105"/>
                  </a:lnTo>
                  <a:lnTo>
                    <a:pt x="92" y="48"/>
                  </a:lnTo>
                  <a:lnTo>
                    <a:pt x="97" y="0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76" name="Freeform 184"/>
            <p:cNvSpPr>
              <a:spLocks/>
            </p:cNvSpPr>
            <p:nvPr/>
          </p:nvSpPr>
          <p:spPr bwMode="auto">
            <a:xfrm>
              <a:off x="1427" y="1573"/>
              <a:ext cx="25" cy="125"/>
            </a:xfrm>
            <a:custGeom>
              <a:avLst/>
              <a:gdLst/>
              <a:ahLst/>
              <a:cxnLst>
                <a:cxn ang="0">
                  <a:pos x="0" y="125"/>
                </a:cxn>
                <a:cxn ang="0">
                  <a:pos x="0" y="28"/>
                </a:cxn>
                <a:cxn ang="0">
                  <a:pos x="7" y="0"/>
                </a:cxn>
                <a:cxn ang="0">
                  <a:pos x="25" y="69"/>
                </a:cxn>
                <a:cxn ang="0">
                  <a:pos x="0" y="125"/>
                </a:cxn>
              </a:cxnLst>
              <a:rect l="0" t="0" r="r" b="b"/>
              <a:pathLst>
                <a:path w="25" h="125">
                  <a:moveTo>
                    <a:pt x="0" y="125"/>
                  </a:moveTo>
                  <a:lnTo>
                    <a:pt x="0" y="28"/>
                  </a:lnTo>
                  <a:lnTo>
                    <a:pt x="7" y="0"/>
                  </a:lnTo>
                  <a:lnTo>
                    <a:pt x="25" y="69"/>
                  </a:lnTo>
                  <a:lnTo>
                    <a:pt x="0" y="125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77" name="Freeform 185"/>
            <p:cNvSpPr>
              <a:spLocks/>
            </p:cNvSpPr>
            <p:nvPr/>
          </p:nvSpPr>
          <p:spPr bwMode="auto">
            <a:xfrm>
              <a:off x="1466" y="1486"/>
              <a:ext cx="27" cy="135"/>
            </a:xfrm>
            <a:custGeom>
              <a:avLst/>
              <a:gdLst/>
              <a:ahLst/>
              <a:cxnLst>
                <a:cxn ang="0">
                  <a:pos x="3" y="135"/>
                </a:cxn>
                <a:cxn ang="0">
                  <a:pos x="0" y="25"/>
                </a:cxn>
                <a:cxn ang="0">
                  <a:pos x="17" y="0"/>
                </a:cxn>
                <a:cxn ang="0">
                  <a:pos x="27" y="90"/>
                </a:cxn>
                <a:cxn ang="0">
                  <a:pos x="3" y="135"/>
                </a:cxn>
              </a:cxnLst>
              <a:rect l="0" t="0" r="r" b="b"/>
              <a:pathLst>
                <a:path w="27" h="135">
                  <a:moveTo>
                    <a:pt x="3" y="135"/>
                  </a:moveTo>
                  <a:lnTo>
                    <a:pt x="0" y="25"/>
                  </a:lnTo>
                  <a:lnTo>
                    <a:pt x="17" y="0"/>
                  </a:lnTo>
                  <a:lnTo>
                    <a:pt x="27" y="90"/>
                  </a:lnTo>
                  <a:lnTo>
                    <a:pt x="3" y="135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78" name="Freeform 186"/>
            <p:cNvSpPr>
              <a:spLocks/>
            </p:cNvSpPr>
            <p:nvPr/>
          </p:nvSpPr>
          <p:spPr bwMode="auto">
            <a:xfrm>
              <a:off x="1503" y="1444"/>
              <a:ext cx="45" cy="100"/>
            </a:xfrm>
            <a:custGeom>
              <a:avLst/>
              <a:gdLst/>
              <a:ahLst/>
              <a:cxnLst>
                <a:cxn ang="0">
                  <a:pos x="14" y="100"/>
                </a:cxn>
                <a:cxn ang="0">
                  <a:pos x="0" y="18"/>
                </a:cxn>
                <a:cxn ang="0">
                  <a:pos x="3" y="15"/>
                </a:cxn>
                <a:cxn ang="0">
                  <a:pos x="8" y="10"/>
                </a:cxn>
                <a:cxn ang="0">
                  <a:pos x="15" y="4"/>
                </a:cxn>
                <a:cxn ang="0">
                  <a:pos x="25" y="0"/>
                </a:cxn>
                <a:cxn ang="0">
                  <a:pos x="45" y="69"/>
                </a:cxn>
                <a:cxn ang="0">
                  <a:pos x="14" y="100"/>
                </a:cxn>
              </a:cxnLst>
              <a:rect l="0" t="0" r="r" b="b"/>
              <a:pathLst>
                <a:path w="45" h="100">
                  <a:moveTo>
                    <a:pt x="14" y="100"/>
                  </a:moveTo>
                  <a:lnTo>
                    <a:pt x="0" y="18"/>
                  </a:lnTo>
                  <a:lnTo>
                    <a:pt x="3" y="15"/>
                  </a:lnTo>
                  <a:lnTo>
                    <a:pt x="8" y="10"/>
                  </a:lnTo>
                  <a:lnTo>
                    <a:pt x="15" y="4"/>
                  </a:lnTo>
                  <a:lnTo>
                    <a:pt x="25" y="0"/>
                  </a:lnTo>
                  <a:lnTo>
                    <a:pt x="45" y="69"/>
                  </a:lnTo>
                  <a:lnTo>
                    <a:pt x="14" y="10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79" name="Freeform 187"/>
            <p:cNvSpPr>
              <a:spLocks/>
            </p:cNvSpPr>
            <p:nvPr/>
          </p:nvSpPr>
          <p:spPr bwMode="auto">
            <a:xfrm>
              <a:off x="1563" y="1433"/>
              <a:ext cx="38" cy="46"/>
            </a:xfrm>
            <a:custGeom>
              <a:avLst/>
              <a:gdLst/>
              <a:ahLst/>
              <a:cxnLst>
                <a:cxn ang="0">
                  <a:pos x="3" y="46"/>
                </a:cxn>
                <a:cxn ang="0">
                  <a:pos x="0" y="8"/>
                </a:cxn>
                <a:cxn ang="0">
                  <a:pos x="38" y="0"/>
                </a:cxn>
                <a:cxn ang="0">
                  <a:pos x="3" y="46"/>
                </a:cxn>
              </a:cxnLst>
              <a:rect l="0" t="0" r="r" b="b"/>
              <a:pathLst>
                <a:path w="38" h="46">
                  <a:moveTo>
                    <a:pt x="3" y="46"/>
                  </a:moveTo>
                  <a:lnTo>
                    <a:pt x="0" y="8"/>
                  </a:lnTo>
                  <a:lnTo>
                    <a:pt x="38" y="0"/>
                  </a:lnTo>
                  <a:lnTo>
                    <a:pt x="3" y="46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80" name="Freeform 188"/>
            <p:cNvSpPr>
              <a:spLocks/>
            </p:cNvSpPr>
            <p:nvPr/>
          </p:nvSpPr>
          <p:spPr bwMode="auto">
            <a:xfrm>
              <a:off x="1458" y="1649"/>
              <a:ext cx="66" cy="55"/>
            </a:xfrm>
            <a:custGeom>
              <a:avLst/>
              <a:gdLst/>
              <a:ahLst/>
              <a:cxnLst>
                <a:cxn ang="0">
                  <a:pos x="0" y="55"/>
                </a:cxn>
                <a:cxn ang="0">
                  <a:pos x="21" y="7"/>
                </a:cxn>
                <a:cxn ang="0">
                  <a:pos x="66" y="0"/>
                </a:cxn>
                <a:cxn ang="0">
                  <a:pos x="66" y="3"/>
                </a:cxn>
                <a:cxn ang="0">
                  <a:pos x="66" y="8"/>
                </a:cxn>
                <a:cxn ang="0">
                  <a:pos x="65" y="15"/>
                </a:cxn>
                <a:cxn ang="0">
                  <a:pos x="61" y="24"/>
                </a:cxn>
                <a:cxn ang="0">
                  <a:pos x="54" y="34"/>
                </a:cxn>
                <a:cxn ang="0">
                  <a:pos x="41" y="43"/>
                </a:cxn>
                <a:cxn ang="0">
                  <a:pos x="24" y="50"/>
                </a:cxn>
                <a:cxn ang="0">
                  <a:pos x="0" y="55"/>
                </a:cxn>
              </a:cxnLst>
              <a:rect l="0" t="0" r="r" b="b"/>
              <a:pathLst>
                <a:path w="66" h="55">
                  <a:moveTo>
                    <a:pt x="0" y="55"/>
                  </a:moveTo>
                  <a:lnTo>
                    <a:pt x="21" y="7"/>
                  </a:lnTo>
                  <a:lnTo>
                    <a:pt x="66" y="0"/>
                  </a:lnTo>
                  <a:lnTo>
                    <a:pt x="66" y="3"/>
                  </a:lnTo>
                  <a:lnTo>
                    <a:pt x="66" y="8"/>
                  </a:lnTo>
                  <a:lnTo>
                    <a:pt x="65" y="15"/>
                  </a:lnTo>
                  <a:lnTo>
                    <a:pt x="61" y="24"/>
                  </a:lnTo>
                  <a:lnTo>
                    <a:pt x="54" y="34"/>
                  </a:lnTo>
                  <a:lnTo>
                    <a:pt x="41" y="43"/>
                  </a:lnTo>
                  <a:lnTo>
                    <a:pt x="24" y="5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81" name="Freeform 189"/>
            <p:cNvSpPr>
              <a:spLocks/>
            </p:cNvSpPr>
            <p:nvPr/>
          </p:nvSpPr>
          <p:spPr bwMode="auto">
            <a:xfrm>
              <a:off x="1501" y="1583"/>
              <a:ext cx="72" cy="41"/>
            </a:xfrm>
            <a:custGeom>
              <a:avLst/>
              <a:gdLst/>
              <a:ahLst/>
              <a:cxnLst>
                <a:cxn ang="0">
                  <a:pos x="0" y="38"/>
                </a:cxn>
                <a:cxn ang="0">
                  <a:pos x="27" y="0"/>
                </a:cxn>
                <a:cxn ang="0">
                  <a:pos x="72" y="6"/>
                </a:cxn>
                <a:cxn ang="0">
                  <a:pos x="71" y="9"/>
                </a:cxn>
                <a:cxn ang="0">
                  <a:pos x="68" y="14"/>
                </a:cxn>
                <a:cxn ang="0">
                  <a:pos x="63" y="21"/>
                </a:cxn>
                <a:cxn ang="0">
                  <a:pos x="57" y="29"/>
                </a:cxn>
                <a:cxn ang="0">
                  <a:pos x="47" y="35"/>
                </a:cxn>
                <a:cxn ang="0">
                  <a:pos x="35" y="40"/>
                </a:cxn>
                <a:cxn ang="0">
                  <a:pos x="18" y="41"/>
                </a:cxn>
                <a:cxn ang="0">
                  <a:pos x="0" y="38"/>
                </a:cxn>
              </a:cxnLst>
              <a:rect l="0" t="0" r="r" b="b"/>
              <a:pathLst>
                <a:path w="72" h="41">
                  <a:moveTo>
                    <a:pt x="0" y="38"/>
                  </a:moveTo>
                  <a:lnTo>
                    <a:pt x="27" y="0"/>
                  </a:lnTo>
                  <a:lnTo>
                    <a:pt x="72" y="6"/>
                  </a:lnTo>
                  <a:lnTo>
                    <a:pt x="71" y="9"/>
                  </a:lnTo>
                  <a:lnTo>
                    <a:pt x="68" y="14"/>
                  </a:lnTo>
                  <a:lnTo>
                    <a:pt x="63" y="21"/>
                  </a:lnTo>
                  <a:lnTo>
                    <a:pt x="57" y="29"/>
                  </a:lnTo>
                  <a:lnTo>
                    <a:pt x="47" y="35"/>
                  </a:lnTo>
                  <a:lnTo>
                    <a:pt x="35" y="40"/>
                  </a:lnTo>
                  <a:lnTo>
                    <a:pt x="18" y="41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82" name="Freeform 190"/>
            <p:cNvSpPr>
              <a:spLocks/>
            </p:cNvSpPr>
            <p:nvPr/>
          </p:nvSpPr>
          <p:spPr bwMode="auto">
            <a:xfrm>
              <a:off x="1546" y="1524"/>
              <a:ext cx="45" cy="34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23" y="0"/>
                </a:cxn>
                <a:cxn ang="0">
                  <a:pos x="45" y="3"/>
                </a:cxn>
                <a:cxn ang="0">
                  <a:pos x="31" y="34"/>
                </a:cxn>
                <a:cxn ang="0">
                  <a:pos x="0" y="24"/>
                </a:cxn>
              </a:cxnLst>
              <a:rect l="0" t="0" r="r" b="b"/>
              <a:pathLst>
                <a:path w="45" h="34">
                  <a:moveTo>
                    <a:pt x="0" y="24"/>
                  </a:moveTo>
                  <a:lnTo>
                    <a:pt x="23" y="0"/>
                  </a:lnTo>
                  <a:lnTo>
                    <a:pt x="45" y="3"/>
                  </a:lnTo>
                  <a:lnTo>
                    <a:pt x="31" y="34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83" name="Freeform 191"/>
            <p:cNvSpPr>
              <a:spLocks/>
            </p:cNvSpPr>
            <p:nvPr/>
          </p:nvSpPr>
          <p:spPr bwMode="auto">
            <a:xfrm>
              <a:off x="1591" y="1448"/>
              <a:ext cx="27" cy="38"/>
            </a:xfrm>
            <a:custGeom>
              <a:avLst/>
              <a:gdLst/>
              <a:ahLst/>
              <a:cxnLst>
                <a:cxn ang="0">
                  <a:pos x="0" y="31"/>
                </a:cxn>
                <a:cxn ang="0">
                  <a:pos x="27" y="0"/>
                </a:cxn>
                <a:cxn ang="0">
                  <a:pos x="17" y="38"/>
                </a:cxn>
                <a:cxn ang="0">
                  <a:pos x="0" y="31"/>
                </a:cxn>
              </a:cxnLst>
              <a:rect l="0" t="0" r="r" b="b"/>
              <a:pathLst>
                <a:path w="27" h="38">
                  <a:moveTo>
                    <a:pt x="0" y="31"/>
                  </a:moveTo>
                  <a:lnTo>
                    <a:pt x="27" y="0"/>
                  </a:lnTo>
                  <a:lnTo>
                    <a:pt x="17" y="38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84" name="Freeform 192"/>
            <p:cNvSpPr>
              <a:spLocks/>
            </p:cNvSpPr>
            <p:nvPr/>
          </p:nvSpPr>
          <p:spPr bwMode="auto">
            <a:xfrm>
              <a:off x="1323" y="1977"/>
              <a:ext cx="49" cy="75"/>
            </a:xfrm>
            <a:custGeom>
              <a:avLst/>
              <a:gdLst/>
              <a:ahLst/>
              <a:cxnLst>
                <a:cxn ang="0">
                  <a:pos x="0" y="75"/>
                </a:cxn>
                <a:cxn ang="0">
                  <a:pos x="1" y="73"/>
                </a:cxn>
                <a:cxn ang="0">
                  <a:pos x="5" y="70"/>
                </a:cxn>
                <a:cxn ang="0">
                  <a:pos x="9" y="63"/>
                </a:cxn>
                <a:cxn ang="0">
                  <a:pos x="15" y="55"/>
                </a:cxn>
                <a:cxn ang="0">
                  <a:pos x="21" y="45"/>
                </a:cxn>
                <a:cxn ang="0">
                  <a:pos x="28" y="33"/>
                </a:cxn>
                <a:cxn ang="0">
                  <a:pos x="33" y="21"/>
                </a:cxn>
                <a:cxn ang="0">
                  <a:pos x="38" y="8"/>
                </a:cxn>
                <a:cxn ang="0">
                  <a:pos x="44" y="0"/>
                </a:cxn>
                <a:cxn ang="0">
                  <a:pos x="48" y="15"/>
                </a:cxn>
                <a:cxn ang="0">
                  <a:pos x="49" y="36"/>
                </a:cxn>
                <a:cxn ang="0">
                  <a:pos x="49" y="47"/>
                </a:cxn>
                <a:cxn ang="0">
                  <a:pos x="49" y="47"/>
                </a:cxn>
                <a:cxn ang="0">
                  <a:pos x="48" y="48"/>
                </a:cxn>
                <a:cxn ang="0">
                  <a:pos x="44" y="51"/>
                </a:cxn>
                <a:cxn ang="0">
                  <a:pos x="40" y="55"/>
                </a:cxn>
                <a:cxn ang="0">
                  <a:pos x="34" y="58"/>
                </a:cxn>
                <a:cxn ang="0">
                  <a:pos x="25" y="63"/>
                </a:cxn>
                <a:cxn ang="0">
                  <a:pos x="14" y="68"/>
                </a:cxn>
                <a:cxn ang="0">
                  <a:pos x="0" y="75"/>
                </a:cxn>
              </a:cxnLst>
              <a:rect l="0" t="0" r="r" b="b"/>
              <a:pathLst>
                <a:path w="49" h="75">
                  <a:moveTo>
                    <a:pt x="0" y="75"/>
                  </a:moveTo>
                  <a:lnTo>
                    <a:pt x="1" y="73"/>
                  </a:lnTo>
                  <a:lnTo>
                    <a:pt x="5" y="70"/>
                  </a:lnTo>
                  <a:lnTo>
                    <a:pt x="9" y="63"/>
                  </a:lnTo>
                  <a:lnTo>
                    <a:pt x="15" y="55"/>
                  </a:lnTo>
                  <a:lnTo>
                    <a:pt x="21" y="45"/>
                  </a:lnTo>
                  <a:lnTo>
                    <a:pt x="28" y="33"/>
                  </a:lnTo>
                  <a:lnTo>
                    <a:pt x="33" y="21"/>
                  </a:lnTo>
                  <a:lnTo>
                    <a:pt x="38" y="8"/>
                  </a:lnTo>
                  <a:lnTo>
                    <a:pt x="44" y="0"/>
                  </a:lnTo>
                  <a:lnTo>
                    <a:pt x="48" y="15"/>
                  </a:lnTo>
                  <a:lnTo>
                    <a:pt x="49" y="36"/>
                  </a:lnTo>
                  <a:lnTo>
                    <a:pt x="49" y="47"/>
                  </a:lnTo>
                  <a:lnTo>
                    <a:pt x="49" y="47"/>
                  </a:lnTo>
                  <a:lnTo>
                    <a:pt x="48" y="48"/>
                  </a:lnTo>
                  <a:lnTo>
                    <a:pt x="44" y="51"/>
                  </a:lnTo>
                  <a:lnTo>
                    <a:pt x="40" y="55"/>
                  </a:lnTo>
                  <a:lnTo>
                    <a:pt x="34" y="58"/>
                  </a:lnTo>
                  <a:lnTo>
                    <a:pt x="25" y="63"/>
                  </a:lnTo>
                  <a:lnTo>
                    <a:pt x="14" y="68"/>
                  </a:lnTo>
                  <a:lnTo>
                    <a:pt x="0" y="75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85" name="Freeform 193"/>
            <p:cNvSpPr>
              <a:spLocks/>
            </p:cNvSpPr>
            <p:nvPr/>
          </p:nvSpPr>
          <p:spPr bwMode="auto">
            <a:xfrm>
              <a:off x="1292" y="2069"/>
              <a:ext cx="222" cy="71"/>
            </a:xfrm>
            <a:custGeom>
              <a:avLst/>
              <a:gdLst/>
              <a:ahLst/>
              <a:cxnLst>
                <a:cxn ang="0">
                  <a:pos x="0" y="59"/>
                </a:cxn>
                <a:cxn ang="0">
                  <a:pos x="59" y="0"/>
                </a:cxn>
                <a:cxn ang="0">
                  <a:pos x="222" y="28"/>
                </a:cxn>
                <a:cxn ang="0">
                  <a:pos x="220" y="29"/>
                </a:cxn>
                <a:cxn ang="0">
                  <a:pos x="215" y="33"/>
                </a:cxn>
                <a:cxn ang="0">
                  <a:pos x="205" y="38"/>
                </a:cxn>
                <a:cxn ang="0">
                  <a:pos x="191" y="44"/>
                </a:cxn>
                <a:cxn ang="0">
                  <a:pos x="174" y="51"/>
                </a:cxn>
                <a:cxn ang="0">
                  <a:pos x="152" y="58"/>
                </a:cxn>
                <a:cxn ang="0">
                  <a:pos x="129" y="64"/>
                </a:cxn>
                <a:cxn ang="0">
                  <a:pos x="100" y="69"/>
                </a:cxn>
                <a:cxn ang="0">
                  <a:pos x="97" y="69"/>
                </a:cxn>
                <a:cxn ang="0">
                  <a:pos x="90" y="70"/>
                </a:cxn>
                <a:cxn ang="0">
                  <a:pos x="79" y="71"/>
                </a:cxn>
                <a:cxn ang="0">
                  <a:pos x="65" y="71"/>
                </a:cxn>
                <a:cxn ang="0">
                  <a:pos x="50" y="71"/>
                </a:cxn>
                <a:cxn ang="0">
                  <a:pos x="32" y="69"/>
                </a:cxn>
                <a:cxn ang="0">
                  <a:pos x="16" y="65"/>
                </a:cxn>
                <a:cxn ang="0">
                  <a:pos x="0" y="59"/>
                </a:cxn>
              </a:cxnLst>
              <a:rect l="0" t="0" r="r" b="b"/>
              <a:pathLst>
                <a:path w="222" h="71">
                  <a:moveTo>
                    <a:pt x="0" y="59"/>
                  </a:moveTo>
                  <a:lnTo>
                    <a:pt x="59" y="0"/>
                  </a:lnTo>
                  <a:lnTo>
                    <a:pt x="222" y="28"/>
                  </a:lnTo>
                  <a:lnTo>
                    <a:pt x="220" y="29"/>
                  </a:lnTo>
                  <a:lnTo>
                    <a:pt x="215" y="33"/>
                  </a:lnTo>
                  <a:lnTo>
                    <a:pt x="205" y="38"/>
                  </a:lnTo>
                  <a:lnTo>
                    <a:pt x="191" y="44"/>
                  </a:lnTo>
                  <a:lnTo>
                    <a:pt x="174" y="51"/>
                  </a:lnTo>
                  <a:lnTo>
                    <a:pt x="152" y="58"/>
                  </a:lnTo>
                  <a:lnTo>
                    <a:pt x="129" y="64"/>
                  </a:lnTo>
                  <a:lnTo>
                    <a:pt x="100" y="69"/>
                  </a:lnTo>
                  <a:lnTo>
                    <a:pt x="97" y="69"/>
                  </a:lnTo>
                  <a:lnTo>
                    <a:pt x="90" y="70"/>
                  </a:lnTo>
                  <a:lnTo>
                    <a:pt x="79" y="71"/>
                  </a:lnTo>
                  <a:lnTo>
                    <a:pt x="65" y="71"/>
                  </a:lnTo>
                  <a:lnTo>
                    <a:pt x="50" y="71"/>
                  </a:lnTo>
                  <a:lnTo>
                    <a:pt x="32" y="69"/>
                  </a:lnTo>
                  <a:lnTo>
                    <a:pt x="16" y="65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86" name="Freeform 194"/>
            <p:cNvSpPr>
              <a:spLocks/>
            </p:cNvSpPr>
            <p:nvPr/>
          </p:nvSpPr>
          <p:spPr bwMode="auto">
            <a:xfrm>
              <a:off x="1403" y="1995"/>
              <a:ext cx="211" cy="80"/>
            </a:xfrm>
            <a:custGeom>
              <a:avLst/>
              <a:gdLst/>
              <a:ahLst/>
              <a:cxnLst>
                <a:cxn ang="0">
                  <a:pos x="0" y="47"/>
                </a:cxn>
                <a:cxn ang="0">
                  <a:pos x="63" y="0"/>
                </a:cxn>
                <a:cxn ang="0">
                  <a:pos x="211" y="29"/>
                </a:cxn>
                <a:cxn ang="0">
                  <a:pos x="145" y="80"/>
                </a:cxn>
                <a:cxn ang="0">
                  <a:pos x="0" y="47"/>
                </a:cxn>
              </a:cxnLst>
              <a:rect l="0" t="0" r="r" b="b"/>
              <a:pathLst>
                <a:path w="211" h="80">
                  <a:moveTo>
                    <a:pt x="0" y="47"/>
                  </a:moveTo>
                  <a:lnTo>
                    <a:pt x="63" y="0"/>
                  </a:lnTo>
                  <a:lnTo>
                    <a:pt x="211" y="29"/>
                  </a:lnTo>
                  <a:lnTo>
                    <a:pt x="145" y="80"/>
                  </a:lnTo>
                  <a:lnTo>
                    <a:pt x="0" y="47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87" name="Freeform 195"/>
            <p:cNvSpPr>
              <a:spLocks/>
            </p:cNvSpPr>
            <p:nvPr/>
          </p:nvSpPr>
          <p:spPr bwMode="auto">
            <a:xfrm>
              <a:off x="1386" y="1857"/>
              <a:ext cx="68" cy="142"/>
            </a:xfrm>
            <a:custGeom>
              <a:avLst/>
              <a:gdLst/>
              <a:ahLst/>
              <a:cxnLst>
                <a:cxn ang="0">
                  <a:pos x="13" y="142"/>
                </a:cxn>
                <a:cxn ang="0">
                  <a:pos x="0" y="66"/>
                </a:cxn>
                <a:cxn ang="0">
                  <a:pos x="1" y="65"/>
                </a:cxn>
                <a:cxn ang="0">
                  <a:pos x="6" y="60"/>
                </a:cxn>
                <a:cxn ang="0">
                  <a:pos x="13" y="52"/>
                </a:cxn>
                <a:cxn ang="0">
                  <a:pos x="22" y="42"/>
                </a:cxn>
                <a:cxn ang="0">
                  <a:pos x="31" y="32"/>
                </a:cxn>
                <a:cxn ang="0">
                  <a:pos x="42" y="21"/>
                </a:cxn>
                <a:cxn ang="0">
                  <a:pos x="52" y="10"/>
                </a:cxn>
                <a:cxn ang="0">
                  <a:pos x="62" y="0"/>
                </a:cxn>
                <a:cxn ang="0">
                  <a:pos x="68" y="107"/>
                </a:cxn>
                <a:cxn ang="0">
                  <a:pos x="13" y="142"/>
                </a:cxn>
              </a:cxnLst>
              <a:rect l="0" t="0" r="r" b="b"/>
              <a:pathLst>
                <a:path w="68" h="142">
                  <a:moveTo>
                    <a:pt x="13" y="142"/>
                  </a:moveTo>
                  <a:lnTo>
                    <a:pt x="0" y="66"/>
                  </a:lnTo>
                  <a:lnTo>
                    <a:pt x="1" y="65"/>
                  </a:lnTo>
                  <a:lnTo>
                    <a:pt x="6" y="60"/>
                  </a:lnTo>
                  <a:lnTo>
                    <a:pt x="13" y="52"/>
                  </a:lnTo>
                  <a:lnTo>
                    <a:pt x="22" y="42"/>
                  </a:lnTo>
                  <a:lnTo>
                    <a:pt x="31" y="32"/>
                  </a:lnTo>
                  <a:lnTo>
                    <a:pt x="42" y="21"/>
                  </a:lnTo>
                  <a:lnTo>
                    <a:pt x="52" y="10"/>
                  </a:lnTo>
                  <a:lnTo>
                    <a:pt x="62" y="0"/>
                  </a:lnTo>
                  <a:lnTo>
                    <a:pt x="68" y="107"/>
                  </a:lnTo>
                  <a:lnTo>
                    <a:pt x="13" y="142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88" name="Freeform 196"/>
            <p:cNvSpPr>
              <a:spLocks/>
            </p:cNvSpPr>
            <p:nvPr/>
          </p:nvSpPr>
          <p:spPr bwMode="auto">
            <a:xfrm>
              <a:off x="1483" y="1774"/>
              <a:ext cx="125" cy="163"/>
            </a:xfrm>
            <a:custGeom>
              <a:avLst/>
              <a:gdLst/>
              <a:ahLst/>
              <a:cxnLst>
                <a:cxn ang="0">
                  <a:pos x="0" y="163"/>
                </a:cxn>
                <a:cxn ang="0">
                  <a:pos x="3" y="52"/>
                </a:cxn>
                <a:cxn ang="0">
                  <a:pos x="4" y="50"/>
                </a:cxn>
                <a:cxn ang="0">
                  <a:pos x="6" y="47"/>
                </a:cxn>
                <a:cxn ang="0">
                  <a:pos x="10" y="42"/>
                </a:cxn>
                <a:cxn ang="0">
                  <a:pos x="18" y="35"/>
                </a:cxn>
                <a:cxn ang="0">
                  <a:pos x="28" y="29"/>
                </a:cxn>
                <a:cxn ang="0">
                  <a:pos x="40" y="22"/>
                </a:cxn>
                <a:cxn ang="0">
                  <a:pos x="56" y="14"/>
                </a:cxn>
                <a:cxn ang="0">
                  <a:pos x="76" y="7"/>
                </a:cxn>
                <a:cxn ang="0">
                  <a:pos x="125" y="0"/>
                </a:cxn>
                <a:cxn ang="0">
                  <a:pos x="90" y="90"/>
                </a:cxn>
                <a:cxn ang="0">
                  <a:pos x="0" y="163"/>
                </a:cxn>
              </a:cxnLst>
              <a:rect l="0" t="0" r="r" b="b"/>
              <a:pathLst>
                <a:path w="125" h="163">
                  <a:moveTo>
                    <a:pt x="0" y="163"/>
                  </a:moveTo>
                  <a:lnTo>
                    <a:pt x="3" y="52"/>
                  </a:lnTo>
                  <a:lnTo>
                    <a:pt x="4" y="50"/>
                  </a:lnTo>
                  <a:lnTo>
                    <a:pt x="6" y="47"/>
                  </a:lnTo>
                  <a:lnTo>
                    <a:pt x="10" y="42"/>
                  </a:lnTo>
                  <a:lnTo>
                    <a:pt x="18" y="35"/>
                  </a:lnTo>
                  <a:lnTo>
                    <a:pt x="28" y="29"/>
                  </a:lnTo>
                  <a:lnTo>
                    <a:pt x="40" y="22"/>
                  </a:lnTo>
                  <a:lnTo>
                    <a:pt x="56" y="14"/>
                  </a:lnTo>
                  <a:lnTo>
                    <a:pt x="76" y="7"/>
                  </a:lnTo>
                  <a:lnTo>
                    <a:pt x="125" y="0"/>
                  </a:lnTo>
                  <a:lnTo>
                    <a:pt x="90" y="90"/>
                  </a:lnTo>
                  <a:lnTo>
                    <a:pt x="0" y="163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89" name="Freeform 197"/>
            <p:cNvSpPr>
              <a:spLocks/>
            </p:cNvSpPr>
            <p:nvPr/>
          </p:nvSpPr>
          <p:spPr bwMode="auto">
            <a:xfrm>
              <a:off x="1501" y="1906"/>
              <a:ext cx="183" cy="93"/>
            </a:xfrm>
            <a:custGeom>
              <a:avLst/>
              <a:gdLst/>
              <a:ahLst/>
              <a:cxnLst>
                <a:cxn ang="0">
                  <a:pos x="0" y="58"/>
                </a:cxn>
                <a:cxn ang="0">
                  <a:pos x="72" y="0"/>
                </a:cxn>
                <a:cxn ang="0">
                  <a:pos x="183" y="13"/>
                </a:cxn>
                <a:cxn ang="0">
                  <a:pos x="182" y="16"/>
                </a:cxn>
                <a:cxn ang="0">
                  <a:pos x="178" y="22"/>
                </a:cxn>
                <a:cxn ang="0">
                  <a:pos x="172" y="32"/>
                </a:cxn>
                <a:cxn ang="0">
                  <a:pos x="165" y="45"/>
                </a:cxn>
                <a:cxn ang="0">
                  <a:pos x="156" y="57"/>
                </a:cxn>
                <a:cxn ang="0">
                  <a:pos x="146" y="71"/>
                </a:cxn>
                <a:cxn ang="0">
                  <a:pos x="137" y="83"/>
                </a:cxn>
                <a:cxn ang="0">
                  <a:pos x="127" y="93"/>
                </a:cxn>
                <a:cxn ang="0">
                  <a:pos x="0" y="58"/>
                </a:cxn>
              </a:cxnLst>
              <a:rect l="0" t="0" r="r" b="b"/>
              <a:pathLst>
                <a:path w="183" h="93">
                  <a:moveTo>
                    <a:pt x="0" y="58"/>
                  </a:moveTo>
                  <a:lnTo>
                    <a:pt x="72" y="0"/>
                  </a:lnTo>
                  <a:lnTo>
                    <a:pt x="183" y="13"/>
                  </a:lnTo>
                  <a:lnTo>
                    <a:pt x="182" y="16"/>
                  </a:lnTo>
                  <a:lnTo>
                    <a:pt x="178" y="22"/>
                  </a:lnTo>
                  <a:lnTo>
                    <a:pt x="172" y="32"/>
                  </a:lnTo>
                  <a:lnTo>
                    <a:pt x="165" y="45"/>
                  </a:lnTo>
                  <a:lnTo>
                    <a:pt x="156" y="57"/>
                  </a:lnTo>
                  <a:lnTo>
                    <a:pt x="146" y="71"/>
                  </a:lnTo>
                  <a:lnTo>
                    <a:pt x="137" y="83"/>
                  </a:lnTo>
                  <a:lnTo>
                    <a:pt x="127" y="93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90" name="Freeform 198"/>
            <p:cNvSpPr>
              <a:spLocks/>
            </p:cNvSpPr>
            <p:nvPr/>
          </p:nvSpPr>
          <p:spPr bwMode="auto">
            <a:xfrm>
              <a:off x="1618" y="1749"/>
              <a:ext cx="149" cy="137"/>
            </a:xfrm>
            <a:custGeom>
              <a:avLst/>
              <a:gdLst/>
              <a:ahLst/>
              <a:cxnLst>
                <a:cxn ang="0">
                  <a:pos x="0" y="122"/>
                </a:cxn>
                <a:cxn ang="0">
                  <a:pos x="149" y="0"/>
                </a:cxn>
                <a:cxn ang="0">
                  <a:pos x="146" y="5"/>
                </a:cxn>
                <a:cxn ang="0">
                  <a:pos x="140" y="19"/>
                </a:cxn>
                <a:cxn ang="0">
                  <a:pos x="131" y="39"/>
                </a:cxn>
                <a:cxn ang="0">
                  <a:pos x="121" y="62"/>
                </a:cxn>
                <a:cxn ang="0">
                  <a:pos x="110" y="85"/>
                </a:cxn>
                <a:cxn ang="0">
                  <a:pos x="100" y="108"/>
                </a:cxn>
                <a:cxn ang="0">
                  <a:pos x="90" y="125"/>
                </a:cxn>
                <a:cxn ang="0">
                  <a:pos x="84" y="137"/>
                </a:cxn>
                <a:cxn ang="0">
                  <a:pos x="0" y="122"/>
                </a:cxn>
              </a:cxnLst>
              <a:rect l="0" t="0" r="r" b="b"/>
              <a:pathLst>
                <a:path w="149" h="137">
                  <a:moveTo>
                    <a:pt x="0" y="122"/>
                  </a:moveTo>
                  <a:lnTo>
                    <a:pt x="149" y="0"/>
                  </a:lnTo>
                  <a:lnTo>
                    <a:pt x="146" y="5"/>
                  </a:lnTo>
                  <a:lnTo>
                    <a:pt x="140" y="19"/>
                  </a:lnTo>
                  <a:lnTo>
                    <a:pt x="131" y="39"/>
                  </a:lnTo>
                  <a:lnTo>
                    <a:pt x="121" y="62"/>
                  </a:lnTo>
                  <a:lnTo>
                    <a:pt x="110" y="85"/>
                  </a:lnTo>
                  <a:lnTo>
                    <a:pt x="100" y="108"/>
                  </a:lnTo>
                  <a:lnTo>
                    <a:pt x="90" y="125"/>
                  </a:lnTo>
                  <a:lnTo>
                    <a:pt x="84" y="137"/>
                  </a:lnTo>
                  <a:lnTo>
                    <a:pt x="0" y="122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91" name="Freeform 199"/>
            <p:cNvSpPr>
              <a:spLocks/>
            </p:cNvSpPr>
            <p:nvPr/>
          </p:nvSpPr>
          <p:spPr bwMode="auto">
            <a:xfrm>
              <a:off x="1626" y="1739"/>
              <a:ext cx="117" cy="94"/>
            </a:xfrm>
            <a:custGeom>
              <a:avLst/>
              <a:gdLst/>
              <a:ahLst/>
              <a:cxnLst>
                <a:cxn ang="0">
                  <a:pos x="0" y="94"/>
                </a:cxn>
                <a:cxn ang="0">
                  <a:pos x="20" y="14"/>
                </a:cxn>
                <a:cxn ang="0">
                  <a:pos x="117" y="0"/>
                </a:cxn>
                <a:cxn ang="0">
                  <a:pos x="0" y="94"/>
                </a:cxn>
              </a:cxnLst>
              <a:rect l="0" t="0" r="r" b="b"/>
              <a:pathLst>
                <a:path w="117" h="94">
                  <a:moveTo>
                    <a:pt x="0" y="94"/>
                  </a:moveTo>
                  <a:lnTo>
                    <a:pt x="20" y="14"/>
                  </a:lnTo>
                  <a:lnTo>
                    <a:pt x="117" y="0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92" name="Freeform 200"/>
            <p:cNvSpPr>
              <a:spLocks/>
            </p:cNvSpPr>
            <p:nvPr/>
          </p:nvSpPr>
          <p:spPr bwMode="auto">
            <a:xfrm>
              <a:off x="1556" y="1951"/>
              <a:ext cx="517" cy="622"/>
            </a:xfrm>
            <a:custGeom>
              <a:avLst/>
              <a:gdLst/>
              <a:ahLst/>
              <a:cxnLst>
                <a:cxn ang="0">
                  <a:pos x="0" y="353"/>
                </a:cxn>
                <a:cxn ang="0">
                  <a:pos x="8" y="273"/>
                </a:cxn>
                <a:cxn ang="0">
                  <a:pos x="26" y="226"/>
                </a:cxn>
                <a:cxn ang="0">
                  <a:pos x="40" y="201"/>
                </a:cxn>
                <a:cxn ang="0">
                  <a:pos x="63" y="163"/>
                </a:cxn>
                <a:cxn ang="0">
                  <a:pos x="95" y="126"/>
                </a:cxn>
                <a:cxn ang="0">
                  <a:pos x="116" y="107"/>
                </a:cxn>
                <a:cxn ang="0">
                  <a:pos x="151" y="79"/>
                </a:cxn>
                <a:cxn ang="0">
                  <a:pos x="205" y="42"/>
                </a:cxn>
                <a:cxn ang="0">
                  <a:pos x="263" y="11"/>
                </a:cxn>
                <a:cxn ang="0">
                  <a:pos x="293" y="3"/>
                </a:cxn>
                <a:cxn ang="0">
                  <a:pos x="323" y="2"/>
                </a:cxn>
                <a:cxn ang="0">
                  <a:pos x="368" y="1"/>
                </a:cxn>
                <a:cxn ang="0">
                  <a:pos x="410" y="0"/>
                </a:cxn>
                <a:cxn ang="0">
                  <a:pos x="425" y="6"/>
                </a:cxn>
                <a:cxn ang="0">
                  <a:pos x="418" y="52"/>
                </a:cxn>
                <a:cxn ang="0">
                  <a:pos x="400" y="98"/>
                </a:cxn>
                <a:cxn ang="0">
                  <a:pos x="381" y="133"/>
                </a:cxn>
                <a:cxn ang="0">
                  <a:pos x="347" y="186"/>
                </a:cxn>
                <a:cxn ang="0">
                  <a:pos x="302" y="239"/>
                </a:cxn>
                <a:cxn ang="0">
                  <a:pos x="273" y="263"/>
                </a:cxn>
                <a:cxn ang="0">
                  <a:pos x="245" y="281"/>
                </a:cxn>
                <a:cxn ang="0">
                  <a:pos x="203" y="307"/>
                </a:cxn>
                <a:cxn ang="0">
                  <a:pos x="163" y="329"/>
                </a:cxn>
                <a:cxn ang="0">
                  <a:pos x="288" y="386"/>
                </a:cxn>
                <a:cxn ang="0">
                  <a:pos x="303" y="389"/>
                </a:cxn>
                <a:cxn ang="0">
                  <a:pos x="340" y="402"/>
                </a:cxn>
                <a:cxn ang="0">
                  <a:pos x="383" y="419"/>
                </a:cxn>
                <a:cxn ang="0">
                  <a:pos x="420" y="441"/>
                </a:cxn>
                <a:cxn ang="0">
                  <a:pos x="430" y="452"/>
                </a:cxn>
                <a:cxn ang="0">
                  <a:pos x="456" y="483"/>
                </a:cxn>
                <a:cxn ang="0">
                  <a:pos x="487" y="532"/>
                </a:cxn>
                <a:cxn ang="0">
                  <a:pos x="517" y="593"/>
                </a:cxn>
                <a:cxn ang="0">
                  <a:pos x="503" y="598"/>
                </a:cxn>
                <a:cxn ang="0">
                  <a:pos x="466" y="609"/>
                </a:cxn>
                <a:cxn ang="0">
                  <a:pos x="412" y="620"/>
                </a:cxn>
                <a:cxn ang="0">
                  <a:pos x="353" y="622"/>
                </a:cxn>
                <a:cxn ang="0">
                  <a:pos x="333" y="618"/>
                </a:cxn>
                <a:cxn ang="0">
                  <a:pos x="285" y="604"/>
                </a:cxn>
                <a:cxn ang="0">
                  <a:pos x="225" y="581"/>
                </a:cxn>
                <a:cxn ang="0">
                  <a:pos x="173" y="544"/>
                </a:cxn>
                <a:cxn ang="0">
                  <a:pos x="162" y="536"/>
                </a:cxn>
                <a:cxn ang="0">
                  <a:pos x="133" y="511"/>
                </a:cxn>
                <a:cxn ang="0">
                  <a:pos x="100" y="474"/>
                </a:cxn>
                <a:cxn ang="0">
                  <a:pos x="70" y="431"/>
                </a:cxn>
                <a:cxn ang="0">
                  <a:pos x="55" y="412"/>
                </a:cxn>
                <a:cxn ang="0">
                  <a:pos x="38" y="372"/>
                </a:cxn>
              </a:cxnLst>
              <a:rect l="0" t="0" r="r" b="b"/>
              <a:pathLst>
                <a:path w="517" h="622">
                  <a:moveTo>
                    <a:pt x="0" y="368"/>
                  </a:moveTo>
                  <a:lnTo>
                    <a:pt x="0" y="353"/>
                  </a:lnTo>
                  <a:lnTo>
                    <a:pt x="1" y="318"/>
                  </a:lnTo>
                  <a:lnTo>
                    <a:pt x="8" y="273"/>
                  </a:lnTo>
                  <a:lnTo>
                    <a:pt x="23" y="229"/>
                  </a:lnTo>
                  <a:lnTo>
                    <a:pt x="26" y="226"/>
                  </a:lnTo>
                  <a:lnTo>
                    <a:pt x="31" y="216"/>
                  </a:lnTo>
                  <a:lnTo>
                    <a:pt x="40" y="201"/>
                  </a:lnTo>
                  <a:lnTo>
                    <a:pt x="51" y="183"/>
                  </a:lnTo>
                  <a:lnTo>
                    <a:pt x="63" y="163"/>
                  </a:lnTo>
                  <a:lnTo>
                    <a:pt x="78" y="144"/>
                  </a:lnTo>
                  <a:lnTo>
                    <a:pt x="95" y="126"/>
                  </a:lnTo>
                  <a:lnTo>
                    <a:pt x="111" y="111"/>
                  </a:lnTo>
                  <a:lnTo>
                    <a:pt x="116" y="107"/>
                  </a:lnTo>
                  <a:lnTo>
                    <a:pt x="130" y="96"/>
                  </a:lnTo>
                  <a:lnTo>
                    <a:pt x="151" y="79"/>
                  </a:lnTo>
                  <a:lnTo>
                    <a:pt x="176" y="61"/>
                  </a:lnTo>
                  <a:lnTo>
                    <a:pt x="205" y="42"/>
                  </a:lnTo>
                  <a:lnTo>
                    <a:pt x="235" y="24"/>
                  </a:lnTo>
                  <a:lnTo>
                    <a:pt x="263" y="11"/>
                  </a:lnTo>
                  <a:lnTo>
                    <a:pt x="288" y="3"/>
                  </a:lnTo>
                  <a:lnTo>
                    <a:pt x="293" y="3"/>
                  </a:lnTo>
                  <a:lnTo>
                    <a:pt x="306" y="3"/>
                  </a:lnTo>
                  <a:lnTo>
                    <a:pt x="323" y="2"/>
                  </a:lnTo>
                  <a:lnTo>
                    <a:pt x="346" y="1"/>
                  </a:lnTo>
                  <a:lnTo>
                    <a:pt x="368" y="1"/>
                  </a:lnTo>
                  <a:lnTo>
                    <a:pt x="391" y="0"/>
                  </a:lnTo>
                  <a:lnTo>
                    <a:pt x="410" y="0"/>
                  </a:lnTo>
                  <a:lnTo>
                    <a:pt x="423" y="0"/>
                  </a:lnTo>
                  <a:lnTo>
                    <a:pt x="425" y="6"/>
                  </a:lnTo>
                  <a:lnTo>
                    <a:pt x="425" y="23"/>
                  </a:lnTo>
                  <a:lnTo>
                    <a:pt x="418" y="52"/>
                  </a:lnTo>
                  <a:lnTo>
                    <a:pt x="402" y="93"/>
                  </a:lnTo>
                  <a:lnTo>
                    <a:pt x="400" y="98"/>
                  </a:lnTo>
                  <a:lnTo>
                    <a:pt x="392" y="112"/>
                  </a:lnTo>
                  <a:lnTo>
                    <a:pt x="381" y="133"/>
                  </a:lnTo>
                  <a:lnTo>
                    <a:pt x="366" y="158"/>
                  </a:lnTo>
                  <a:lnTo>
                    <a:pt x="347" y="186"/>
                  </a:lnTo>
                  <a:lnTo>
                    <a:pt x="326" y="214"/>
                  </a:lnTo>
                  <a:lnTo>
                    <a:pt x="302" y="239"/>
                  </a:lnTo>
                  <a:lnTo>
                    <a:pt x="277" y="261"/>
                  </a:lnTo>
                  <a:lnTo>
                    <a:pt x="273" y="263"/>
                  </a:lnTo>
                  <a:lnTo>
                    <a:pt x="261" y="271"/>
                  </a:lnTo>
                  <a:lnTo>
                    <a:pt x="245" y="281"/>
                  </a:lnTo>
                  <a:lnTo>
                    <a:pt x="225" y="293"/>
                  </a:lnTo>
                  <a:lnTo>
                    <a:pt x="203" y="307"/>
                  </a:lnTo>
                  <a:lnTo>
                    <a:pt x="182" y="319"/>
                  </a:lnTo>
                  <a:lnTo>
                    <a:pt x="163" y="329"/>
                  </a:lnTo>
                  <a:lnTo>
                    <a:pt x="148" y="337"/>
                  </a:lnTo>
                  <a:lnTo>
                    <a:pt x="288" y="386"/>
                  </a:lnTo>
                  <a:lnTo>
                    <a:pt x="292" y="387"/>
                  </a:lnTo>
                  <a:lnTo>
                    <a:pt x="303" y="389"/>
                  </a:lnTo>
                  <a:lnTo>
                    <a:pt x="320" y="394"/>
                  </a:lnTo>
                  <a:lnTo>
                    <a:pt x="340" y="402"/>
                  </a:lnTo>
                  <a:lnTo>
                    <a:pt x="362" y="409"/>
                  </a:lnTo>
                  <a:lnTo>
                    <a:pt x="383" y="419"/>
                  </a:lnTo>
                  <a:lnTo>
                    <a:pt x="403" y="429"/>
                  </a:lnTo>
                  <a:lnTo>
                    <a:pt x="420" y="441"/>
                  </a:lnTo>
                  <a:lnTo>
                    <a:pt x="422" y="443"/>
                  </a:lnTo>
                  <a:lnTo>
                    <a:pt x="430" y="452"/>
                  </a:lnTo>
                  <a:lnTo>
                    <a:pt x="441" y="466"/>
                  </a:lnTo>
                  <a:lnTo>
                    <a:pt x="456" y="483"/>
                  </a:lnTo>
                  <a:lnTo>
                    <a:pt x="471" y="506"/>
                  </a:lnTo>
                  <a:lnTo>
                    <a:pt x="487" y="532"/>
                  </a:lnTo>
                  <a:lnTo>
                    <a:pt x="503" y="561"/>
                  </a:lnTo>
                  <a:lnTo>
                    <a:pt x="517" y="593"/>
                  </a:lnTo>
                  <a:lnTo>
                    <a:pt x="513" y="594"/>
                  </a:lnTo>
                  <a:lnTo>
                    <a:pt x="503" y="598"/>
                  </a:lnTo>
                  <a:lnTo>
                    <a:pt x="486" y="604"/>
                  </a:lnTo>
                  <a:lnTo>
                    <a:pt x="466" y="609"/>
                  </a:lnTo>
                  <a:lnTo>
                    <a:pt x="441" y="615"/>
                  </a:lnTo>
                  <a:lnTo>
                    <a:pt x="412" y="620"/>
                  </a:lnTo>
                  <a:lnTo>
                    <a:pt x="383" y="622"/>
                  </a:lnTo>
                  <a:lnTo>
                    <a:pt x="353" y="622"/>
                  </a:lnTo>
                  <a:lnTo>
                    <a:pt x="348" y="620"/>
                  </a:lnTo>
                  <a:lnTo>
                    <a:pt x="333" y="618"/>
                  </a:lnTo>
                  <a:lnTo>
                    <a:pt x="311" y="612"/>
                  </a:lnTo>
                  <a:lnTo>
                    <a:pt x="285" y="604"/>
                  </a:lnTo>
                  <a:lnTo>
                    <a:pt x="255" y="593"/>
                  </a:lnTo>
                  <a:lnTo>
                    <a:pt x="225" y="581"/>
                  </a:lnTo>
                  <a:lnTo>
                    <a:pt x="197" y="564"/>
                  </a:lnTo>
                  <a:lnTo>
                    <a:pt x="173" y="544"/>
                  </a:lnTo>
                  <a:lnTo>
                    <a:pt x="170" y="542"/>
                  </a:lnTo>
                  <a:lnTo>
                    <a:pt x="162" y="536"/>
                  </a:lnTo>
                  <a:lnTo>
                    <a:pt x="148" y="524"/>
                  </a:lnTo>
                  <a:lnTo>
                    <a:pt x="133" y="511"/>
                  </a:lnTo>
                  <a:lnTo>
                    <a:pt x="116" y="494"/>
                  </a:lnTo>
                  <a:lnTo>
                    <a:pt x="100" y="474"/>
                  </a:lnTo>
                  <a:lnTo>
                    <a:pt x="83" y="453"/>
                  </a:lnTo>
                  <a:lnTo>
                    <a:pt x="70" y="431"/>
                  </a:lnTo>
                  <a:lnTo>
                    <a:pt x="65" y="426"/>
                  </a:lnTo>
                  <a:lnTo>
                    <a:pt x="55" y="412"/>
                  </a:lnTo>
                  <a:lnTo>
                    <a:pt x="45" y="393"/>
                  </a:lnTo>
                  <a:lnTo>
                    <a:pt x="38" y="372"/>
                  </a:lnTo>
                  <a:lnTo>
                    <a:pt x="0" y="368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93" name="Freeform 201"/>
            <p:cNvSpPr>
              <a:spLocks/>
            </p:cNvSpPr>
            <p:nvPr/>
          </p:nvSpPr>
          <p:spPr bwMode="auto">
            <a:xfrm>
              <a:off x="1788" y="2152"/>
              <a:ext cx="445" cy="198"/>
            </a:xfrm>
            <a:custGeom>
              <a:avLst/>
              <a:gdLst/>
              <a:ahLst/>
              <a:cxnLst>
                <a:cxn ang="0">
                  <a:pos x="28" y="111"/>
                </a:cxn>
                <a:cxn ang="0">
                  <a:pos x="35" y="102"/>
                </a:cxn>
                <a:cxn ang="0">
                  <a:pos x="55" y="82"/>
                </a:cxn>
                <a:cxn ang="0">
                  <a:pos x="89" y="56"/>
                </a:cxn>
                <a:cxn ang="0">
                  <a:pos x="135" y="31"/>
                </a:cxn>
                <a:cxn ang="0">
                  <a:pos x="149" y="25"/>
                </a:cxn>
                <a:cxn ang="0">
                  <a:pos x="184" y="13"/>
                </a:cxn>
                <a:cxn ang="0">
                  <a:pos x="230" y="2"/>
                </a:cxn>
                <a:cxn ang="0">
                  <a:pos x="275" y="0"/>
                </a:cxn>
                <a:cxn ang="0">
                  <a:pos x="289" y="1"/>
                </a:cxn>
                <a:cxn ang="0">
                  <a:pos x="324" y="8"/>
                </a:cxn>
                <a:cxn ang="0">
                  <a:pos x="365" y="25"/>
                </a:cxn>
                <a:cxn ang="0">
                  <a:pos x="403" y="56"/>
                </a:cxn>
                <a:cxn ang="0">
                  <a:pos x="444" y="116"/>
                </a:cxn>
                <a:cxn ang="0">
                  <a:pos x="433" y="127"/>
                </a:cxn>
                <a:cxn ang="0">
                  <a:pos x="413" y="143"/>
                </a:cxn>
                <a:cxn ang="0">
                  <a:pos x="381" y="162"/>
                </a:cxn>
                <a:cxn ang="0">
                  <a:pos x="358" y="172"/>
                </a:cxn>
                <a:cxn ang="0">
                  <a:pos x="331" y="180"/>
                </a:cxn>
                <a:cxn ang="0">
                  <a:pos x="291" y="190"/>
                </a:cxn>
                <a:cxn ang="0">
                  <a:pos x="248" y="197"/>
                </a:cxn>
                <a:cxn ang="0">
                  <a:pos x="225" y="198"/>
                </a:cxn>
                <a:cxn ang="0">
                  <a:pos x="200" y="196"/>
                </a:cxn>
                <a:cxn ang="0">
                  <a:pos x="160" y="187"/>
                </a:cxn>
                <a:cxn ang="0">
                  <a:pos x="111" y="171"/>
                </a:cxn>
                <a:cxn ang="0">
                  <a:pos x="86" y="158"/>
                </a:cxn>
                <a:cxn ang="0">
                  <a:pos x="81" y="155"/>
                </a:cxn>
                <a:cxn ang="0">
                  <a:pos x="70" y="146"/>
                </a:cxn>
                <a:cxn ang="0">
                  <a:pos x="56" y="135"/>
                </a:cxn>
                <a:cxn ang="0">
                  <a:pos x="46" y="127"/>
                </a:cxn>
                <a:cxn ang="0">
                  <a:pos x="29" y="128"/>
                </a:cxn>
                <a:cxn ang="0">
                  <a:pos x="0" y="128"/>
                </a:cxn>
              </a:cxnLst>
              <a:rect l="0" t="0" r="r" b="b"/>
              <a:pathLst>
                <a:path w="445" h="198">
                  <a:moveTo>
                    <a:pt x="0" y="128"/>
                  </a:moveTo>
                  <a:lnTo>
                    <a:pt x="28" y="111"/>
                  </a:lnTo>
                  <a:lnTo>
                    <a:pt x="29" y="108"/>
                  </a:lnTo>
                  <a:lnTo>
                    <a:pt x="35" y="102"/>
                  </a:lnTo>
                  <a:lnTo>
                    <a:pt x="44" y="93"/>
                  </a:lnTo>
                  <a:lnTo>
                    <a:pt x="55" y="82"/>
                  </a:lnTo>
                  <a:lnTo>
                    <a:pt x="71" y="68"/>
                  </a:lnTo>
                  <a:lnTo>
                    <a:pt x="89" y="56"/>
                  </a:lnTo>
                  <a:lnTo>
                    <a:pt x="111" y="42"/>
                  </a:lnTo>
                  <a:lnTo>
                    <a:pt x="135" y="31"/>
                  </a:lnTo>
                  <a:lnTo>
                    <a:pt x="139" y="30"/>
                  </a:lnTo>
                  <a:lnTo>
                    <a:pt x="149" y="25"/>
                  </a:lnTo>
                  <a:lnTo>
                    <a:pt x="165" y="20"/>
                  </a:lnTo>
                  <a:lnTo>
                    <a:pt x="184" y="13"/>
                  </a:lnTo>
                  <a:lnTo>
                    <a:pt x="206" y="7"/>
                  </a:lnTo>
                  <a:lnTo>
                    <a:pt x="230" y="2"/>
                  </a:lnTo>
                  <a:lnTo>
                    <a:pt x="253" y="0"/>
                  </a:lnTo>
                  <a:lnTo>
                    <a:pt x="275" y="0"/>
                  </a:lnTo>
                  <a:lnTo>
                    <a:pt x="279" y="0"/>
                  </a:lnTo>
                  <a:lnTo>
                    <a:pt x="289" y="1"/>
                  </a:lnTo>
                  <a:lnTo>
                    <a:pt x="305" y="3"/>
                  </a:lnTo>
                  <a:lnTo>
                    <a:pt x="324" y="8"/>
                  </a:lnTo>
                  <a:lnTo>
                    <a:pt x="344" y="15"/>
                  </a:lnTo>
                  <a:lnTo>
                    <a:pt x="365" y="25"/>
                  </a:lnTo>
                  <a:lnTo>
                    <a:pt x="385" y="38"/>
                  </a:lnTo>
                  <a:lnTo>
                    <a:pt x="403" y="56"/>
                  </a:lnTo>
                  <a:lnTo>
                    <a:pt x="445" y="115"/>
                  </a:lnTo>
                  <a:lnTo>
                    <a:pt x="444" y="116"/>
                  </a:lnTo>
                  <a:lnTo>
                    <a:pt x="440" y="121"/>
                  </a:lnTo>
                  <a:lnTo>
                    <a:pt x="433" y="127"/>
                  </a:lnTo>
                  <a:lnTo>
                    <a:pt x="424" y="135"/>
                  </a:lnTo>
                  <a:lnTo>
                    <a:pt x="413" y="143"/>
                  </a:lnTo>
                  <a:lnTo>
                    <a:pt x="398" y="153"/>
                  </a:lnTo>
                  <a:lnTo>
                    <a:pt x="381" y="162"/>
                  </a:lnTo>
                  <a:lnTo>
                    <a:pt x="361" y="171"/>
                  </a:lnTo>
                  <a:lnTo>
                    <a:pt x="358" y="172"/>
                  </a:lnTo>
                  <a:lnTo>
                    <a:pt x="348" y="175"/>
                  </a:lnTo>
                  <a:lnTo>
                    <a:pt x="331" y="180"/>
                  </a:lnTo>
                  <a:lnTo>
                    <a:pt x="313" y="185"/>
                  </a:lnTo>
                  <a:lnTo>
                    <a:pt x="291" y="190"/>
                  </a:lnTo>
                  <a:lnTo>
                    <a:pt x="269" y="195"/>
                  </a:lnTo>
                  <a:lnTo>
                    <a:pt x="248" y="197"/>
                  </a:lnTo>
                  <a:lnTo>
                    <a:pt x="229" y="198"/>
                  </a:lnTo>
                  <a:lnTo>
                    <a:pt x="225" y="198"/>
                  </a:lnTo>
                  <a:lnTo>
                    <a:pt x="215" y="197"/>
                  </a:lnTo>
                  <a:lnTo>
                    <a:pt x="200" y="196"/>
                  </a:lnTo>
                  <a:lnTo>
                    <a:pt x="181" y="192"/>
                  </a:lnTo>
                  <a:lnTo>
                    <a:pt x="160" y="187"/>
                  </a:lnTo>
                  <a:lnTo>
                    <a:pt x="136" y="181"/>
                  </a:lnTo>
                  <a:lnTo>
                    <a:pt x="111" y="171"/>
                  </a:lnTo>
                  <a:lnTo>
                    <a:pt x="88" y="160"/>
                  </a:lnTo>
                  <a:lnTo>
                    <a:pt x="86" y="158"/>
                  </a:lnTo>
                  <a:lnTo>
                    <a:pt x="85" y="157"/>
                  </a:lnTo>
                  <a:lnTo>
                    <a:pt x="81" y="155"/>
                  </a:lnTo>
                  <a:lnTo>
                    <a:pt x="76" y="151"/>
                  </a:lnTo>
                  <a:lnTo>
                    <a:pt x="70" y="146"/>
                  </a:lnTo>
                  <a:lnTo>
                    <a:pt x="64" y="141"/>
                  </a:lnTo>
                  <a:lnTo>
                    <a:pt x="56" y="135"/>
                  </a:lnTo>
                  <a:lnTo>
                    <a:pt x="49" y="128"/>
                  </a:lnTo>
                  <a:lnTo>
                    <a:pt x="46" y="127"/>
                  </a:lnTo>
                  <a:lnTo>
                    <a:pt x="39" y="126"/>
                  </a:lnTo>
                  <a:lnTo>
                    <a:pt x="29" y="128"/>
                  </a:lnTo>
                  <a:lnTo>
                    <a:pt x="14" y="140"/>
                  </a:lnTo>
                  <a:lnTo>
                    <a:pt x="0" y="128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94" name="Freeform 202"/>
            <p:cNvSpPr>
              <a:spLocks/>
            </p:cNvSpPr>
            <p:nvPr/>
          </p:nvSpPr>
          <p:spPr bwMode="auto">
            <a:xfrm>
              <a:off x="1583" y="2114"/>
              <a:ext cx="70" cy="160"/>
            </a:xfrm>
            <a:custGeom>
              <a:avLst/>
              <a:gdLst/>
              <a:ahLst/>
              <a:cxnLst>
                <a:cxn ang="0">
                  <a:pos x="0" y="160"/>
                </a:cxn>
                <a:cxn ang="0">
                  <a:pos x="70" y="80"/>
                </a:cxn>
                <a:cxn ang="0">
                  <a:pos x="70" y="0"/>
                </a:cxn>
                <a:cxn ang="0">
                  <a:pos x="69" y="3"/>
                </a:cxn>
                <a:cxn ang="0">
                  <a:pos x="64" y="9"/>
                </a:cxn>
                <a:cxn ang="0">
                  <a:pos x="58" y="18"/>
                </a:cxn>
                <a:cxn ang="0">
                  <a:pos x="50" y="29"/>
                </a:cxn>
                <a:cxn ang="0">
                  <a:pos x="41" y="41"/>
                </a:cxn>
                <a:cxn ang="0">
                  <a:pos x="33" y="56"/>
                </a:cxn>
                <a:cxn ang="0">
                  <a:pos x="25" y="70"/>
                </a:cxn>
                <a:cxn ang="0">
                  <a:pos x="18" y="84"/>
                </a:cxn>
                <a:cxn ang="0">
                  <a:pos x="0" y="160"/>
                </a:cxn>
              </a:cxnLst>
              <a:rect l="0" t="0" r="r" b="b"/>
              <a:pathLst>
                <a:path w="70" h="160">
                  <a:moveTo>
                    <a:pt x="0" y="160"/>
                  </a:moveTo>
                  <a:lnTo>
                    <a:pt x="70" y="80"/>
                  </a:lnTo>
                  <a:lnTo>
                    <a:pt x="70" y="0"/>
                  </a:lnTo>
                  <a:lnTo>
                    <a:pt x="69" y="3"/>
                  </a:lnTo>
                  <a:lnTo>
                    <a:pt x="64" y="9"/>
                  </a:lnTo>
                  <a:lnTo>
                    <a:pt x="58" y="18"/>
                  </a:lnTo>
                  <a:lnTo>
                    <a:pt x="50" y="29"/>
                  </a:lnTo>
                  <a:lnTo>
                    <a:pt x="41" y="41"/>
                  </a:lnTo>
                  <a:lnTo>
                    <a:pt x="33" y="56"/>
                  </a:lnTo>
                  <a:lnTo>
                    <a:pt x="25" y="70"/>
                  </a:lnTo>
                  <a:lnTo>
                    <a:pt x="18" y="84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95" name="Freeform 203"/>
            <p:cNvSpPr>
              <a:spLocks/>
            </p:cNvSpPr>
            <p:nvPr/>
          </p:nvSpPr>
          <p:spPr bwMode="auto">
            <a:xfrm>
              <a:off x="1677" y="2020"/>
              <a:ext cx="97" cy="143"/>
            </a:xfrm>
            <a:custGeom>
              <a:avLst/>
              <a:gdLst/>
              <a:ahLst/>
              <a:cxnLst>
                <a:cxn ang="0">
                  <a:pos x="4" y="143"/>
                </a:cxn>
                <a:cxn ang="0">
                  <a:pos x="0" y="67"/>
                </a:cxn>
                <a:cxn ang="0">
                  <a:pos x="1" y="65"/>
                </a:cxn>
                <a:cxn ang="0">
                  <a:pos x="4" y="60"/>
                </a:cxn>
                <a:cxn ang="0">
                  <a:pos x="9" y="55"/>
                </a:cxn>
                <a:cxn ang="0">
                  <a:pos x="14" y="48"/>
                </a:cxn>
                <a:cxn ang="0">
                  <a:pos x="21" y="39"/>
                </a:cxn>
                <a:cxn ang="0">
                  <a:pos x="30" y="32"/>
                </a:cxn>
                <a:cxn ang="0">
                  <a:pos x="39" y="24"/>
                </a:cxn>
                <a:cxn ang="0">
                  <a:pos x="49" y="18"/>
                </a:cxn>
                <a:cxn ang="0">
                  <a:pos x="97" y="0"/>
                </a:cxn>
                <a:cxn ang="0">
                  <a:pos x="94" y="42"/>
                </a:cxn>
                <a:cxn ang="0">
                  <a:pos x="4" y="143"/>
                </a:cxn>
              </a:cxnLst>
              <a:rect l="0" t="0" r="r" b="b"/>
              <a:pathLst>
                <a:path w="97" h="143">
                  <a:moveTo>
                    <a:pt x="4" y="143"/>
                  </a:moveTo>
                  <a:lnTo>
                    <a:pt x="0" y="67"/>
                  </a:lnTo>
                  <a:lnTo>
                    <a:pt x="1" y="65"/>
                  </a:lnTo>
                  <a:lnTo>
                    <a:pt x="4" y="60"/>
                  </a:lnTo>
                  <a:lnTo>
                    <a:pt x="9" y="55"/>
                  </a:lnTo>
                  <a:lnTo>
                    <a:pt x="14" y="48"/>
                  </a:lnTo>
                  <a:lnTo>
                    <a:pt x="21" y="39"/>
                  </a:lnTo>
                  <a:lnTo>
                    <a:pt x="30" y="32"/>
                  </a:lnTo>
                  <a:lnTo>
                    <a:pt x="39" y="24"/>
                  </a:lnTo>
                  <a:lnTo>
                    <a:pt x="49" y="18"/>
                  </a:lnTo>
                  <a:lnTo>
                    <a:pt x="97" y="0"/>
                  </a:lnTo>
                  <a:lnTo>
                    <a:pt x="94" y="42"/>
                  </a:lnTo>
                  <a:lnTo>
                    <a:pt x="4" y="143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96" name="Freeform 204"/>
            <p:cNvSpPr>
              <a:spLocks/>
            </p:cNvSpPr>
            <p:nvPr/>
          </p:nvSpPr>
          <p:spPr bwMode="auto">
            <a:xfrm>
              <a:off x="1802" y="1972"/>
              <a:ext cx="121" cy="83"/>
            </a:xfrm>
            <a:custGeom>
              <a:avLst/>
              <a:gdLst/>
              <a:ahLst/>
              <a:cxnLst>
                <a:cxn ang="0">
                  <a:pos x="0" y="83"/>
                </a:cxn>
                <a:cxn ang="0">
                  <a:pos x="7" y="31"/>
                </a:cxn>
                <a:cxn ang="0">
                  <a:pos x="10" y="30"/>
                </a:cxn>
                <a:cxn ang="0">
                  <a:pos x="15" y="26"/>
                </a:cxn>
                <a:cxn ang="0">
                  <a:pos x="25" y="21"/>
                </a:cxn>
                <a:cxn ang="0">
                  <a:pos x="39" y="15"/>
                </a:cxn>
                <a:cxn ang="0">
                  <a:pos x="55" y="10"/>
                </a:cxn>
                <a:cxn ang="0">
                  <a:pos x="75" y="5"/>
                </a:cxn>
                <a:cxn ang="0">
                  <a:pos x="96" y="1"/>
                </a:cxn>
                <a:cxn ang="0">
                  <a:pos x="121" y="0"/>
                </a:cxn>
                <a:cxn ang="0">
                  <a:pos x="0" y="83"/>
                </a:cxn>
              </a:cxnLst>
              <a:rect l="0" t="0" r="r" b="b"/>
              <a:pathLst>
                <a:path w="121" h="83">
                  <a:moveTo>
                    <a:pt x="0" y="83"/>
                  </a:moveTo>
                  <a:lnTo>
                    <a:pt x="7" y="31"/>
                  </a:lnTo>
                  <a:lnTo>
                    <a:pt x="10" y="30"/>
                  </a:lnTo>
                  <a:lnTo>
                    <a:pt x="15" y="26"/>
                  </a:lnTo>
                  <a:lnTo>
                    <a:pt x="25" y="21"/>
                  </a:lnTo>
                  <a:lnTo>
                    <a:pt x="39" y="15"/>
                  </a:lnTo>
                  <a:lnTo>
                    <a:pt x="55" y="10"/>
                  </a:lnTo>
                  <a:lnTo>
                    <a:pt x="75" y="5"/>
                  </a:lnTo>
                  <a:lnTo>
                    <a:pt x="96" y="1"/>
                  </a:lnTo>
                  <a:lnTo>
                    <a:pt x="121" y="0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97" name="Freeform 205"/>
            <p:cNvSpPr>
              <a:spLocks/>
            </p:cNvSpPr>
            <p:nvPr/>
          </p:nvSpPr>
          <p:spPr bwMode="auto">
            <a:xfrm>
              <a:off x="1854" y="1979"/>
              <a:ext cx="100" cy="79"/>
            </a:xfrm>
            <a:custGeom>
              <a:avLst/>
              <a:gdLst/>
              <a:ahLst/>
              <a:cxnLst>
                <a:cxn ang="0">
                  <a:pos x="0" y="79"/>
                </a:cxn>
                <a:cxn ang="0">
                  <a:pos x="100" y="0"/>
                </a:cxn>
                <a:cxn ang="0">
                  <a:pos x="98" y="10"/>
                </a:cxn>
                <a:cxn ang="0">
                  <a:pos x="90" y="31"/>
                </a:cxn>
                <a:cxn ang="0">
                  <a:pos x="80" y="58"/>
                </a:cxn>
                <a:cxn ang="0">
                  <a:pos x="69" y="76"/>
                </a:cxn>
                <a:cxn ang="0">
                  <a:pos x="0" y="79"/>
                </a:cxn>
              </a:cxnLst>
              <a:rect l="0" t="0" r="r" b="b"/>
              <a:pathLst>
                <a:path w="100" h="79">
                  <a:moveTo>
                    <a:pt x="0" y="79"/>
                  </a:moveTo>
                  <a:lnTo>
                    <a:pt x="100" y="0"/>
                  </a:lnTo>
                  <a:lnTo>
                    <a:pt x="98" y="10"/>
                  </a:lnTo>
                  <a:lnTo>
                    <a:pt x="90" y="31"/>
                  </a:lnTo>
                  <a:lnTo>
                    <a:pt x="80" y="58"/>
                  </a:lnTo>
                  <a:lnTo>
                    <a:pt x="69" y="76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98" name="Freeform 206"/>
            <p:cNvSpPr>
              <a:spLocks/>
            </p:cNvSpPr>
            <p:nvPr/>
          </p:nvSpPr>
          <p:spPr bwMode="auto">
            <a:xfrm>
              <a:off x="1757" y="2079"/>
              <a:ext cx="150" cy="59"/>
            </a:xfrm>
            <a:custGeom>
              <a:avLst/>
              <a:gdLst/>
              <a:ahLst/>
              <a:cxnLst>
                <a:cxn ang="0">
                  <a:pos x="70" y="0"/>
                </a:cxn>
                <a:cxn ang="0">
                  <a:pos x="150" y="0"/>
                </a:cxn>
                <a:cxn ang="0">
                  <a:pos x="149" y="1"/>
                </a:cxn>
                <a:cxn ang="0">
                  <a:pos x="147" y="6"/>
                </a:cxn>
                <a:cxn ang="0">
                  <a:pos x="144" y="14"/>
                </a:cxn>
                <a:cxn ang="0">
                  <a:pos x="139" y="21"/>
                </a:cxn>
                <a:cxn ang="0">
                  <a:pos x="132" y="31"/>
                </a:cxn>
                <a:cxn ang="0">
                  <a:pos x="125" y="41"/>
                </a:cxn>
                <a:cxn ang="0">
                  <a:pos x="116" y="50"/>
                </a:cxn>
                <a:cxn ang="0">
                  <a:pos x="107" y="59"/>
                </a:cxn>
                <a:cxn ang="0">
                  <a:pos x="0" y="59"/>
                </a:cxn>
                <a:cxn ang="0">
                  <a:pos x="70" y="0"/>
                </a:cxn>
              </a:cxnLst>
              <a:rect l="0" t="0" r="r" b="b"/>
              <a:pathLst>
                <a:path w="150" h="59">
                  <a:moveTo>
                    <a:pt x="70" y="0"/>
                  </a:moveTo>
                  <a:lnTo>
                    <a:pt x="150" y="0"/>
                  </a:lnTo>
                  <a:lnTo>
                    <a:pt x="149" y="1"/>
                  </a:lnTo>
                  <a:lnTo>
                    <a:pt x="147" y="6"/>
                  </a:lnTo>
                  <a:lnTo>
                    <a:pt x="144" y="14"/>
                  </a:lnTo>
                  <a:lnTo>
                    <a:pt x="139" y="21"/>
                  </a:lnTo>
                  <a:lnTo>
                    <a:pt x="132" y="31"/>
                  </a:lnTo>
                  <a:lnTo>
                    <a:pt x="125" y="41"/>
                  </a:lnTo>
                  <a:lnTo>
                    <a:pt x="116" y="50"/>
                  </a:lnTo>
                  <a:lnTo>
                    <a:pt x="107" y="59"/>
                  </a:lnTo>
                  <a:lnTo>
                    <a:pt x="0" y="59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99" name="Freeform 207"/>
            <p:cNvSpPr>
              <a:spLocks/>
            </p:cNvSpPr>
            <p:nvPr/>
          </p:nvSpPr>
          <p:spPr bwMode="auto">
            <a:xfrm>
              <a:off x="1688" y="2163"/>
              <a:ext cx="153" cy="51"/>
            </a:xfrm>
            <a:custGeom>
              <a:avLst/>
              <a:gdLst/>
              <a:ahLst/>
              <a:cxnLst>
                <a:cxn ang="0">
                  <a:pos x="45" y="0"/>
                </a:cxn>
                <a:cxn ang="0">
                  <a:pos x="153" y="0"/>
                </a:cxn>
                <a:cxn ang="0">
                  <a:pos x="151" y="1"/>
                </a:cxn>
                <a:cxn ang="0">
                  <a:pos x="148" y="5"/>
                </a:cxn>
                <a:cxn ang="0">
                  <a:pos x="143" y="11"/>
                </a:cxn>
                <a:cxn ang="0">
                  <a:pos x="135" y="17"/>
                </a:cxn>
                <a:cxn ang="0">
                  <a:pos x="125" y="26"/>
                </a:cxn>
                <a:cxn ang="0">
                  <a:pos x="113" y="35"/>
                </a:cxn>
                <a:cxn ang="0">
                  <a:pos x="99" y="44"/>
                </a:cxn>
                <a:cxn ang="0">
                  <a:pos x="83" y="51"/>
                </a:cxn>
                <a:cxn ang="0">
                  <a:pos x="0" y="45"/>
                </a:cxn>
                <a:cxn ang="0">
                  <a:pos x="45" y="0"/>
                </a:cxn>
              </a:cxnLst>
              <a:rect l="0" t="0" r="r" b="b"/>
              <a:pathLst>
                <a:path w="153" h="51">
                  <a:moveTo>
                    <a:pt x="45" y="0"/>
                  </a:moveTo>
                  <a:lnTo>
                    <a:pt x="153" y="0"/>
                  </a:lnTo>
                  <a:lnTo>
                    <a:pt x="151" y="1"/>
                  </a:lnTo>
                  <a:lnTo>
                    <a:pt x="148" y="5"/>
                  </a:lnTo>
                  <a:lnTo>
                    <a:pt x="143" y="11"/>
                  </a:lnTo>
                  <a:lnTo>
                    <a:pt x="135" y="17"/>
                  </a:lnTo>
                  <a:lnTo>
                    <a:pt x="125" y="26"/>
                  </a:lnTo>
                  <a:lnTo>
                    <a:pt x="113" y="35"/>
                  </a:lnTo>
                  <a:lnTo>
                    <a:pt x="99" y="44"/>
                  </a:lnTo>
                  <a:lnTo>
                    <a:pt x="83" y="51"/>
                  </a:lnTo>
                  <a:lnTo>
                    <a:pt x="0" y="45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400" name="Freeform 208"/>
            <p:cNvSpPr>
              <a:spLocks/>
            </p:cNvSpPr>
            <p:nvPr/>
          </p:nvSpPr>
          <p:spPr bwMode="auto">
            <a:xfrm>
              <a:off x="1614" y="2232"/>
              <a:ext cx="112" cy="66"/>
            </a:xfrm>
            <a:custGeom>
              <a:avLst/>
              <a:gdLst/>
              <a:ahLst/>
              <a:cxnLst>
                <a:cxn ang="0">
                  <a:pos x="39" y="0"/>
                </a:cxn>
                <a:cxn ang="0">
                  <a:pos x="112" y="11"/>
                </a:cxn>
                <a:cxn ang="0">
                  <a:pos x="110" y="13"/>
                </a:cxn>
                <a:cxn ang="0">
                  <a:pos x="104" y="18"/>
                </a:cxn>
                <a:cxn ang="0">
                  <a:pos x="95" y="26"/>
                </a:cxn>
                <a:cxn ang="0">
                  <a:pos x="84" y="35"/>
                </a:cxn>
                <a:cxn ang="0">
                  <a:pos x="68" y="45"/>
                </a:cxn>
                <a:cxn ang="0">
                  <a:pos x="49" y="53"/>
                </a:cxn>
                <a:cxn ang="0">
                  <a:pos x="27" y="61"/>
                </a:cxn>
                <a:cxn ang="0">
                  <a:pos x="0" y="66"/>
                </a:cxn>
                <a:cxn ang="0">
                  <a:pos x="39" y="0"/>
                </a:cxn>
              </a:cxnLst>
              <a:rect l="0" t="0" r="r" b="b"/>
              <a:pathLst>
                <a:path w="112" h="66">
                  <a:moveTo>
                    <a:pt x="39" y="0"/>
                  </a:moveTo>
                  <a:lnTo>
                    <a:pt x="112" y="11"/>
                  </a:lnTo>
                  <a:lnTo>
                    <a:pt x="110" y="13"/>
                  </a:lnTo>
                  <a:lnTo>
                    <a:pt x="104" y="18"/>
                  </a:lnTo>
                  <a:lnTo>
                    <a:pt x="95" y="26"/>
                  </a:lnTo>
                  <a:lnTo>
                    <a:pt x="84" y="35"/>
                  </a:lnTo>
                  <a:lnTo>
                    <a:pt x="68" y="45"/>
                  </a:lnTo>
                  <a:lnTo>
                    <a:pt x="49" y="53"/>
                  </a:lnTo>
                  <a:lnTo>
                    <a:pt x="27" y="61"/>
                  </a:lnTo>
                  <a:lnTo>
                    <a:pt x="0" y="66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401" name="Freeform 209"/>
            <p:cNvSpPr>
              <a:spLocks/>
            </p:cNvSpPr>
            <p:nvPr/>
          </p:nvSpPr>
          <p:spPr bwMode="auto">
            <a:xfrm>
              <a:off x="1653" y="2325"/>
              <a:ext cx="211" cy="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20" y="0"/>
                </a:cxn>
                <a:cxn ang="0">
                  <a:pos x="41" y="2"/>
                </a:cxn>
                <a:cxn ang="0">
                  <a:pos x="68" y="4"/>
                </a:cxn>
                <a:cxn ang="0">
                  <a:pos x="99" y="8"/>
                </a:cxn>
                <a:cxn ang="0">
                  <a:pos x="130" y="14"/>
                </a:cxn>
                <a:cxn ang="0">
                  <a:pos x="161" y="23"/>
                </a:cxn>
                <a:cxn ang="0">
                  <a:pos x="191" y="35"/>
                </a:cxn>
                <a:cxn ang="0">
                  <a:pos x="211" y="45"/>
                </a:cxn>
                <a:cxn ang="0">
                  <a:pos x="121" y="60"/>
                </a:cxn>
                <a:cxn ang="0">
                  <a:pos x="0" y="0"/>
                </a:cxn>
              </a:cxnLst>
              <a:rect l="0" t="0" r="r" b="b"/>
              <a:pathLst>
                <a:path w="211" h="60">
                  <a:moveTo>
                    <a:pt x="0" y="0"/>
                  </a:moveTo>
                  <a:lnTo>
                    <a:pt x="5" y="0"/>
                  </a:lnTo>
                  <a:lnTo>
                    <a:pt x="20" y="0"/>
                  </a:lnTo>
                  <a:lnTo>
                    <a:pt x="41" y="2"/>
                  </a:lnTo>
                  <a:lnTo>
                    <a:pt x="68" y="4"/>
                  </a:lnTo>
                  <a:lnTo>
                    <a:pt x="99" y="8"/>
                  </a:lnTo>
                  <a:lnTo>
                    <a:pt x="130" y="14"/>
                  </a:lnTo>
                  <a:lnTo>
                    <a:pt x="161" y="23"/>
                  </a:lnTo>
                  <a:lnTo>
                    <a:pt x="191" y="35"/>
                  </a:lnTo>
                  <a:lnTo>
                    <a:pt x="211" y="45"/>
                  </a:lnTo>
                  <a:lnTo>
                    <a:pt x="121" y="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402" name="Freeform 210"/>
            <p:cNvSpPr>
              <a:spLocks/>
            </p:cNvSpPr>
            <p:nvPr/>
          </p:nvSpPr>
          <p:spPr bwMode="auto">
            <a:xfrm>
              <a:off x="1649" y="2350"/>
              <a:ext cx="73" cy="1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3" y="49"/>
                </a:cxn>
                <a:cxn ang="0">
                  <a:pos x="73" y="104"/>
                </a:cxn>
                <a:cxn ang="0">
                  <a:pos x="70" y="103"/>
                </a:cxn>
                <a:cxn ang="0">
                  <a:pos x="64" y="97"/>
                </a:cxn>
                <a:cxn ang="0">
                  <a:pos x="55" y="89"/>
                </a:cxn>
                <a:cxn ang="0">
                  <a:pos x="44" y="77"/>
                </a:cxn>
                <a:cxn ang="0">
                  <a:pos x="33" y="63"/>
                </a:cxn>
                <a:cxn ang="0">
                  <a:pos x="20" y="44"/>
                </a:cxn>
                <a:cxn ang="0">
                  <a:pos x="9" y="24"/>
                </a:cxn>
                <a:cxn ang="0">
                  <a:pos x="0" y="0"/>
                </a:cxn>
              </a:cxnLst>
              <a:rect l="0" t="0" r="r" b="b"/>
              <a:pathLst>
                <a:path w="73" h="104">
                  <a:moveTo>
                    <a:pt x="0" y="0"/>
                  </a:moveTo>
                  <a:lnTo>
                    <a:pt x="73" y="49"/>
                  </a:lnTo>
                  <a:lnTo>
                    <a:pt x="73" y="104"/>
                  </a:lnTo>
                  <a:lnTo>
                    <a:pt x="70" y="103"/>
                  </a:lnTo>
                  <a:lnTo>
                    <a:pt x="64" y="97"/>
                  </a:lnTo>
                  <a:lnTo>
                    <a:pt x="55" y="89"/>
                  </a:lnTo>
                  <a:lnTo>
                    <a:pt x="44" y="77"/>
                  </a:lnTo>
                  <a:lnTo>
                    <a:pt x="33" y="63"/>
                  </a:lnTo>
                  <a:lnTo>
                    <a:pt x="20" y="44"/>
                  </a:lnTo>
                  <a:lnTo>
                    <a:pt x="9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403" name="Freeform 211"/>
            <p:cNvSpPr>
              <a:spLocks/>
            </p:cNvSpPr>
            <p:nvPr/>
          </p:nvSpPr>
          <p:spPr bwMode="auto">
            <a:xfrm>
              <a:off x="1757" y="2405"/>
              <a:ext cx="62" cy="112"/>
            </a:xfrm>
            <a:custGeom>
              <a:avLst/>
              <a:gdLst/>
              <a:ahLst/>
              <a:cxnLst>
                <a:cxn ang="0">
                  <a:pos x="0" y="74"/>
                </a:cxn>
                <a:cxn ang="0">
                  <a:pos x="0" y="0"/>
                </a:cxn>
                <a:cxn ang="0">
                  <a:pos x="56" y="18"/>
                </a:cxn>
                <a:cxn ang="0">
                  <a:pos x="62" y="112"/>
                </a:cxn>
                <a:cxn ang="0">
                  <a:pos x="0" y="74"/>
                </a:cxn>
              </a:cxnLst>
              <a:rect l="0" t="0" r="r" b="b"/>
              <a:pathLst>
                <a:path w="62" h="112">
                  <a:moveTo>
                    <a:pt x="0" y="74"/>
                  </a:moveTo>
                  <a:lnTo>
                    <a:pt x="0" y="0"/>
                  </a:lnTo>
                  <a:lnTo>
                    <a:pt x="56" y="18"/>
                  </a:lnTo>
                  <a:lnTo>
                    <a:pt x="62" y="112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404" name="Freeform 212"/>
            <p:cNvSpPr>
              <a:spLocks/>
            </p:cNvSpPr>
            <p:nvPr/>
          </p:nvSpPr>
          <p:spPr bwMode="auto">
            <a:xfrm>
              <a:off x="1837" y="2444"/>
              <a:ext cx="90" cy="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76"/>
                </a:cxn>
                <a:cxn ang="0">
                  <a:pos x="5" y="78"/>
                </a:cxn>
                <a:cxn ang="0">
                  <a:pos x="10" y="80"/>
                </a:cxn>
                <a:cxn ang="0">
                  <a:pos x="19" y="83"/>
                </a:cxn>
                <a:cxn ang="0">
                  <a:pos x="29" y="86"/>
                </a:cxn>
                <a:cxn ang="0">
                  <a:pos x="41" y="90"/>
                </a:cxn>
                <a:cxn ang="0">
                  <a:pos x="56" y="93"/>
                </a:cxn>
                <a:cxn ang="0">
                  <a:pos x="72" y="94"/>
                </a:cxn>
                <a:cxn ang="0">
                  <a:pos x="90" y="94"/>
                </a:cxn>
                <a:cxn ang="0">
                  <a:pos x="49" y="14"/>
                </a:cxn>
                <a:cxn ang="0">
                  <a:pos x="0" y="0"/>
                </a:cxn>
              </a:cxnLst>
              <a:rect l="0" t="0" r="r" b="b"/>
              <a:pathLst>
                <a:path w="90" h="94">
                  <a:moveTo>
                    <a:pt x="0" y="0"/>
                  </a:moveTo>
                  <a:lnTo>
                    <a:pt x="4" y="76"/>
                  </a:lnTo>
                  <a:lnTo>
                    <a:pt x="5" y="78"/>
                  </a:lnTo>
                  <a:lnTo>
                    <a:pt x="10" y="80"/>
                  </a:lnTo>
                  <a:lnTo>
                    <a:pt x="19" y="83"/>
                  </a:lnTo>
                  <a:lnTo>
                    <a:pt x="29" y="86"/>
                  </a:lnTo>
                  <a:lnTo>
                    <a:pt x="41" y="90"/>
                  </a:lnTo>
                  <a:lnTo>
                    <a:pt x="56" y="93"/>
                  </a:lnTo>
                  <a:lnTo>
                    <a:pt x="72" y="94"/>
                  </a:lnTo>
                  <a:lnTo>
                    <a:pt x="90" y="94"/>
                  </a:lnTo>
                  <a:lnTo>
                    <a:pt x="49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405" name="Freeform 213"/>
            <p:cNvSpPr>
              <a:spLocks/>
            </p:cNvSpPr>
            <p:nvPr/>
          </p:nvSpPr>
          <p:spPr bwMode="auto">
            <a:xfrm>
              <a:off x="1931" y="2485"/>
              <a:ext cx="93" cy="5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7" y="53"/>
                </a:cxn>
                <a:cxn ang="0">
                  <a:pos x="28" y="53"/>
                </a:cxn>
                <a:cxn ang="0">
                  <a:pos x="33" y="53"/>
                </a:cxn>
                <a:cxn ang="0">
                  <a:pos x="40" y="54"/>
                </a:cxn>
                <a:cxn ang="0">
                  <a:pos x="48" y="54"/>
                </a:cxn>
                <a:cxn ang="0">
                  <a:pos x="58" y="54"/>
                </a:cxn>
                <a:cxn ang="0">
                  <a:pos x="70" y="53"/>
                </a:cxn>
                <a:cxn ang="0">
                  <a:pos x="82" y="52"/>
                </a:cxn>
                <a:cxn ang="0">
                  <a:pos x="93" y="49"/>
                </a:cxn>
                <a:cxn ang="0">
                  <a:pos x="92" y="48"/>
                </a:cxn>
                <a:cxn ang="0">
                  <a:pos x="87" y="44"/>
                </a:cxn>
                <a:cxn ang="0">
                  <a:pos x="80" y="39"/>
                </a:cxn>
                <a:cxn ang="0">
                  <a:pos x="70" y="33"/>
                </a:cxn>
                <a:cxn ang="0">
                  <a:pos x="57" y="25"/>
                </a:cxn>
                <a:cxn ang="0">
                  <a:pos x="41" y="17"/>
                </a:cxn>
                <a:cxn ang="0">
                  <a:pos x="22" y="9"/>
                </a:cxn>
                <a:cxn ang="0">
                  <a:pos x="0" y="0"/>
                </a:cxn>
              </a:cxnLst>
              <a:rect l="0" t="0" r="r" b="b"/>
              <a:pathLst>
                <a:path w="93" h="54">
                  <a:moveTo>
                    <a:pt x="0" y="0"/>
                  </a:moveTo>
                  <a:lnTo>
                    <a:pt x="27" y="53"/>
                  </a:lnTo>
                  <a:lnTo>
                    <a:pt x="28" y="53"/>
                  </a:lnTo>
                  <a:lnTo>
                    <a:pt x="33" y="53"/>
                  </a:lnTo>
                  <a:lnTo>
                    <a:pt x="40" y="54"/>
                  </a:lnTo>
                  <a:lnTo>
                    <a:pt x="48" y="54"/>
                  </a:lnTo>
                  <a:lnTo>
                    <a:pt x="58" y="54"/>
                  </a:lnTo>
                  <a:lnTo>
                    <a:pt x="70" y="53"/>
                  </a:lnTo>
                  <a:lnTo>
                    <a:pt x="82" y="52"/>
                  </a:lnTo>
                  <a:lnTo>
                    <a:pt x="93" y="49"/>
                  </a:lnTo>
                  <a:lnTo>
                    <a:pt x="92" y="48"/>
                  </a:lnTo>
                  <a:lnTo>
                    <a:pt x="87" y="44"/>
                  </a:lnTo>
                  <a:lnTo>
                    <a:pt x="80" y="39"/>
                  </a:lnTo>
                  <a:lnTo>
                    <a:pt x="70" y="33"/>
                  </a:lnTo>
                  <a:lnTo>
                    <a:pt x="57" y="25"/>
                  </a:lnTo>
                  <a:lnTo>
                    <a:pt x="41" y="17"/>
                  </a:lnTo>
                  <a:lnTo>
                    <a:pt x="22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406" name="Freeform 214"/>
            <p:cNvSpPr>
              <a:spLocks/>
            </p:cNvSpPr>
            <p:nvPr/>
          </p:nvSpPr>
          <p:spPr bwMode="auto">
            <a:xfrm>
              <a:off x="1841" y="2382"/>
              <a:ext cx="113" cy="55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58" y="0"/>
                </a:cxn>
                <a:cxn ang="0">
                  <a:pos x="61" y="1"/>
                </a:cxn>
                <a:cxn ang="0">
                  <a:pos x="66" y="3"/>
                </a:cxn>
                <a:cxn ang="0">
                  <a:pos x="73" y="7"/>
                </a:cxn>
                <a:cxn ang="0">
                  <a:pos x="82" y="11"/>
                </a:cxn>
                <a:cxn ang="0">
                  <a:pos x="92" y="16"/>
                </a:cxn>
                <a:cxn ang="0">
                  <a:pos x="101" y="21"/>
                </a:cxn>
                <a:cxn ang="0">
                  <a:pos x="108" y="26"/>
                </a:cxn>
                <a:cxn ang="0">
                  <a:pos x="113" y="31"/>
                </a:cxn>
                <a:cxn ang="0">
                  <a:pos x="68" y="55"/>
                </a:cxn>
                <a:cxn ang="0">
                  <a:pos x="0" y="20"/>
                </a:cxn>
              </a:cxnLst>
              <a:rect l="0" t="0" r="r" b="b"/>
              <a:pathLst>
                <a:path w="113" h="55">
                  <a:moveTo>
                    <a:pt x="0" y="20"/>
                  </a:moveTo>
                  <a:lnTo>
                    <a:pt x="58" y="0"/>
                  </a:lnTo>
                  <a:lnTo>
                    <a:pt x="61" y="1"/>
                  </a:lnTo>
                  <a:lnTo>
                    <a:pt x="66" y="3"/>
                  </a:lnTo>
                  <a:lnTo>
                    <a:pt x="73" y="7"/>
                  </a:lnTo>
                  <a:lnTo>
                    <a:pt x="82" y="11"/>
                  </a:lnTo>
                  <a:lnTo>
                    <a:pt x="92" y="16"/>
                  </a:lnTo>
                  <a:lnTo>
                    <a:pt x="101" y="21"/>
                  </a:lnTo>
                  <a:lnTo>
                    <a:pt x="108" y="26"/>
                  </a:lnTo>
                  <a:lnTo>
                    <a:pt x="113" y="31"/>
                  </a:lnTo>
                  <a:lnTo>
                    <a:pt x="68" y="55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407" name="Freeform 215"/>
            <p:cNvSpPr>
              <a:spLocks/>
            </p:cNvSpPr>
            <p:nvPr/>
          </p:nvSpPr>
          <p:spPr bwMode="auto">
            <a:xfrm>
              <a:off x="1941" y="2440"/>
              <a:ext cx="87" cy="55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42" y="0"/>
                </a:cxn>
                <a:cxn ang="0">
                  <a:pos x="43" y="2"/>
                </a:cxn>
                <a:cxn ang="0">
                  <a:pos x="46" y="4"/>
                </a:cxn>
                <a:cxn ang="0">
                  <a:pos x="50" y="9"/>
                </a:cxn>
                <a:cxn ang="0">
                  <a:pos x="55" y="15"/>
                </a:cxn>
                <a:cxn ang="0">
                  <a:pos x="61" y="23"/>
                </a:cxn>
                <a:cxn ang="0">
                  <a:pos x="68" y="33"/>
                </a:cxn>
                <a:cxn ang="0">
                  <a:pos x="77" y="43"/>
                </a:cxn>
                <a:cxn ang="0">
                  <a:pos x="87" y="55"/>
                </a:cxn>
                <a:cxn ang="0">
                  <a:pos x="0" y="10"/>
                </a:cxn>
              </a:cxnLst>
              <a:rect l="0" t="0" r="r" b="b"/>
              <a:pathLst>
                <a:path w="87" h="55">
                  <a:moveTo>
                    <a:pt x="0" y="10"/>
                  </a:moveTo>
                  <a:lnTo>
                    <a:pt x="42" y="0"/>
                  </a:lnTo>
                  <a:lnTo>
                    <a:pt x="43" y="2"/>
                  </a:lnTo>
                  <a:lnTo>
                    <a:pt x="46" y="4"/>
                  </a:lnTo>
                  <a:lnTo>
                    <a:pt x="50" y="9"/>
                  </a:lnTo>
                  <a:lnTo>
                    <a:pt x="55" y="15"/>
                  </a:lnTo>
                  <a:lnTo>
                    <a:pt x="61" y="23"/>
                  </a:lnTo>
                  <a:lnTo>
                    <a:pt x="68" y="33"/>
                  </a:lnTo>
                  <a:lnTo>
                    <a:pt x="77" y="43"/>
                  </a:lnTo>
                  <a:lnTo>
                    <a:pt x="87" y="55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408" name="Freeform 216"/>
            <p:cNvSpPr>
              <a:spLocks/>
            </p:cNvSpPr>
            <p:nvPr/>
          </p:nvSpPr>
          <p:spPr bwMode="auto">
            <a:xfrm>
              <a:off x="1868" y="2263"/>
              <a:ext cx="135" cy="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6" y="0"/>
                </a:cxn>
                <a:cxn ang="0">
                  <a:pos x="135" y="60"/>
                </a:cxn>
                <a:cxn ang="0">
                  <a:pos x="131" y="60"/>
                </a:cxn>
                <a:cxn ang="0">
                  <a:pos x="119" y="57"/>
                </a:cxn>
                <a:cxn ang="0">
                  <a:pos x="101" y="55"/>
                </a:cxn>
                <a:cxn ang="0">
                  <a:pos x="81" y="50"/>
                </a:cxn>
                <a:cxn ang="0">
                  <a:pos x="58" y="42"/>
                </a:cxn>
                <a:cxn ang="0">
                  <a:pos x="36" y="31"/>
                </a:cxn>
                <a:cxn ang="0">
                  <a:pos x="16" y="17"/>
                </a:cxn>
                <a:cxn ang="0">
                  <a:pos x="0" y="0"/>
                </a:cxn>
              </a:cxnLst>
              <a:rect l="0" t="0" r="r" b="b"/>
              <a:pathLst>
                <a:path w="135" h="60">
                  <a:moveTo>
                    <a:pt x="0" y="0"/>
                  </a:moveTo>
                  <a:lnTo>
                    <a:pt x="76" y="0"/>
                  </a:lnTo>
                  <a:lnTo>
                    <a:pt x="135" y="60"/>
                  </a:lnTo>
                  <a:lnTo>
                    <a:pt x="131" y="60"/>
                  </a:lnTo>
                  <a:lnTo>
                    <a:pt x="119" y="57"/>
                  </a:lnTo>
                  <a:lnTo>
                    <a:pt x="101" y="55"/>
                  </a:lnTo>
                  <a:lnTo>
                    <a:pt x="81" y="50"/>
                  </a:lnTo>
                  <a:lnTo>
                    <a:pt x="58" y="42"/>
                  </a:lnTo>
                  <a:lnTo>
                    <a:pt x="36" y="31"/>
                  </a:lnTo>
                  <a:lnTo>
                    <a:pt x="16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409" name="Freeform 217"/>
            <p:cNvSpPr>
              <a:spLocks/>
            </p:cNvSpPr>
            <p:nvPr/>
          </p:nvSpPr>
          <p:spPr bwMode="auto">
            <a:xfrm>
              <a:off x="1997" y="2253"/>
              <a:ext cx="125" cy="59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90" y="0"/>
                </a:cxn>
                <a:cxn ang="0">
                  <a:pos x="125" y="41"/>
                </a:cxn>
                <a:cxn ang="0">
                  <a:pos x="122" y="42"/>
                </a:cxn>
                <a:cxn ang="0">
                  <a:pos x="117" y="44"/>
                </a:cxn>
                <a:cxn ang="0">
                  <a:pos x="109" y="46"/>
                </a:cxn>
                <a:cxn ang="0">
                  <a:pos x="99" y="50"/>
                </a:cxn>
                <a:cxn ang="0">
                  <a:pos x="87" y="54"/>
                </a:cxn>
                <a:cxn ang="0">
                  <a:pos x="75" y="56"/>
                </a:cxn>
                <a:cxn ang="0">
                  <a:pos x="62" y="57"/>
                </a:cxn>
                <a:cxn ang="0">
                  <a:pos x="51" y="59"/>
                </a:cxn>
                <a:cxn ang="0">
                  <a:pos x="41" y="56"/>
                </a:cxn>
                <a:cxn ang="0">
                  <a:pos x="31" y="50"/>
                </a:cxn>
                <a:cxn ang="0">
                  <a:pos x="22" y="41"/>
                </a:cxn>
                <a:cxn ang="0">
                  <a:pos x="15" y="31"/>
                </a:cxn>
                <a:cxn ang="0">
                  <a:pos x="9" y="21"/>
                </a:cxn>
                <a:cxn ang="0">
                  <a:pos x="4" y="12"/>
                </a:cxn>
                <a:cxn ang="0">
                  <a:pos x="1" y="6"/>
                </a:cxn>
                <a:cxn ang="0">
                  <a:pos x="0" y="4"/>
                </a:cxn>
              </a:cxnLst>
              <a:rect l="0" t="0" r="r" b="b"/>
              <a:pathLst>
                <a:path w="125" h="59">
                  <a:moveTo>
                    <a:pt x="0" y="4"/>
                  </a:moveTo>
                  <a:lnTo>
                    <a:pt x="90" y="0"/>
                  </a:lnTo>
                  <a:lnTo>
                    <a:pt x="125" y="41"/>
                  </a:lnTo>
                  <a:lnTo>
                    <a:pt x="122" y="42"/>
                  </a:lnTo>
                  <a:lnTo>
                    <a:pt x="117" y="44"/>
                  </a:lnTo>
                  <a:lnTo>
                    <a:pt x="109" y="46"/>
                  </a:lnTo>
                  <a:lnTo>
                    <a:pt x="99" y="50"/>
                  </a:lnTo>
                  <a:lnTo>
                    <a:pt x="87" y="54"/>
                  </a:lnTo>
                  <a:lnTo>
                    <a:pt x="75" y="56"/>
                  </a:lnTo>
                  <a:lnTo>
                    <a:pt x="62" y="57"/>
                  </a:lnTo>
                  <a:lnTo>
                    <a:pt x="51" y="59"/>
                  </a:lnTo>
                  <a:lnTo>
                    <a:pt x="41" y="56"/>
                  </a:lnTo>
                  <a:lnTo>
                    <a:pt x="31" y="50"/>
                  </a:lnTo>
                  <a:lnTo>
                    <a:pt x="22" y="41"/>
                  </a:lnTo>
                  <a:lnTo>
                    <a:pt x="15" y="31"/>
                  </a:lnTo>
                  <a:lnTo>
                    <a:pt x="9" y="21"/>
                  </a:lnTo>
                  <a:lnTo>
                    <a:pt x="4" y="12"/>
                  </a:lnTo>
                  <a:lnTo>
                    <a:pt x="1" y="6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410" name="Freeform 218"/>
            <p:cNvSpPr>
              <a:spLocks/>
            </p:cNvSpPr>
            <p:nvPr/>
          </p:nvSpPr>
          <p:spPr bwMode="auto">
            <a:xfrm>
              <a:off x="2122" y="2257"/>
              <a:ext cx="82" cy="2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" y="23"/>
                </a:cxn>
                <a:cxn ang="0">
                  <a:pos x="82" y="3"/>
                </a:cxn>
                <a:cxn ang="0">
                  <a:pos x="0" y="0"/>
                </a:cxn>
              </a:cxnLst>
              <a:rect l="0" t="0" r="r" b="b"/>
              <a:pathLst>
                <a:path w="82" h="23">
                  <a:moveTo>
                    <a:pt x="0" y="0"/>
                  </a:moveTo>
                  <a:lnTo>
                    <a:pt x="24" y="23"/>
                  </a:lnTo>
                  <a:lnTo>
                    <a:pt x="82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411" name="Freeform 219"/>
            <p:cNvSpPr>
              <a:spLocks/>
            </p:cNvSpPr>
            <p:nvPr/>
          </p:nvSpPr>
          <p:spPr bwMode="auto">
            <a:xfrm>
              <a:off x="2096" y="2183"/>
              <a:ext cx="75" cy="42"/>
            </a:xfrm>
            <a:custGeom>
              <a:avLst/>
              <a:gdLst/>
              <a:ahLst/>
              <a:cxnLst>
                <a:cxn ang="0">
                  <a:pos x="1" y="42"/>
                </a:cxn>
                <a:cxn ang="0">
                  <a:pos x="75" y="35"/>
                </a:cxn>
                <a:cxn ang="0">
                  <a:pos x="73" y="34"/>
                </a:cxn>
                <a:cxn ang="0">
                  <a:pos x="70" y="30"/>
                </a:cxn>
                <a:cxn ang="0">
                  <a:pos x="65" y="26"/>
                </a:cxn>
                <a:cxn ang="0">
                  <a:pos x="57" y="20"/>
                </a:cxn>
                <a:cxn ang="0">
                  <a:pos x="48" y="14"/>
                </a:cxn>
                <a:cxn ang="0">
                  <a:pos x="38" y="9"/>
                </a:cxn>
                <a:cxn ang="0">
                  <a:pos x="28" y="4"/>
                </a:cxn>
                <a:cxn ang="0">
                  <a:pos x="18" y="0"/>
                </a:cxn>
                <a:cxn ang="0">
                  <a:pos x="5" y="4"/>
                </a:cxn>
                <a:cxn ang="0">
                  <a:pos x="0" y="19"/>
                </a:cxn>
                <a:cxn ang="0">
                  <a:pos x="0" y="35"/>
                </a:cxn>
                <a:cxn ang="0">
                  <a:pos x="1" y="42"/>
                </a:cxn>
              </a:cxnLst>
              <a:rect l="0" t="0" r="r" b="b"/>
              <a:pathLst>
                <a:path w="75" h="42">
                  <a:moveTo>
                    <a:pt x="1" y="42"/>
                  </a:moveTo>
                  <a:lnTo>
                    <a:pt x="75" y="35"/>
                  </a:lnTo>
                  <a:lnTo>
                    <a:pt x="73" y="34"/>
                  </a:lnTo>
                  <a:lnTo>
                    <a:pt x="70" y="30"/>
                  </a:lnTo>
                  <a:lnTo>
                    <a:pt x="65" y="26"/>
                  </a:lnTo>
                  <a:lnTo>
                    <a:pt x="57" y="20"/>
                  </a:lnTo>
                  <a:lnTo>
                    <a:pt x="48" y="14"/>
                  </a:lnTo>
                  <a:lnTo>
                    <a:pt x="38" y="9"/>
                  </a:lnTo>
                  <a:lnTo>
                    <a:pt x="28" y="4"/>
                  </a:lnTo>
                  <a:lnTo>
                    <a:pt x="18" y="0"/>
                  </a:lnTo>
                  <a:lnTo>
                    <a:pt x="5" y="4"/>
                  </a:lnTo>
                  <a:lnTo>
                    <a:pt x="0" y="19"/>
                  </a:lnTo>
                  <a:lnTo>
                    <a:pt x="0" y="35"/>
                  </a:lnTo>
                  <a:lnTo>
                    <a:pt x="1" y="42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412" name="Freeform 220"/>
            <p:cNvSpPr>
              <a:spLocks/>
            </p:cNvSpPr>
            <p:nvPr/>
          </p:nvSpPr>
          <p:spPr bwMode="auto">
            <a:xfrm>
              <a:off x="1997" y="2177"/>
              <a:ext cx="82" cy="45"/>
            </a:xfrm>
            <a:custGeom>
              <a:avLst/>
              <a:gdLst/>
              <a:ahLst/>
              <a:cxnLst>
                <a:cxn ang="0">
                  <a:pos x="59" y="45"/>
                </a:cxn>
                <a:cxn ang="0">
                  <a:pos x="82" y="0"/>
                </a:cxn>
                <a:cxn ang="0">
                  <a:pos x="81" y="0"/>
                </a:cxn>
                <a:cxn ang="0">
                  <a:pos x="76" y="0"/>
                </a:cxn>
                <a:cxn ang="0">
                  <a:pos x="70" y="0"/>
                </a:cxn>
                <a:cxn ang="0">
                  <a:pos x="62" y="0"/>
                </a:cxn>
                <a:cxn ang="0">
                  <a:pos x="54" y="1"/>
                </a:cxn>
                <a:cxn ang="0">
                  <a:pos x="44" y="2"/>
                </a:cxn>
                <a:cxn ang="0">
                  <a:pos x="34" y="5"/>
                </a:cxn>
                <a:cxn ang="0">
                  <a:pos x="24" y="10"/>
                </a:cxn>
                <a:cxn ang="0">
                  <a:pos x="10" y="21"/>
                </a:cxn>
                <a:cxn ang="0">
                  <a:pos x="2" y="31"/>
                </a:cxn>
                <a:cxn ang="0">
                  <a:pos x="0" y="38"/>
                </a:cxn>
                <a:cxn ang="0">
                  <a:pos x="0" y="41"/>
                </a:cxn>
                <a:cxn ang="0">
                  <a:pos x="59" y="45"/>
                </a:cxn>
              </a:cxnLst>
              <a:rect l="0" t="0" r="r" b="b"/>
              <a:pathLst>
                <a:path w="82" h="45">
                  <a:moveTo>
                    <a:pt x="59" y="45"/>
                  </a:moveTo>
                  <a:lnTo>
                    <a:pt x="82" y="0"/>
                  </a:lnTo>
                  <a:lnTo>
                    <a:pt x="81" y="0"/>
                  </a:lnTo>
                  <a:lnTo>
                    <a:pt x="76" y="0"/>
                  </a:lnTo>
                  <a:lnTo>
                    <a:pt x="70" y="0"/>
                  </a:lnTo>
                  <a:lnTo>
                    <a:pt x="62" y="0"/>
                  </a:lnTo>
                  <a:lnTo>
                    <a:pt x="54" y="1"/>
                  </a:lnTo>
                  <a:lnTo>
                    <a:pt x="44" y="2"/>
                  </a:lnTo>
                  <a:lnTo>
                    <a:pt x="34" y="5"/>
                  </a:lnTo>
                  <a:lnTo>
                    <a:pt x="24" y="10"/>
                  </a:lnTo>
                  <a:lnTo>
                    <a:pt x="10" y="21"/>
                  </a:lnTo>
                  <a:lnTo>
                    <a:pt x="2" y="31"/>
                  </a:lnTo>
                  <a:lnTo>
                    <a:pt x="0" y="38"/>
                  </a:lnTo>
                  <a:lnTo>
                    <a:pt x="0" y="41"/>
                  </a:lnTo>
                  <a:lnTo>
                    <a:pt x="59" y="45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413" name="Freeform 221"/>
            <p:cNvSpPr>
              <a:spLocks/>
            </p:cNvSpPr>
            <p:nvPr/>
          </p:nvSpPr>
          <p:spPr bwMode="auto">
            <a:xfrm>
              <a:off x="1877" y="2183"/>
              <a:ext cx="106" cy="64"/>
            </a:xfrm>
            <a:custGeom>
              <a:avLst/>
              <a:gdLst/>
              <a:ahLst/>
              <a:cxnLst>
                <a:cxn ang="0">
                  <a:pos x="61" y="49"/>
                </a:cxn>
                <a:cxn ang="0">
                  <a:pos x="106" y="0"/>
                </a:cxn>
                <a:cxn ang="0">
                  <a:pos x="102" y="1"/>
                </a:cxn>
                <a:cxn ang="0">
                  <a:pos x="94" y="4"/>
                </a:cxn>
                <a:cxn ang="0">
                  <a:pos x="81" y="9"/>
                </a:cxn>
                <a:cxn ang="0">
                  <a:pos x="65" y="16"/>
                </a:cxn>
                <a:cxn ang="0">
                  <a:pos x="47" y="24"/>
                </a:cxn>
                <a:cxn ang="0">
                  <a:pos x="31" y="32"/>
                </a:cxn>
                <a:cxn ang="0">
                  <a:pos x="16" y="42"/>
                </a:cxn>
                <a:cxn ang="0">
                  <a:pos x="5" y="52"/>
                </a:cxn>
                <a:cxn ang="0">
                  <a:pos x="0" y="60"/>
                </a:cxn>
                <a:cxn ang="0">
                  <a:pos x="4" y="64"/>
                </a:cxn>
                <a:cxn ang="0">
                  <a:pos x="12" y="64"/>
                </a:cxn>
                <a:cxn ang="0">
                  <a:pos x="24" y="61"/>
                </a:cxn>
                <a:cxn ang="0">
                  <a:pos x="37" y="57"/>
                </a:cxn>
                <a:cxn ang="0">
                  <a:pos x="49" y="54"/>
                </a:cxn>
                <a:cxn ang="0">
                  <a:pos x="57" y="50"/>
                </a:cxn>
                <a:cxn ang="0">
                  <a:pos x="61" y="49"/>
                </a:cxn>
              </a:cxnLst>
              <a:rect l="0" t="0" r="r" b="b"/>
              <a:pathLst>
                <a:path w="106" h="64">
                  <a:moveTo>
                    <a:pt x="61" y="49"/>
                  </a:moveTo>
                  <a:lnTo>
                    <a:pt x="106" y="0"/>
                  </a:lnTo>
                  <a:lnTo>
                    <a:pt x="102" y="1"/>
                  </a:lnTo>
                  <a:lnTo>
                    <a:pt x="94" y="4"/>
                  </a:lnTo>
                  <a:lnTo>
                    <a:pt x="81" y="9"/>
                  </a:lnTo>
                  <a:lnTo>
                    <a:pt x="65" y="16"/>
                  </a:lnTo>
                  <a:lnTo>
                    <a:pt x="47" y="24"/>
                  </a:lnTo>
                  <a:lnTo>
                    <a:pt x="31" y="32"/>
                  </a:lnTo>
                  <a:lnTo>
                    <a:pt x="16" y="42"/>
                  </a:lnTo>
                  <a:lnTo>
                    <a:pt x="5" y="52"/>
                  </a:lnTo>
                  <a:lnTo>
                    <a:pt x="0" y="60"/>
                  </a:lnTo>
                  <a:lnTo>
                    <a:pt x="4" y="64"/>
                  </a:lnTo>
                  <a:lnTo>
                    <a:pt x="12" y="64"/>
                  </a:lnTo>
                  <a:lnTo>
                    <a:pt x="24" y="61"/>
                  </a:lnTo>
                  <a:lnTo>
                    <a:pt x="37" y="57"/>
                  </a:lnTo>
                  <a:lnTo>
                    <a:pt x="49" y="54"/>
                  </a:lnTo>
                  <a:lnTo>
                    <a:pt x="57" y="50"/>
                  </a:lnTo>
                  <a:lnTo>
                    <a:pt x="61" y="49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414" name="Text Box 222"/>
          <p:cNvSpPr txBox="1">
            <a:spLocks noChangeArrowheads="1"/>
          </p:cNvSpPr>
          <p:nvPr/>
        </p:nvSpPr>
        <p:spPr bwMode="auto">
          <a:xfrm>
            <a:off x="910830" y="2181850"/>
            <a:ext cx="83058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pt-BR" sz="2800" dirty="0">
                <a:latin typeface="Arial" charset="0"/>
              </a:rPr>
              <a:t>Conjunto finito de elementos que está vazio</a:t>
            </a:r>
          </a:p>
        </p:txBody>
      </p:sp>
      <p:grpSp>
        <p:nvGrpSpPr>
          <p:cNvPr id="3" name="Group 327"/>
          <p:cNvGrpSpPr>
            <a:grpSpLocks/>
          </p:cNvGrpSpPr>
          <p:nvPr/>
        </p:nvGrpSpPr>
        <p:grpSpPr bwMode="auto">
          <a:xfrm>
            <a:off x="76200" y="3644900"/>
            <a:ext cx="966788" cy="622300"/>
            <a:chOff x="192" y="1392"/>
            <a:chExt cx="2041" cy="2304"/>
          </a:xfrm>
        </p:grpSpPr>
        <p:sp>
          <p:nvSpPr>
            <p:cNvPr id="8520" name="Freeform 328"/>
            <p:cNvSpPr>
              <a:spLocks/>
            </p:cNvSpPr>
            <p:nvPr/>
          </p:nvSpPr>
          <p:spPr bwMode="auto">
            <a:xfrm>
              <a:off x="558" y="2204"/>
              <a:ext cx="1390" cy="1492"/>
            </a:xfrm>
            <a:custGeom>
              <a:avLst/>
              <a:gdLst/>
              <a:ahLst/>
              <a:cxnLst>
                <a:cxn ang="0">
                  <a:pos x="130" y="1492"/>
                </a:cxn>
                <a:cxn ang="0">
                  <a:pos x="0" y="1273"/>
                </a:cxn>
                <a:cxn ang="0">
                  <a:pos x="153" y="1371"/>
                </a:cxn>
                <a:cxn ang="0">
                  <a:pos x="130" y="1205"/>
                </a:cxn>
                <a:cxn ang="0">
                  <a:pos x="218" y="1302"/>
                </a:cxn>
                <a:cxn ang="0">
                  <a:pos x="180" y="1102"/>
                </a:cxn>
                <a:cxn ang="0">
                  <a:pos x="384" y="1321"/>
                </a:cxn>
                <a:cxn ang="0">
                  <a:pos x="338" y="1071"/>
                </a:cxn>
                <a:cxn ang="0">
                  <a:pos x="491" y="1283"/>
                </a:cxn>
                <a:cxn ang="0">
                  <a:pos x="468" y="946"/>
                </a:cxn>
                <a:cxn ang="0">
                  <a:pos x="569" y="1273"/>
                </a:cxn>
                <a:cxn ang="0">
                  <a:pos x="578" y="535"/>
                </a:cxn>
                <a:cxn ang="0">
                  <a:pos x="315" y="278"/>
                </a:cxn>
                <a:cxn ang="0">
                  <a:pos x="315" y="278"/>
                </a:cxn>
                <a:cxn ang="0">
                  <a:pos x="325" y="215"/>
                </a:cxn>
                <a:cxn ang="0">
                  <a:pos x="333" y="198"/>
                </a:cxn>
                <a:cxn ang="0">
                  <a:pos x="579" y="410"/>
                </a:cxn>
                <a:cxn ang="0">
                  <a:pos x="614" y="8"/>
                </a:cxn>
                <a:cxn ang="0">
                  <a:pos x="616" y="9"/>
                </a:cxn>
                <a:cxn ang="0">
                  <a:pos x="623" y="11"/>
                </a:cxn>
                <a:cxn ang="0">
                  <a:pos x="633" y="15"/>
                </a:cxn>
                <a:cxn ang="0">
                  <a:pos x="648" y="19"/>
                </a:cxn>
                <a:cxn ang="0">
                  <a:pos x="668" y="20"/>
                </a:cxn>
                <a:cxn ang="0">
                  <a:pos x="691" y="18"/>
                </a:cxn>
                <a:cxn ang="0">
                  <a:pos x="721" y="11"/>
                </a:cxn>
                <a:cxn ang="0">
                  <a:pos x="755" y="0"/>
                </a:cxn>
                <a:cxn ang="0">
                  <a:pos x="771" y="268"/>
                </a:cxn>
                <a:cxn ang="0">
                  <a:pos x="998" y="115"/>
                </a:cxn>
                <a:cxn ang="0">
                  <a:pos x="1008" y="174"/>
                </a:cxn>
                <a:cxn ang="0">
                  <a:pos x="769" y="371"/>
                </a:cxn>
                <a:cxn ang="0">
                  <a:pos x="769" y="1033"/>
                </a:cxn>
                <a:cxn ang="0">
                  <a:pos x="814" y="1325"/>
                </a:cxn>
                <a:cxn ang="0">
                  <a:pos x="925" y="865"/>
                </a:cxn>
                <a:cxn ang="0">
                  <a:pos x="918" y="1290"/>
                </a:cxn>
                <a:cxn ang="0">
                  <a:pos x="1056" y="812"/>
                </a:cxn>
                <a:cxn ang="0">
                  <a:pos x="1021" y="1325"/>
                </a:cxn>
                <a:cxn ang="0">
                  <a:pos x="1140" y="1102"/>
                </a:cxn>
                <a:cxn ang="0">
                  <a:pos x="1136" y="1360"/>
                </a:cxn>
                <a:cxn ang="0">
                  <a:pos x="1258" y="1186"/>
                </a:cxn>
                <a:cxn ang="0">
                  <a:pos x="1261" y="1311"/>
                </a:cxn>
                <a:cxn ang="0">
                  <a:pos x="1390" y="1242"/>
                </a:cxn>
                <a:cxn ang="0">
                  <a:pos x="1230" y="1477"/>
                </a:cxn>
                <a:cxn ang="0">
                  <a:pos x="130" y="1492"/>
                </a:cxn>
              </a:cxnLst>
              <a:rect l="0" t="0" r="r" b="b"/>
              <a:pathLst>
                <a:path w="1390" h="1492">
                  <a:moveTo>
                    <a:pt x="130" y="1492"/>
                  </a:moveTo>
                  <a:lnTo>
                    <a:pt x="0" y="1273"/>
                  </a:lnTo>
                  <a:lnTo>
                    <a:pt x="153" y="1371"/>
                  </a:lnTo>
                  <a:lnTo>
                    <a:pt x="130" y="1205"/>
                  </a:lnTo>
                  <a:lnTo>
                    <a:pt x="218" y="1302"/>
                  </a:lnTo>
                  <a:lnTo>
                    <a:pt x="180" y="1102"/>
                  </a:lnTo>
                  <a:lnTo>
                    <a:pt x="384" y="1321"/>
                  </a:lnTo>
                  <a:lnTo>
                    <a:pt x="338" y="1071"/>
                  </a:lnTo>
                  <a:lnTo>
                    <a:pt x="491" y="1283"/>
                  </a:lnTo>
                  <a:lnTo>
                    <a:pt x="468" y="946"/>
                  </a:lnTo>
                  <a:lnTo>
                    <a:pt x="569" y="1273"/>
                  </a:lnTo>
                  <a:lnTo>
                    <a:pt x="578" y="535"/>
                  </a:lnTo>
                  <a:lnTo>
                    <a:pt x="315" y="278"/>
                  </a:lnTo>
                  <a:lnTo>
                    <a:pt x="315" y="278"/>
                  </a:lnTo>
                  <a:lnTo>
                    <a:pt x="325" y="215"/>
                  </a:lnTo>
                  <a:lnTo>
                    <a:pt x="333" y="198"/>
                  </a:lnTo>
                  <a:lnTo>
                    <a:pt x="579" y="410"/>
                  </a:lnTo>
                  <a:lnTo>
                    <a:pt x="614" y="8"/>
                  </a:lnTo>
                  <a:lnTo>
                    <a:pt x="616" y="9"/>
                  </a:lnTo>
                  <a:lnTo>
                    <a:pt x="623" y="11"/>
                  </a:lnTo>
                  <a:lnTo>
                    <a:pt x="633" y="15"/>
                  </a:lnTo>
                  <a:lnTo>
                    <a:pt x="648" y="19"/>
                  </a:lnTo>
                  <a:lnTo>
                    <a:pt x="668" y="20"/>
                  </a:lnTo>
                  <a:lnTo>
                    <a:pt x="691" y="18"/>
                  </a:lnTo>
                  <a:lnTo>
                    <a:pt x="721" y="11"/>
                  </a:lnTo>
                  <a:lnTo>
                    <a:pt x="755" y="0"/>
                  </a:lnTo>
                  <a:lnTo>
                    <a:pt x="771" y="268"/>
                  </a:lnTo>
                  <a:lnTo>
                    <a:pt x="998" y="115"/>
                  </a:lnTo>
                  <a:lnTo>
                    <a:pt x="1008" y="174"/>
                  </a:lnTo>
                  <a:lnTo>
                    <a:pt x="769" y="371"/>
                  </a:lnTo>
                  <a:lnTo>
                    <a:pt x="769" y="1033"/>
                  </a:lnTo>
                  <a:lnTo>
                    <a:pt x="814" y="1325"/>
                  </a:lnTo>
                  <a:lnTo>
                    <a:pt x="925" y="865"/>
                  </a:lnTo>
                  <a:lnTo>
                    <a:pt x="918" y="1290"/>
                  </a:lnTo>
                  <a:lnTo>
                    <a:pt x="1056" y="812"/>
                  </a:lnTo>
                  <a:lnTo>
                    <a:pt x="1021" y="1325"/>
                  </a:lnTo>
                  <a:lnTo>
                    <a:pt x="1140" y="1102"/>
                  </a:lnTo>
                  <a:lnTo>
                    <a:pt x="1136" y="1360"/>
                  </a:lnTo>
                  <a:lnTo>
                    <a:pt x="1258" y="1186"/>
                  </a:lnTo>
                  <a:lnTo>
                    <a:pt x="1261" y="1311"/>
                  </a:lnTo>
                  <a:lnTo>
                    <a:pt x="1390" y="1242"/>
                  </a:lnTo>
                  <a:lnTo>
                    <a:pt x="1230" y="1477"/>
                  </a:lnTo>
                  <a:lnTo>
                    <a:pt x="130" y="1492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21" name="Freeform 329"/>
            <p:cNvSpPr>
              <a:spLocks/>
            </p:cNvSpPr>
            <p:nvPr/>
          </p:nvSpPr>
          <p:spPr bwMode="auto">
            <a:xfrm>
              <a:off x="1072" y="3390"/>
              <a:ext cx="46" cy="260"/>
            </a:xfrm>
            <a:custGeom>
              <a:avLst/>
              <a:gdLst/>
              <a:ahLst/>
              <a:cxnLst>
                <a:cxn ang="0">
                  <a:pos x="41" y="245"/>
                </a:cxn>
                <a:cxn ang="0">
                  <a:pos x="0" y="0"/>
                </a:cxn>
                <a:cxn ang="0">
                  <a:pos x="0" y="166"/>
                </a:cxn>
                <a:cxn ang="0">
                  <a:pos x="19" y="260"/>
                </a:cxn>
                <a:cxn ang="0">
                  <a:pos x="46" y="260"/>
                </a:cxn>
                <a:cxn ang="0">
                  <a:pos x="41" y="245"/>
                </a:cxn>
              </a:cxnLst>
              <a:rect l="0" t="0" r="r" b="b"/>
              <a:pathLst>
                <a:path w="46" h="260">
                  <a:moveTo>
                    <a:pt x="41" y="245"/>
                  </a:moveTo>
                  <a:lnTo>
                    <a:pt x="0" y="0"/>
                  </a:lnTo>
                  <a:lnTo>
                    <a:pt x="0" y="166"/>
                  </a:lnTo>
                  <a:lnTo>
                    <a:pt x="19" y="260"/>
                  </a:lnTo>
                  <a:lnTo>
                    <a:pt x="46" y="260"/>
                  </a:lnTo>
                  <a:lnTo>
                    <a:pt x="41" y="245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22" name="Freeform 330"/>
            <p:cNvSpPr>
              <a:spLocks/>
            </p:cNvSpPr>
            <p:nvPr/>
          </p:nvSpPr>
          <p:spPr bwMode="auto">
            <a:xfrm>
              <a:off x="632" y="3381"/>
              <a:ext cx="431" cy="286"/>
            </a:xfrm>
            <a:custGeom>
              <a:avLst/>
              <a:gdLst/>
              <a:ahLst/>
              <a:cxnLst>
                <a:cxn ang="0">
                  <a:pos x="431" y="273"/>
                </a:cxn>
                <a:cxn ang="0">
                  <a:pos x="315" y="28"/>
                </a:cxn>
                <a:cxn ang="0">
                  <a:pos x="356" y="264"/>
                </a:cxn>
                <a:cxn ang="0">
                  <a:pos x="250" y="129"/>
                </a:cxn>
                <a:cxn ang="0">
                  <a:pos x="144" y="0"/>
                </a:cxn>
                <a:cxn ang="0">
                  <a:pos x="190" y="254"/>
                </a:cxn>
                <a:cxn ang="0">
                  <a:pos x="92" y="125"/>
                </a:cxn>
                <a:cxn ang="0">
                  <a:pos x="106" y="254"/>
                </a:cxn>
                <a:cxn ang="0">
                  <a:pos x="0" y="190"/>
                </a:cxn>
                <a:cxn ang="0">
                  <a:pos x="79" y="286"/>
                </a:cxn>
                <a:cxn ang="0">
                  <a:pos x="431" y="273"/>
                </a:cxn>
              </a:cxnLst>
              <a:rect l="0" t="0" r="r" b="b"/>
              <a:pathLst>
                <a:path w="431" h="286">
                  <a:moveTo>
                    <a:pt x="431" y="273"/>
                  </a:moveTo>
                  <a:lnTo>
                    <a:pt x="315" y="28"/>
                  </a:lnTo>
                  <a:lnTo>
                    <a:pt x="356" y="264"/>
                  </a:lnTo>
                  <a:lnTo>
                    <a:pt x="250" y="129"/>
                  </a:lnTo>
                  <a:lnTo>
                    <a:pt x="144" y="0"/>
                  </a:lnTo>
                  <a:lnTo>
                    <a:pt x="190" y="254"/>
                  </a:lnTo>
                  <a:lnTo>
                    <a:pt x="92" y="125"/>
                  </a:lnTo>
                  <a:lnTo>
                    <a:pt x="106" y="254"/>
                  </a:lnTo>
                  <a:lnTo>
                    <a:pt x="0" y="190"/>
                  </a:lnTo>
                  <a:lnTo>
                    <a:pt x="79" y="286"/>
                  </a:lnTo>
                  <a:lnTo>
                    <a:pt x="431" y="273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23" name="Freeform 331"/>
            <p:cNvSpPr>
              <a:spLocks/>
            </p:cNvSpPr>
            <p:nvPr/>
          </p:nvSpPr>
          <p:spPr bwMode="auto">
            <a:xfrm>
              <a:off x="1386" y="3242"/>
              <a:ext cx="190" cy="412"/>
            </a:xfrm>
            <a:custGeom>
              <a:avLst/>
              <a:gdLst/>
              <a:ahLst/>
              <a:cxnLst>
                <a:cxn ang="0">
                  <a:pos x="0" y="412"/>
                </a:cxn>
                <a:cxn ang="0">
                  <a:pos x="0" y="352"/>
                </a:cxn>
                <a:cxn ang="0">
                  <a:pos x="60" y="112"/>
                </a:cxn>
                <a:cxn ang="0">
                  <a:pos x="78" y="375"/>
                </a:cxn>
                <a:cxn ang="0">
                  <a:pos x="190" y="0"/>
                </a:cxn>
                <a:cxn ang="0">
                  <a:pos x="152" y="412"/>
                </a:cxn>
                <a:cxn ang="0">
                  <a:pos x="0" y="412"/>
                </a:cxn>
              </a:cxnLst>
              <a:rect l="0" t="0" r="r" b="b"/>
              <a:pathLst>
                <a:path w="190" h="412">
                  <a:moveTo>
                    <a:pt x="0" y="412"/>
                  </a:moveTo>
                  <a:lnTo>
                    <a:pt x="0" y="352"/>
                  </a:lnTo>
                  <a:lnTo>
                    <a:pt x="60" y="112"/>
                  </a:lnTo>
                  <a:lnTo>
                    <a:pt x="78" y="375"/>
                  </a:lnTo>
                  <a:lnTo>
                    <a:pt x="190" y="0"/>
                  </a:lnTo>
                  <a:lnTo>
                    <a:pt x="152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24" name="Freeform 332"/>
            <p:cNvSpPr>
              <a:spLocks/>
            </p:cNvSpPr>
            <p:nvPr/>
          </p:nvSpPr>
          <p:spPr bwMode="auto">
            <a:xfrm>
              <a:off x="1562" y="3446"/>
              <a:ext cx="106" cy="208"/>
            </a:xfrm>
            <a:custGeom>
              <a:avLst/>
              <a:gdLst/>
              <a:ahLst/>
              <a:cxnLst>
                <a:cxn ang="0">
                  <a:pos x="0" y="208"/>
                </a:cxn>
                <a:cxn ang="0">
                  <a:pos x="101" y="0"/>
                </a:cxn>
                <a:cxn ang="0">
                  <a:pos x="106" y="204"/>
                </a:cxn>
                <a:cxn ang="0">
                  <a:pos x="0" y="208"/>
                </a:cxn>
              </a:cxnLst>
              <a:rect l="0" t="0" r="r" b="b"/>
              <a:pathLst>
                <a:path w="106" h="208">
                  <a:moveTo>
                    <a:pt x="0" y="208"/>
                  </a:moveTo>
                  <a:lnTo>
                    <a:pt x="101" y="0"/>
                  </a:lnTo>
                  <a:lnTo>
                    <a:pt x="106" y="204"/>
                  </a:lnTo>
                  <a:lnTo>
                    <a:pt x="0" y="208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25" name="Freeform 333"/>
            <p:cNvSpPr>
              <a:spLocks/>
            </p:cNvSpPr>
            <p:nvPr/>
          </p:nvSpPr>
          <p:spPr bwMode="auto">
            <a:xfrm>
              <a:off x="1691" y="3496"/>
              <a:ext cx="97" cy="154"/>
            </a:xfrm>
            <a:custGeom>
              <a:avLst/>
              <a:gdLst/>
              <a:ahLst/>
              <a:cxnLst>
                <a:cxn ang="0">
                  <a:pos x="0" y="154"/>
                </a:cxn>
                <a:cxn ang="0">
                  <a:pos x="97" y="0"/>
                </a:cxn>
                <a:cxn ang="0">
                  <a:pos x="78" y="149"/>
                </a:cxn>
                <a:cxn ang="0">
                  <a:pos x="0" y="154"/>
                </a:cxn>
              </a:cxnLst>
              <a:rect l="0" t="0" r="r" b="b"/>
              <a:pathLst>
                <a:path w="97" h="154">
                  <a:moveTo>
                    <a:pt x="0" y="154"/>
                  </a:moveTo>
                  <a:lnTo>
                    <a:pt x="97" y="0"/>
                  </a:lnTo>
                  <a:lnTo>
                    <a:pt x="78" y="149"/>
                  </a:lnTo>
                  <a:lnTo>
                    <a:pt x="0" y="154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26" name="Freeform 334"/>
            <p:cNvSpPr>
              <a:spLocks/>
            </p:cNvSpPr>
            <p:nvPr/>
          </p:nvSpPr>
          <p:spPr bwMode="auto">
            <a:xfrm>
              <a:off x="1798" y="3525"/>
              <a:ext cx="64" cy="96"/>
            </a:xfrm>
            <a:custGeom>
              <a:avLst/>
              <a:gdLst/>
              <a:ahLst/>
              <a:cxnLst>
                <a:cxn ang="0">
                  <a:pos x="0" y="96"/>
                </a:cxn>
                <a:cxn ang="0">
                  <a:pos x="18" y="41"/>
                </a:cxn>
                <a:cxn ang="0">
                  <a:pos x="64" y="0"/>
                </a:cxn>
                <a:cxn ang="0">
                  <a:pos x="50" y="36"/>
                </a:cxn>
                <a:cxn ang="0">
                  <a:pos x="0" y="96"/>
                </a:cxn>
              </a:cxnLst>
              <a:rect l="0" t="0" r="r" b="b"/>
              <a:pathLst>
                <a:path w="64" h="96">
                  <a:moveTo>
                    <a:pt x="0" y="96"/>
                  </a:moveTo>
                  <a:lnTo>
                    <a:pt x="18" y="41"/>
                  </a:lnTo>
                  <a:lnTo>
                    <a:pt x="64" y="0"/>
                  </a:lnTo>
                  <a:lnTo>
                    <a:pt x="50" y="36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27" name="Freeform 335"/>
            <p:cNvSpPr>
              <a:spLocks/>
            </p:cNvSpPr>
            <p:nvPr/>
          </p:nvSpPr>
          <p:spPr bwMode="auto">
            <a:xfrm>
              <a:off x="1132" y="2294"/>
              <a:ext cx="71" cy="1360"/>
            </a:xfrm>
            <a:custGeom>
              <a:avLst/>
              <a:gdLst/>
              <a:ahLst/>
              <a:cxnLst>
                <a:cxn ang="0">
                  <a:pos x="0" y="1360"/>
                </a:cxn>
                <a:cxn ang="0">
                  <a:pos x="51" y="0"/>
                </a:cxn>
                <a:cxn ang="0">
                  <a:pos x="52" y="3"/>
                </a:cxn>
                <a:cxn ang="0">
                  <a:pos x="56" y="5"/>
                </a:cxn>
                <a:cxn ang="0">
                  <a:pos x="62" y="6"/>
                </a:cxn>
                <a:cxn ang="0">
                  <a:pos x="71" y="1"/>
                </a:cxn>
                <a:cxn ang="0">
                  <a:pos x="64" y="1360"/>
                </a:cxn>
                <a:cxn ang="0">
                  <a:pos x="0" y="1360"/>
                </a:cxn>
              </a:cxnLst>
              <a:rect l="0" t="0" r="r" b="b"/>
              <a:pathLst>
                <a:path w="71" h="1360">
                  <a:moveTo>
                    <a:pt x="0" y="1360"/>
                  </a:moveTo>
                  <a:lnTo>
                    <a:pt x="51" y="0"/>
                  </a:lnTo>
                  <a:lnTo>
                    <a:pt x="52" y="3"/>
                  </a:lnTo>
                  <a:lnTo>
                    <a:pt x="56" y="5"/>
                  </a:lnTo>
                  <a:lnTo>
                    <a:pt x="62" y="6"/>
                  </a:lnTo>
                  <a:lnTo>
                    <a:pt x="71" y="1"/>
                  </a:lnTo>
                  <a:lnTo>
                    <a:pt x="64" y="1360"/>
                  </a:lnTo>
                  <a:lnTo>
                    <a:pt x="0" y="136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28" name="Freeform 336"/>
            <p:cNvSpPr>
              <a:spLocks/>
            </p:cNvSpPr>
            <p:nvPr/>
          </p:nvSpPr>
          <p:spPr bwMode="auto">
            <a:xfrm>
              <a:off x="1214" y="2258"/>
              <a:ext cx="55" cy="1392"/>
            </a:xfrm>
            <a:custGeom>
              <a:avLst/>
              <a:gdLst/>
              <a:ahLst/>
              <a:cxnLst>
                <a:cxn ang="0">
                  <a:pos x="0" y="1392"/>
                </a:cxn>
                <a:cxn ang="0">
                  <a:pos x="23" y="4"/>
                </a:cxn>
                <a:cxn ang="0">
                  <a:pos x="24" y="5"/>
                </a:cxn>
                <a:cxn ang="0">
                  <a:pos x="30" y="7"/>
                </a:cxn>
                <a:cxn ang="0">
                  <a:pos x="39" y="6"/>
                </a:cxn>
                <a:cxn ang="0">
                  <a:pos x="52" y="0"/>
                </a:cxn>
                <a:cxn ang="0">
                  <a:pos x="55" y="1392"/>
                </a:cxn>
                <a:cxn ang="0">
                  <a:pos x="0" y="1392"/>
                </a:cxn>
              </a:cxnLst>
              <a:rect l="0" t="0" r="r" b="b"/>
              <a:pathLst>
                <a:path w="55" h="1392">
                  <a:moveTo>
                    <a:pt x="0" y="1392"/>
                  </a:moveTo>
                  <a:lnTo>
                    <a:pt x="23" y="4"/>
                  </a:lnTo>
                  <a:lnTo>
                    <a:pt x="24" y="5"/>
                  </a:lnTo>
                  <a:lnTo>
                    <a:pt x="30" y="7"/>
                  </a:lnTo>
                  <a:lnTo>
                    <a:pt x="39" y="6"/>
                  </a:lnTo>
                  <a:lnTo>
                    <a:pt x="52" y="0"/>
                  </a:lnTo>
                  <a:lnTo>
                    <a:pt x="55" y="1392"/>
                  </a:lnTo>
                  <a:lnTo>
                    <a:pt x="0" y="1392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29" name="Freeform 337"/>
            <p:cNvSpPr>
              <a:spLocks/>
            </p:cNvSpPr>
            <p:nvPr/>
          </p:nvSpPr>
          <p:spPr bwMode="auto">
            <a:xfrm>
              <a:off x="1283" y="2225"/>
              <a:ext cx="51" cy="1420"/>
            </a:xfrm>
            <a:custGeom>
              <a:avLst/>
              <a:gdLst/>
              <a:ahLst/>
              <a:cxnLst>
                <a:cxn ang="0">
                  <a:pos x="10" y="1420"/>
                </a:cxn>
                <a:cxn ang="0">
                  <a:pos x="0" y="14"/>
                </a:cxn>
                <a:cxn ang="0">
                  <a:pos x="19" y="0"/>
                </a:cxn>
                <a:cxn ang="0">
                  <a:pos x="29" y="1081"/>
                </a:cxn>
                <a:cxn ang="0">
                  <a:pos x="51" y="1415"/>
                </a:cxn>
                <a:cxn ang="0">
                  <a:pos x="10" y="1420"/>
                </a:cxn>
              </a:cxnLst>
              <a:rect l="0" t="0" r="r" b="b"/>
              <a:pathLst>
                <a:path w="51" h="1420">
                  <a:moveTo>
                    <a:pt x="10" y="1420"/>
                  </a:moveTo>
                  <a:lnTo>
                    <a:pt x="0" y="14"/>
                  </a:lnTo>
                  <a:lnTo>
                    <a:pt x="19" y="0"/>
                  </a:lnTo>
                  <a:lnTo>
                    <a:pt x="29" y="1081"/>
                  </a:lnTo>
                  <a:lnTo>
                    <a:pt x="51" y="1415"/>
                  </a:lnTo>
                  <a:lnTo>
                    <a:pt x="10" y="142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30" name="Freeform 338"/>
            <p:cNvSpPr>
              <a:spLocks/>
            </p:cNvSpPr>
            <p:nvPr/>
          </p:nvSpPr>
          <p:spPr bwMode="auto">
            <a:xfrm>
              <a:off x="1334" y="2350"/>
              <a:ext cx="204" cy="190"/>
            </a:xfrm>
            <a:custGeom>
              <a:avLst/>
              <a:gdLst/>
              <a:ahLst/>
              <a:cxnLst>
                <a:cxn ang="0">
                  <a:pos x="5" y="153"/>
                </a:cxn>
                <a:cxn ang="0">
                  <a:pos x="204" y="0"/>
                </a:cxn>
                <a:cxn ang="0">
                  <a:pos x="204" y="14"/>
                </a:cxn>
                <a:cxn ang="0">
                  <a:pos x="0" y="190"/>
                </a:cxn>
                <a:cxn ang="0">
                  <a:pos x="5" y="153"/>
                </a:cxn>
              </a:cxnLst>
              <a:rect l="0" t="0" r="r" b="b"/>
              <a:pathLst>
                <a:path w="204" h="190">
                  <a:moveTo>
                    <a:pt x="5" y="153"/>
                  </a:moveTo>
                  <a:lnTo>
                    <a:pt x="204" y="0"/>
                  </a:lnTo>
                  <a:lnTo>
                    <a:pt x="204" y="14"/>
                  </a:lnTo>
                  <a:lnTo>
                    <a:pt x="0" y="190"/>
                  </a:lnTo>
                  <a:lnTo>
                    <a:pt x="5" y="153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31" name="Freeform 339"/>
            <p:cNvSpPr>
              <a:spLocks/>
            </p:cNvSpPr>
            <p:nvPr/>
          </p:nvSpPr>
          <p:spPr bwMode="auto">
            <a:xfrm>
              <a:off x="896" y="2438"/>
              <a:ext cx="236" cy="255"/>
            </a:xfrm>
            <a:custGeom>
              <a:avLst/>
              <a:gdLst/>
              <a:ahLst/>
              <a:cxnLst>
                <a:cxn ang="0">
                  <a:pos x="236" y="255"/>
                </a:cxn>
                <a:cxn ang="0">
                  <a:pos x="231" y="198"/>
                </a:cxn>
                <a:cxn ang="0">
                  <a:pos x="10" y="0"/>
                </a:cxn>
                <a:cxn ang="0">
                  <a:pos x="0" y="41"/>
                </a:cxn>
                <a:cxn ang="0">
                  <a:pos x="236" y="255"/>
                </a:cxn>
              </a:cxnLst>
              <a:rect l="0" t="0" r="r" b="b"/>
              <a:pathLst>
                <a:path w="236" h="255">
                  <a:moveTo>
                    <a:pt x="236" y="255"/>
                  </a:moveTo>
                  <a:lnTo>
                    <a:pt x="231" y="198"/>
                  </a:lnTo>
                  <a:lnTo>
                    <a:pt x="10" y="0"/>
                  </a:lnTo>
                  <a:lnTo>
                    <a:pt x="0" y="41"/>
                  </a:lnTo>
                  <a:lnTo>
                    <a:pt x="236" y="255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32" name="Freeform 340"/>
            <p:cNvSpPr>
              <a:spLocks/>
            </p:cNvSpPr>
            <p:nvPr/>
          </p:nvSpPr>
          <p:spPr bwMode="auto">
            <a:xfrm>
              <a:off x="192" y="2275"/>
              <a:ext cx="691" cy="554"/>
            </a:xfrm>
            <a:custGeom>
              <a:avLst/>
              <a:gdLst/>
              <a:ahLst/>
              <a:cxnLst>
                <a:cxn ang="0">
                  <a:pos x="662" y="404"/>
                </a:cxn>
                <a:cxn ang="0">
                  <a:pos x="651" y="415"/>
                </a:cxn>
                <a:cxn ang="0">
                  <a:pos x="621" y="443"/>
                </a:cxn>
                <a:cxn ang="0">
                  <a:pos x="574" y="476"/>
                </a:cxn>
                <a:cxn ang="0">
                  <a:pos x="514" y="505"/>
                </a:cxn>
                <a:cxn ang="0">
                  <a:pos x="339" y="550"/>
                </a:cxn>
                <a:cxn ang="0">
                  <a:pos x="346" y="520"/>
                </a:cxn>
                <a:cxn ang="0">
                  <a:pos x="359" y="474"/>
                </a:cxn>
                <a:cxn ang="0">
                  <a:pos x="370" y="420"/>
                </a:cxn>
                <a:cxn ang="0">
                  <a:pos x="376" y="389"/>
                </a:cxn>
                <a:cxn ang="0">
                  <a:pos x="381" y="354"/>
                </a:cxn>
                <a:cxn ang="0">
                  <a:pos x="394" y="305"/>
                </a:cxn>
                <a:cxn ang="0">
                  <a:pos x="414" y="262"/>
                </a:cxn>
                <a:cxn ang="0">
                  <a:pos x="422" y="250"/>
                </a:cxn>
                <a:cxn ang="0">
                  <a:pos x="387" y="254"/>
                </a:cxn>
                <a:cxn ang="0">
                  <a:pos x="332" y="262"/>
                </a:cxn>
                <a:cxn ang="0">
                  <a:pos x="271" y="265"/>
                </a:cxn>
                <a:cxn ang="0">
                  <a:pos x="239" y="267"/>
                </a:cxn>
                <a:cxn ang="0">
                  <a:pos x="206" y="268"/>
                </a:cxn>
                <a:cxn ang="0">
                  <a:pos x="151" y="263"/>
                </a:cxn>
                <a:cxn ang="0">
                  <a:pos x="90" y="244"/>
                </a:cxn>
                <a:cxn ang="0">
                  <a:pos x="59" y="227"/>
                </a:cxn>
                <a:cxn ang="0">
                  <a:pos x="46" y="218"/>
                </a:cxn>
                <a:cxn ang="0">
                  <a:pos x="29" y="199"/>
                </a:cxn>
                <a:cxn ang="0">
                  <a:pos x="9" y="168"/>
                </a:cxn>
                <a:cxn ang="0">
                  <a:pos x="5" y="145"/>
                </a:cxn>
                <a:cxn ang="0">
                  <a:pos x="37" y="128"/>
                </a:cxn>
                <a:cxn ang="0">
                  <a:pos x="89" y="100"/>
                </a:cxn>
                <a:cxn ang="0">
                  <a:pos x="142" y="70"/>
                </a:cxn>
                <a:cxn ang="0">
                  <a:pos x="172" y="55"/>
                </a:cxn>
                <a:cxn ang="0">
                  <a:pos x="206" y="40"/>
                </a:cxn>
                <a:cxn ang="0">
                  <a:pos x="260" y="19"/>
                </a:cxn>
                <a:cxn ang="0">
                  <a:pos x="320" y="4"/>
                </a:cxn>
                <a:cxn ang="0">
                  <a:pos x="354" y="2"/>
                </a:cxn>
                <a:cxn ang="0">
                  <a:pos x="395" y="0"/>
                </a:cxn>
                <a:cxn ang="0">
                  <a:pos x="457" y="2"/>
                </a:cxn>
                <a:cxn ang="0">
                  <a:pos x="519" y="10"/>
                </a:cxn>
                <a:cxn ang="0">
                  <a:pos x="546" y="22"/>
                </a:cxn>
                <a:cxn ang="0">
                  <a:pos x="570" y="40"/>
                </a:cxn>
                <a:cxn ang="0">
                  <a:pos x="606" y="74"/>
                </a:cxn>
                <a:cxn ang="0">
                  <a:pos x="641" y="118"/>
                </a:cxn>
                <a:cxn ang="0">
                  <a:pos x="691" y="144"/>
                </a:cxn>
              </a:cxnLst>
              <a:rect l="0" t="0" r="r" b="b"/>
              <a:pathLst>
                <a:path w="691" h="554">
                  <a:moveTo>
                    <a:pt x="671" y="190"/>
                  </a:moveTo>
                  <a:lnTo>
                    <a:pt x="662" y="404"/>
                  </a:lnTo>
                  <a:lnTo>
                    <a:pt x="660" y="406"/>
                  </a:lnTo>
                  <a:lnTo>
                    <a:pt x="651" y="415"/>
                  </a:lnTo>
                  <a:lnTo>
                    <a:pt x="639" y="428"/>
                  </a:lnTo>
                  <a:lnTo>
                    <a:pt x="621" y="443"/>
                  </a:lnTo>
                  <a:lnTo>
                    <a:pt x="599" y="459"/>
                  </a:lnTo>
                  <a:lnTo>
                    <a:pt x="574" y="476"/>
                  </a:lnTo>
                  <a:lnTo>
                    <a:pt x="545" y="491"/>
                  </a:lnTo>
                  <a:lnTo>
                    <a:pt x="514" y="505"/>
                  </a:lnTo>
                  <a:lnTo>
                    <a:pt x="337" y="554"/>
                  </a:lnTo>
                  <a:lnTo>
                    <a:pt x="339" y="550"/>
                  </a:lnTo>
                  <a:lnTo>
                    <a:pt x="342" y="538"/>
                  </a:lnTo>
                  <a:lnTo>
                    <a:pt x="346" y="520"/>
                  </a:lnTo>
                  <a:lnTo>
                    <a:pt x="352" y="499"/>
                  </a:lnTo>
                  <a:lnTo>
                    <a:pt x="359" y="474"/>
                  </a:lnTo>
                  <a:lnTo>
                    <a:pt x="365" y="446"/>
                  </a:lnTo>
                  <a:lnTo>
                    <a:pt x="370" y="420"/>
                  </a:lnTo>
                  <a:lnTo>
                    <a:pt x="375" y="394"/>
                  </a:lnTo>
                  <a:lnTo>
                    <a:pt x="376" y="389"/>
                  </a:lnTo>
                  <a:lnTo>
                    <a:pt x="377" y="375"/>
                  </a:lnTo>
                  <a:lnTo>
                    <a:pt x="381" y="354"/>
                  </a:lnTo>
                  <a:lnTo>
                    <a:pt x="386" y="330"/>
                  </a:lnTo>
                  <a:lnTo>
                    <a:pt x="394" y="305"/>
                  </a:lnTo>
                  <a:lnTo>
                    <a:pt x="402" y="281"/>
                  </a:lnTo>
                  <a:lnTo>
                    <a:pt x="414" y="262"/>
                  </a:lnTo>
                  <a:lnTo>
                    <a:pt x="427" y="249"/>
                  </a:lnTo>
                  <a:lnTo>
                    <a:pt x="422" y="250"/>
                  </a:lnTo>
                  <a:lnTo>
                    <a:pt x="409" y="252"/>
                  </a:lnTo>
                  <a:lnTo>
                    <a:pt x="387" y="254"/>
                  </a:lnTo>
                  <a:lnTo>
                    <a:pt x="361" y="258"/>
                  </a:lnTo>
                  <a:lnTo>
                    <a:pt x="332" y="262"/>
                  </a:lnTo>
                  <a:lnTo>
                    <a:pt x="301" y="264"/>
                  </a:lnTo>
                  <a:lnTo>
                    <a:pt x="271" y="265"/>
                  </a:lnTo>
                  <a:lnTo>
                    <a:pt x="244" y="267"/>
                  </a:lnTo>
                  <a:lnTo>
                    <a:pt x="239" y="267"/>
                  </a:lnTo>
                  <a:lnTo>
                    <a:pt x="226" y="268"/>
                  </a:lnTo>
                  <a:lnTo>
                    <a:pt x="206" y="268"/>
                  </a:lnTo>
                  <a:lnTo>
                    <a:pt x="180" y="267"/>
                  </a:lnTo>
                  <a:lnTo>
                    <a:pt x="151" y="263"/>
                  </a:lnTo>
                  <a:lnTo>
                    <a:pt x="121" y="257"/>
                  </a:lnTo>
                  <a:lnTo>
                    <a:pt x="90" y="244"/>
                  </a:lnTo>
                  <a:lnTo>
                    <a:pt x="60" y="228"/>
                  </a:lnTo>
                  <a:lnTo>
                    <a:pt x="59" y="227"/>
                  </a:lnTo>
                  <a:lnTo>
                    <a:pt x="54" y="224"/>
                  </a:lnTo>
                  <a:lnTo>
                    <a:pt x="46" y="218"/>
                  </a:lnTo>
                  <a:lnTo>
                    <a:pt x="37" y="210"/>
                  </a:lnTo>
                  <a:lnTo>
                    <a:pt x="29" y="199"/>
                  </a:lnTo>
                  <a:lnTo>
                    <a:pt x="19" y="185"/>
                  </a:lnTo>
                  <a:lnTo>
                    <a:pt x="9" y="168"/>
                  </a:lnTo>
                  <a:lnTo>
                    <a:pt x="0" y="148"/>
                  </a:lnTo>
                  <a:lnTo>
                    <a:pt x="5" y="145"/>
                  </a:lnTo>
                  <a:lnTo>
                    <a:pt x="17" y="138"/>
                  </a:lnTo>
                  <a:lnTo>
                    <a:pt x="37" y="128"/>
                  </a:lnTo>
                  <a:lnTo>
                    <a:pt x="61" y="114"/>
                  </a:lnTo>
                  <a:lnTo>
                    <a:pt x="89" y="100"/>
                  </a:lnTo>
                  <a:lnTo>
                    <a:pt x="116" y="85"/>
                  </a:lnTo>
                  <a:lnTo>
                    <a:pt x="142" y="70"/>
                  </a:lnTo>
                  <a:lnTo>
                    <a:pt x="167" y="58"/>
                  </a:lnTo>
                  <a:lnTo>
                    <a:pt x="172" y="55"/>
                  </a:lnTo>
                  <a:lnTo>
                    <a:pt x="186" y="49"/>
                  </a:lnTo>
                  <a:lnTo>
                    <a:pt x="206" y="40"/>
                  </a:lnTo>
                  <a:lnTo>
                    <a:pt x="231" y="29"/>
                  </a:lnTo>
                  <a:lnTo>
                    <a:pt x="260" y="19"/>
                  </a:lnTo>
                  <a:lnTo>
                    <a:pt x="290" y="10"/>
                  </a:lnTo>
                  <a:lnTo>
                    <a:pt x="320" y="4"/>
                  </a:lnTo>
                  <a:lnTo>
                    <a:pt x="347" y="2"/>
                  </a:lnTo>
                  <a:lnTo>
                    <a:pt x="354" y="2"/>
                  </a:lnTo>
                  <a:lnTo>
                    <a:pt x="370" y="0"/>
                  </a:lnTo>
                  <a:lnTo>
                    <a:pt x="395" y="0"/>
                  </a:lnTo>
                  <a:lnTo>
                    <a:pt x="425" y="0"/>
                  </a:lnTo>
                  <a:lnTo>
                    <a:pt x="457" y="2"/>
                  </a:lnTo>
                  <a:lnTo>
                    <a:pt x="490" y="5"/>
                  </a:lnTo>
                  <a:lnTo>
                    <a:pt x="519" y="10"/>
                  </a:lnTo>
                  <a:lnTo>
                    <a:pt x="542" y="19"/>
                  </a:lnTo>
                  <a:lnTo>
                    <a:pt x="546" y="22"/>
                  </a:lnTo>
                  <a:lnTo>
                    <a:pt x="556" y="29"/>
                  </a:lnTo>
                  <a:lnTo>
                    <a:pt x="570" y="40"/>
                  </a:lnTo>
                  <a:lnTo>
                    <a:pt x="587" y="55"/>
                  </a:lnTo>
                  <a:lnTo>
                    <a:pt x="606" y="74"/>
                  </a:lnTo>
                  <a:lnTo>
                    <a:pt x="624" y="94"/>
                  </a:lnTo>
                  <a:lnTo>
                    <a:pt x="641" y="118"/>
                  </a:lnTo>
                  <a:lnTo>
                    <a:pt x="654" y="142"/>
                  </a:lnTo>
                  <a:lnTo>
                    <a:pt x="691" y="144"/>
                  </a:lnTo>
                  <a:lnTo>
                    <a:pt x="671" y="19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33" name="Freeform 341"/>
            <p:cNvSpPr>
              <a:spLocks/>
            </p:cNvSpPr>
            <p:nvPr/>
          </p:nvSpPr>
          <p:spPr bwMode="auto">
            <a:xfrm>
              <a:off x="756" y="2083"/>
              <a:ext cx="193" cy="295"/>
            </a:xfrm>
            <a:custGeom>
              <a:avLst/>
              <a:gdLst/>
              <a:ahLst/>
              <a:cxnLst>
                <a:cxn ang="0">
                  <a:pos x="113" y="295"/>
                </a:cxn>
                <a:cxn ang="0">
                  <a:pos x="110" y="292"/>
                </a:cxn>
                <a:cxn ang="0">
                  <a:pos x="98" y="284"/>
                </a:cxn>
                <a:cxn ang="0">
                  <a:pos x="83" y="271"/>
                </a:cxn>
                <a:cxn ang="0">
                  <a:pos x="66" y="256"/>
                </a:cxn>
                <a:cxn ang="0">
                  <a:pos x="47" y="237"/>
                </a:cxn>
                <a:cxn ang="0">
                  <a:pos x="30" y="219"/>
                </a:cxn>
                <a:cxn ang="0">
                  <a:pos x="17" y="199"/>
                </a:cxn>
                <a:cxn ang="0">
                  <a:pos x="10" y="180"/>
                </a:cxn>
                <a:cxn ang="0">
                  <a:pos x="7" y="167"/>
                </a:cxn>
                <a:cxn ang="0">
                  <a:pos x="1" y="136"/>
                </a:cxn>
                <a:cxn ang="0">
                  <a:pos x="0" y="96"/>
                </a:cxn>
                <a:cxn ang="0">
                  <a:pos x="6" y="59"/>
                </a:cxn>
                <a:cxn ang="0">
                  <a:pos x="41" y="0"/>
                </a:cxn>
                <a:cxn ang="0">
                  <a:pos x="193" y="115"/>
                </a:cxn>
                <a:cxn ang="0">
                  <a:pos x="113" y="295"/>
                </a:cxn>
              </a:cxnLst>
              <a:rect l="0" t="0" r="r" b="b"/>
              <a:pathLst>
                <a:path w="193" h="295">
                  <a:moveTo>
                    <a:pt x="113" y="295"/>
                  </a:moveTo>
                  <a:lnTo>
                    <a:pt x="110" y="292"/>
                  </a:lnTo>
                  <a:lnTo>
                    <a:pt x="98" y="284"/>
                  </a:lnTo>
                  <a:lnTo>
                    <a:pt x="83" y="271"/>
                  </a:lnTo>
                  <a:lnTo>
                    <a:pt x="66" y="256"/>
                  </a:lnTo>
                  <a:lnTo>
                    <a:pt x="47" y="237"/>
                  </a:lnTo>
                  <a:lnTo>
                    <a:pt x="30" y="219"/>
                  </a:lnTo>
                  <a:lnTo>
                    <a:pt x="17" y="199"/>
                  </a:lnTo>
                  <a:lnTo>
                    <a:pt x="10" y="180"/>
                  </a:lnTo>
                  <a:lnTo>
                    <a:pt x="7" y="167"/>
                  </a:lnTo>
                  <a:lnTo>
                    <a:pt x="1" y="136"/>
                  </a:lnTo>
                  <a:lnTo>
                    <a:pt x="0" y="96"/>
                  </a:lnTo>
                  <a:lnTo>
                    <a:pt x="6" y="59"/>
                  </a:lnTo>
                  <a:lnTo>
                    <a:pt x="41" y="0"/>
                  </a:lnTo>
                  <a:lnTo>
                    <a:pt x="193" y="115"/>
                  </a:lnTo>
                  <a:lnTo>
                    <a:pt x="113" y="295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34" name="Freeform 342"/>
            <p:cNvSpPr>
              <a:spLocks/>
            </p:cNvSpPr>
            <p:nvPr/>
          </p:nvSpPr>
          <p:spPr bwMode="auto">
            <a:xfrm>
              <a:off x="413" y="1904"/>
              <a:ext cx="304" cy="349"/>
            </a:xfrm>
            <a:custGeom>
              <a:avLst/>
              <a:gdLst/>
              <a:ahLst/>
              <a:cxnLst>
                <a:cxn ang="0">
                  <a:pos x="304" y="349"/>
                </a:cxn>
                <a:cxn ang="0">
                  <a:pos x="304" y="341"/>
                </a:cxn>
                <a:cxn ang="0">
                  <a:pos x="301" y="321"/>
                </a:cxn>
                <a:cxn ang="0">
                  <a:pos x="298" y="291"/>
                </a:cxn>
                <a:cxn ang="0">
                  <a:pos x="291" y="254"/>
                </a:cxn>
                <a:cxn ang="0">
                  <a:pos x="281" y="213"/>
                </a:cxn>
                <a:cxn ang="0">
                  <a:pos x="269" y="171"/>
                </a:cxn>
                <a:cxn ang="0">
                  <a:pos x="250" y="133"/>
                </a:cxn>
                <a:cxn ang="0">
                  <a:pos x="228" y="99"/>
                </a:cxn>
                <a:cxn ang="0">
                  <a:pos x="226" y="98"/>
                </a:cxn>
                <a:cxn ang="0">
                  <a:pos x="224" y="91"/>
                </a:cxn>
                <a:cxn ang="0">
                  <a:pos x="218" y="84"/>
                </a:cxn>
                <a:cxn ang="0">
                  <a:pos x="210" y="74"/>
                </a:cxn>
                <a:cxn ang="0">
                  <a:pos x="200" y="63"/>
                </a:cxn>
                <a:cxn ang="0">
                  <a:pos x="186" y="52"/>
                </a:cxn>
                <a:cxn ang="0">
                  <a:pos x="170" y="39"/>
                </a:cxn>
                <a:cxn ang="0">
                  <a:pos x="151" y="27"/>
                </a:cxn>
                <a:cxn ang="0">
                  <a:pos x="148" y="25"/>
                </a:cxn>
                <a:cxn ang="0">
                  <a:pos x="136" y="22"/>
                </a:cxn>
                <a:cxn ang="0">
                  <a:pos x="119" y="17"/>
                </a:cxn>
                <a:cxn ang="0">
                  <a:pos x="99" y="10"/>
                </a:cxn>
                <a:cxn ang="0">
                  <a:pos x="75" y="5"/>
                </a:cxn>
                <a:cxn ang="0">
                  <a:pos x="50" y="2"/>
                </a:cxn>
                <a:cxn ang="0">
                  <a:pos x="25" y="0"/>
                </a:cxn>
                <a:cxn ang="0">
                  <a:pos x="1" y="2"/>
                </a:cxn>
                <a:cxn ang="0">
                  <a:pos x="0" y="18"/>
                </a:cxn>
                <a:cxn ang="0">
                  <a:pos x="0" y="57"/>
                </a:cxn>
                <a:cxn ang="0">
                  <a:pos x="5" y="104"/>
                </a:cxn>
                <a:cxn ang="0">
                  <a:pos x="19" y="148"/>
                </a:cxn>
                <a:cxn ang="0">
                  <a:pos x="20" y="150"/>
                </a:cxn>
                <a:cxn ang="0">
                  <a:pos x="24" y="158"/>
                </a:cxn>
                <a:cxn ang="0">
                  <a:pos x="30" y="169"/>
                </a:cxn>
                <a:cxn ang="0">
                  <a:pos x="39" y="184"/>
                </a:cxn>
                <a:cxn ang="0">
                  <a:pos x="53" y="200"/>
                </a:cxn>
                <a:cxn ang="0">
                  <a:pos x="69" y="219"/>
                </a:cxn>
                <a:cxn ang="0">
                  <a:pos x="90" y="239"/>
                </a:cxn>
                <a:cxn ang="0">
                  <a:pos x="116" y="259"/>
                </a:cxn>
                <a:cxn ang="0">
                  <a:pos x="120" y="261"/>
                </a:cxn>
                <a:cxn ang="0">
                  <a:pos x="133" y="268"/>
                </a:cxn>
                <a:cxn ang="0">
                  <a:pos x="151" y="278"/>
                </a:cxn>
                <a:cxn ang="0">
                  <a:pos x="175" y="290"/>
                </a:cxn>
                <a:cxn ang="0">
                  <a:pos x="204" y="305"/>
                </a:cxn>
                <a:cxn ang="0">
                  <a:pos x="235" y="320"/>
                </a:cxn>
                <a:cxn ang="0">
                  <a:pos x="269" y="335"/>
                </a:cxn>
                <a:cxn ang="0">
                  <a:pos x="304" y="349"/>
                </a:cxn>
              </a:cxnLst>
              <a:rect l="0" t="0" r="r" b="b"/>
              <a:pathLst>
                <a:path w="304" h="349">
                  <a:moveTo>
                    <a:pt x="304" y="349"/>
                  </a:moveTo>
                  <a:lnTo>
                    <a:pt x="304" y="341"/>
                  </a:lnTo>
                  <a:lnTo>
                    <a:pt x="301" y="321"/>
                  </a:lnTo>
                  <a:lnTo>
                    <a:pt x="298" y="291"/>
                  </a:lnTo>
                  <a:lnTo>
                    <a:pt x="291" y="254"/>
                  </a:lnTo>
                  <a:lnTo>
                    <a:pt x="281" y="213"/>
                  </a:lnTo>
                  <a:lnTo>
                    <a:pt x="269" y="171"/>
                  </a:lnTo>
                  <a:lnTo>
                    <a:pt x="250" y="133"/>
                  </a:lnTo>
                  <a:lnTo>
                    <a:pt x="228" y="99"/>
                  </a:lnTo>
                  <a:lnTo>
                    <a:pt x="226" y="98"/>
                  </a:lnTo>
                  <a:lnTo>
                    <a:pt x="224" y="91"/>
                  </a:lnTo>
                  <a:lnTo>
                    <a:pt x="218" y="84"/>
                  </a:lnTo>
                  <a:lnTo>
                    <a:pt x="210" y="74"/>
                  </a:lnTo>
                  <a:lnTo>
                    <a:pt x="200" y="63"/>
                  </a:lnTo>
                  <a:lnTo>
                    <a:pt x="186" y="52"/>
                  </a:lnTo>
                  <a:lnTo>
                    <a:pt x="170" y="39"/>
                  </a:lnTo>
                  <a:lnTo>
                    <a:pt x="151" y="27"/>
                  </a:lnTo>
                  <a:lnTo>
                    <a:pt x="148" y="25"/>
                  </a:lnTo>
                  <a:lnTo>
                    <a:pt x="136" y="22"/>
                  </a:lnTo>
                  <a:lnTo>
                    <a:pt x="119" y="17"/>
                  </a:lnTo>
                  <a:lnTo>
                    <a:pt x="99" y="10"/>
                  </a:lnTo>
                  <a:lnTo>
                    <a:pt x="75" y="5"/>
                  </a:lnTo>
                  <a:lnTo>
                    <a:pt x="50" y="2"/>
                  </a:lnTo>
                  <a:lnTo>
                    <a:pt x="25" y="0"/>
                  </a:lnTo>
                  <a:lnTo>
                    <a:pt x="1" y="2"/>
                  </a:lnTo>
                  <a:lnTo>
                    <a:pt x="0" y="18"/>
                  </a:lnTo>
                  <a:lnTo>
                    <a:pt x="0" y="57"/>
                  </a:lnTo>
                  <a:lnTo>
                    <a:pt x="5" y="104"/>
                  </a:lnTo>
                  <a:lnTo>
                    <a:pt x="19" y="148"/>
                  </a:lnTo>
                  <a:lnTo>
                    <a:pt x="20" y="150"/>
                  </a:lnTo>
                  <a:lnTo>
                    <a:pt x="24" y="158"/>
                  </a:lnTo>
                  <a:lnTo>
                    <a:pt x="30" y="169"/>
                  </a:lnTo>
                  <a:lnTo>
                    <a:pt x="39" y="184"/>
                  </a:lnTo>
                  <a:lnTo>
                    <a:pt x="53" y="200"/>
                  </a:lnTo>
                  <a:lnTo>
                    <a:pt x="69" y="219"/>
                  </a:lnTo>
                  <a:lnTo>
                    <a:pt x="90" y="239"/>
                  </a:lnTo>
                  <a:lnTo>
                    <a:pt x="116" y="259"/>
                  </a:lnTo>
                  <a:lnTo>
                    <a:pt x="120" y="261"/>
                  </a:lnTo>
                  <a:lnTo>
                    <a:pt x="133" y="268"/>
                  </a:lnTo>
                  <a:lnTo>
                    <a:pt x="151" y="278"/>
                  </a:lnTo>
                  <a:lnTo>
                    <a:pt x="175" y="290"/>
                  </a:lnTo>
                  <a:lnTo>
                    <a:pt x="204" y="305"/>
                  </a:lnTo>
                  <a:lnTo>
                    <a:pt x="235" y="320"/>
                  </a:lnTo>
                  <a:lnTo>
                    <a:pt x="269" y="335"/>
                  </a:lnTo>
                  <a:lnTo>
                    <a:pt x="304" y="349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35" name="Freeform 343"/>
            <p:cNvSpPr>
              <a:spLocks/>
            </p:cNvSpPr>
            <p:nvPr/>
          </p:nvSpPr>
          <p:spPr bwMode="auto">
            <a:xfrm>
              <a:off x="196" y="2280"/>
              <a:ext cx="663" cy="545"/>
            </a:xfrm>
            <a:custGeom>
              <a:avLst/>
              <a:gdLst/>
              <a:ahLst/>
              <a:cxnLst>
                <a:cxn ang="0">
                  <a:pos x="570" y="45"/>
                </a:cxn>
                <a:cxn ang="0">
                  <a:pos x="563" y="39"/>
                </a:cxn>
                <a:cxn ang="0">
                  <a:pos x="547" y="25"/>
                </a:cxn>
                <a:cxn ang="0">
                  <a:pos x="521" y="10"/>
                </a:cxn>
                <a:cxn ang="0">
                  <a:pos x="490" y="0"/>
                </a:cxn>
                <a:cxn ang="0">
                  <a:pos x="483" y="0"/>
                </a:cxn>
                <a:cxn ang="0">
                  <a:pos x="466" y="0"/>
                </a:cxn>
                <a:cxn ang="0">
                  <a:pos x="441" y="0"/>
                </a:cxn>
                <a:cxn ang="0">
                  <a:pos x="410" y="0"/>
                </a:cxn>
                <a:cxn ang="0">
                  <a:pos x="376" y="2"/>
                </a:cxn>
                <a:cxn ang="0">
                  <a:pos x="341" y="4"/>
                </a:cxn>
                <a:cxn ang="0">
                  <a:pos x="308" y="9"/>
                </a:cxn>
                <a:cxn ang="0">
                  <a:pos x="281" y="14"/>
                </a:cxn>
                <a:cxn ang="0">
                  <a:pos x="265" y="20"/>
                </a:cxn>
                <a:cxn ang="0">
                  <a:pos x="223" y="35"/>
                </a:cxn>
                <a:cxn ang="0">
                  <a:pos x="171" y="55"/>
                </a:cxn>
                <a:cxn ang="0">
                  <a:pos x="121" y="77"/>
                </a:cxn>
                <a:cxn ang="0">
                  <a:pos x="106" y="84"/>
                </a:cxn>
                <a:cxn ang="0">
                  <a:pos x="71" y="102"/>
                </a:cxn>
                <a:cxn ang="0">
                  <a:pos x="30" y="125"/>
                </a:cxn>
                <a:cxn ang="0">
                  <a:pos x="0" y="147"/>
                </a:cxn>
                <a:cxn ang="0">
                  <a:pos x="0" y="152"/>
                </a:cxn>
                <a:cxn ang="0">
                  <a:pos x="3" y="167"/>
                </a:cxn>
                <a:cxn ang="0">
                  <a:pos x="15" y="188"/>
                </a:cxn>
                <a:cxn ang="0">
                  <a:pos x="38" y="213"/>
                </a:cxn>
                <a:cxn ang="0">
                  <a:pos x="50" y="220"/>
                </a:cxn>
                <a:cxn ang="0">
                  <a:pos x="81" y="238"/>
                </a:cxn>
                <a:cxn ang="0">
                  <a:pos x="125" y="255"/>
                </a:cxn>
                <a:cxn ang="0">
                  <a:pos x="173" y="264"/>
                </a:cxn>
                <a:cxn ang="0">
                  <a:pos x="180" y="264"/>
                </a:cxn>
                <a:cxn ang="0">
                  <a:pos x="196" y="264"/>
                </a:cxn>
                <a:cxn ang="0">
                  <a:pos x="222" y="263"/>
                </a:cxn>
                <a:cxn ang="0">
                  <a:pos x="256" y="260"/>
                </a:cxn>
                <a:cxn ang="0">
                  <a:pos x="295" y="258"/>
                </a:cxn>
                <a:cxn ang="0">
                  <a:pos x="338" y="253"/>
                </a:cxn>
                <a:cxn ang="0">
                  <a:pos x="383" y="245"/>
                </a:cxn>
                <a:cxn ang="0">
                  <a:pos x="431" y="237"/>
                </a:cxn>
                <a:cxn ang="0">
                  <a:pos x="426" y="243"/>
                </a:cxn>
                <a:cxn ang="0">
                  <a:pos x="413" y="264"/>
                </a:cxn>
                <a:cxn ang="0">
                  <a:pos x="395" y="306"/>
                </a:cxn>
                <a:cxn ang="0">
                  <a:pos x="375" y="375"/>
                </a:cxn>
                <a:cxn ang="0">
                  <a:pos x="441" y="514"/>
                </a:cxn>
                <a:cxn ang="0">
                  <a:pos x="455" y="510"/>
                </a:cxn>
                <a:cxn ang="0">
                  <a:pos x="491" y="498"/>
                </a:cxn>
                <a:cxn ang="0">
                  <a:pos x="536" y="480"/>
                </a:cxn>
                <a:cxn ang="0">
                  <a:pos x="580" y="459"/>
                </a:cxn>
                <a:cxn ang="0">
                  <a:pos x="663" y="195"/>
                </a:cxn>
                <a:cxn ang="0">
                  <a:pos x="658" y="174"/>
                </a:cxn>
                <a:cxn ang="0">
                  <a:pos x="650" y="133"/>
                </a:cxn>
              </a:cxnLst>
              <a:rect l="0" t="0" r="r" b="b"/>
              <a:pathLst>
                <a:path w="663" h="545">
                  <a:moveTo>
                    <a:pt x="650" y="133"/>
                  </a:moveTo>
                  <a:lnTo>
                    <a:pt x="570" y="45"/>
                  </a:lnTo>
                  <a:lnTo>
                    <a:pt x="568" y="44"/>
                  </a:lnTo>
                  <a:lnTo>
                    <a:pt x="563" y="39"/>
                  </a:lnTo>
                  <a:lnTo>
                    <a:pt x="556" y="33"/>
                  </a:lnTo>
                  <a:lnTo>
                    <a:pt x="547" y="25"/>
                  </a:lnTo>
                  <a:lnTo>
                    <a:pt x="535" y="18"/>
                  </a:lnTo>
                  <a:lnTo>
                    <a:pt x="521" y="10"/>
                  </a:lnTo>
                  <a:lnTo>
                    <a:pt x="506" y="4"/>
                  </a:lnTo>
                  <a:lnTo>
                    <a:pt x="490" y="0"/>
                  </a:lnTo>
                  <a:lnTo>
                    <a:pt x="488" y="0"/>
                  </a:lnTo>
                  <a:lnTo>
                    <a:pt x="483" y="0"/>
                  </a:lnTo>
                  <a:lnTo>
                    <a:pt x="476" y="0"/>
                  </a:lnTo>
                  <a:lnTo>
                    <a:pt x="466" y="0"/>
                  </a:lnTo>
                  <a:lnTo>
                    <a:pt x="455" y="0"/>
                  </a:lnTo>
                  <a:lnTo>
                    <a:pt x="441" y="0"/>
                  </a:lnTo>
                  <a:lnTo>
                    <a:pt x="426" y="0"/>
                  </a:lnTo>
                  <a:lnTo>
                    <a:pt x="410" y="0"/>
                  </a:lnTo>
                  <a:lnTo>
                    <a:pt x="393" y="2"/>
                  </a:lnTo>
                  <a:lnTo>
                    <a:pt x="376" y="2"/>
                  </a:lnTo>
                  <a:lnTo>
                    <a:pt x="358" y="3"/>
                  </a:lnTo>
                  <a:lnTo>
                    <a:pt x="341" y="4"/>
                  </a:lnTo>
                  <a:lnTo>
                    <a:pt x="325" y="7"/>
                  </a:lnTo>
                  <a:lnTo>
                    <a:pt x="308" y="9"/>
                  </a:lnTo>
                  <a:lnTo>
                    <a:pt x="295" y="12"/>
                  </a:lnTo>
                  <a:lnTo>
                    <a:pt x="281" y="14"/>
                  </a:lnTo>
                  <a:lnTo>
                    <a:pt x="276" y="15"/>
                  </a:lnTo>
                  <a:lnTo>
                    <a:pt x="265" y="20"/>
                  </a:lnTo>
                  <a:lnTo>
                    <a:pt x="246" y="27"/>
                  </a:lnTo>
                  <a:lnTo>
                    <a:pt x="223" y="35"/>
                  </a:lnTo>
                  <a:lnTo>
                    <a:pt x="198" y="45"/>
                  </a:lnTo>
                  <a:lnTo>
                    <a:pt x="171" y="55"/>
                  </a:lnTo>
                  <a:lnTo>
                    <a:pt x="145" y="67"/>
                  </a:lnTo>
                  <a:lnTo>
                    <a:pt x="121" y="77"/>
                  </a:lnTo>
                  <a:lnTo>
                    <a:pt x="117" y="79"/>
                  </a:lnTo>
                  <a:lnTo>
                    <a:pt x="106" y="84"/>
                  </a:lnTo>
                  <a:lnTo>
                    <a:pt x="90" y="92"/>
                  </a:lnTo>
                  <a:lnTo>
                    <a:pt x="71" y="102"/>
                  </a:lnTo>
                  <a:lnTo>
                    <a:pt x="50" y="113"/>
                  </a:lnTo>
                  <a:lnTo>
                    <a:pt x="30" y="125"/>
                  </a:lnTo>
                  <a:lnTo>
                    <a:pt x="12" y="137"/>
                  </a:lnTo>
                  <a:lnTo>
                    <a:pt x="0" y="147"/>
                  </a:lnTo>
                  <a:lnTo>
                    <a:pt x="0" y="148"/>
                  </a:lnTo>
                  <a:lnTo>
                    <a:pt x="0" y="152"/>
                  </a:lnTo>
                  <a:lnTo>
                    <a:pt x="1" y="158"/>
                  </a:lnTo>
                  <a:lnTo>
                    <a:pt x="3" y="167"/>
                  </a:lnTo>
                  <a:lnTo>
                    <a:pt x="7" y="177"/>
                  </a:lnTo>
                  <a:lnTo>
                    <a:pt x="15" y="188"/>
                  </a:lnTo>
                  <a:lnTo>
                    <a:pt x="25" y="200"/>
                  </a:lnTo>
                  <a:lnTo>
                    <a:pt x="38" y="213"/>
                  </a:lnTo>
                  <a:lnTo>
                    <a:pt x="41" y="215"/>
                  </a:lnTo>
                  <a:lnTo>
                    <a:pt x="50" y="220"/>
                  </a:lnTo>
                  <a:lnTo>
                    <a:pt x="63" y="228"/>
                  </a:lnTo>
                  <a:lnTo>
                    <a:pt x="81" y="238"/>
                  </a:lnTo>
                  <a:lnTo>
                    <a:pt x="102" y="247"/>
                  </a:lnTo>
                  <a:lnTo>
                    <a:pt x="125" y="255"/>
                  </a:lnTo>
                  <a:lnTo>
                    <a:pt x="148" y="262"/>
                  </a:lnTo>
                  <a:lnTo>
                    <a:pt x="173" y="264"/>
                  </a:lnTo>
                  <a:lnTo>
                    <a:pt x="175" y="264"/>
                  </a:lnTo>
                  <a:lnTo>
                    <a:pt x="180" y="264"/>
                  </a:lnTo>
                  <a:lnTo>
                    <a:pt x="186" y="264"/>
                  </a:lnTo>
                  <a:lnTo>
                    <a:pt x="196" y="264"/>
                  </a:lnTo>
                  <a:lnTo>
                    <a:pt x="208" y="263"/>
                  </a:lnTo>
                  <a:lnTo>
                    <a:pt x="222" y="263"/>
                  </a:lnTo>
                  <a:lnTo>
                    <a:pt x="237" y="262"/>
                  </a:lnTo>
                  <a:lnTo>
                    <a:pt x="256" y="260"/>
                  </a:lnTo>
                  <a:lnTo>
                    <a:pt x="275" y="259"/>
                  </a:lnTo>
                  <a:lnTo>
                    <a:pt x="295" y="258"/>
                  </a:lnTo>
                  <a:lnTo>
                    <a:pt x="316" y="255"/>
                  </a:lnTo>
                  <a:lnTo>
                    <a:pt x="338" y="253"/>
                  </a:lnTo>
                  <a:lnTo>
                    <a:pt x="361" y="249"/>
                  </a:lnTo>
                  <a:lnTo>
                    <a:pt x="383" y="245"/>
                  </a:lnTo>
                  <a:lnTo>
                    <a:pt x="407" y="242"/>
                  </a:lnTo>
                  <a:lnTo>
                    <a:pt x="431" y="237"/>
                  </a:lnTo>
                  <a:lnTo>
                    <a:pt x="430" y="238"/>
                  </a:lnTo>
                  <a:lnTo>
                    <a:pt x="426" y="243"/>
                  </a:lnTo>
                  <a:lnTo>
                    <a:pt x="421" y="252"/>
                  </a:lnTo>
                  <a:lnTo>
                    <a:pt x="413" y="264"/>
                  </a:lnTo>
                  <a:lnTo>
                    <a:pt x="405" y="283"/>
                  </a:lnTo>
                  <a:lnTo>
                    <a:pt x="395" y="306"/>
                  </a:lnTo>
                  <a:lnTo>
                    <a:pt x="385" y="338"/>
                  </a:lnTo>
                  <a:lnTo>
                    <a:pt x="375" y="375"/>
                  </a:lnTo>
                  <a:lnTo>
                    <a:pt x="333" y="545"/>
                  </a:lnTo>
                  <a:lnTo>
                    <a:pt x="441" y="514"/>
                  </a:lnTo>
                  <a:lnTo>
                    <a:pt x="445" y="513"/>
                  </a:lnTo>
                  <a:lnTo>
                    <a:pt x="455" y="510"/>
                  </a:lnTo>
                  <a:lnTo>
                    <a:pt x="471" y="505"/>
                  </a:lnTo>
                  <a:lnTo>
                    <a:pt x="491" y="498"/>
                  </a:lnTo>
                  <a:lnTo>
                    <a:pt x="512" y="490"/>
                  </a:lnTo>
                  <a:lnTo>
                    <a:pt x="536" y="480"/>
                  </a:lnTo>
                  <a:lnTo>
                    <a:pt x="558" y="470"/>
                  </a:lnTo>
                  <a:lnTo>
                    <a:pt x="580" y="459"/>
                  </a:lnTo>
                  <a:lnTo>
                    <a:pt x="660" y="406"/>
                  </a:lnTo>
                  <a:lnTo>
                    <a:pt x="663" y="195"/>
                  </a:lnTo>
                  <a:lnTo>
                    <a:pt x="662" y="189"/>
                  </a:lnTo>
                  <a:lnTo>
                    <a:pt x="658" y="174"/>
                  </a:lnTo>
                  <a:lnTo>
                    <a:pt x="655" y="154"/>
                  </a:lnTo>
                  <a:lnTo>
                    <a:pt x="650" y="133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36" name="Freeform 344"/>
            <p:cNvSpPr>
              <a:spLocks/>
            </p:cNvSpPr>
            <p:nvPr/>
          </p:nvSpPr>
          <p:spPr bwMode="auto">
            <a:xfrm>
              <a:off x="661" y="2468"/>
              <a:ext cx="136" cy="45"/>
            </a:xfrm>
            <a:custGeom>
              <a:avLst/>
              <a:gdLst/>
              <a:ahLst/>
              <a:cxnLst>
                <a:cxn ang="0">
                  <a:pos x="0" y="42"/>
                </a:cxn>
                <a:cxn ang="0">
                  <a:pos x="136" y="0"/>
                </a:cxn>
                <a:cxn ang="0">
                  <a:pos x="105" y="45"/>
                </a:cxn>
                <a:cxn ang="0">
                  <a:pos x="0" y="42"/>
                </a:cxn>
              </a:cxnLst>
              <a:rect l="0" t="0" r="r" b="b"/>
              <a:pathLst>
                <a:path w="136" h="45">
                  <a:moveTo>
                    <a:pt x="0" y="42"/>
                  </a:moveTo>
                  <a:lnTo>
                    <a:pt x="136" y="0"/>
                  </a:lnTo>
                  <a:lnTo>
                    <a:pt x="105" y="45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37" name="Freeform 345"/>
            <p:cNvSpPr>
              <a:spLocks/>
            </p:cNvSpPr>
            <p:nvPr/>
          </p:nvSpPr>
          <p:spPr bwMode="auto">
            <a:xfrm>
              <a:off x="789" y="2482"/>
              <a:ext cx="49" cy="156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32" y="0"/>
                </a:cxn>
                <a:cxn ang="0">
                  <a:pos x="49" y="156"/>
                </a:cxn>
                <a:cxn ang="0">
                  <a:pos x="48" y="152"/>
                </a:cxn>
                <a:cxn ang="0">
                  <a:pos x="45" y="141"/>
                </a:cxn>
                <a:cxn ang="0">
                  <a:pos x="40" y="124"/>
                </a:cxn>
                <a:cxn ang="0">
                  <a:pos x="34" y="106"/>
                </a:cxn>
                <a:cxn ang="0">
                  <a:pos x="27" y="86"/>
                </a:cxn>
                <a:cxn ang="0">
                  <a:pos x="19" y="68"/>
                </a:cxn>
                <a:cxn ang="0">
                  <a:pos x="9" y="53"/>
                </a:cxn>
                <a:cxn ang="0">
                  <a:pos x="0" y="45"/>
                </a:cxn>
              </a:cxnLst>
              <a:rect l="0" t="0" r="r" b="b"/>
              <a:pathLst>
                <a:path w="49" h="156">
                  <a:moveTo>
                    <a:pt x="0" y="45"/>
                  </a:moveTo>
                  <a:lnTo>
                    <a:pt x="32" y="0"/>
                  </a:lnTo>
                  <a:lnTo>
                    <a:pt x="49" y="156"/>
                  </a:lnTo>
                  <a:lnTo>
                    <a:pt x="48" y="152"/>
                  </a:lnTo>
                  <a:lnTo>
                    <a:pt x="45" y="141"/>
                  </a:lnTo>
                  <a:lnTo>
                    <a:pt x="40" y="124"/>
                  </a:lnTo>
                  <a:lnTo>
                    <a:pt x="34" y="106"/>
                  </a:lnTo>
                  <a:lnTo>
                    <a:pt x="27" y="86"/>
                  </a:lnTo>
                  <a:lnTo>
                    <a:pt x="19" y="68"/>
                  </a:lnTo>
                  <a:lnTo>
                    <a:pt x="9" y="53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38" name="Freeform 346"/>
            <p:cNvSpPr>
              <a:spLocks/>
            </p:cNvSpPr>
            <p:nvPr/>
          </p:nvSpPr>
          <p:spPr bwMode="auto">
            <a:xfrm>
              <a:off x="699" y="2544"/>
              <a:ext cx="104" cy="181"/>
            </a:xfrm>
            <a:custGeom>
              <a:avLst/>
              <a:gdLst/>
              <a:ahLst/>
              <a:cxnLst>
                <a:cxn ang="0">
                  <a:pos x="67" y="0"/>
                </a:cxn>
                <a:cxn ang="0">
                  <a:pos x="104" y="132"/>
                </a:cxn>
                <a:cxn ang="0">
                  <a:pos x="32" y="181"/>
                </a:cxn>
                <a:cxn ang="0">
                  <a:pos x="0" y="62"/>
                </a:cxn>
                <a:cxn ang="0">
                  <a:pos x="67" y="0"/>
                </a:cxn>
              </a:cxnLst>
              <a:rect l="0" t="0" r="r" b="b"/>
              <a:pathLst>
                <a:path w="104" h="181">
                  <a:moveTo>
                    <a:pt x="67" y="0"/>
                  </a:moveTo>
                  <a:lnTo>
                    <a:pt x="104" y="132"/>
                  </a:lnTo>
                  <a:lnTo>
                    <a:pt x="32" y="181"/>
                  </a:lnTo>
                  <a:lnTo>
                    <a:pt x="0" y="62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39" name="Freeform 347"/>
            <p:cNvSpPr>
              <a:spLocks/>
            </p:cNvSpPr>
            <p:nvPr/>
          </p:nvSpPr>
          <p:spPr bwMode="auto">
            <a:xfrm>
              <a:off x="602" y="2544"/>
              <a:ext cx="115" cy="74"/>
            </a:xfrm>
            <a:custGeom>
              <a:avLst/>
              <a:gdLst/>
              <a:ahLst/>
              <a:cxnLst>
                <a:cxn ang="0">
                  <a:pos x="115" y="4"/>
                </a:cxn>
                <a:cxn ang="0">
                  <a:pos x="39" y="0"/>
                </a:cxn>
                <a:cxn ang="0">
                  <a:pos x="37" y="2"/>
                </a:cxn>
                <a:cxn ang="0">
                  <a:pos x="32" y="7"/>
                </a:cxn>
                <a:cxn ang="0">
                  <a:pos x="26" y="16"/>
                </a:cxn>
                <a:cxn ang="0">
                  <a:pos x="20" y="26"/>
                </a:cxn>
                <a:cxn ang="0">
                  <a:pos x="12" y="37"/>
                </a:cxn>
                <a:cxn ang="0">
                  <a:pos x="6" y="50"/>
                </a:cxn>
                <a:cxn ang="0">
                  <a:pos x="1" y="62"/>
                </a:cxn>
                <a:cxn ang="0">
                  <a:pos x="0" y="74"/>
                </a:cxn>
                <a:cxn ang="0">
                  <a:pos x="84" y="52"/>
                </a:cxn>
                <a:cxn ang="0">
                  <a:pos x="115" y="4"/>
                </a:cxn>
              </a:cxnLst>
              <a:rect l="0" t="0" r="r" b="b"/>
              <a:pathLst>
                <a:path w="115" h="74">
                  <a:moveTo>
                    <a:pt x="115" y="4"/>
                  </a:moveTo>
                  <a:lnTo>
                    <a:pt x="39" y="0"/>
                  </a:lnTo>
                  <a:lnTo>
                    <a:pt x="37" y="2"/>
                  </a:lnTo>
                  <a:lnTo>
                    <a:pt x="32" y="7"/>
                  </a:lnTo>
                  <a:lnTo>
                    <a:pt x="26" y="16"/>
                  </a:lnTo>
                  <a:lnTo>
                    <a:pt x="20" y="26"/>
                  </a:lnTo>
                  <a:lnTo>
                    <a:pt x="12" y="37"/>
                  </a:lnTo>
                  <a:lnTo>
                    <a:pt x="6" y="50"/>
                  </a:lnTo>
                  <a:lnTo>
                    <a:pt x="1" y="62"/>
                  </a:lnTo>
                  <a:lnTo>
                    <a:pt x="0" y="74"/>
                  </a:lnTo>
                  <a:lnTo>
                    <a:pt x="84" y="52"/>
                  </a:lnTo>
                  <a:lnTo>
                    <a:pt x="115" y="4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40" name="Freeform 348"/>
            <p:cNvSpPr>
              <a:spLocks/>
            </p:cNvSpPr>
            <p:nvPr/>
          </p:nvSpPr>
          <p:spPr bwMode="auto">
            <a:xfrm>
              <a:off x="574" y="2635"/>
              <a:ext cx="77" cy="110"/>
            </a:xfrm>
            <a:custGeom>
              <a:avLst/>
              <a:gdLst/>
              <a:ahLst/>
              <a:cxnLst>
                <a:cxn ang="0">
                  <a:pos x="24" y="10"/>
                </a:cxn>
                <a:cxn ang="0">
                  <a:pos x="77" y="0"/>
                </a:cxn>
                <a:cxn ang="0">
                  <a:pos x="0" y="110"/>
                </a:cxn>
                <a:cxn ang="0">
                  <a:pos x="24" y="10"/>
                </a:cxn>
              </a:cxnLst>
              <a:rect l="0" t="0" r="r" b="b"/>
              <a:pathLst>
                <a:path w="77" h="110">
                  <a:moveTo>
                    <a:pt x="24" y="10"/>
                  </a:moveTo>
                  <a:lnTo>
                    <a:pt x="77" y="0"/>
                  </a:lnTo>
                  <a:lnTo>
                    <a:pt x="0" y="110"/>
                  </a:lnTo>
                  <a:lnTo>
                    <a:pt x="24" y="1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41" name="Freeform 349"/>
            <p:cNvSpPr>
              <a:spLocks/>
            </p:cNvSpPr>
            <p:nvPr/>
          </p:nvSpPr>
          <p:spPr bwMode="auto">
            <a:xfrm>
              <a:off x="571" y="2731"/>
              <a:ext cx="56" cy="53"/>
            </a:xfrm>
            <a:custGeom>
              <a:avLst/>
              <a:gdLst/>
              <a:ahLst/>
              <a:cxnLst>
                <a:cxn ang="0">
                  <a:pos x="0" y="53"/>
                </a:cxn>
                <a:cxn ang="0">
                  <a:pos x="38" y="0"/>
                </a:cxn>
                <a:cxn ang="0">
                  <a:pos x="56" y="39"/>
                </a:cxn>
                <a:cxn ang="0">
                  <a:pos x="0" y="53"/>
                </a:cxn>
              </a:cxnLst>
              <a:rect l="0" t="0" r="r" b="b"/>
              <a:pathLst>
                <a:path w="56" h="53">
                  <a:moveTo>
                    <a:pt x="0" y="53"/>
                  </a:moveTo>
                  <a:lnTo>
                    <a:pt x="38" y="0"/>
                  </a:lnTo>
                  <a:lnTo>
                    <a:pt x="56" y="39"/>
                  </a:lnTo>
                  <a:lnTo>
                    <a:pt x="0" y="53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42" name="Freeform 350"/>
            <p:cNvSpPr>
              <a:spLocks/>
            </p:cNvSpPr>
            <p:nvPr/>
          </p:nvSpPr>
          <p:spPr bwMode="auto">
            <a:xfrm>
              <a:off x="633" y="2645"/>
              <a:ext cx="63" cy="115"/>
            </a:xfrm>
            <a:custGeom>
              <a:avLst/>
              <a:gdLst/>
              <a:ahLst/>
              <a:cxnLst>
                <a:cxn ang="0">
                  <a:pos x="0" y="55"/>
                </a:cxn>
                <a:cxn ang="0">
                  <a:pos x="39" y="0"/>
                </a:cxn>
                <a:cxn ang="0">
                  <a:pos x="63" y="100"/>
                </a:cxn>
                <a:cxn ang="0">
                  <a:pos x="18" y="115"/>
                </a:cxn>
                <a:cxn ang="0">
                  <a:pos x="0" y="55"/>
                </a:cxn>
              </a:cxnLst>
              <a:rect l="0" t="0" r="r" b="b"/>
              <a:pathLst>
                <a:path w="63" h="115">
                  <a:moveTo>
                    <a:pt x="0" y="55"/>
                  </a:moveTo>
                  <a:lnTo>
                    <a:pt x="39" y="0"/>
                  </a:lnTo>
                  <a:lnTo>
                    <a:pt x="63" y="100"/>
                  </a:lnTo>
                  <a:lnTo>
                    <a:pt x="18" y="115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43" name="Freeform 351"/>
            <p:cNvSpPr>
              <a:spLocks/>
            </p:cNvSpPr>
            <p:nvPr/>
          </p:nvSpPr>
          <p:spPr bwMode="auto">
            <a:xfrm>
              <a:off x="629" y="2417"/>
              <a:ext cx="170" cy="65"/>
            </a:xfrm>
            <a:custGeom>
              <a:avLst/>
              <a:gdLst/>
              <a:ahLst/>
              <a:cxnLst>
                <a:cxn ang="0">
                  <a:pos x="25" y="0"/>
                </a:cxn>
                <a:cxn ang="0">
                  <a:pos x="170" y="0"/>
                </a:cxn>
                <a:cxn ang="0">
                  <a:pos x="167" y="2"/>
                </a:cxn>
                <a:cxn ang="0">
                  <a:pos x="157" y="8"/>
                </a:cxn>
                <a:cxn ang="0">
                  <a:pos x="139" y="17"/>
                </a:cxn>
                <a:cxn ang="0">
                  <a:pos x="118" y="28"/>
                </a:cxn>
                <a:cxn ang="0">
                  <a:pos x="93" y="40"/>
                </a:cxn>
                <a:cxn ang="0">
                  <a:pos x="64" y="50"/>
                </a:cxn>
                <a:cxn ang="0">
                  <a:pos x="33" y="58"/>
                </a:cxn>
                <a:cxn ang="0">
                  <a:pos x="0" y="65"/>
                </a:cxn>
                <a:cxn ang="0">
                  <a:pos x="25" y="0"/>
                </a:cxn>
              </a:cxnLst>
              <a:rect l="0" t="0" r="r" b="b"/>
              <a:pathLst>
                <a:path w="170" h="65">
                  <a:moveTo>
                    <a:pt x="25" y="0"/>
                  </a:moveTo>
                  <a:lnTo>
                    <a:pt x="170" y="0"/>
                  </a:lnTo>
                  <a:lnTo>
                    <a:pt x="167" y="2"/>
                  </a:lnTo>
                  <a:lnTo>
                    <a:pt x="157" y="8"/>
                  </a:lnTo>
                  <a:lnTo>
                    <a:pt x="139" y="17"/>
                  </a:lnTo>
                  <a:lnTo>
                    <a:pt x="118" y="28"/>
                  </a:lnTo>
                  <a:lnTo>
                    <a:pt x="93" y="40"/>
                  </a:lnTo>
                  <a:lnTo>
                    <a:pt x="64" y="50"/>
                  </a:lnTo>
                  <a:lnTo>
                    <a:pt x="33" y="58"/>
                  </a:lnTo>
                  <a:lnTo>
                    <a:pt x="0" y="65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44" name="Freeform 352"/>
            <p:cNvSpPr>
              <a:spLocks/>
            </p:cNvSpPr>
            <p:nvPr/>
          </p:nvSpPr>
          <p:spPr bwMode="auto">
            <a:xfrm>
              <a:off x="418" y="2417"/>
              <a:ext cx="209" cy="100"/>
            </a:xfrm>
            <a:custGeom>
              <a:avLst/>
              <a:gdLst/>
              <a:ahLst/>
              <a:cxnLst>
                <a:cxn ang="0">
                  <a:pos x="209" y="0"/>
                </a:cxn>
                <a:cxn ang="0">
                  <a:pos x="149" y="78"/>
                </a:cxn>
                <a:cxn ang="0">
                  <a:pos x="145" y="80"/>
                </a:cxn>
                <a:cxn ang="0">
                  <a:pos x="136" y="82"/>
                </a:cxn>
                <a:cxn ang="0">
                  <a:pos x="121" y="86"/>
                </a:cxn>
                <a:cxn ang="0">
                  <a:pos x="101" y="91"/>
                </a:cxn>
                <a:cxn ang="0">
                  <a:pos x="79" y="95"/>
                </a:cxn>
                <a:cxn ang="0">
                  <a:pos x="54" y="98"/>
                </a:cxn>
                <a:cxn ang="0">
                  <a:pos x="28" y="100"/>
                </a:cxn>
                <a:cxn ang="0">
                  <a:pos x="0" y="100"/>
                </a:cxn>
                <a:cxn ang="0">
                  <a:pos x="84" y="0"/>
                </a:cxn>
                <a:cxn ang="0">
                  <a:pos x="209" y="0"/>
                </a:cxn>
              </a:cxnLst>
              <a:rect l="0" t="0" r="r" b="b"/>
              <a:pathLst>
                <a:path w="209" h="100">
                  <a:moveTo>
                    <a:pt x="209" y="0"/>
                  </a:moveTo>
                  <a:lnTo>
                    <a:pt x="149" y="78"/>
                  </a:lnTo>
                  <a:lnTo>
                    <a:pt x="145" y="80"/>
                  </a:lnTo>
                  <a:lnTo>
                    <a:pt x="136" y="82"/>
                  </a:lnTo>
                  <a:lnTo>
                    <a:pt x="121" y="86"/>
                  </a:lnTo>
                  <a:lnTo>
                    <a:pt x="101" y="91"/>
                  </a:lnTo>
                  <a:lnTo>
                    <a:pt x="79" y="95"/>
                  </a:lnTo>
                  <a:lnTo>
                    <a:pt x="54" y="98"/>
                  </a:lnTo>
                  <a:lnTo>
                    <a:pt x="28" y="100"/>
                  </a:lnTo>
                  <a:lnTo>
                    <a:pt x="0" y="100"/>
                  </a:lnTo>
                  <a:lnTo>
                    <a:pt x="84" y="0"/>
                  </a:lnTo>
                  <a:lnTo>
                    <a:pt x="209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45" name="Freeform 353"/>
            <p:cNvSpPr>
              <a:spLocks/>
            </p:cNvSpPr>
            <p:nvPr/>
          </p:nvSpPr>
          <p:spPr bwMode="auto">
            <a:xfrm>
              <a:off x="317" y="2433"/>
              <a:ext cx="115" cy="84"/>
            </a:xfrm>
            <a:custGeom>
              <a:avLst/>
              <a:gdLst/>
              <a:ahLst/>
              <a:cxnLst>
                <a:cxn ang="0">
                  <a:pos x="115" y="0"/>
                </a:cxn>
                <a:cxn ang="0">
                  <a:pos x="70" y="80"/>
                </a:cxn>
                <a:cxn ang="0">
                  <a:pos x="67" y="81"/>
                </a:cxn>
                <a:cxn ang="0">
                  <a:pos x="62" y="82"/>
                </a:cxn>
                <a:cxn ang="0">
                  <a:pos x="54" y="84"/>
                </a:cxn>
                <a:cxn ang="0">
                  <a:pos x="42" y="84"/>
                </a:cxn>
                <a:cxn ang="0">
                  <a:pos x="31" y="82"/>
                </a:cxn>
                <a:cxn ang="0">
                  <a:pos x="20" y="79"/>
                </a:cxn>
                <a:cxn ang="0">
                  <a:pos x="9" y="71"/>
                </a:cxn>
                <a:cxn ang="0">
                  <a:pos x="0" y="60"/>
                </a:cxn>
                <a:cxn ang="0">
                  <a:pos x="1" y="57"/>
                </a:cxn>
                <a:cxn ang="0">
                  <a:pos x="2" y="52"/>
                </a:cxn>
                <a:cxn ang="0">
                  <a:pos x="6" y="45"/>
                </a:cxn>
                <a:cxn ang="0">
                  <a:pos x="10" y="36"/>
                </a:cxn>
                <a:cxn ang="0">
                  <a:pos x="16" y="26"/>
                </a:cxn>
                <a:cxn ang="0">
                  <a:pos x="24" y="17"/>
                </a:cxn>
                <a:cxn ang="0">
                  <a:pos x="32" y="10"/>
                </a:cxn>
                <a:cxn ang="0">
                  <a:pos x="42" y="4"/>
                </a:cxn>
                <a:cxn ang="0">
                  <a:pos x="115" y="0"/>
                </a:cxn>
              </a:cxnLst>
              <a:rect l="0" t="0" r="r" b="b"/>
              <a:pathLst>
                <a:path w="115" h="84">
                  <a:moveTo>
                    <a:pt x="115" y="0"/>
                  </a:moveTo>
                  <a:lnTo>
                    <a:pt x="70" y="80"/>
                  </a:lnTo>
                  <a:lnTo>
                    <a:pt x="67" y="81"/>
                  </a:lnTo>
                  <a:lnTo>
                    <a:pt x="62" y="82"/>
                  </a:lnTo>
                  <a:lnTo>
                    <a:pt x="54" y="84"/>
                  </a:lnTo>
                  <a:lnTo>
                    <a:pt x="42" y="84"/>
                  </a:lnTo>
                  <a:lnTo>
                    <a:pt x="31" y="82"/>
                  </a:lnTo>
                  <a:lnTo>
                    <a:pt x="20" y="79"/>
                  </a:lnTo>
                  <a:lnTo>
                    <a:pt x="9" y="71"/>
                  </a:lnTo>
                  <a:lnTo>
                    <a:pt x="0" y="60"/>
                  </a:lnTo>
                  <a:lnTo>
                    <a:pt x="1" y="57"/>
                  </a:lnTo>
                  <a:lnTo>
                    <a:pt x="2" y="52"/>
                  </a:lnTo>
                  <a:lnTo>
                    <a:pt x="6" y="45"/>
                  </a:lnTo>
                  <a:lnTo>
                    <a:pt x="10" y="36"/>
                  </a:lnTo>
                  <a:lnTo>
                    <a:pt x="16" y="26"/>
                  </a:lnTo>
                  <a:lnTo>
                    <a:pt x="24" y="17"/>
                  </a:lnTo>
                  <a:lnTo>
                    <a:pt x="32" y="10"/>
                  </a:lnTo>
                  <a:lnTo>
                    <a:pt x="42" y="4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46" name="Freeform 354"/>
            <p:cNvSpPr>
              <a:spLocks/>
            </p:cNvSpPr>
            <p:nvPr/>
          </p:nvSpPr>
          <p:spPr bwMode="auto">
            <a:xfrm>
              <a:off x="244" y="2433"/>
              <a:ext cx="59" cy="56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0" y="15"/>
                </a:cxn>
                <a:cxn ang="0">
                  <a:pos x="2" y="16"/>
                </a:cxn>
                <a:cxn ang="0">
                  <a:pos x="3" y="20"/>
                </a:cxn>
                <a:cxn ang="0">
                  <a:pos x="7" y="25"/>
                </a:cxn>
                <a:cxn ang="0">
                  <a:pos x="10" y="31"/>
                </a:cxn>
                <a:cxn ang="0">
                  <a:pos x="15" y="39"/>
                </a:cxn>
                <a:cxn ang="0">
                  <a:pos x="23" y="45"/>
                </a:cxn>
                <a:cxn ang="0">
                  <a:pos x="30" y="51"/>
                </a:cxn>
                <a:cxn ang="0">
                  <a:pos x="39" y="56"/>
                </a:cxn>
                <a:cxn ang="0">
                  <a:pos x="43" y="55"/>
                </a:cxn>
                <a:cxn ang="0">
                  <a:pos x="49" y="47"/>
                </a:cxn>
                <a:cxn ang="0">
                  <a:pos x="57" y="31"/>
                </a:cxn>
                <a:cxn ang="0">
                  <a:pos x="59" y="0"/>
                </a:cxn>
              </a:cxnLst>
              <a:rect l="0" t="0" r="r" b="b"/>
              <a:pathLst>
                <a:path w="59" h="56">
                  <a:moveTo>
                    <a:pt x="59" y="0"/>
                  </a:moveTo>
                  <a:lnTo>
                    <a:pt x="0" y="15"/>
                  </a:lnTo>
                  <a:lnTo>
                    <a:pt x="2" y="16"/>
                  </a:lnTo>
                  <a:lnTo>
                    <a:pt x="3" y="20"/>
                  </a:lnTo>
                  <a:lnTo>
                    <a:pt x="7" y="25"/>
                  </a:lnTo>
                  <a:lnTo>
                    <a:pt x="10" y="31"/>
                  </a:lnTo>
                  <a:lnTo>
                    <a:pt x="15" y="39"/>
                  </a:lnTo>
                  <a:lnTo>
                    <a:pt x="23" y="45"/>
                  </a:lnTo>
                  <a:lnTo>
                    <a:pt x="30" y="51"/>
                  </a:lnTo>
                  <a:lnTo>
                    <a:pt x="39" y="56"/>
                  </a:lnTo>
                  <a:lnTo>
                    <a:pt x="43" y="55"/>
                  </a:lnTo>
                  <a:lnTo>
                    <a:pt x="49" y="47"/>
                  </a:lnTo>
                  <a:lnTo>
                    <a:pt x="57" y="31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47" name="Freeform 355"/>
            <p:cNvSpPr>
              <a:spLocks/>
            </p:cNvSpPr>
            <p:nvPr/>
          </p:nvSpPr>
          <p:spPr bwMode="auto">
            <a:xfrm>
              <a:off x="252" y="2388"/>
              <a:ext cx="55" cy="21"/>
            </a:xfrm>
            <a:custGeom>
              <a:avLst/>
              <a:gdLst/>
              <a:ahLst/>
              <a:cxnLst>
                <a:cxn ang="0">
                  <a:pos x="0" y="21"/>
                </a:cxn>
                <a:cxn ang="0">
                  <a:pos x="51" y="0"/>
                </a:cxn>
                <a:cxn ang="0">
                  <a:pos x="55" y="14"/>
                </a:cxn>
                <a:cxn ang="0">
                  <a:pos x="0" y="21"/>
                </a:cxn>
              </a:cxnLst>
              <a:rect l="0" t="0" r="r" b="b"/>
              <a:pathLst>
                <a:path w="55" h="21">
                  <a:moveTo>
                    <a:pt x="0" y="21"/>
                  </a:moveTo>
                  <a:lnTo>
                    <a:pt x="51" y="0"/>
                  </a:lnTo>
                  <a:lnTo>
                    <a:pt x="55" y="14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48" name="Freeform 356"/>
            <p:cNvSpPr>
              <a:spLocks/>
            </p:cNvSpPr>
            <p:nvPr/>
          </p:nvSpPr>
          <p:spPr bwMode="auto">
            <a:xfrm>
              <a:off x="348" y="2343"/>
              <a:ext cx="105" cy="52"/>
            </a:xfrm>
            <a:custGeom>
              <a:avLst/>
              <a:gdLst/>
              <a:ahLst/>
              <a:cxnLst>
                <a:cxn ang="0">
                  <a:pos x="0" y="52"/>
                </a:cxn>
                <a:cxn ang="0">
                  <a:pos x="0" y="25"/>
                </a:cxn>
                <a:cxn ang="0">
                  <a:pos x="1" y="25"/>
                </a:cxn>
                <a:cxn ang="0">
                  <a:pos x="6" y="22"/>
                </a:cxn>
                <a:cxn ang="0">
                  <a:pos x="14" y="20"/>
                </a:cxn>
                <a:cxn ang="0">
                  <a:pos x="23" y="16"/>
                </a:cxn>
                <a:cxn ang="0">
                  <a:pos x="33" y="12"/>
                </a:cxn>
                <a:cxn ang="0">
                  <a:pos x="43" y="9"/>
                </a:cxn>
                <a:cxn ang="0">
                  <a:pos x="53" y="4"/>
                </a:cxn>
                <a:cxn ang="0">
                  <a:pos x="63" y="0"/>
                </a:cxn>
                <a:cxn ang="0">
                  <a:pos x="105" y="52"/>
                </a:cxn>
                <a:cxn ang="0">
                  <a:pos x="0" y="52"/>
                </a:cxn>
              </a:cxnLst>
              <a:rect l="0" t="0" r="r" b="b"/>
              <a:pathLst>
                <a:path w="105" h="52">
                  <a:moveTo>
                    <a:pt x="0" y="52"/>
                  </a:moveTo>
                  <a:lnTo>
                    <a:pt x="0" y="25"/>
                  </a:lnTo>
                  <a:lnTo>
                    <a:pt x="1" y="25"/>
                  </a:lnTo>
                  <a:lnTo>
                    <a:pt x="6" y="22"/>
                  </a:lnTo>
                  <a:lnTo>
                    <a:pt x="14" y="20"/>
                  </a:lnTo>
                  <a:lnTo>
                    <a:pt x="23" y="16"/>
                  </a:lnTo>
                  <a:lnTo>
                    <a:pt x="33" y="12"/>
                  </a:lnTo>
                  <a:lnTo>
                    <a:pt x="43" y="9"/>
                  </a:lnTo>
                  <a:lnTo>
                    <a:pt x="53" y="4"/>
                  </a:lnTo>
                  <a:lnTo>
                    <a:pt x="63" y="0"/>
                  </a:lnTo>
                  <a:lnTo>
                    <a:pt x="105" y="5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49" name="Freeform 357"/>
            <p:cNvSpPr>
              <a:spLocks/>
            </p:cNvSpPr>
            <p:nvPr/>
          </p:nvSpPr>
          <p:spPr bwMode="auto">
            <a:xfrm>
              <a:off x="442" y="2308"/>
              <a:ext cx="187" cy="84"/>
            </a:xfrm>
            <a:custGeom>
              <a:avLst/>
              <a:gdLst/>
              <a:ahLst/>
              <a:cxnLst>
                <a:cxn ang="0">
                  <a:pos x="74" y="80"/>
                </a:cxn>
                <a:cxn ang="0">
                  <a:pos x="0" y="29"/>
                </a:cxn>
                <a:cxn ang="0">
                  <a:pos x="1" y="27"/>
                </a:cxn>
                <a:cxn ang="0">
                  <a:pos x="7" y="25"/>
                </a:cxn>
                <a:cxn ang="0">
                  <a:pos x="15" y="21"/>
                </a:cxn>
                <a:cxn ang="0">
                  <a:pos x="27" y="16"/>
                </a:cxn>
                <a:cxn ang="0">
                  <a:pos x="41" y="11"/>
                </a:cxn>
                <a:cxn ang="0">
                  <a:pos x="59" y="6"/>
                </a:cxn>
                <a:cxn ang="0">
                  <a:pos x="79" y="2"/>
                </a:cxn>
                <a:cxn ang="0">
                  <a:pos x="101" y="0"/>
                </a:cxn>
                <a:cxn ang="0">
                  <a:pos x="187" y="84"/>
                </a:cxn>
                <a:cxn ang="0">
                  <a:pos x="74" y="80"/>
                </a:cxn>
              </a:cxnLst>
              <a:rect l="0" t="0" r="r" b="b"/>
              <a:pathLst>
                <a:path w="187" h="84">
                  <a:moveTo>
                    <a:pt x="74" y="80"/>
                  </a:moveTo>
                  <a:lnTo>
                    <a:pt x="0" y="29"/>
                  </a:lnTo>
                  <a:lnTo>
                    <a:pt x="1" y="27"/>
                  </a:lnTo>
                  <a:lnTo>
                    <a:pt x="7" y="25"/>
                  </a:lnTo>
                  <a:lnTo>
                    <a:pt x="15" y="21"/>
                  </a:lnTo>
                  <a:lnTo>
                    <a:pt x="27" y="16"/>
                  </a:lnTo>
                  <a:lnTo>
                    <a:pt x="41" y="11"/>
                  </a:lnTo>
                  <a:lnTo>
                    <a:pt x="59" y="6"/>
                  </a:lnTo>
                  <a:lnTo>
                    <a:pt x="79" y="2"/>
                  </a:lnTo>
                  <a:lnTo>
                    <a:pt x="101" y="0"/>
                  </a:lnTo>
                  <a:lnTo>
                    <a:pt x="187" y="84"/>
                  </a:lnTo>
                  <a:lnTo>
                    <a:pt x="74" y="8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50" name="Freeform 358"/>
            <p:cNvSpPr>
              <a:spLocks/>
            </p:cNvSpPr>
            <p:nvPr/>
          </p:nvSpPr>
          <p:spPr bwMode="auto">
            <a:xfrm>
              <a:off x="598" y="2303"/>
              <a:ext cx="185" cy="8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2"/>
                </a:cxn>
                <a:cxn ang="0">
                  <a:pos x="11" y="1"/>
                </a:cxn>
                <a:cxn ang="0">
                  <a:pos x="23" y="1"/>
                </a:cxn>
                <a:cxn ang="0">
                  <a:pos x="38" y="0"/>
                </a:cxn>
                <a:cxn ang="0">
                  <a:pos x="55" y="1"/>
                </a:cxn>
                <a:cxn ang="0">
                  <a:pos x="73" y="2"/>
                </a:cxn>
                <a:cxn ang="0">
                  <a:pos x="89" y="5"/>
                </a:cxn>
                <a:cxn ang="0">
                  <a:pos x="105" y="9"/>
                </a:cxn>
                <a:cxn ang="0">
                  <a:pos x="108" y="10"/>
                </a:cxn>
                <a:cxn ang="0">
                  <a:pos x="113" y="12"/>
                </a:cxn>
                <a:cxn ang="0">
                  <a:pos x="123" y="17"/>
                </a:cxn>
                <a:cxn ang="0">
                  <a:pos x="134" y="25"/>
                </a:cxn>
                <a:cxn ang="0">
                  <a:pos x="146" y="36"/>
                </a:cxn>
                <a:cxn ang="0">
                  <a:pos x="159" y="50"/>
                </a:cxn>
                <a:cxn ang="0">
                  <a:pos x="173" y="67"/>
                </a:cxn>
                <a:cxn ang="0">
                  <a:pos x="185" y="89"/>
                </a:cxn>
                <a:cxn ang="0">
                  <a:pos x="80" y="89"/>
                </a:cxn>
                <a:cxn ang="0">
                  <a:pos x="0" y="2"/>
                </a:cxn>
              </a:cxnLst>
              <a:rect l="0" t="0" r="r" b="b"/>
              <a:pathLst>
                <a:path w="185" h="89">
                  <a:moveTo>
                    <a:pt x="0" y="2"/>
                  </a:moveTo>
                  <a:lnTo>
                    <a:pt x="3" y="2"/>
                  </a:lnTo>
                  <a:lnTo>
                    <a:pt x="11" y="1"/>
                  </a:lnTo>
                  <a:lnTo>
                    <a:pt x="23" y="1"/>
                  </a:lnTo>
                  <a:lnTo>
                    <a:pt x="38" y="0"/>
                  </a:lnTo>
                  <a:lnTo>
                    <a:pt x="55" y="1"/>
                  </a:lnTo>
                  <a:lnTo>
                    <a:pt x="73" y="2"/>
                  </a:lnTo>
                  <a:lnTo>
                    <a:pt x="89" y="5"/>
                  </a:lnTo>
                  <a:lnTo>
                    <a:pt x="105" y="9"/>
                  </a:lnTo>
                  <a:lnTo>
                    <a:pt x="108" y="10"/>
                  </a:lnTo>
                  <a:lnTo>
                    <a:pt x="113" y="12"/>
                  </a:lnTo>
                  <a:lnTo>
                    <a:pt x="123" y="17"/>
                  </a:lnTo>
                  <a:lnTo>
                    <a:pt x="134" y="25"/>
                  </a:lnTo>
                  <a:lnTo>
                    <a:pt x="146" y="36"/>
                  </a:lnTo>
                  <a:lnTo>
                    <a:pt x="159" y="50"/>
                  </a:lnTo>
                  <a:lnTo>
                    <a:pt x="173" y="67"/>
                  </a:lnTo>
                  <a:lnTo>
                    <a:pt x="185" y="89"/>
                  </a:lnTo>
                  <a:lnTo>
                    <a:pt x="80" y="89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51" name="Freeform 359"/>
            <p:cNvSpPr>
              <a:spLocks/>
            </p:cNvSpPr>
            <p:nvPr/>
          </p:nvSpPr>
          <p:spPr bwMode="auto">
            <a:xfrm>
              <a:off x="536" y="2132"/>
              <a:ext cx="150" cy="80"/>
            </a:xfrm>
            <a:custGeom>
              <a:avLst/>
              <a:gdLst/>
              <a:ahLst/>
              <a:cxnLst>
                <a:cxn ang="0">
                  <a:pos x="150" y="80"/>
                </a:cxn>
                <a:cxn ang="0">
                  <a:pos x="148" y="77"/>
                </a:cxn>
                <a:cxn ang="0">
                  <a:pos x="145" y="72"/>
                </a:cxn>
                <a:cxn ang="0">
                  <a:pos x="138" y="65"/>
                </a:cxn>
                <a:cxn ang="0">
                  <a:pos x="130" y="53"/>
                </a:cxn>
                <a:cxn ang="0">
                  <a:pos x="120" y="41"/>
                </a:cxn>
                <a:cxn ang="0">
                  <a:pos x="108" y="28"/>
                </a:cxn>
                <a:cxn ang="0">
                  <a:pos x="96" y="13"/>
                </a:cxn>
                <a:cxn ang="0">
                  <a:pos x="83" y="0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12" y="7"/>
                </a:cxn>
                <a:cxn ang="0">
                  <a:pos x="27" y="17"/>
                </a:cxn>
                <a:cxn ang="0">
                  <a:pos x="46" y="28"/>
                </a:cxn>
                <a:cxn ang="0">
                  <a:pos x="68" y="41"/>
                </a:cxn>
                <a:cxn ang="0">
                  <a:pos x="95" y="53"/>
                </a:cxn>
                <a:cxn ang="0">
                  <a:pos x="121" y="67"/>
                </a:cxn>
                <a:cxn ang="0">
                  <a:pos x="150" y="80"/>
                </a:cxn>
              </a:cxnLst>
              <a:rect l="0" t="0" r="r" b="b"/>
              <a:pathLst>
                <a:path w="150" h="80">
                  <a:moveTo>
                    <a:pt x="150" y="80"/>
                  </a:moveTo>
                  <a:lnTo>
                    <a:pt x="148" y="77"/>
                  </a:lnTo>
                  <a:lnTo>
                    <a:pt x="145" y="72"/>
                  </a:lnTo>
                  <a:lnTo>
                    <a:pt x="138" y="65"/>
                  </a:lnTo>
                  <a:lnTo>
                    <a:pt x="130" y="53"/>
                  </a:lnTo>
                  <a:lnTo>
                    <a:pt x="120" y="41"/>
                  </a:lnTo>
                  <a:lnTo>
                    <a:pt x="108" y="28"/>
                  </a:lnTo>
                  <a:lnTo>
                    <a:pt x="96" y="13"/>
                  </a:lnTo>
                  <a:lnTo>
                    <a:pt x="83" y="0"/>
                  </a:lnTo>
                  <a:lnTo>
                    <a:pt x="0" y="0"/>
                  </a:lnTo>
                  <a:lnTo>
                    <a:pt x="3" y="2"/>
                  </a:lnTo>
                  <a:lnTo>
                    <a:pt x="12" y="7"/>
                  </a:lnTo>
                  <a:lnTo>
                    <a:pt x="27" y="17"/>
                  </a:lnTo>
                  <a:lnTo>
                    <a:pt x="46" y="28"/>
                  </a:lnTo>
                  <a:lnTo>
                    <a:pt x="68" y="41"/>
                  </a:lnTo>
                  <a:lnTo>
                    <a:pt x="95" y="53"/>
                  </a:lnTo>
                  <a:lnTo>
                    <a:pt x="121" y="67"/>
                  </a:lnTo>
                  <a:lnTo>
                    <a:pt x="150" y="8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52" name="Freeform 360"/>
            <p:cNvSpPr>
              <a:spLocks/>
            </p:cNvSpPr>
            <p:nvPr/>
          </p:nvSpPr>
          <p:spPr bwMode="auto">
            <a:xfrm>
              <a:off x="463" y="2058"/>
              <a:ext cx="133" cy="39"/>
            </a:xfrm>
            <a:custGeom>
              <a:avLst/>
              <a:gdLst/>
              <a:ahLst/>
              <a:cxnLst>
                <a:cxn ang="0">
                  <a:pos x="133" y="39"/>
                </a:cxn>
                <a:cxn ang="0">
                  <a:pos x="104" y="0"/>
                </a:cxn>
                <a:cxn ang="0">
                  <a:pos x="0" y="4"/>
                </a:cxn>
                <a:cxn ang="0">
                  <a:pos x="1" y="5"/>
                </a:cxn>
                <a:cxn ang="0">
                  <a:pos x="8" y="10"/>
                </a:cxn>
                <a:cxn ang="0">
                  <a:pos x="18" y="20"/>
                </a:cxn>
                <a:cxn ang="0">
                  <a:pos x="35" y="35"/>
                </a:cxn>
                <a:cxn ang="0">
                  <a:pos x="133" y="39"/>
                </a:cxn>
              </a:cxnLst>
              <a:rect l="0" t="0" r="r" b="b"/>
              <a:pathLst>
                <a:path w="133" h="39">
                  <a:moveTo>
                    <a:pt x="133" y="39"/>
                  </a:moveTo>
                  <a:lnTo>
                    <a:pt x="104" y="0"/>
                  </a:lnTo>
                  <a:lnTo>
                    <a:pt x="0" y="4"/>
                  </a:lnTo>
                  <a:lnTo>
                    <a:pt x="1" y="5"/>
                  </a:lnTo>
                  <a:lnTo>
                    <a:pt x="8" y="10"/>
                  </a:lnTo>
                  <a:lnTo>
                    <a:pt x="18" y="20"/>
                  </a:lnTo>
                  <a:lnTo>
                    <a:pt x="35" y="35"/>
                  </a:lnTo>
                  <a:lnTo>
                    <a:pt x="133" y="39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53" name="Freeform 361"/>
            <p:cNvSpPr>
              <a:spLocks/>
            </p:cNvSpPr>
            <p:nvPr/>
          </p:nvSpPr>
          <p:spPr bwMode="auto">
            <a:xfrm>
              <a:off x="441" y="1999"/>
              <a:ext cx="106" cy="31"/>
            </a:xfrm>
            <a:custGeom>
              <a:avLst/>
              <a:gdLst/>
              <a:ahLst/>
              <a:cxnLst>
                <a:cxn ang="0">
                  <a:pos x="106" y="31"/>
                </a:cxn>
                <a:cxn ang="0">
                  <a:pos x="77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6"/>
                </a:cxn>
                <a:cxn ang="0">
                  <a:pos x="3" y="15"/>
                </a:cxn>
                <a:cxn ang="0">
                  <a:pos x="12" y="28"/>
                </a:cxn>
                <a:cxn ang="0">
                  <a:pos x="106" y="31"/>
                </a:cxn>
              </a:cxnLst>
              <a:rect l="0" t="0" r="r" b="b"/>
              <a:pathLst>
                <a:path w="106" h="31">
                  <a:moveTo>
                    <a:pt x="106" y="31"/>
                  </a:moveTo>
                  <a:lnTo>
                    <a:pt x="77" y="0"/>
                  </a:lnTo>
                  <a:lnTo>
                    <a:pt x="1" y="0"/>
                  </a:lnTo>
                  <a:lnTo>
                    <a:pt x="0" y="1"/>
                  </a:lnTo>
                  <a:lnTo>
                    <a:pt x="0" y="6"/>
                  </a:lnTo>
                  <a:lnTo>
                    <a:pt x="3" y="15"/>
                  </a:lnTo>
                  <a:lnTo>
                    <a:pt x="12" y="28"/>
                  </a:lnTo>
                  <a:lnTo>
                    <a:pt x="106" y="31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54" name="Freeform 362"/>
            <p:cNvSpPr>
              <a:spLocks/>
            </p:cNvSpPr>
            <p:nvPr/>
          </p:nvSpPr>
          <p:spPr bwMode="auto">
            <a:xfrm>
              <a:off x="494" y="1927"/>
              <a:ext cx="90" cy="90"/>
            </a:xfrm>
            <a:custGeom>
              <a:avLst/>
              <a:gdLst/>
              <a:ahLst/>
              <a:cxnLst>
                <a:cxn ang="0">
                  <a:pos x="18" y="24"/>
                </a:cxn>
                <a:cxn ang="0">
                  <a:pos x="0" y="0"/>
                </a:cxn>
                <a:cxn ang="0">
                  <a:pos x="59" y="27"/>
                </a:cxn>
                <a:cxn ang="0">
                  <a:pos x="64" y="32"/>
                </a:cxn>
                <a:cxn ang="0">
                  <a:pos x="75" y="45"/>
                </a:cxn>
                <a:cxn ang="0">
                  <a:pos x="85" y="65"/>
                </a:cxn>
                <a:cxn ang="0">
                  <a:pos x="90" y="90"/>
                </a:cxn>
                <a:cxn ang="0">
                  <a:pos x="18" y="24"/>
                </a:cxn>
              </a:cxnLst>
              <a:rect l="0" t="0" r="r" b="b"/>
              <a:pathLst>
                <a:path w="90" h="90">
                  <a:moveTo>
                    <a:pt x="18" y="24"/>
                  </a:moveTo>
                  <a:lnTo>
                    <a:pt x="0" y="0"/>
                  </a:lnTo>
                  <a:lnTo>
                    <a:pt x="59" y="27"/>
                  </a:lnTo>
                  <a:lnTo>
                    <a:pt x="64" y="32"/>
                  </a:lnTo>
                  <a:lnTo>
                    <a:pt x="75" y="45"/>
                  </a:lnTo>
                  <a:lnTo>
                    <a:pt x="85" y="65"/>
                  </a:lnTo>
                  <a:lnTo>
                    <a:pt x="90" y="90"/>
                  </a:lnTo>
                  <a:lnTo>
                    <a:pt x="18" y="24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55" name="Freeform 363"/>
            <p:cNvSpPr>
              <a:spLocks/>
            </p:cNvSpPr>
            <p:nvPr/>
          </p:nvSpPr>
          <p:spPr bwMode="auto">
            <a:xfrm>
              <a:off x="592" y="2010"/>
              <a:ext cx="59" cy="94"/>
            </a:xfrm>
            <a:custGeom>
              <a:avLst/>
              <a:gdLst/>
              <a:ahLst/>
              <a:cxnLst>
                <a:cxn ang="0">
                  <a:pos x="0" y="28"/>
                </a:cxn>
                <a:cxn ang="0">
                  <a:pos x="14" y="0"/>
                </a:cxn>
                <a:cxn ang="0">
                  <a:pos x="15" y="2"/>
                </a:cxn>
                <a:cxn ang="0">
                  <a:pos x="19" y="3"/>
                </a:cxn>
                <a:cxn ang="0">
                  <a:pos x="24" y="8"/>
                </a:cxn>
                <a:cxn ang="0">
                  <a:pos x="30" y="13"/>
                </a:cxn>
                <a:cxn ang="0">
                  <a:pos x="36" y="22"/>
                </a:cxn>
                <a:cxn ang="0">
                  <a:pos x="44" y="33"/>
                </a:cxn>
                <a:cxn ang="0">
                  <a:pos x="51" y="47"/>
                </a:cxn>
                <a:cxn ang="0">
                  <a:pos x="59" y="63"/>
                </a:cxn>
                <a:cxn ang="0">
                  <a:pos x="49" y="94"/>
                </a:cxn>
                <a:cxn ang="0">
                  <a:pos x="47" y="92"/>
                </a:cxn>
                <a:cxn ang="0">
                  <a:pos x="44" y="85"/>
                </a:cxn>
                <a:cxn ang="0">
                  <a:pos x="37" y="77"/>
                </a:cxn>
                <a:cxn ang="0">
                  <a:pos x="31" y="67"/>
                </a:cxn>
                <a:cxn ang="0">
                  <a:pos x="22" y="55"/>
                </a:cxn>
                <a:cxn ang="0">
                  <a:pos x="15" y="44"/>
                </a:cxn>
                <a:cxn ang="0">
                  <a:pos x="7" y="34"/>
                </a:cxn>
                <a:cxn ang="0">
                  <a:pos x="0" y="28"/>
                </a:cxn>
              </a:cxnLst>
              <a:rect l="0" t="0" r="r" b="b"/>
              <a:pathLst>
                <a:path w="59" h="94">
                  <a:moveTo>
                    <a:pt x="0" y="28"/>
                  </a:moveTo>
                  <a:lnTo>
                    <a:pt x="14" y="0"/>
                  </a:lnTo>
                  <a:lnTo>
                    <a:pt x="15" y="2"/>
                  </a:lnTo>
                  <a:lnTo>
                    <a:pt x="19" y="3"/>
                  </a:lnTo>
                  <a:lnTo>
                    <a:pt x="24" y="8"/>
                  </a:lnTo>
                  <a:lnTo>
                    <a:pt x="30" y="13"/>
                  </a:lnTo>
                  <a:lnTo>
                    <a:pt x="36" y="22"/>
                  </a:lnTo>
                  <a:lnTo>
                    <a:pt x="44" y="33"/>
                  </a:lnTo>
                  <a:lnTo>
                    <a:pt x="51" y="47"/>
                  </a:lnTo>
                  <a:lnTo>
                    <a:pt x="59" y="63"/>
                  </a:lnTo>
                  <a:lnTo>
                    <a:pt x="49" y="94"/>
                  </a:lnTo>
                  <a:lnTo>
                    <a:pt x="47" y="92"/>
                  </a:lnTo>
                  <a:lnTo>
                    <a:pt x="44" y="85"/>
                  </a:lnTo>
                  <a:lnTo>
                    <a:pt x="37" y="77"/>
                  </a:lnTo>
                  <a:lnTo>
                    <a:pt x="31" y="67"/>
                  </a:lnTo>
                  <a:lnTo>
                    <a:pt x="22" y="55"/>
                  </a:lnTo>
                  <a:lnTo>
                    <a:pt x="15" y="44"/>
                  </a:lnTo>
                  <a:lnTo>
                    <a:pt x="7" y="34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56" name="Freeform 364"/>
            <p:cNvSpPr>
              <a:spLocks/>
            </p:cNvSpPr>
            <p:nvPr/>
          </p:nvSpPr>
          <p:spPr bwMode="auto">
            <a:xfrm>
              <a:off x="661" y="2100"/>
              <a:ext cx="28" cy="69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7" y="0"/>
                </a:cxn>
                <a:cxn ang="0">
                  <a:pos x="28" y="69"/>
                </a:cxn>
                <a:cxn ang="0">
                  <a:pos x="0" y="24"/>
                </a:cxn>
              </a:cxnLst>
              <a:rect l="0" t="0" r="r" b="b"/>
              <a:pathLst>
                <a:path w="28" h="69">
                  <a:moveTo>
                    <a:pt x="0" y="24"/>
                  </a:moveTo>
                  <a:lnTo>
                    <a:pt x="7" y="0"/>
                  </a:lnTo>
                  <a:lnTo>
                    <a:pt x="28" y="69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57" name="Freeform 365"/>
            <p:cNvSpPr>
              <a:spLocks/>
            </p:cNvSpPr>
            <p:nvPr/>
          </p:nvSpPr>
          <p:spPr bwMode="auto">
            <a:xfrm>
              <a:off x="789" y="2120"/>
              <a:ext cx="39" cy="78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18" y="5"/>
                </a:cxn>
                <a:cxn ang="0">
                  <a:pos x="25" y="22"/>
                </a:cxn>
                <a:cxn ang="0">
                  <a:pos x="34" y="47"/>
                </a:cxn>
                <a:cxn ang="0">
                  <a:pos x="39" y="78"/>
                </a:cxn>
                <a:cxn ang="0">
                  <a:pos x="0" y="70"/>
                </a:cxn>
                <a:cxn ang="0">
                  <a:pos x="0" y="63"/>
                </a:cxn>
                <a:cxn ang="0">
                  <a:pos x="0" y="44"/>
                </a:cxn>
                <a:cxn ang="0">
                  <a:pos x="4" y="22"/>
                </a:cxn>
                <a:cxn ang="0">
                  <a:pos x="14" y="0"/>
                </a:cxn>
              </a:cxnLst>
              <a:rect l="0" t="0" r="r" b="b"/>
              <a:pathLst>
                <a:path w="39" h="78">
                  <a:moveTo>
                    <a:pt x="14" y="0"/>
                  </a:moveTo>
                  <a:lnTo>
                    <a:pt x="18" y="5"/>
                  </a:lnTo>
                  <a:lnTo>
                    <a:pt x="25" y="22"/>
                  </a:lnTo>
                  <a:lnTo>
                    <a:pt x="34" y="47"/>
                  </a:lnTo>
                  <a:lnTo>
                    <a:pt x="39" y="78"/>
                  </a:lnTo>
                  <a:lnTo>
                    <a:pt x="0" y="70"/>
                  </a:lnTo>
                  <a:lnTo>
                    <a:pt x="0" y="63"/>
                  </a:lnTo>
                  <a:lnTo>
                    <a:pt x="0" y="44"/>
                  </a:lnTo>
                  <a:lnTo>
                    <a:pt x="4" y="22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58" name="Freeform 366"/>
            <p:cNvSpPr>
              <a:spLocks/>
            </p:cNvSpPr>
            <p:nvPr/>
          </p:nvSpPr>
          <p:spPr bwMode="auto">
            <a:xfrm>
              <a:off x="786" y="2214"/>
              <a:ext cx="60" cy="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8" y="18"/>
                </a:cxn>
                <a:cxn ang="0">
                  <a:pos x="60" y="98"/>
                </a:cxn>
                <a:cxn ang="0">
                  <a:pos x="58" y="98"/>
                </a:cxn>
                <a:cxn ang="0">
                  <a:pos x="53" y="95"/>
                </a:cxn>
                <a:cxn ang="0">
                  <a:pos x="47" y="90"/>
                </a:cxn>
                <a:cxn ang="0">
                  <a:pos x="40" y="81"/>
                </a:cxn>
                <a:cxn ang="0">
                  <a:pos x="30" y="69"/>
                </a:cxn>
                <a:cxn ang="0">
                  <a:pos x="20" y="53"/>
                </a:cxn>
                <a:cxn ang="0">
                  <a:pos x="10" y="29"/>
                </a:cxn>
                <a:cxn ang="0">
                  <a:pos x="0" y="0"/>
                </a:cxn>
              </a:cxnLst>
              <a:rect l="0" t="0" r="r" b="b"/>
              <a:pathLst>
                <a:path w="60" h="98">
                  <a:moveTo>
                    <a:pt x="0" y="0"/>
                  </a:moveTo>
                  <a:lnTo>
                    <a:pt x="48" y="18"/>
                  </a:lnTo>
                  <a:lnTo>
                    <a:pt x="60" y="98"/>
                  </a:lnTo>
                  <a:lnTo>
                    <a:pt x="58" y="98"/>
                  </a:lnTo>
                  <a:lnTo>
                    <a:pt x="53" y="95"/>
                  </a:lnTo>
                  <a:lnTo>
                    <a:pt x="47" y="90"/>
                  </a:lnTo>
                  <a:lnTo>
                    <a:pt x="40" y="81"/>
                  </a:lnTo>
                  <a:lnTo>
                    <a:pt x="30" y="69"/>
                  </a:lnTo>
                  <a:lnTo>
                    <a:pt x="20" y="53"/>
                  </a:lnTo>
                  <a:lnTo>
                    <a:pt x="10" y="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59" name="Freeform 367"/>
            <p:cNvSpPr>
              <a:spLocks/>
            </p:cNvSpPr>
            <p:nvPr/>
          </p:nvSpPr>
          <p:spPr bwMode="auto">
            <a:xfrm>
              <a:off x="873" y="2198"/>
              <a:ext cx="55" cy="121"/>
            </a:xfrm>
            <a:custGeom>
              <a:avLst/>
              <a:gdLst/>
              <a:ahLst/>
              <a:cxnLst>
                <a:cxn ang="0">
                  <a:pos x="0" y="121"/>
                </a:cxn>
                <a:cxn ang="0">
                  <a:pos x="0" y="34"/>
                </a:cxn>
                <a:cxn ang="0">
                  <a:pos x="55" y="0"/>
                </a:cxn>
                <a:cxn ang="0">
                  <a:pos x="53" y="4"/>
                </a:cxn>
                <a:cxn ang="0">
                  <a:pos x="46" y="15"/>
                </a:cxn>
                <a:cxn ang="0">
                  <a:pos x="38" y="30"/>
                </a:cxn>
                <a:cxn ang="0">
                  <a:pos x="28" y="49"/>
                </a:cxn>
                <a:cxn ang="0">
                  <a:pos x="18" y="69"/>
                </a:cxn>
                <a:cxn ang="0">
                  <a:pos x="9" y="89"/>
                </a:cxn>
                <a:cxn ang="0">
                  <a:pos x="3" y="107"/>
                </a:cxn>
                <a:cxn ang="0">
                  <a:pos x="0" y="121"/>
                </a:cxn>
              </a:cxnLst>
              <a:rect l="0" t="0" r="r" b="b"/>
              <a:pathLst>
                <a:path w="55" h="121">
                  <a:moveTo>
                    <a:pt x="0" y="121"/>
                  </a:moveTo>
                  <a:lnTo>
                    <a:pt x="0" y="34"/>
                  </a:lnTo>
                  <a:lnTo>
                    <a:pt x="55" y="0"/>
                  </a:lnTo>
                  <a:lnTo>
                    <a:pt x="53" y="4"/>
                  </a:lnTo>
                  <a:lnTo>
                    <a:pt x="46" y="15"/>
                  </a:lnTo>
                  <a:lnTo>
                    <a:pt x="38" y="30"/>
                  </a:lnTo>
                  <a:lnTo>
                    <a:pt x="28" y="49"/>
                  </a:lnTo>
                  <a:lnTo>
                    <a:pt x="18" y="69"/>
                  </a:lnTo>
                  <a:lnTo>
                    <a:pt x="9" y="89"/>
                  </a:lnTo>
                  <a:lnTo>
                    <a:pt x="3" y="107"/>
                  </a:lnTo>
                  <a:lnTo>
                    <a:pt x="0" y="121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60" name="Freeform 368"/>
            <p:cNvSpPr>
              <a:spLocks/>
            </p:cNvSpPr>
            <p:nvPr/>
          </p:nvSpPr>
          <p:spPr bwMode="auto">
            <a:xfrm>
              <a:off x="842" y="2135"/>
              <a:ext cx="55" cy="73"/>
            </a:xfrm>
            <a:custGeom>
              <a:avLst/>
              <a:gdLst/>
              <a:ahLst/>
              <a:cxnLst>
                <a:cxn ang="0">
                  <a:pos x="20" y="73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7" y="5"/>
                </a:cxn>
                <a:cxn ang="0">
                  <a:pos x="15" y="10"/>
                </a:cxn>
                <a:cxn ang="0">
                  <a:pos x="24" y="18"/>
                </a:cxn>
                <a:cxn ang="0">
                  <a:pos x="34" y="25"/>
                </a:cxn>
                <a:cxn ang="0">
                  <a:pos x="42" y="33"/>
                </a:cxn>
                <a:cxn ang="0">
                  <a:pos x="50" y="39"/>
                </a:cxn>
                <a:cxn ang="0">
                  <a:pos x="55" y="45"/>
                </a:cxn>
                <a:cxn ang="0">
                  <a:pos x="20" y="73"/>
                </a:cxn>
              </a:cxnLst>
              <a:rect l="0" t="0" r="r" b="b"/>
              <a:pathLst>
                <a:path w="55" h="73">
                  <a:moveTo>
                    <a:pt x="20" y="73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7" y="5"/>
                  </a:lnTo>
                  <a:lnTo>
                    <a:pt x="15" y="10"/>
                  </a:lnTo>
                  <a:lnTo>
                    <a:pt x="24" y="18"/>
                  </a:lnTo>
                  <a:lnTo>
                    <a:pt x="34" y="25"/>
                  </a:lnTo>
                  <a:lnTo>
                    <a:pt x="42" y="33"/>
                  </a:lnTo>
                  <a:lnTo>
                    <a:pt x="50" y="39"/>
                  </a:lnTo>
                  <a:lnTo>
                    <a:pt x="55" y="45"/>
                  </a:lnTo>
                  <a:lnTo>
                    <a:pt x="20" y="73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61" name="Freeform 369"/>
            <p:cNvSpPr>
              <a:spLocks/>
            </p:cNvSpPr>
            <p:nvPr/>
          </p:nvSpPr>
          <p:spPr bwMode="auto">
            <a:xfrm>
              <a:off x="433" y="1933"/>
              <a:ext cx="65" cy="49"/>
            </a:xfrm>
            <a:custGeom>
              <a:avLst/>
              <a:gdLst/>
              <a:ahLst/>
              <a:cxnLst>
                <a:cxn ang="0">
                  <a:pos x="65" y="42"/>
                </a:cxn>
                <a:cxn ang="0">
                  <a:pos x="64" y="41"/>
                </a:cxn>
                <a:cxn ang="0">
                  <a:pos x="60" y="37"/>
                </a:cxn>
                <a:cxn ang="0">
                  <a:pos x="55" y="33"/>
                </a:cxn>
                <a:cxn ang="0">
                  <a:pos x="48" y="25"/>
                </a:cxn>
                <a:cxn ang="0">
                  <a:pos x="39" y="19"/>
                </a:cxn>
                <a:cxn ang="0">
                  <a:pos x="30" y="11"/>
                </a:cxn>
                <a:cxn ang="0">
                  <a:pos x="20" y="5"/>
                </a:cxn>
                <a:cxn ang="0">
                  <a:pos x="9" y="0"/>
                </a:cxn>
                <a:cxn ang="0">
                  <a:pos x="6" y="5"/>
                </a:cxn>
                <a:cxn ang="0">
                  <a:pos x="3" y="16"/>
                </a:cxn>
                <a:cxn ang="0">
                  <a:pos x="0" y="33"/>
                </a:cxn>
                <a:cxn ang="0">
                  <a:pos x="6" y="49"/>
                </a:cxn>
                <a:cxn ang="0">
                  <a:pos x="65" y="42"/>
                </a:cxn>
              </a:cxnLst>
              <a:rect l="0" t="0" r="r" b="b"/>
              <a:pathLst>
                <a:path w="65" h="49">
                  <a:moveTo>
                    <a:pt x="65" y="42"/>
                  </a:moveTo>
                  <a:lnTo>
                    <a:pt x="64" y="41"/>
                  </a:lnTo>
                  <a:lnTo>
                    <a:pt x="60" y="37"/>
                  </a:lnTo>
                  <a:lnTo>
                    <a:pt x="55" y="33"/>
                  </a:lnTo>
                  <a:lnTo>
                    <a:pt x="48" y="25"/>
                  </a:lnTo>
                  <a:lnTo>
                    <a:pt x="39" y="19"/>
                  </a:lnTo>
                  <a:lnTo>
                    <a:pt x="30" y="11"/>
                  </a:lnTo>
                  <a:lnTo>
                    <a:pt x="20" y="5"/>
                  </a:lnTo>
                  <a:lnTo>
                    <a:pt x="9" y="0"/>
                  </a:lnTo>
                  <a:lnTo>
                    <a:pt x="6" y="5"/>
                  </a:lnTo>
                  <a:lnTo>
                    <a:pt x="3" y="16"/>
                  </a:lnTo>
                  <a:lnTo>
                    <a:pt x="0" y="33"/>
                  </a:lnTo>
                  <a:lnTo>
                    <a:pt x="6" y="49"/>
                  </a:lnTo>
                  <a:lnTo>
                    <a:pt x="65" y="42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62" name="Freeform 370"/>
            <p:cNvSpPr>
              <a:spLocks/>
            </p:cNvSpPr>
            <p:nvPr/>
          </p:nvSpPr>
          <p:spPr bwMode="auto">
            <a:xfrm>
              <a:off x="789" y="1486"/>
              <a:ext cx="1020" cy="694"/>
            </a:xfrm>
            <a:custGeom>
              <a:avLst/>
              <a:gdLst/>
              <a:ahLst/>
              <a:cxnLst>
                <a:cxn ang="0">
                  <a:pos x="474" y="677"/>
                </a:cxn>
                <a:cxn ang="0">
                  <a:pos x="514" y="688"/>
                </a:cxn>
                <a:cxn ang="0">
                  <a:pos x="569" y="694"/>
                </a:cxn>
                <a:cxn ang="0">
                  <a:pos x="603" y="689"/>
                </a:cxn>
                <a:cxn ang="0">
                  <a:pos x="682" y="671"/>
                </a:cxn>
                <a:cxn ang="0">
                  <a:pos x="747" y="643"/>
                </a:cxn>
                <a:cxn ang="0">
                  <a:pos x="794" y="606"/>
                </a:cxn>
                <a:cxn ang="0">
                  <a:pos x="868" y="529"/>
                </a:cxn>
                <a:cxn ang="0">
                  <a:pos x="1015" y="226"/>
                </a:cxn>
                <a:cxn ang="0">
                  <a:pos x="953" y="230"/>
                </a:cxn>
                <a:cxn ang="0">
                  <a:pos x="857" y="245"/>
                </a:cxn>
                <a:cxn ang="0">
                  <a:pos x="810" y="257"/>
                </a:cxn>
                <a:cxn ang="0">
                  <a:pos x="749" y="280"/>
                </a:cxn>
                <a:cxn ang="0">
                  <a:pos x="677" y="322"/>
                </a:cxn>
                <a:cxn ang="0">
                  <a:pos x="658" y="338"/>
                </a:cxn>
                <a:cxn ang="0">
                  <a:pos x="622" y="372"/>
                </a:cxn>
                <a:cxn ang="0">
                  <a:pos x="602" y="378"/>
                </a:cxn>
                <a:cxn ang="0">
                  <a:pos x="579" y="228"/>
                </a:cxn>
                <a:cxn ang="0">
                  <a:pos x="568" y="181"/>
                </a:cxn>
                <a:cxn ang="0">
                  <a:pos x="525" y="75"/>
                </a:cxn>
                <a:cxn ang="0">
                  <a:pos x="473" y="2"/>
                </a:cxn>
                <a:cxn ang="0">
                  <a:pos x="443" y="30"/>
                </a:cxn>
                <a:cxn ang="0">
                  <a:pos x="403" y="88"/>
                </a:cxn>
                <a:cxn ang="0">
                  <a:pos x="385" y="135"/>
                </a:cxn>
                <a:cxn ang="0">
                  <a:pos x="358" y="211"/>
                </a:cxn>
                <a:cxn ang="0">
                  <a:pos x="338" y="291"/>
                </a:cxn>
                <a:cxn ang="0">
                  <a:pos x="325" y="350"/>
                </a:cxn>
                <a:cxn ang="0">
                  <a:pos x="312" y="378"/>
                </a:cxn>
                <a:cxn ang="0">
                  <a:pos x="292" y="338"/>
                </a:cxn>
                <a:cxn ang="0">
                  <a:pos x="260" y="287"/>
                </a:cxn>
                <a:cxn ang="0">
                  <a:pos x="237" y="263"/>
                </a:cxn>
                <a:cxn ang="0">
                  <a:pos x="183" y="220"/>
                </a:cxn>
                <a:cxn ang="0">
                  <a:pos x="119" y="183"/>
                </a:cxn>
                <a:cxn ang="0">
                  <a:pos x="0" y="300"/>
                </a:cxn>
                <a:cxn ang="0">
                  <a:pos x="8" y="367"/>
                </a:cxn>
                <a:cxn ang="0">
                  <a:pos x="32" y="466"/>
                </a:cxn>
                <a:cxn ang="0">
                  <a:pos x="58" y="514"/>
                </a:cxn>
                <a:cxn ang="0">
                  <a:pos x="117" y="588"/>
                </a:cxn>
                <a:cxn ang="0">
                  <a:pos x="205" y="659"/>
                </a:cxn>
                <a:cxn ang="0">
                  <a:pos x="217" y="662"/>
                </a:cxn>
                <a:cxn ang="0">
                  <a:pos x="247" y="667"/>
                </a:cxn>
                <a:cxn ang="0">
                  <a:pos x="289" y="673"/>
                </a:cxn>
                <a:cxn ang="0">
                  <a:pos x="338" y="676"/>
                </a:cxn>
                <a:cxn ang="0">
                  <a:pos x="389" y="672"/>
                </a:cxn>
                <a:cxn ang="0">
                  <a:pos x="410" y="667"/>
                </a:cxn>
                <a:cxn ang="0">
                  <a:pos x="432" y="664"/>
                </a:cxn>
                <a:cxn ang="0">
                  <a:pos x="464" y="673"/>
                </a:cxn>
              </a:cxnLst>
              <a:rect l="0" t="0" r="r" b="b"/>
              <a:pathLst>
                <a:path w="1020" h="694">
                  <a:moveTo>
                    <a:pt x="464" y="673"/>
                  </a:moveTo>
                  <a:lnTo>
                    <a:pt x="467" y="674"/>
                  </a:lnTo>
                  <a:lnTo>
                    <a:pt x="474" y="677"/>
                  </a:lnTo>
                  <a:lnTo>
                    <a:pt x="484" y="681"/>
                  </a:lnTo>
                  <a:lnTo>
                    <a:pt x="498" y="684"/>
                  </a:lnTo>
                  <a:lnTo>
                    <a:pt x="514" y="688"/>
                  </a:lnTo>
                  <a:lnTo>
                    <a:pt x="532" y="692"/>
                  </a:lnTo>
                  <a:lnTo>
                    <a:pt x="550" y="694"/>
                  </a:lnTo>
                  <a:lnTo>
                    <a:pt x="569" y="694"/>
                  </a:lnTo>
                  <a:lnTo>
                    <a:pt x="573" y="694"/>
                  </a:lnTo>
                  <a:lnTo>
                    <a:pt x="585" y="693"/>
                  </a:lnTo>
                  <a:lnTo>
                    <a:pt x="603" y="689"/>
                  </a:lnTo>
                  <a:lnTo>
                    <a:pt x="627" y="686"/>
                  </a:lnTo>
                  <a:lnTo>
                    <a:pt x="653" y="679"/>
                  </a:lnTo>
                  <a:lnTo>
                    <a:pt x="682" y="671"/>
                  </a:lnTo>
                  <a:lnTo>
                    <a:pt x="713" y="659"/>
                  </a:lnTo>
                  <a:lnTo>
                    <a:pt x="743" y="646"/>
                  </a:lnTo>
                  <a:lnTo>
                    <a:pt x="747" y="643"/>
                  </a:lnTo>
                  <a:lnTo>
                    <a:pt x="758" y="636"/>
                  </a:lnTo>
                  <a:lnTo>
                    <a:pt x="773" y="623"/>
                  </a:lnTo>
                  <a:lnTo>
                    <a:pt x="794" y="606"/>
                  </a:lnTo>
                  <a:lnTo>
                    <a:pt x="817" y="584"/>
                  </a:lnTo>
                  <a:lnTo>
                    <a:pt x="842" y="558"/>
                  </a:lnTo>
                  <a:lnTo>
                    <a:pt x="868" y="529"/>
                  </a:lnTo>
                  <a:lnTo>
                    <a:pt x="892" y="496"/>
                  </a:lnTo>
                  <a:lnTo>
                    <a:pt x="1020" y="226"/>
                  </a:lnTo>
                  <a:lnTo>
                    <a:pt x="1015" y="226"/>
                  </a:lnTo>
                  <a:lnTo>
                    <a:pt x="1002" y="227"/>
                  </a:lnTo>
                  <a:lnTo>
                    <a:pt x="980" y="228"/>
                  </a:lnTo>
                  <a:lnTo>
                    <a:pt x="953" y="230"/>
                  </a:lnTo>
                  <a:lnTo>
                    <a:pt x="922" y="233"/>
                  </a:lnTo>
                  <a:lnTo>
                    <a:pt x="889" y="238"/>
                  </a:lnTo>
                  <a:lnTo>
                    <a:pt x="857" y="245"/>
                  </a:lnTo>
                  <a:lnTo>
                    <a:pt x="825" y="253"/>
                  </a:lnTo>
                  <a:lnTo>
                    <a:pt x="822" y="255"/>
                  </a:lnTo>
                  <a:lnTo>
                    <a:pt x="810" y="257"/>
                  </a:lnTo>
                  <a:lnTo>
                    <a:pt x="794" y="262"/>
                  </a:lnTo>
                  <a:lnTo>
                    <a:pt x="773" y="270"/>
                  </a:lnTo>
                  <a:lnTo>
                    <a:pt x="749" y="280"/>
                  </a:lnTo>
                  <a:lnTo>
                    <a:pt x="724" y="291"/>
                  </a:lnTo>
                  <a:lnTo>
                    <a:pt x="700" y="306"/>
                  </a:lnTo>
                  <a:lnTo>
                    <a:pt x="677" y="322"/>
                  </a:lnTo>
                  <a:lnTo>
                    <a:pt x="674" y="325"/>
                  </a:lnTo>
                  <a:lnTo>
                    <a:pt x="668" y="330"/>
                  </a:lnTo>
                  <a:lnTo>
                    <a:pt x="658" y="338"/>
                  </a:lnTo>
                  <a:lnTo>
                    <a:pt x="647" y="350"/>
                  </a:lnTo>
                  <a:lnTo>
                    <a:pt x="634" y="361"/>
                  </a:lnTo>
                  <a:lnTo>
                    <a:pt x="622" y="372"/>
                  </a:lnTo>
                  <a:lnTo>
                    <a:pt x="612" y="383"/>
                  </a:lnTo>
                  <a:lnTo>
                    <a:pt x="603" y="392"/>
                  </a:lnTo>
                  <a:lnTo>
                    <a:pt x="602" y="378"/>
                  </a:lnTo>
                  <a:lnTo>
                    <a:pt x="598" y="340"/>
                  </a:lnTo>
                  <a:lnTo>
                    <a:pt x="590" y="287"/>
                  </a:lnTo>
                  <a:lnTo>
                    <a:pt x="579" y="228"/>
                  </a:lnTo>
                  <a:lnTo>
                    <a:pt x="578" y="222"/>
                  </a:lnTo>
                  <a:lnTo>
                    <a:pt x="574" y="206"/>
                  </a:lnTo>
                  <a:lnTo>
                    <a:pt x="568" y="181"/>
                  </a:lnTo>
                  <a:lnTo>
                    <a:pt x="558" y="150"/>
                  </a:lnTo>
                  <a:lnTo>
                    <a:pt x="543" y="113"/>
                  </a:lnTo>
                  <a:lnTo>
                    <a:pt x="525" y="75"/>
                  </a:lnTo>
                  <a:lnTo>
                    <a:pt x="503" y="36"/>
                  </a:lnTo>
                  <a:lnTo>
                    <a:pt x="475" y="0"/>
                  </a:lnTo>
                  <a:lnTo>
                    <a:pt x="473" y="2"/>
                  </a:lnTo>
                  <a:lnTo>
                    <a:pt x="465" y="7"/>
                  </a:lnTo>
                  <a:lnTo>
                    <a:pt x="455" y="17"/>
                  </a:lnTo>
                  <a:lnTo>
                    <a:pt x="443" y="30"/>
                  </a:lnTo>
                  <a:lnTo>
                    <a:pt x="429" y="46"/>
                  </a:lnTo>
                  <a:lnTo>
                    <a:pt x="415" y="66"/>
                  </a:lnTo>
                  <a:lnTo>
                    <a:pt x="403" y="88"/>
                  </a:lnTo>
                  <a:lnTo>
                    <a:pt x="393" y="115"/>
                  </a:lnTo>
                  <a:lnTo>
                    <a:pt x="390" y="120"/>
                  </a:lnTo>
                  <a:lnTo>
                    <a:pt x="385" y="135"/>
                  </a:lnTo>
                  <a:lnTo>
                    <a:pt x="377" y="156"/>
                  </a:lnTo>
                  <a:lnTo>
                    <a:pt x="368" y="182"/>
                  </a:lnTo>
                  <a:lnTo>
                    <a:pt x="358" y="211"/>
                  </a:lnTo>
                  <a:lnTo>
                    <a:pt x="349" y="240"/>
                  </a:lnTo>
                  <a:lnTo>
                    <a:pt x="342" y="267"/>
                  </a:lnTo>
                  <a:lnTo>
                    <a:pt x="338" y="291"/>
                  </a:lnTo>
                  <a:lnTo>
                    <a:pt x="335" y="300"/>
                  </a:lnTo>
                  <a:lnTo>
                    <a:pt x="330" y="322"/>
                  </a:lnTo>
                  <a:lnTo>
                    <a:pt x="325" y="350"/>
                  </a:lnTo>
                  <a:lnTo>
                    <a:pt x="323" y="375"/>
                  </a:lnTo>
                  <a:lnTo>
                    <a:pt x="313" y="382"/>
                  </a:lnTo>
                  <a:lnTo>
                    <a:pt x="312" y="378"/>
                  </a:lnTo>
                  <a:lnTo>
                    <a:pt x="307" y="370"/>
                  </a:lnTo>
                  <a:lnTo>
                    <a:pt x="299" y="356"/>
                  </a:lnTo>
                  <a:lnTo>
                    <a:pt x="292" y="338"/>
                  </a:lnTo>
                  <a:lnTo>
                    <a:pt x="282" y="321"/>
                  </a:lnTo>
                  <a:lnTo>
                    <a:pt x="270" y="303"/>
                  </a:lnTo>
                  <a:lnTo>
                    <a:pt x="260" y="287"/>
                  </a:lnTo>
                  <a:lnTo>
                    <a:pt x="250" y="275"/>
                  </a:lnTo>
                  <a:lnTo>
                    <a:pt x="247" y="271"/>
                  </a:lnTo>
                  <a:lnTo>
                    <a:pt x="237" y="263"/>
                  </a:lnTo>
                  <a:lnTo>
                    <a:pt x="223" y="251"/>
                  </a:lnTo>
                  <a:lnTo>
                    <a:pt x="204" y="236"/>
                  </a:lnTo>
                  <a:lnTo>
                    <a:pt x="183" y="220"/>
                  </a:lnTo>
                  <a:lnTo>
                    <a:pt x="162" y="205"/>
                  </a:lnTo>
                  <a:lnTo>
                    <a:pt x="139" y="192"/>
                  </a:lnTo>
                  <a:lnTo>
                    <a:pt x="119" y="183"/>
                  </a:lnTo>
                  <a:lnTo>
                    <a:pt x="10" y="160"/>
                  </a:lnTo>
                  <a:lnTo>
                    <a:pt x="0" y="295"/>
                  </a:lnTo>
                  <a:lnTo>
                    <a:pt x="0" y="300"/>
                  </a:lnTo>
                  <a:lnTo>
                    <a:pt x="2" y="316"/>
                  </a:lnTo>
                  <a:lnTo>
                    <a:pt x="4" y="338"/>
                  </a:lnTo>
                  <a:lnTo>
                    <a:pt x="8" y="367"/>
                  </a:lnTo>
                  <a:lnTo>
                    <a:pt x="13" y="398"/>
                  </a:lnTo>
                  <a:lnTo>
                    <a:pt x="20" y="432"/>
                  </a:lnTo>
                  <a:lnTo>
                    <a:pt x="32" y="466"/>
                  </a:lnTo>
                  <a:lnTo>
                    <a:pt x="45" y="496"/>
                  </a:lnTo>
                  <a:lnTo>
                    <a:pt x="49" y="501"/>
                  </a:lnTo>
                  <a:lnTo>
                    <a:pt x="58" y="514"/>
                  </a:lnTo>
                  <a:lnTo>
                    <a:pt x="73" y="536"/>
                  </a:lnTo>
                  <a:lnTo>
                    <a:pt x="93" y="561"/>
                  </a:lnTo>
                  <a:lnTo>
                    <a:pt x="117" y="588"/>
                  </a:lnTo>
                  <a:lnTo>
                    <a:pt x="144" y="614"/>
                  </a:lnTo>
                  <a:lnTo>
                    <a:pt x="174" y="639"/>
                  </a:lnTo>
                  <a:lnTo>
                    <a:pt x="205" y="659"/>
                  </a:lnTo>
                  <a:lnTo>
                    <a:pt x="207" y="659"/>
                  </a:lnTo>
                  <a:lnTo>
                    <a:pt x="210" y="661"/>
                  </a:lnTo>
                  <a:lnTo>
                    <a:pt x="217" y="662"/>
                  </a:lnTo>
                  <a:lnTo>
                    <a:pt x="224" y="663"/>
                  </a:lnTo>
                  <a:lnTo>
                    <a:pt x="234" y="666"/>
                  </a:lnTo>
                  <a:lnTo>
                    <a:pt x="247" y="667"/>
                  </a:lnTo>
                  <a:lnTo>
                    <a:pt x="259" y="669"/>
                  </a:lnTo>
                  <a:lnTo>
                    <a:pt x="274" y="671"/>
                  </a:lnTo>
                  <a:lnTo>
                    <a:pt x="289" y="673"/>
                  </a:lnTo>
                  <a:lnTo>
                    <a:pt x="304" y="674"/>
                  </a:lnTo>
                  <a:lnTo>
                    <a:pt x="322" y="674"/>
                  </a:lnTo>
                  <a:lnTo>
                    <a:pt x="338" y="676"/>
                  </a:lnTo>
                  <a:lnTo>
                    <a:pt x="355" y="674"/>
                  </a:lnTo>
                  <a:lnTo>
                    <a:pt x="373" y="674"/>
                  </a:lnTo>
                  <a:lnTo>
                    <a:pt x="389" y="672"/>
                  </a:lnTo>
                  <a:lnTo>
                    <a:pt x="405" y="669"/>
                  </a:lnTo>
                  <a:lnTo>
                    <a:pt x="407" y="669"/>
                  </a:lnTo>
                  <a:lnTo>
                    <a:pt x="410" y="667"/>
                  </a:lnTo>
                  <a:lnTo>
                    <a:pt x="415" y="666"/>
                  </a:lnTo>
                  <a:lnTo>
                    <a:pt x="423" y="664"/>
                  </a:lnTo>
                  <a:lnTo>
                    <a:pt x="432" y="664"/>
                  </a:lnTo>
                  <a:lnTo>
                    <a:pt x="442" y="666"/>
                  </a:lnTo>
                  <a:lnTo>
                    <a:pt x="453" y="668"/>
                  </a:lnTo>
                  <a:lnTo>
                    <a:pt x="464" y="673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63" name="Freeform 371"/>
            <p:cNvSpPr>
              <a:spLocks/>
            </p:cNvSpPr>
            <p:nvPr/>
          </p:nvSpPr>
          <p:spPr bwMode="auto">
            <a:xfrm>
              <a:off x="868" y="1392"/>
              <a:ext cx="241" cy="330"/>
            </a:xfrm>
            <a:custGeom>
              <a:avLst/>
              <a:gdLst/>
              <a:ahLst/>
              <a:cxnLst>
                <a:cxn ang="0">
                  <a:pos x="241" y="330"/>
                </a:cxn>
                <a:cxn ang="0">
                  <a:pos x="238" y="209"/>
                </a:cxn>
                <a:cxn ang="0">
                  <a:pos x="238" y="205"/>
                </a:cxn>
                <a:cxn ang="0">
                  <a:pos x="236" y="194"/>
                </a:cxn>
                <a:cxn ang="0">
                  <a:pos x="234" y="179"/>
                </a:cxn>
                <a:cxn ang="0">
                  <a:pos x="230" y="159"/>
                </a:cxn>
                <a:cxn ang="0">
                  <a:pos x="225" y="137"/>
                </a:cxn>
                <a:cxn ang="0">
                  <a:pos x="218" y="114"/>
                </a:cxn>
                <a:cxn ang="0">
                  <a:pos x="206" y="92"/>
                </a:cxn>
                <a:cxn ang="0">
                  <a:pos x="193" y="72"/>
                </a:cxn>
                <a:cxn ang="0">
                  <a:pos x="191" y="70"/>
                </a:cxn>
                <a:cxn ang="0">
                  <a:pos x="185" y="65"/>
                </a:cxn>
                <a:cxn ang="0">
                  <a:pos x="176" y="57"/>
                </a:cxn>
                <a:cxn ang="0">
                  <a:pos x="165" y="47"/>
                </a:cxn>
                <a:cxn ang="0">
                  <a:pos x="149" y="37"/>
                </a:cxn>
                <a:cxn ang="0">
                  <a:pos x="131" y="27"/>
                </a:cxn>
                <a:cxn ang="0">
                  <a:pos x="109" y="17"/>
                </a:cxn>
                <a:cxn ang="0">
                  <a:pos x="85" y="10"/>
                </a:cxn>
                <a:cxn ang="0">
                  <a:pos x="9" y="0"/>
                </a:cxn>
                <a:cxn ang="0">
                  <a:pos x="1" y="97"/>
                </a:cxn>
                <a:cxn ang="0">
                  <a:pos x="0" y="109"/>
                </a:cxn>
                <a:cxn ang="0">
                  <a:pos x="1" y="136"/>
                </a:cxn>
                <a:cxn ang="0">
                  <a:pos x="8" y="171"/>
                </a:cxn>
                <a:cxn ang="0">
                  <a:pos x="23" y="205"/>
                </a:cxn>
                <a:cxn ang="0">
                  <a:pos x="25" y="206"/>
                </a:cxn>
                <a:cxn ang="0">
                  <a:pos x="30" y="211"/>
                </a:cxn>
                <a:cxn ang="0">
                  <a:pos x="39" y="219"/>
                </a:cxn>
                <a:cxn ang="0">
                  <a:pos x="51" y="229"/>
                </a:cxn>
                <a:cxn ang="0">
                  <a:pos x="66" y="240"/>
                </a:cxn>
                <a:cxn ang="0">
                  <a:pos x="84" y="252"/>
                </a:cxn>
                <a:cxn ang="0">
                  <a:pos x="104" y="265"/>
                </a:cxn>
                <a:cxn ang="0">
                  <a:pos x="126" y="277"/>
                </a:cxn>
                <a:cxn ang="0">
                  <a:pos x="129" y="279"/>
                </a:cxn>
                <a:cxn ang="0">
                  <a:pos x="138" y="282"/>
                </a:cxn>
                <a:cxn ang="0">
                  <a:pos x="150" y="289"/>
                </a:cxn>
                <a:cxn ang="0">
                  <a:pos x="165" y="296"/>
                </a:cxn>
                <a:cxn ang="0">
                  <a:pos x="184" y="304"/>
                </a:cxn>
                <a:cxn ang="0">
                  <a:pos x="203" y="312"/>
                </a:cxn>
                <a:cxn ang="0">
                  <a:pos x="223" y="321"/>
                </a:cxn>
                <a:cxn ang="0">
                  <a:pos x="241" y="330"/>
                </a:cxn>
              </a:cxnLst>
              <a:rect l="0" t="0" r="r" b="b"/>
              <a:pathLst>
                <a:path w="241" h="330">
                  <a:moveTo>
                    <a:pt x="241" y="330"/>
                  </a:moveTo>
                  <a:lnTo>
                    <a:pt x="238" y="209"/>
                  </a:lnTo>
                  <a:lnTo>
                    <a:pt x="238" y="205"/>
                  </a:lnTo>
                  <a:lnTo>
                    <a:pt x="236" y="194"/>
                  </a:lnTo>
                  <a:lnTo>
                    <a:pt x="234" y="179"/>
                  </a:lnTo>
                  <a:lnTo>
                    <a:pt x="230" y="159"/>
                  </a:lnTo>
                  <a:lnTo>
                    <a:pt x="225" y="137"/>
                  </a:lnTo>
                  <a:lnTo>
                    <a:pt x="218" y="114"/>
                  </a:lnTo>
                  <a:lnTo>
                    <a:pt x="206" y="92"/>
                  </a:lnTo>
                  <a:lnTo>
                    <a:pt x="193" y="72"/>
                  </a:lnTo>
                  <a:lnTo>
                    <a:pt x="191" y="70"/>
                  </a:lnTo>
                  <a:lnTo>
                    <a:pt x="185" y="65"/>
                  </a:lnTo>
                  <a:lnTo>
                    <a:pt x="176" y="57"/>
                  </a:lnTo>
                  <a:lnTo>
                    <a:pt x="165" y="47"/>
                  </a:lnTo>
                  <a:lnTo>
                    <a:pt x="149" y="37"/>
                  </a:lnTo>
                  <a:lnTo>
                    <a:pt x="131" y="27"/>
                  </a:lnTo>
                  <a:lnTo>
                    <a:pt x="109" y="17"/>
                  </a:lnTo>
                  <a:lnTo>
                    <a:pt x="85" y="10"/>
                  </a:lnTo>
                  <a:lnTo>
                    <a:pt x="9" y="0"/>
                  </a:lnTo>
                  <a:lnTo>
                    <a:pt x="1" y="97"/>
                  </a:lnTo>
                  <a:lnTo>
                    <a:pt x="0" y="109"/>
                  </a:lnTo>
                  <a:lnTo>
                    <a:pt x="1" y="136"/>
                  </a:lnTo>
                  <a:lnTo>
                    <a:pt x="8" y="171"/>
                  </a:lnTo>
                  <a:lnTo>
                    <a:pt x="23" y="205"/>
                  </a:lnTo>
                  <a:lnTo>
                    <a:pt x="25" y="206"/>
                  </a:lnTo>
                  <a:lnTo>
                    <a:pt x="30" y="211"/>
                  </a:lnTo>
                  <a:lnTo>
                    <a:pt x="39" y="219"/>
                  </a:lnTo>
                  <a:lnTo>
                    <a:pt x="51" y="229"/>
                  </a:lnTo>
                  <a:lnTo>
                    <a:pt x="66" y="240"/>
                  </a:lnTo>
                  <a:lnTo>
                    <a:pt x="84" y="252"/>
                  </a:lnTo>
                  <a:lnTo>
                    <a:pt x="104" y="265"/>
                  </a:lnTo>
                  <a:lnTo>
                    <a:pt x="126" y="277"/>
                  </a:lnTo>
                  <a:lnTo>
                    <a:pt x="129" y="279"/>
                  </a:lnTo>
                  <a:lnTo>
                    <a:pt x="138" y="282"/>
                  </a:lnTo>
                  <a:lnTo>
                    <a:pt x="150" y="289"/>
                  </a:lnTo>
                  <a:lnTo>
                    <a:pt x="165" y="296"/>
                  </a:lnTo>
                  <a:lnTo>
                    <a:pt x="184" y="304"/>
                  </a:lnTo>
                  <a:lnTo>
                    <a:pt x="203" y="312"/>
                  </a:lnTo>
                  <a:lnTo>
                    <a:pt x="223" y="321"/>
                  </a:lnTo>
                  <a:lnTo>
                    <a:pt x="241" y="33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64" name="Freeform 372"/>
            <p:cNvSpPr>
              <a:spLocks/>
            </p:cNvSpPr>
            <p:nvPr/>
          </p:nvSpPr>
          <p:spPr bwMode="auto">
            <a:xfrm>
              <a:off x="1399" y="1407"/>
              <a:ext cx="243" cy="329"/>
            </a:xfrm>
            <a:custGeom>
              <a:avLst/>
              <a:gdLst/>
              <a:ahLst/>
              <a:cxnLst>
                <a:cxn ang="0">
                  <a:pos x="4" y="329"/>
                </a:cxn>
                <a:cxn ang="0">
                  <a:pos x="8" y="329"/>
                </a:cxn>
                <a:cxn ang="0">
                  <a:pos x="19" y="327"/>
                </a:cxn>
                <a:cxn ang="0">
                  <a:pos x="34" y="326"/>
                </a:cxn>
                <a:cxn ang="0">
                  <a:pos x="54" y="324"/>
                </a:cxn>
                <a:cxn ang="0">
                  <a:pos x="75" y="319"/>
                </a:cxn>
                <a:cxn ang="0">
                  <a:pos x="97" y="311"/>
                </a:cxn>
                <a:cxn ang="0">
                  <a:pos x="117" y="301"/>
                </a:cxn>
                <a:cxn ang="0">
                  <a:pos x="133" y="287"/>
                </a:cxn>
                <a:cxn ang="0">
                  <a:pos x="135" y="285"/>
                </a:cxn>
                <a:cxn ang="0">
                  <a:pos x="140" y="277"/>
                </a:cxn>
                <a:cxn ang="0">
                  <a:pos x="149" y="266"/>
                </a:cxn>
                <a:cxn ang="0">
                  <a:pos x="159" y="250"/>
                </a:cxn>
                <a:cxn ang="0">
                  <a:pos x="170" y="231"/>
                </a:cxn>
                <a:cxn ang="0">
                  <a:pos x="182" y="210"/>
                </a:cxn>
                <a:cxn ang="0">
                  <a:pos x="193" y="185"/>
                </a:cxn>
                <a:cxn ang="0">
                  <a:pos x="202" y="159"/>
                </a:cxn>
                <a:cxn ang="0">
                  <a:pos x="203" y="154"/>
                </a:cxn>
                <a:cxn ang="0">
                  <a:pos x="208" y="139"/>
                </a:cxn>
                <a:cxn ang="0">
                  <a:pos x="214" y="119"/>
                </a:cxn>
                <a:cxn ang="0">
                  <a:pos x="223" y="94"/>
                </a:cxn>
                <a:cxn ang="0">
                  <a:pos x="230" y="67"/>
                </a:cxn>
                <a:cxn ang="0">
                  <a:pos x="237" y="41"/>
                </a:cxn>
                <a:cxn ang="0">
                  <a:pos x="242" y="19"/>
                </a:cxn>
                <a:cxn ang="0">
                  <a:pos x="243" y="2"/>
                </a:cxn>
                <a:cxn ang="0">
                  <a:pos x="240" y="2"/>
                </a:cxn>
                <a:cxn ang="0">
                  <a:pos x="233" y="1"/>
                </a:cxn>
                <a:cxn ang="0">
                  <a:pos x="220" y="0"/>
                </a:cxn>
                <a:cxn ang="0">
                  <a:pos x="205" y="0"/>
                </a:cxn>
                <a:cxn ang="0">
                  <a:pos x="189" y="0"/>
                </a:cxn>
                <a:cxn ang="0">
                  <a:pos x="170" y="2"/>
                </a:cxn>
                <a:cxn ang="0">
                  <a:pos x="152" y="6"/>
                </a:cxn>
                <a:cxn ang="0">
                  <a:pos x="133" y="12"/>
                </a:cxn>
                <a:cxn ang="0">
                  <a:pos x="129" y="14"/>
                </a:cxn>
                <a:cxn ang="0">
                  <a:pos x="122" y="19"/>
                </a:cxn>
                <a:cxn ang="0">
                  <a:pos x="108" y="26"/>
                </a:cxn>
                <a:cxn ang="0">
                  <a:pos x="94" y="35"/>
                </a:cxn>
                <a:cxn ang="0">
                  <a:pos x="78" y="46"/>
                </a:cxn>
                <a:cxn ang="0">
                  <a:pos x="62" y="60"/>
                </a:cxn>
                <a:cxn ang="0">
                  <a:pos x="49" y="74"/>
                </a:cxn>
                <a:cxn ang="0">
                  <a:pos x="39" y="89"/>
                </a:cxn>
                <a:cxn ang="0">
                  <a:pos x="38" y="91"/>
                </a:cxn>
                <a:cxn ang="0">
                  <a:pos x="33" y="100"/>
                </a:cxn>
                <a:cxn ang="0">
                  <a:pos x="25" y="112"/>
                </a:cxn>
                <a:cxn ang="0">
                  <a:pos x="18" y="130"/>
                </a:cxn>
                <a:cxn ang="0">
                  <a:pos x="10" y="151"/>
                </a:cxn>
                <a:cxn ang="0">
                  <a:pos x="5" y="177"/>
                </a:cxn>
                <a:cxn ang="0">
                  <a:pos x="0" y="206"/>
                </a:cxn>
                <a:cxn ang="0">
                  <a:pos x="0" y="239"/>
                </a:cxn>
                <a:cxn ang="0">
                  <a:pos x="4" y="329"/>
                </a:cxn>
              </a:cxnLst>
              <a:rect l="0" t="0" r="r" b="b"/>
              <a:pathLst>
                <a:path w="243" h="329">
                  <a:moveTo>
                    <a:pt x="4" y="329"/>
                  </a:moveTo>
                  <a:lnTo>
                    <a:pt x="8" y="329"/>
                  </a:lnTo>
                  <a:lnTo>
                    <a:pt x="19" y="327"/>
                  </a:lnTo>
                  <a:lnTo>
                    <a:pt x="34" y="326"/>
                  </a:lnTo>
                  <a:lnTo>
                    <a:pt x="54" y="324"/>
                  </a:lnTo>
                  <a:lnTo>
                    <a:pt x="75" y="319"/>
                  </a:lnTo>
                  <a:lnTo>
                    <a:pt x="97" y="311"/>
                  </a:lnTo>
                  <a:lnTo>
                    <a:pt x="117" y="301"/>
                  </a:lnTo>
                  <a:lnTo>
                    <a:pt x="133" y="287"/>
                  </a:lnTo>
                  <a:lnTo>
                    <a:pt x="135" y="285"/>
                  </a:lnTo>
                  <a:lnTo>
                    <a:pt x="140" y="277"/>
                  </a:lnTo>
                  <a:lnTo>
                    <a:pt x="149" y="266"/>
                  </a:lnTo>
                  <a:lnTo>
                    <a:pt x="159" y="250"/>
                  </a:lnTo>
                  <a:lnTo>
                    <a:pt x="170" y="231"/>
                  </a:lnTo>
                  <a:lnTo>
                    <a:pt x="182" y="210"/>
                  </a:lnTo>
                  <a:lnTo>
                    <a:pt x="193" y="185"/>
                  </a:lnTo>
                  <a:lnTo>
                    <a:pt x="202" y="159"/>
                  </a:lnTo>
                  <a:lnTo>
                    <a:pt x="203" y="154"/>
                  </a:lnTo>
                  <a:lnTo>
                    <a:pt x="208" y="139"/>
                  </a:lnTo>
                  <a:lnTo>
                    <a:pt x="214" y="119"/>
                  </a:lnTo>
                  <a:lnTo>
                    <a:pt x="223" y="94"/>
                  </a:lnTo>
                  <a:lnTo>
                    <a:pt x="230" y="67"/>
                  </a:lnTo>
                  <a:lnTo>
                    <a:pt x="237" y="41"/>
                  </a:lnTo>
                  <a:lnTo>
                    <a:pt x="242" y="19"/>
                  </a:lnTo>
                  <a:lnTo>
                    <a:pt x="243" y="2"/>
                  </a:lnTo>
                  <a:lnTo>
                    <a:pt x="240" y="2"/>
                  </a:lnTo>
                  <a:lnTo>
                    <a:pt x="233" y="1"/>
                  </a:lnTo>
                  <a:lnTo>
                    <a:pt x="220" y="0"/>
                  </a:lnTo>
                  <a:lnTo>
                    <a:pt x="205" y="0"/>
                  </a:lnTo>
                  <a:lnTo>
                    <a:pt x="189" y="0"/>
                  </a:lnTo>
                  <a:lnTo>
                    <a:pt x="170" y="2"/>
                  </a:lnTo>
                  <a:lnTo>
                    <a:pt x="152" y="6"/>
                  </a:lnTo>
                  <a:lnTo>
                    <a:pt x="133" y="12"/>
                  </a:lnTo>
                  <a:lnTo>
                    <a:pt x="129" y="14"/>
                  </a:lnTo>
                  <a:lnTo>
                    <a:pt x="122" y="19"/>
                  </a:lnTo>
                  <a:lnTo>
                    <a:pt x="108" y="26"/>
                  </a:lnTo>
                  <a:lnTo>
                    <a:pt x="94" y="35"/>
                  </a:lnTo>
                  <a:lnTo>
                    <a:pt x="78" y="46"/>
                  </a:lnTo>
                  <a:lnTo>
                    <a:pt x="62" y="60"/>
                  </a:lnTo>
                  <a:lnTo>
                    <a:pt x="49" y="74"/>
                  </a:lnTo>
                  <a:lnTo>
                    <a:pt x="39" y="89"/>
                  </a:lnTo>
                  <a:lnTo>
                    <a:pt x="38" y="91"/>
                  </a:lnTo>
                  <a:lnTo>
                    <a:pt x="33" y="100"/>
                  </a:lnTo>
                  <a:lnTo>
                    <a:pt x="25" y="112"/>
                  </a:lnTo>
                  <a:lnTo>
                    <a:pt x="18" y="130"/>
                  </a:lnTo>
                  <a:lnTo>
                    <a:pt x="10" y="151"/>
                  </a:lnTo>
                  <a:lnTo>
                    <a:pt x="5" y="177"/>
                  </a:lnTo>
                  <a:lnTo>
                    <a:pt x="0" y="206"/>
                  </a:lnTo>
                  <a:lnTo>
                    <a:pt x="0" y="239"/>
                  </a:lnTo>
                  <a:lnTo>
                    <a:pt x="4" y="329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65" name="Freeform 373"/>
            <p:cNvSpPr>
              <a:spLocks/>
            </p:cNvSpPr>
            <p:nvPr/>
          </p:nvSpPr>
          <p:spPr bwMode="auto">
            <a:xfrm>
              <a:off x="984" y="2055"/>
              <a:ext cx="167" cy="77"/>
            </a:xfrm>
            <a:custGeom>
              <a:avLst/>
              <a:gdLst/>
              <a:ahLst/>
              <a:cxnLst>
                <a:cxn ang="0">
                  <a:pos x="167" y="73"/>
                </a:cxn>
                <a:cxn ang="0">
                  <a:pos x="87" y="0"/>
                </a:cxn>
                <a:cxn ang="0">
                  <a:pos x="85" y="2"/>
                </a:cxn>
                <a:cxn ang="0">
                  <a:pos x="80" y="7"/>
                </a:cxn>
                <a:cxn ang="0">
                  <a:pos x="74" y="13"/>
                </a:cxn>
                <a:cxn ang="0">
                  <a:pos x="64" y="20"/>
                </a:cxn>
                <a:cxn ang="0">
                  <a:pos x="52" y="29"/>
                </a:cxn>
                <a:cxn ang="0">
                  <a:pos x="37" y="37"/>
                </a:cxn>
                <a:cxn ang="0">
                  <a:pos x="20" y="44"/>
                </a:cxn>
                <a:cxn ang="0">
                  <a:pos x="0" y="49"/>
                </a:cxn>
                <a:cxn ang="0">
                  <a:pos x="0" y="50"/>
                </a:cxn>
                <a:cxn ang="0">
                  <a:pos x="3" y="52"/>
                </a:cxn>
                <a:cxn ang="0">
                  <a:pos x="7" y="54"/>
                </a:cxn>
                <a:cxn ang="0">
                  <a:pos x="14" y="58"/>
                </a:cxn>
                <a:cxn ang="0">
                  <a:pos x="23" y="62"/>
                </a:cxn>
                <a:cxn ang="0">
                  <a:pos x="37" y="65"/>
                </a:cxn>
                <a:cxn ang="0">
                  <a:pos x="54" y="69"/>
                </a:cxn>
                <a:cxn ang="0">
                  <a:pos x="77" y="73"/>
                </a:cxn>
                <a:cxn ang="0">
                  <a:pos x="79" y="73"/>
                </a:cxn>
                <a:cxn ang="0">
                  <a:pos x="87" y="74"/>
                </a:cxn>
                <a:cxn ang="0">
                  <a:pos x="97" y="75"/>
                </a:cxn>
                <a:cxn ang="0">
                  <a:pos x="110" y="75"/>
                </a:cxn>
                <a:cxn ang="0">
                  <a:pos x="124" y="77"/>
                </a:cxn>
                <a:cxn ang="0">
                  <a:pos x="139" y="77"/>
                </a:cxn>
                <a:cxn ang="0">
                  <a:pos x="154" y="75"/>
                </a:cxn>
                <a:cxn ang="0">
                  <a:pos x="167" y="73"/>
                </a:cxn>
              </a:cxnLst>
              <a:rect l="0" t="0" r="r" b="b"/>
              <a:pathLst>
                <a:path w="167" h="77">
                  <a:moveTo>
                    <a:pt x="167" y="73"/>
                  </a:moveTo>
                  <a:lnTo>
                    <a:pt x="87" y="0"/>
                  </a:lnTo>
                  <a:lnTo>
                    <a:pt x="85" y="2"/>
                  </a:lnTo>
                  <a:lnTo>
                    <a:pt x="80" y="7"/>
                  </a:lnTo>
                  <a:lnTo>
                    <a:pt x="74" y="13"/>
                  </a:lnTo>
                  <a:lnTo>
                    <a:pt x="64" y="20"/>
                  </a:lnTo>
                  <a:lnTo>
                    <a:pt x="52" y="29"/>
                  </a:lnTo>
                  <a:lnTo>
                    <a:pt x="37" y="37"/>
                  </a:lnTo>
                  <a:lnTo>
                    <a:pt x="20" y="44"/>
                  </a:lnTo>
                  <a:lnTo>
                    <a:pt x="0" y="49"/>
                  </a:lnTo>
                  <a:lnTo>
                    <a:pt x="0" y="50"/>
                  </a:lnTo>
                  <a:lnTo>
                    <a:pt x="3" y="52"/>
                  </a:lnTo>
                  <a:lnTo>
                    <a:pt x="7" y="54"/>
                  </a:lnTo>
                  <a:lnTo>
                    <a:pt x="14" y="58"/>
                  </a:lnTo>
                  <a:lnTo>
                    <a:pt x="23" y="62"/>
                  </a:lnTo>
                  <a:lnTo>
                    <a:pt x="37" y="65"/>
                  </a:lnTo>
                  <a:lnTo>
                    <a:pt x="54" y="69"/>
                  </a:lnTo>
                  <a:lnTo>
                    <a:pt x="77" y="73"/>
                  </a:lnTo>
                  <a:lnTo>
                    <a:pt x="79" y="73"/>
                  </a:lnTo>
                  <a:lnTo>
                    <a:pt x="87" y="74"/>
                  </a:lnTo>
                  <a:lnTo>
                    <a:pt x="97" y="75"/>
                  </a:lnTo>
                  <a:lnTo>
                    <a:pt x="110" y="75"/>
                  </a:lnTo>
                  <a:lnTo>
                    <a:pt x="124" y="77"/>
                  </a:lnTo>
                  <a:lnTo>
                    <a:pt x="139" y="77"/>
                  </a:lnTo>
                  <a:lnTo>
                    <a:pt x="154" y="75"/>
                  </a:lnTo>
                  <a:lnTo>
                    <a:pt x="167" y="73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66" name="Freeform 374"/>
            <p:cNvSpPr>
              <a:spLocks/>
            </p:cNvSpPr>
            <p:nvPr/>
          </p:nvSpPr>
          <p:spPr bwMode="auto">
            <a:xfrm>
              <a:off x="862" y="1979"/>
              <a:ext cx="181" cy="96"/>
            </a:xfrm>
            <a:custGeom>
              <a:avLst/>
              <a:gdLst/>
              <a:ahLst/>
              <a:cxnLst>
                <a:cxn ang="0">
                  <a:pos x="181" y="63"/>
                </a:cxn>
                <a:cxn ang="0">
                  <a:pos x="94" y="96"/>
                </a:cxn>
                <a:cxn ang="0">
                  <a:pos x="91" y="95"/>
                </a:cxn>
                <a:cxn ang="0">
                  <a:pos x="85" y="90"/>
                </a:cxn>
                <a:cxn ang="0">
                  <a:pos x="75" y="83"/>
                </a:cxn>
                <a:cxn ang="0">
                  <a:pos x="62" y="73"/>
                </a:cxn>
                <a:cxn ang="0">
                  <a:pos x="49" y="59"/>
                </a:cxn>
                <a:cxn ang="0">
                  <a:pos x="32" y="43"/>
                </a:cxn>
                <a:cxn ang="0">
                  <a:pos x="16" y="23"/>
                </a:cxn>
                <a:cxn ang="0">
                  <a:pos x="0" y="0"/>
                </a:cxn>
                <a:cxn ang="0">
                  <a:pos x="160" y="16"/>
                </a:cxn>
                <a:cxn ang="0">
                  <a:pos x="181" y="63"/>
                </a:cxn>
              </a:cxnLst>
              <a:rect l="0" t="0" r="r" b="b"/>
              <a:pathLst>
                <a:path w="181" h="96">
                  <a:moveTo>
                    <a:pt x="181" y="63"/>
                  </a:moveTo>
                  <a:lnTo>
                    <a:pt x="94" y="96"/>
                  </a:lnTo>
                  <a:lnTo>
                    <a:pt x="91" y="95"/>
                  </a:lnTo>
                  <a:lnTo>
                    <a:pt x="85" y="90"/>
                  </a:lnTo>
                  <a:lnTo>
                    <a:pt x="75" y="83"/>
                  </a:lnTo>
                  <a:lnTo>
                    <a:pt x="62" y="73"/>
                  </a:lnTo>
                  <a:lnTo>
                    <a:pt x="49" y="59"/>
                  </a:lnTo>
                  <a:lnTo>
                    <a:pt x="32" y="43"/>
                  </a:lnTo>
                  <a:lnTo>
                    <a:pt x="16" y="23"/>
                  </a:lnTo>
                  <a:lnTo>
                    <a:pt x="0" y="0"/>
                  </a:lnTo>
                  <a:lnTo>
                    <a:pt x="160" y="16"/>
                  </a:lnTo>
                  <a:lnTo>
                    <a:pt x="181" y="63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67" name="Freeform 375"/>
            <p:cNvSpPr>
              <a:spLocks/>
            </p:cNvSpPr>
            <p:nvPr/>
          </p:nvSpPr>
          <p:spPr bwMode="auto">
            <a:xfrm>
              <a:off x="833" y="1861"/>
              <a:ext cx="158" cy="101"/>
            </a:xfrm>
            <a:custGeom>
              <a:avLst/>
              <a:gdLst/>
              <a:ahLst/>
              <a:cxnLst>
                <a:cxn ang="0">
                  <a:pos x="158" y="101"/>
                </a:cxn>
                <a:cxn ang="0">
                  <a:pos x="89" y="13"/>
                </a:cxn>
                <a:cxn ang="0">
                  <a:pos x="1" y="0"/>
                </a:cxn>
                <a:cxn ang="0">
                  <a:pos x="0" y="7"/>
                </a:cxn>
                <a:cxn ang="0">
                  <a:pos x="0" y="26"/>
                </a:cxn>
                <a:cxn ang="0">
                  <a:pos x="5" y="52"/>
                </a:cxn>
                <a:cxn ang="0">
                  <a:pos x="19" y="83"/>
                </a:cxn>
                <a:cxn ang="0">
                  <a:pos x="158" y="101"/>
                </a:cxn>
              </a:cxnLst>
              <a:rect l="0" t="0" r="r" b="b"/>
              <a:pathLst>
                <a:path w="158" h="101">
                  <a:moveTo>
                    <a:pt x="158" y="101"/>
                  </a:moveTo>
                  <a:lnTo>
                    <a:pt x="89" y="13"/>
                  </a:lnTo>
                  <a:lnTo>
                    <a:pt x="1" y="0"/>
                  </a:lnTo>
                  <a:lnTo>
                    <a:pt x="0" y="7"/>
                  </a:lnTo>
                  <a:lnTo>
                    <a:pt x="0" y="26"/>
                  </a:lnTo>
                  <a:lnTo>
                    <a:pt x="5" y="52"/>
                  </a:lnTo>
                  <a:lnTo>
                    <a:pt x="19" y="83"/>
                  </a:lnTo>
                  <a:lnTo>
                    <a:pt x="158" y="101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68" name="Freeform 376"/>
            <p:cNvSpPr>
              <a:spLocks/>
            </p:cNvSpPr>
            <p:nvPr/>
          </p:nvSpPr>
          <p:spPr bwMode="auto">
            <a:xfrm>
              <a:off x="818" y="1726"/>
              <a:ext cx="75" cy="103"/>
            </a:xfrm>
            <a:custGeom>
              <a:avLst/>
              <a:gdLst/>
              <a:ahLst/>
              <a:cxnLst>
                <a:cxn ang="0">
                  <a:pos x="75" y="103"/>
                </a:cxn>
                <a:cxn ang="0">
                  <a:pos x="10" y="0"/>
                </a:cxn>
                <a:cxn ang="0">
                  <a:pos x="8" y="8"/>
                </a:cxn>
                <a:cxn ang="0">
                  <a:pos x="3" y="28"/>
                </a:cxn>
                <a:cxn ang="0">
                  <a:pos x="0" y="57"/>
                </a:cxn>
                <a:cxn ang="0">
                  <a:pos x="3" y="86"/>
                </a:cxn>
                <a:cxn ang="0">
                  <a:pos x="4" y="87"/>
                </a:cxn>
                <a:cxn ang="0">
                  <a:pos x="6" y="90"/>
                </a:cxn>
                <a:cxn ang="0">
                  <a:pos x="11" y="92"/>
                </a:cxn>
                <a:cxn ang="0">
                  <a:pos x="19" y="96"/>
                </a:cxn>
                <a:cxn ang="0">
                  <a:pos x="28" y="100"/>
                </a:cxn>
                <a:cxn ang="0">
                  <a:pos x="40" y="102"/>
                </a:cxn>
                <a:cxn ang="0">
                  <a:pos x="56" y="103"/>
                </a:cxn>
                <a:cxn ang="0">
                  <a:pos x="75" y="103"/>
                </a:cxn>
              </a:cxnLst>
              <a:rect l="0" t="0" r="r" b="b"/>
              <a:pathLst>
                <a:path w="75" h="103">
                  <a:moveTo>
                    <a:pt x="75" y="103"/>
                  </a:moveTo>
                  <a:lnTo>
                    <a:pt x="10" y="0"/>
                  </a:lnTo>
                  <a:lnTo>
                    <a:pt x="8" y="8"/>
                  </a:lnTo>
                  <a:lnTo>
                    <a:pt x="3" y="28"/>
                  </a:lnTo>
                  <a:lnTo>
                    <a:pt x="0" y="57"/>
                  </a:lnTo>
                  <a:lnTo>
                    <a:pt x="3" y="86"/>
                  </a:lnTo>
                  <a:lnTo>
                    <a:pt x="4" y="87"/>
                  </a:lnTo>
                  <a:lnTo>
                    <a:pt x="6" y="90"/>
                  </a:lnTo>
                  <a:lnTo>
                    <a:pt x="11" y="92"/>
                  </a:lnTo>
                  <a:lnTo>
                    <a:pt x="19" y="96"/>
                  </a:lnTo>
                  <a:lnTo>
                    <a:pt x="28" y="100"/>
                  </a:lnTo>
                  <a:lnTo>
                    <a:pt x="40" y="102"/>
                  </a:lnTo>
                  <a:lnTo>
                    <a:pt x="56" y="103"/>
                  </a:lnTo>
                  <a:lnTo>
                    <a:pt x="75" y="103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69" name="Freeform 377"/>
            <p:cNvSpPr>
              <a:spLocks/>
            </p:cNvSpPr>
            <p:nvPr/>
          </p:nvSpPr>
          <p:spPr bwMode="auto">
            <a:xfrm>
              <a:off x="828" y="1669"/>
              <a:ext cx="121" cy="170"/>
            </a:xfrm>
            <a:custGeom>
              <a:avLst/>
              <a:gdLst/>
              <a:ahLst/>
              <a:cxnLst>
                <a:cxn ang="0">
                  <a:pos x="114" y="170"/>
                </a:cxn>
                <a:cxn ang="0">
                  <a:pos x="0" y="0"/>
                </a:cxn>
                <a:cxn ang="0">
                  <a:pos x="4" y="2"/>
                </a:cxn>
                <a:cxn ang="0">
                  <a:pos x="15" y="5"/>
                </a:cxn>
                <a:cxn ang="0">
                  <a:pos x="31" y="12"/>
                </a:cxn>
                <a:cxn ang="0">
                  <a:pos x="51" y="19"/>
                </a:cxn>
                <a:cxn ang="0">
                  <a:pos x="73" y="28"/>
                </a:cxn>
                <a:cxn ang="0">
                  <a:pos x="91" y="38"/>
                </a:cxn>
                <a:cxn ang="0">
                  <a:pos x="109" y="49"/>
                </a:cxn>
                <a:cxn ang="0">
                  <a:pos x="121" y="60"/>
                </a:cxn>
                <a:cxn ang="0">
                  <a:pos x="121" y="69"/>
                </a:cxn>
                <a:cxn ang="0">
                  <a:pos x="120" y="92"/>
                </a:cxn>
                <a:cxn ang="0">
                  <a:pos x="118" y="127"/>
                </a:cxn>
                <a:cxn ang="0">
                  <a:pos x="114" y="170"/>
                </a:cxn>
              </a:cxnLst>
              <a:rect l="0" t="0" r="r" b="b"/>
              <a:pathLst>
                <a:path w="121" h="170">
                  <a:moveTo>
                    <a:pt x="114" y="170"/>
                  </a:moveTo>
                  <a:lnTo>
                    <a:pt x="0" y="0"/>
                  </a:lnTo>
                  <a:lnTo>
                    <a:pt x="4" y="2"/>
                  </a:lnTo>
                  <a:lnTo>
                    <a:pt x="15" y="5"/>
                  </a:lnTo>
                  <a:lnTo>
                    <a:pt x="31" y="12"/>
                  </a:lnTo>
                  <a:lnTo>
                    <a:pt x="51" y="19"/>
                  </a:lnTo>
                  <a:lnTo>
                    <a:pt x="73" y="28"/>
                  </a:lnTo>
                  <a:lnTo>
                    <a:pt x="91" y="38"/>
                  </a:lnTo>
                  <a:lnTo>
                    <a:pt x="109" y="49"/>
                  </a:lnTo>
                  <a:lnTo>
                    <a:pt x="121" y="60"/>
                  </a:lnTo>
                  <a:lnTo>
                    <a:pt x="121" y="69"/>
                  </a:lnTo>
                  <a:lnTo>
                    <a:pt x="120" y="92"/>
                  </a:lnTo>
                  <a:lnTo>
                    <a:pt x="118" y="127"/>
                  </a:lnTo>
                  <a:lnTo>
                    <a:pt x="114" y="17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70" name="Freeform 378"/>
            <p:cNvSpPr>
              <a:spLocks/>
            </p:cNvSpPr>
            <p:nvPr/>
          </p:nvSpPr>
          <p:spPr bwMode="auto">
            <a:xfrm>
              <a:off x="967" y="1753"/>
              <a:ext cx="82" cy="198"/>
            </a:xfrm>
            <a:custGeom>
              <a:avLst/>
              <a:gdLst/>
              <a:ahLst/>
              <a:cxnLst>
                <a:cxn ang="0">
                  <a:pos x="0" y="129"/>
                </a:cxn>
                <a:cxn ang="0">
                  <a:pos x="17" y="0"/>
                </a:cxn>
                <a:cxn ang="0">
                  <a:pos x="19" y="1"/>
                </a:cxn>
                <a:cxn ang="0">
                  <a:pos x="24" y="4"/>
                </a:cxn>
                <a:cxn ang="0">
                  <a:pos x="31" y="10"/>
                </a:cxn>
                <a:cxn ang="0">
                  <a:pos x="40" y="18"/>
                </a:cxn>
                <a:cxn ang="0">
                  <a:pos x="50" y="28"/>
                </a:cxn>
                <a:cxn ang="0">
                  <a:pos x="61" y="40"/>
                </a:cxn>
                <a:cxn ang="0">
                  <a:pos x="71" y="55"/>
                </a:cxn>
                <a:cxn ang="0">
                  <a:pos x="82" y="73"/>
                </a:cxn>
                <a:cxn ang="0">
                  <a:pos x="51" y="198"/>
                </a:cxn>
                <a:cxn ang="0">
                  <a:pos x="0" y="129"/>
                </a:cxn>
              </a:cxnLst>
              <a:rect l="0" t="0" r="r" b="b"/>
              <a:pathLst>
                <a:path w="82" h="198">
                  <a:moveTo>
                    <a:pt x="0" y="129"/>
                  </a:moveTo>
                  <a:lnTo>
                    <a:pt x="17" y="0"/>
                  </a:lnTo>
                  <a:lnTo>
                    <a:pt x="19" y="1"/>
                  </a:lnTo>
                  <a:lnTo>
                    <a:pt x="24" y="4"/>
                  </a:lnTo>
                  <a:lnTo>
                    <a:pt x="31" y="10"/>
                  </a:lnTo>
                  <a:lnTo>
                    <a:pt x="40" y="18"/>
                  </a:lnTo>
                  <a:lnTo>
                    <a:pt x="50" y="28"/>
                  </a:lnTo>
                  <a:lnTo>
                    <a:pt x="61" y="40"/>
                  </a:lnTo>
                  <a:lnTo>
                    <a:pt x="71" y="55"/>
                  </a:lnTo>
                  <a:lnTo>
                    <a:pt x="82" y="73"/>
                  </a:lnTo>
                  <a:lnTo>
                    <a:pt x="51" y="198"/>
                  </a:lnTo>
                  <a:lnTo>
                    <a:pt x="0" y="129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71" name="Freeform 379"/>
            <p:cNvSpPr>
              <a:spLocks/>
            </p:cNvSpPr>
            <p:nvPr/>
          </p:nvSpPr>
          <p:spPr bwMode="auto">
            <a:xfrm>
              <a:off x="1049" y="1878"/>
              <a:ext cx="125" cy="222"/>
            </a:xfrm>
            <a:custGeom>
              <a:avLst/>
              <a:gdLst/>
              <a:ahLst/>
              <a:cxnLst>
                <a:cxn ang="0">
                  <a:pos x="0" y="104"/>
                </a:cxn>
                <a:cxn ang="0">
                  <a:pos x="22" y="0"/>
                </a:cxn>
                <a:cxn ang="0">
                  <a:pos x="25" y="5"/>
                </a:cxn>
                <a:cxn ang="0">
                  <a:pos x="33" y="20"/>
                </a:cxn>
                <a:cxn ang="0">
                  <a:pos x="47" y="43"/>
                </a:cxn>
                <a:cxn ang="0">
                  <a:pos x="62" y="71"/>
                </a:cxn>
                <a:cxn ang="0">
                  <a:pos x="79" y="105"/>
                </a:cxn>
                <a:cxn ang="0">
                  <a:pos x="95" y="140"/>
                </a:cxn>
                <a:cxn ang="0">
                  <a:pos x="112" y="176"/>
                </a:cxn>
                <a:cxn ang="0">
                  <a:pos x="125" y="211"/>
                </a:cxn>
                <a:cxn ang="0">
                  <a:pos x="125" y="222"/>
                </a:cxn>
                <a:cxn ang="0">
                  <a:pos x="0" y="104"/>
                </a:cxn>
              </a:cxnLst>
              <a:rect l="0" t="0" r="r" b="b"/>
              <a:pathLst>
                <a:path w="125" h="222">
                  <a:moveTo>
                    <a:pt x="0" y="104"/>
                  </a:moveTo>
                  <a:lnTo>
                    <a:pt x="22" y="0"/>
                  </a:lnTo>
                  <a:lnTo>
                    <a:pt x="25" y="5"/>
                  </a:lnTo>
                  <a:lnTo>
                    <a:pt x="33" y="20"/>
                  </a:lnTo>
                  <a:lnTo>
                    <a:pt x="47" y="43"/>
                  </a:lnTo>
                  <a:lnTo>
                    <a:pt x="62" y="71"/>
                  </a:lnTo>
                  <a:lnTo>
                    <a:pt x="79" y="105"/>
                  </a:lnTo>
                  <a:lnTo>
                    <a:pt x="95" y="140"/>
                  </a:lnTo>
                  <a:lnTo>
                    <a:pt x="112" y="176"/>
                  </a:lnTo>
                  <a:lnTo>
                    <a:pt x="125" y="211"/>
                  </a:lnTo>
                  <a:lnTo>
                    <a:pt x="125" y="222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72" name="Freeform 380"/>
            <p:cNvSpPr>
              <a:spLocks/>
            </p:cNvSpPr>
            <p:nvPr/>
          </p:nvSpPr>
          <p:spPr bwMode="auto">
            <a:xfrm>
              <a:off x="956" y="1611"/>
              <a:ext cx="118" cy="72"/>
            </a:xfrm>
            <a:custGeom>
              <a:avLst/>
              <a:gdLst/>
              <a:ahLst/>
              <a:cxnLst>
                <a:cxn ang="0">
                  <a:pos x="118" y="72"/>
                </a:cxn>
                <a:cxn ang="0">
                  <a:pos x="80" y="3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10" y="10"/>
                </a:cxn>
                <a:cxn ang="0">
                  <a:pos x="22" y="18"/>
                </a:cxn>
                <a:cxn ang="0">
                  <a:pos x="37" y="31"/>
                </a:cxn>
                <a:cxn ang="0">
                  <a:pos x="55" y="43"/>
                </a:cxn>
                <a:cxn ang="0">
                  <a:pos x="75" y="55"/>
                </a:cxn>
                <a:cxn ang="0">
                  <a:pos x="96" y="65"/>
                </a:cxn>
                <a:cxn ang="0">
                  <a:pos x="118" y="72"/>
                </a:cxn>
              </a:cxnLst>
              <a:rect l="0" t="0" r="r" b="b"/>
              <a:pathLst>
                <a:path w="118" h="72">
                  <a:moveTo>
                    <a:pt x="118" y="72"/>
                  </a:moveTo>
                  <a:lnTo>
                    <a:pt x="80" y="3"/>
                  </a:lnTo>
                  <a:lnTo>
                    <a:pt x="0" y="0"/>
                  </a:lnTo>
                  <a:lnTo>
                    <a:pt x="2" y="2"/>
                  </a:lnTo>
                  <a:lnTo>
                    <a:pt x="10" y="10"/>
                  </a:lnTo>
                  <a:lnTo>
                    <a:pt x="22" y="18"/>
                  </a:lnTo>
                  <a:lnTo>
                    <a:pt x="37" y="31"/>
                  </a:lnTo>
                  <a:lnTo>
                    <a:pt x="55" y="43"/>
                  </a:lnTo>
                  <a:lnTo>
                    <a:pt x="75" y="55"/>
                  </a:lnTo>
                  <a:lnTo>
                    <a:pt x="96" y="65"/>
                  </a:lnTo>
                  <a:lnTo>
                    <a:pt x="118" y="72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73" name="Freeform 381"/>
            <p:cNvSpPr>
              <a:spLocks/>
            </p:cNvSpPr>
            <p:nvPr/>
          </p:nvSpPr>
          <p:spPr bwMode="auto">
            <a:xfrm>
              <a:off x="897" y="1513"/>
              <a:ext cx="119" cy="76"/>
            </a:xfrm>
            <a:custGeom>
              <a:avLst/>
              <a:gdLst/>
              <a:ahLst/>
              <a:cxnLst>
                <a:cxn ang="0">
                  <a:pos x="119" y="76"/>
                </a:cxn>
                <a:cxn ang="0">
                  <a:pos x="74" y="4"/>
                </a:cxn>
                <a:cxn ang="0">
                  <a:pos x="0" y="0"/>
                </a:cxn>
                <a:cxn ang="0">
                  <a:pos x="0" y="9"/>
                </a:cxn>
                <a:cxn ang="0">
                  <a:pos x="2" y="30"/>
                </a:cxn>
                <a:cxn ang="0">
                  <a:pos x="10" y="56"/>
                </a:cxn>
                <a:cxn ang="0">
                  <a:pos x="27" y="76"/>
                </a:cxn>
                <a:cxn ang="0">
                  <a:pos x="119" y="76"/>
                </a:cxn>
              </a:cxnLst>
              <a:rect l="0" t="0" r="r" b="b"/>
              <a:pathLst>
                <a:path w="119" h="76">
                  <a:moveTo>
                    <a:pt x="119" y="76"/>
                  </a:moveTo>
                  <a:lnTo>
                    <a:pt x="74" y="4"/>
                  </a:lnTo>
                  <a:lnTo>
                    <a:pt x="0" y="0"/>
                  </a:lnTo>
                  <a:lnTo>
                    <a:pt x="0" y="9"/>
                  </a:lnTo>
                  <a:lnTo>
                    <a:pt x="2" y="30"/>
                  </a:lnTo>
                  <a:lnTo>
                    <a:pt x="10" y="56"/>
                  </a:lnTo>
                  <a:lnTo>
                    <a:pt x="27" y="76"/>
                  </a:lnTo>
                  <a:lnTo>
                    <a:pt x="119" y="76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74" name="Freeform 382"/>
            <p:cNvSpPr>
              <a:spLocks/>
            </p:cNvSpPr>
            <p:nvPr/>
          </p:nvSpPr>
          <p:spPr bwMode="auto">
            <a:xfrm>
              <a:off x="901" y="1437"/>
              <a:ext cx="52" cy="56"/>
            </a:xfrm>
            <a:custGeom>
              <a:avLst/>
              <a:gdLst/>
              <a:ahLst/>
              <a:cxnLst>
                <a:cxn ang="0">
                  <a:pos x="52" y="56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0" y="21"/>
                </a:cxn>
                <a:cxn ang="0">
                  <a:pos x="0" y="39"/>
                </a:cxn>
                <a:cxn ang="0">
                  <a:pos x="0" y="52"/>
                </a:cxn>
                <a:cxn ang="0">
                  <a:pos x="52" y="56"/>
                </a:cxn>
              </a:cxnLst>
              <a:rect l="0" t="0" r="r" b="b"/>
              <a:pathLst>
                <a:path w="52" h="56">
                  <a:moveTo>
                    <a:pt x="52" y="5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21"/>
                  </a:lnTo>
                  <a:lnTo>
                    <a:pt x="0" y="39"/>
                  </a:lnTo>
                  <a:lnTo>
                    <a:pt x="0" y="52"/>
                  </a:lnTo>
                  <a:lnTo>
                    <a:pt x="52" y="56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75" name="Freeform 383"/>
            <p:cNvSpPr>
              <a:spLocks/>
            </p:cNvSpPr>
            <p:nvPr/>
          </p:nvSpPr>
          <p:spPr bwMode="auto">
            <a:xfrm>
              <a:off x="939" y="1432"/>
              <a:ext cx="73" cy="7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" y="1"/>
                </a:cxn>
                <a:cxn ang="0">
                  <a:pos x="7" y="0"/>
                </a:cxn>
                <a:cxn ang="0">
                  <a:pos x="13" y="0"/>
                </a:cxn>
                <a:cxn ang="0">
                  <a:pos x="22" y="1"/>
                </a:cxn>
                <a:cxn ang="0">
                  <a:pos x="33" y="5"/>
                </a:cxn>
                <a:cxn ang="0">
                  <a:pos x="45" y="10"/>
                </a:cxn>
                <a:cxn ang="0">
                  <a:pos x="59" y="19"/>
                </a:cxn>
                <a:cxn ang="0">
                  <a:pos x="73" y="32"/>
                </a:cxn>
                <a:cxn ang="0">
                  <a:pos x="69" y="79"/>
                </a:cxn>
                <a:cxn ang="0">
                  <a:pos x="67" y="76"/>
                </a:cxn>
                <a:cxn ang="0">
                  <a:pos x="60" y="69"/>
                </a:cxn>
                <a:cxn ang="0">
                  <a:pos x="52" y="59"/>
                </a:cxn>
                <a:cxn ang="0">
                  <a:pos x="40" y="45"/>
                </a:cxn>
                <a:cxn ang="0">
                  <a:pos x="29" y="32"/>
                </a:cxn>
                <a:cxn ang="0">
                  <a:pos x="18" y="20"/>
                </a:cxn>
                <a:cxn ang="0">
                  <a:pos x="8" y="9"/>
                </a:cxn>
                <a:cxn ang="0">
                  <a:pos x="0" y="1"/>
                </a:cxn>
              </a:cxnLst>
              <a:rect l="0" t="0" r="r" b="b"/>
              <a:pathLst>
                <a:path w="73" h="79">
                  <a:moveTo>
                    <a:pt x="0" y="1"/>
                  </a:moveTo>
                  <a:lnTo>
                    <a:pt x="2" y="1"/>
                  </a:lnTo>
                  <a:lnTo>
                    <a:pt x="7" y="0"/>
                  </a:lnTo>
                  <a:lnTo>
                    <a:pt x="13" y="0"/>
                  </a:lnTo>
                  <a:lnTo>
                    <a:pt x="22" y="1"/>
                  </a:lnTo>
                  <a:lnTo>
                    <a:pt x="33" y="5"/>
                  </a:lnTo>
                  <a:lnTo>
                    <a:pt x="45" y="10"/>
                  </a:lnTo>
                  <a:lnTo>
                    <a:pt x="59" y="19"/>
                  </a:lnTo>
                  <a:lnTo>
                    <a:pt x="73" y="32"/>
                  </a:lnTo>
                  <a:lnTo>
                    <a:pt x="69" y="79"/>
                  </a:lnTo>
                  <a:lnTo>
                    <a:pt x="67" y="76"/>
                  </a:lnTo>
                  <a:lnTo>
                    <a:pt x="60" y="69"/>
                  </a:lnTo>
                  <a:lnTo>
                    <a:pt x="52" y="59"/>
                  </a:lnTo>
                  <a:lnTo>
                    <a:pt x="40" y="45"/>
                  </a:lnTo>
                  <a:lnTo>
                    <a:pt x="29" y="32"/>
                  </a:lnTo>
                  <a:lnTo>
                    <a:pt x="18" y="20"/>
                  </a:lnTo>
                  <a:lnTo>
                    <a:pt x="8" y="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76" name="Freeform 384"/>
            <p:cNvSpPr>
              <a:spLocks/>
            </p:cNvSpPr>
            <p:nvPr/>
          </p:nvSpPr>
          <p:spPr bwMode="auto">
            <a:xfrm>
              <a:off x="1039" y="1503"/>
              <a:ext cx="49" cy="15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63"/>
                </a:cxn>
                <a:cxn ang="0">
                  <a:pos x="49" y="156"/>
                </a:cxn>
                <a:cxn ang="0">
                  <a:pos x="49" y="153"/>
                </a:cxn>
                <a:cxn ang="0">
                  <a:pos x="48" y="141"/>
                </a:cxn>
                <a:cxn ang="0">
                  <a:pos x="44" y="125"/>
                </a:cxn>
                <a:cxn ang="0">
                  <a:pos x="40" y="104"/>
                </a:cxn>
                <a:cxn ang="0">
                  <a:pos x="34" y="80"/>
                </a:cxn>
                <a:cxn ang="0">
                  <a:pos x="25" y="54"/>
                </a:cxn>
                <a:cxn ang="0">
                  <a:pos x="14" y="26"/>
                </a:cxn>
                <a:cxn ang="0">
                  <a:pos x="0" y="0"/>
                </a:cxn>
              </a:cxnLst>
              <a:rect l="0" t="0" r="r" b="b"/>
              <a:pathLst>
                <a:path w="49" h="156">
                  <a:moveTo>
                    <a:pt x="0" y="0"/>
                  </a:moveTo>
                  <a:lnTo>
                    <a:pt x="0" y="63"/>
                  </a:lnTo>
                  <a:lnTo>
                    <a:pt x="49" y="156"/>
                  </a:lnTo>
                  <a:lnTo>
                    <a:pt x="49" y="153"/>
                  </a:lnTo>
                  <a:lnTo>
                    <a:pt x="48" y="141"/>
                  </a:lnTo>
                  <a:lnTo>
                    <a:pt x="44" y="125"/>
                  </a:lnTo>
                  <a:lnTo>
                    <a:pt x="40" y="104"/>
                  </a:lnTo>
                  <a:lnTo>
                    <a:pt x="34" y="80"/>
                  </a:lnTo>
                  <a:lnTo>
                    <a:pt x="25" y="54"/>
                  </a:lnTo>
                  <a:lnTo>
                    <a:pt x="14" y="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77" name="Freeform 385"/>
            <p:cNvSpPr>
              <a:spLocks/>
            </p:cNvSpPr>
            <p:nvPr/>
          </p:nvSpPr>
          <p:spPr bwMode="auto">
            <a:xfrm>
              <a:off x="1141" y="1806"/>
              <a:ext cx="88" cy="214"/>
            </a:xfrm>
            <a:custGeom>
              <a:avLst/>
              <a:gdLst/>
              <a:ahLst/>
              <a:cxnLst>
                <a:cxn ang="0">
                  <a:pos x="88" y="214"/>
                </a:cxn>
                <a:cxn ang="0">
                  <a:pos x="78" y="80"/>
                </a:cxn>
                <a:cxn ang="0">
                  <a:pos x="6" y="0"/>
                </a:cxn>
                <a:cxn ang="0">
                  <a:pos x="5" y="11"/>
                </a:cxn>
                <a:cxn ang="0">
                  <a:pos x="2" y="37"/>
                </a:cxn>
                <a:cxn ang="0">
                  <a:pos x="0" y="70"/>
                </a:cxn>
                <a:cxn ang="0">
                  <a:pos x="2" y="96"/>
                </a:cxn>
                <a:cxn ang="0">
                  <a:pos x="88" y="214"/>
                </a:cxn>
              </a:cxnLst>
              <a:rect l="0" t="0" r="r" b="b"/>
              <a:pathLst>
                <a:path w="88" h="214">
                  <a:moveTo>
                    <a:pt x="88" y="214"/>
                  </a:moveTo>
                  <a:lnTo>
                    <a:pt x="78" y="80"/>
                  </a:lnTo>
                  <a:lnTo>
                    <a:pt x="6" y="0"/>
                  </a:lnTo>
                  <a:lnTo>
                    <a:pt x="5" y="11"/>
                  </a:lnTo>
                  <a:lnTo>
                    <a:pt x="2" y="37"/>
                  </a:lnTo>
                  <a:lnTo>
                    <a:pt x="0" y="70"/>
                  </a:lnTo>
                  <a:lnTo>
                    <a:pt x="2" y="96"/>
                  </a:lnTo>
                  <a:lnTo>
                    <a:pt x="88" y="214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78" name="Freeform 386"/>
            <p:cNvSpPr>
              <a:spLocks/>
            </p:cNvSpPr>
            <p:nvPr/>
          </p:nvSpPr>
          <p:spPr bwMode="auto">
            <a:xfrm>
              <a:off x="1161" y="1691"/>
              <a:ext cx="75" cy="138"/>
            </a:xfrm>
            <a:custGeom>
              <a:avLst/>
              <a:gdLst/>
              <a:ahLst/>
              <a:cxnLst>
                <a:cxn ang="0">
                  <a:pos x="72" y="138"/>
                </a:cxn>
                <a:cxn ang="0">
                  <a:pos x="75" y="83"/>
                </a:cxn>
                <a:cxn ang="0">
                  <a:pos x="25" y="0"/>
                </a:cxn>
                <a:cxn ang="0">
                  <a:pos x="21" y="3"/>
                </a:cxn>
                <a:cxn ang="0">
                  <a:pos x="11" y="17"/>
                </a:cxn>
                <a:cxn ang="0">
                  <a:pos x="2" y="42"/>
                </a:cxn>
                <a:cxn ang="0">
                  <a:pos x="0" y="80"/>
                </a:cxn>
                <a:cxn ang="0">
                  <a:pos x="72" y="138"/>
                </a:cxn>
              </a:cxnLst>
              <a:rect l="0" t="0" r="r" b="b"/>
              <a:pathLst>
                <a:path w="75" h="138">
                  <a:moveTo>
                    <a:pt x="72" y="138"/>
                  </a:moveTo>
                  <a:lnTo>
                    <a:pt x="75" y="83"/>
                  </a:lnTo>
                  <a:lnTo>
                    <a:pt x="25" y="0"/>
                  </a:lnTo>
                  <a:lnTo>
                    <a:pt x="21" y="3"/>
                  </a:lnTo>
                  <a:lnTo>
                    <a:pt x="11" y="17"/>
                  </a:lnTo>
                  <a:lnTo>
                    <a:pt x="2" y="42"/>
                  </a:lnTo>
                  <a:lnTo>
                    <a:pt x="0" y="80"/>
                  </a:lnTo>
                  <a:lnTo>
                    <a:pt x="72" y="138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79" name="Freeform 387"/>
            <p:cNvSpPr>
              <a:spLocks/>
            </p:cNvSpPr>
            <p:nvPr/>
          </p:nvSpPr>
          <p:spPr bwMode="auto">
            <a:xfrm>
              <a:off x="1198" y="1552"/>
              <a:ext cx="45" cy="149"/>
            </a:xfrm>
            <a:custGeom>
              <a:avLst/>
              <a:gdLst/>
              <a:ahLst/>
              <a:cxnLst>
                <a:cxn ang="0">
                  <a:pos x="35" y="149"/>
                </a:cxn>
                <a:cxn ang="0">
                  <a:pos x="45" y="0"/>
                </a:cxn>
                <a:cxn ang="0">
                  <a:pos x="44" y="1"/>
                </a:cxn>
                <a:cxn ang="0">
                  <a:pos x="39" y="6"/>
                </a:cxn>
                <a:cxn ang="0">
                  <a:pos x="31" y="14"/>
                </a:cxn>
                <a:cxn ang="0">
                  <a:pos x="24" y="26"/>
                </a:cxn>
                <a:cxn ang="0">
                  <a:pos x="16" y="41"/>
                </a:cxn>
                <a:cxn ang="0">
                  <a:pos x="9" y="61"/>
                </a:cxn>
                <a:cxn ang="0">
                  <a:pos x="3" y="86"/>
                </a:cxn>
                <a:cxn ang="0">
                  <a:pos x="0" y="115"/>
                </a:cxn>
                <a:cxn ang="0">
                  <a:pos x="35" y="149"/>
                </a:cxn>
              </a:cxnLst>
              <a:rect l="0" t="0" r="r" b="b"/>
              <a:pathLst>
                <a:path w="45" h="149">
                  <a:moveTo>
                    <a:pt x="35" y="149"/>
                  </a:moveTo>
                  <a:lnTo>
                    <a:pt x="45" y="0"/>
                  </a:lnTo>
                  <a:lnTo>
                    <a:pt x="44" y="1"/>
                  </a:lnTo>
                  <a:lnTo>
                    <a:pt x="39" y="6"/>
                  </a:lnTo>
                  <a:lnTo>
                    <a:pt x="31" y="14"/>
                  </a:lnTo>
                  <a:lnTo>
                    <a:pt x="24" y="26"/>
                  </a:lnTo>
                  <a:lnTo>
                    <a:pt x="16" y="41"/>
                  </a:lnTo>
                  <a:lnTo>
                    <a:pt x="9" y="61"/>
                  </a:lnTo>
                  <a:lnTo>
                    <a:pt x="3" y="86"/>
                  </a:lnTo>
                  <a:lnTo>
                    <a:pt x="0" y="115"/>
                  </a:lnTo>
                  <a:lnTo>
                    <a:pt x="35" y="149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80" name="Freeform 388"/>
            <p:cNvSpPr>
              <a:spLocks/>
            </p:cNvSpPr>
            <p:nvPr/>
          </p:nvSpPr>
          <p:spPr bwMode="auto">
            <a:xfrm>
              <a:off x="1261" y="1558"/>
              <a:ext cx="68" cy="181"/>
            </a:xfrm>
            <a:custGeom>
              <a:avLst/>
              <a:gdLst/>
              <a:ahLst/>
              <a:cxnLst>
                <a:cxn ang="0">
                  <a:pos x="0" y="181"/>
                </a:cxn>
                <a:cxn ang="0">
                  <a:pos x="13" y="0"/>
                </a:cxn>
                <a:cxn ang="0">
                  <a:pos x="16" y="3"/>
                </a:cxn>
                <a:cxn ang="0">
                  <a:pos x="21" y="9"/>
                </a:cxn>
                <a:cxn ang="0">
                  <a:pos x="28" y="20"/>
                </a:cxn>
                <a:cxn ang="0">
                  <a:pos x="37" y="35"/>
                </a:cxn>
                <a:cxn ang="0">
                  <a:pos x="47" y="53"/>
                </a:cxn>
                <a:cxn ang="0">
                  <a:pos x="56" y="73"/>
                </a:cxn>
                <a:cxn ang="0">
                  <a:pos x="63" y="95"/>
                </a:cxn>
                <a:cxn ang="0">
                  <a:pos x="68" y="119"/>
                </a:cxn>
                <a:cxn ang="0">
                  <a:pos x="68" y="136"/>
                </a:cxn>
                <a:cxn ang="0">
                  <a:pos x="0" y="181"/>
                </a:cxn>
              </a:cxnLst>
              <a:rect l="0" t="0" r="r" b="b"/>
              <a:pathLst>
                <a:path w="68" h="181">
                  <a:moveTo>
                    <a:pt x="0" y="181"/>
                  </a:moveTo>
                  <a:lnTo>
                    <a:pt x="13" y="0"/>
                  </a:lnTo>
                  <a:lnTo>
                    <a:pt x="16" y="3"/>
                  </a:lnTo>
                  <a:lnTo>
                    <a:pt x="21" y="9"/>
                  </a:lnTo>
                  <a:lnTo>
                    <a:pt x="28" y="20"/>
                  </a:lnTo>
                  <a:lnTo>
                    <a:pt x="37" y="35"/>
                  </a:lnTo>
                  <a:lnTo>
                    <a:pt x="47" y="53"/>
                  </a:lnTo>
                  <a:lnTo>
                    <a:pt x="56" y="73"/>
                  </a:lnTo>
                  <a:lnTo>
                    <a:pt x="63" y="95"/>
                  </a:lnTo>
                  <a:lnTo>
                    <a:pt x="68" y="119"/>
                  </a:lnTo>
                  <a:lnTo>
                    <a:pt x="68" y="136"/>
                  </a:lnTo>
                  <a:lnTo>
                    <a:pt x="0" y="181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81" name="Freeform 389"/>
            <p:cNvSpPr>
              <a:spLocks/>
            </p:cNvSpPr>
            <p:nvPr/>
          </p:nvSpPr>
          <p:spPr bwMode="auto">
            <a:xfrm>
              <a:off x="1261" y="1726"/>
              <a:ext cx="86" cy="135"/>
            </a:xfrm>
            <a:custGeom>
              <a:avLst/>
              <a:gdLst/>
              <a:ahLst/>
              <a:cxnLst>
                <a:cxn ang="0">
                  <a:pos x="0" y="41"/>
                </a:cxn>
                <a:cxn ang="0">
                  <a:pos x="72" y="0"/>
                </a:cxn>
                <a:cxn ang="0">
                  <a:pos x="75" y="3"/>
                </a:cxn>
                <a:cxn ang="0">
                  <a:pos x="81" y="16"/>
                </a:cxn>
                <a:cxn ang="0">
                  <a:pos x="86" y="35"/>
                </a:cxn>
                <a:cxn ang="0">
                  <a:pos x="86" y="58"/>
                </a:cxn>
                <a:cxn ang="0">
                  <a:pos x="3" y="135"/>
                </a:cxn>
                <a:cxn ang="0">
                  <a:pos x="0" y="41"/>
                </a:cxn>
              </a:cxnLst>
              <a:rect l="0" t="0" r="r" b="b"/>
              <a:pathLst>
                <a:path w="86" h="135">
                  <a:moveTo>
                    <a:pt x="0" y="41"/>
                  </a:moveTo>
                  <a:lnTo>
                    <a:pt x="72" y="0"/>
                  </a:lnTo>
                  <a:lnTo>
                    <a:pt x="75" y="3"/>
                  </a:lnTo>
                  <a:lnTo>
                    <a:pt x="81" y="16"/>
                  </a:lnTo>
                  <a:lnTo>
                    <a:pt x="86" y="35"/>
                  </a:lnTo>
                  <a:lnTo>
                    <a:pt x="86" y="58"/>
                  </a:lnTo>
                  <a:lnTo>
                    <a:pt x="3" y="135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82" name="Freeform 390"/>
            <p:cNvSpPr>
              <a:spLocks/>
            </p:cNvSpPr>
            <p:nvPr/>
          </p:nvSpPr>
          <p:spPr bwMode="auto">
            <a:xfrm>
              <a:off x="1261" y="1819"/>
              <a:ext cx="97" cy="285"/>
            </a:xfrm>
            <a:custGeom>
              <a:avLst/>
              <a:gdLst/>
              <a:ahLst/>
              <a:cxnLst>
                <a:cxn ang="0">
                  <a:pos x="0" y="77"/>
                </a:cxn>
                <a:cxn ang="0">
                  <a:pos x="0" y="285"/>
                </a:cxn>
                <a:cxn ang="0">
                  <a:pos x="2" y="283"/>
                </a:cxn>
                <a:cxn ang="0">
                  <a:pos x="7" y="276"/>
                </a:cxn>
                <a:cxn ang="0">
                  <a:pos x="15" y="266"/>
                </a:cxn>
                <a:cxn ang="0">
                  <a:pos x="25" y="253"/>
                </a:cxn>
                <a:cxn ang="0">
                  <a:pos x="36" y="236"/>
                </a:cxn>
                <a:cxn ang="0">
                  <a:pos x="47" y="218"/>
                </a:cxn>
                <a:cxn ang="0">
                  <a:pos x="57" y="196"/>
                </a:cxn>
                <a:cxn ang="0">
                  <a:pos x="66" y="174"/>
                </a:cxn>
                <a:cxn ang="0">
                  <a:pos x="71" y="154"/>
                </a:cxn>
                <a:cxn ang="0">
                  <a:pos x="82" y="105"/>
                </a:cxn>
                <a:cxn ang="0">
                  <a:pos x="92" y="48"/>
                </a:cxn>
                <a:cxn ang="0">
                  <a:pos x="97" y="0"/>
                </a:cxn>
                <a:cxn ang="0">
                  <a:pos x="0" y="77"/>
                </a:cxn>
              </a:cxnLst>
              <a:rect l="0" t="0" r="r" b="b"/>
              <a:pathLst>
                <a:path w="97" h="285">
                  <a:moveTo>
                    <a:pt x="0" y="77"/>
                  </a:moveTo>
                  <a:lnTo>
                    <a:pt x="0" y="285"/>
                  </a:lnTo>
                  <a:lnTo>
                    <a:pt x="2" y="283"/>
                  </a:lnTo>
                  <a:lnTo>
                    <a:pt x="7" y="276"/>
                  </a:lnTo>
                  <a:lnTo>
                    <a:pt x="15" y="266"/>
                  </a:lnTo>
                  <a:lnTo>
                    <a:pt x="25" y="253"/>
                  </a:lnTo>
                  <a:lnTo>
                    <a:pt x="36" y="236"/>
                  </a:lnTo>
                  <a:lnTo>
                    <a:pt x="47" y="218"/>
                  </a:lnTo>
                  <a:lnTo>
                    <a:pt x="57" y="196"/>
                  </a:lnTo>
                  <a:lnTo>
                    <a:pt x="66" y="174"/>
                  </a:lnTo>
                  <a:lnTo>
                    <a:pt x="71" y="154"/>
                  </a:lnTo>
                  <a:lnTo>
                    <a:pt x="82" y="105"/>
                  </a:lnTo>
                  <a:lnTo>
                    <a:pt x="92" y="48"/>
                  </a:lnTo>
                  <a:lnTo>
                    <a:pt x="97" y="0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83" name="Freeform 391"/>
            <p:cNvSpPr>
              <a:spLocks/>
            </p:cNvSpPr>
            <p:nvPr/>
          </p:nvSpPr>
          <p:spPr bwMode="auto">
            <a:xfrm>
              <a:off x="1427" y="1573"/>
              <a:ext cx="25" cy="125"/>
            </a:xfrm>
            <a:custGeom>
              <a:avLst/>
              <a:gdLst/>
              <a:ahLst/>
              <a:cxnLst>
                <a:cxn ang="0">
                  <a:pos x="0" y="125"/>
                </a:cxn>
                <a:cxn ang="0">
                  <a:pos x="0" y="28"/>
                </a:cxn>
                <a:cxn ang="0">
                  <a:pos x="7" y="0"/>
                </a:cxn>
                <a:cxn ang="0">
                  <a:pos x="25" y="69"/>
                </a:cxn>
                <a:cxn ang="0">
                  <a:pos x="0" y="125"/>
                </a:cxn>
              </a:cxnLst>
              <a:rect l="0" t="0" r="r" b="b"/>
              <a:pathLst>
                <a:path w="25" h="125">
                  <a:moveTo>
                    <a:pt x="0" y="125"/>
                  </a:moveTo>
                  <a:lnTo>
                    <a:pt x="0" y="28"/>
                  </a:lnTo>
                  <a:lnTo>
                    <a:pt x="7" y="0"/>
                  </a:lnTo>
                  <a:lnTo>
                    <a:pt x="25" y="69"/>
                  </a:lnTo>
                  <a:lnTo>
                    <a:pt x="0" y="125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84" name="Freeform 392"/>
            <p:cNvSpPr>
              <a:spLocks/>
            </p:cNvSpPr>
            <p:nvPr/>
          </p:nvSpPr>
          <p:spPr bwMode="auto">
            <a:xfrm>
              <a:off x="1466" y="1486"/>
              <a:ext cx="27" cy="135"/>
            </a:xfrm>
            <a:custGeom>
              <a:avLst/>
              <a:gdLst/>
              <a:ahLst/>
              <a:cxnLst>
                <a:cxn ang="0">
                  <a:pos x="3" y="135"/>
                </a:cxn>
                <a:cxn ang="0">
                  <a:pos x="0" y="25"/>
                </a:cxn>
                <a:cxn ang="0">
                  <a:pos x="17" y="0"/>
                </a:cxn>
                <a:cxn ang="0">
                  <a:pos x="27" y="90"/>
                </a:cxn>
                <a:cxn ang="0">
                  <a:pos x="3" y="135"/>
                </a:cxn>
              </a:cxnLst>
              <a:rect l="0" t="0" r="r" b="b"/>
              <a:pathLst>
                <a:path w="27" h="135">
                  <a:moveTo>
                    <a:pt x="3" y="135"/>
                  </a:moveTo>
                  <a:lnTo>
                    <a:pt x="0" y="25"/>
                  </a:lnTo>
                  <a:lnTo>
                    <a:pt x="17" y="0"/>
                  </a:lnTo>
                  <a:lnTo>
                    <a:pt x="27" y="90"/>
                  </a:lnTo>
                  <a:lnTo>
                    <a:pt x="3" y="135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85" name="Freeform 393"/>
            <p:cNvSpPr>
              <a:spLocks/>
            </p:cNvSpPr>
            <p:nvPr/>
          </p:nvSpPr>
          <p:spPr bwMode="auto">
            <a:xfrm>
              <a:off x="1503" y="1444"/>
              <a:ext cx="45" cy="100"/>
            </a:xfrm>
            <a:custGeom>
              <a:avLst/>
              <a:gdLst/>
              <a:ahLst/>
              <a:cxnLst>
                <a:cxn ang="0">
                  <a:pos x="14" y="100"/>
                </a:cxn>
                <a:cxn ang="0">
                  <a:pos x="0" y="18"/>
                </a:cxn>
                <a:cxn ang="0">
                  <a:pos x="3" y="15"/>
                </a:cxn>
                <a:cxn ang="0">
                  <a:pos x="8" y="10"/>
                </a:cxn>
                <a:cxn ang="0">
                  <a:pos x="15" y="4"/>
                </a:cxn>
                <a:cxn ang="0">
                  <a:pos x="25" y="0"/>
                </a:cxn>
                <a:cxn ang="0">
                  <a:pos x="45" y="69"/>
                </a:cxn>
                <a:cxn ang="0">
                  <a:pos x="14" y="100"/>
                </a:cxn>
              </a:cxnLst>
              <a:rect l="0" t="0" r="r" b="b"/>
              <a:pathLst>
                <a:path w="45" h="100">
                  <a:moveTo>
                    <a:pt x="14" y="100"/>
                  </a:moveTo>
                  <a:lnTo>
                    <a:pt x="0" y="18"/>
                  </a:lnTo>
                  <a:lnTo>
                    <a:pt x="3" y="15"/>
                  </a:lnTo>
                  <a:lnTo>
                    <a:pt x="8" y="10"/>
                  </a:lnTo>
                  <a:lnTo>
                    <a:pt x="15" y="4"/>
                  </a:lnTo>
                  <a:lnTo>
                    <a:pt x="25" y="0"/>
                  </a:lnTo>
                  <a:lnTo>
                    <a:pt x="45" y="69"/>
                  </a:lnTo>
                  <a:lnTo>
                    <a:pt x="14" y="10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86" name="Freeform 394"/>
            <p:cNvSpPr>
              <a:spLocks/>
            </p:cNvSpPr>
            <p:nvPr/>
          </p:nvSpPr>
          <p:spPr bwMode="auto">
            <a:xfrm>
              <a:off x="1563" y="1433"/>
              <a:ext cx="38" cy="46"/>
            </a:xfrm>
            <a:custGeom>
              <a:avLst/>
              <a:gdLst/>
              <a:ahLst/>
              <a:cxnLst>
                <a:cxn ang="0">
                  <a:pos x="3" y="46"/>
                </a:cxn>
                <a:cxn ang="0">
                  <a:pos x="0" y="8"/>
                </a:cxn>
                <a:cxn ang="0">
                  <a:pos x="38" y="0"/>
                </a:cxn>
                <a:cxn ang="0">
                  <a:pos x="3" y="46"/>
                </a:cxn>
              </a:cxnLst>
              <a:rect l="0" t="0" r="r" b="b"/>
              <a:pathLst>
                <a:path w="38" h="46">
                  <a:moveTo>
                    <a:pt x="3" y="46"/>
                  </a:moveTo>
                  <a:lnTo>
                    <a:pt x="0" y="8"/>
                  </a:lnTo>
                  <a:lnTo>
                    <a:pt x="38" y="0"/>
                  </a:lnTo>
                  <a:lnTo>
                    <a:pt x="3" y="46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87" name="Freeform 395"/>
            <p:cNvSpPr>
              <a:spLocks/>
            </p:cNvSpPr>
            <p:nvPr/>
          </p:nvSpPr>
          <p:spPr bwMode="auto">
            <a:xfrm>
              <a:off x="1458" y="1649"/>
              <a:ext cx="66" cy="55"/>
            </a:xfrm>
            <a:custGeom>
              <a:avLst/>
              <a:gdLst/>
              <a:ahLst/>
              <a:cxnLst>
                <a:cxn ang="0">
                  <a:pos x="0" y="55"/>
                </a:cxn>
                <a:cxn ang="0">
                  <a:pos x="21" y="7"/>
                </a:cxn>
                <a:cxn ang="0">
                  <a:pos x="66" y="0"/>
                </a:cxn>
                <a:cxn ang="0">
                  <a:pos x="66" y="3"/>
                </a:cxn>
                <a:cxn ang="0">
                  <a:pos x="66" y="8"/>
                </a:cxn>
                <a:cxn ang="0">
                  <a:pos x="65" y="15"/>
                </a:cxn>
                <a:cxn ang="0">
                  <a:pos x="61" y="24"/>
                </a:cxn>
                <a:cxn ang="0">
                  <a:pos x="54" y="34"/>
                </a:cxn>
                <a:cxn ang="0">
                  <a:pos x="41" y="43"/>
                </a:cxn>
                <a:cxn ang="0">
                  <a:pos x="24" y="50"/>
                </a:cxn>
                <a:cxn ang="0">
                  <a:pos x="0" y="55"/>
                </a:cxn>
              </a:cxnLst>
              <a:rect l="0" t="0" r="r" b="b"/>
              <a:pathLst>
                <a:path w="66" h="55">
                  <a:moveTo>
                    <a:pt x="0" y="55"/>
                  </a:moveTo>
                  <a:lnTo>
                    <a:pt x="21" y="7"/>
                  </a:lnTo>
                  <a:lnTo>
                    <a:pt x="66" y="0"/>
                  </a:lnTo>
                  <a:lnTo>
                    <a:pt x="66" y="3"/>
                  </a:lnTo>
                  <a:lnTo>
                    <a:pt x="66" y="8"/>
                  </a:lnTo>
                  <a:lnTo>
                    <a:pt x="65" y="15"/>
                  </a:lnTo>
                  <a:lnTo>
                    <a:pt x="61" y="24"/>
                  </a:lnTo>
                  <a:lnTo>
                    <a:pt x="54" y="34"/>
                  </a:lnTo>
                  <a:lnTo>
                    <a:pt x="41" y="43"/>
                  </a:lnTo>
                  <a:lnTo>
                    <a:pt x="24" y="5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88" name="Freeform 396"/>
            <p:cNvSpPr>
              <a:spLocks/>
            </p:cNvSpPr>
            <p:nvPr/>
          </p:nvSpPr>
          <p:spPr bwMode="auto">
            <a:xfrm>
              <a:off x="1501" y="1583"/>
              <a:ext cx="72" cy="41"/>
            </a:xfrm>
            <a:custGeom>
              <a:avLst/>
              <a:gdLst/>
              <a:ahLst/>
              <a:cxnLst>
                <a:cxn ang="0">
                  <a:pos x="0" y="38"/>
                </a:cxn>
                <a:cxn ang="0">
                  <a:pos x="27" y="0"/>
                </a:cxn>
                <a:cxn ang="0">
                  <a:pos x="72" y="6"/>
                </a:cxn>
                <a:cxn ang="0">
                  <a:pos x="71" y="9"/>
                </a:cxn>
                <a:cxn ang="0">
                  <a:pos x="68" y="14"/>
                </a:cxn>
                <a:cxn ang="0">
                  <a:pos x="63" y="21"/>
                </a:cxn>
                <a:cxn ang="0">
                  <a:pos x="57" y="29"/>
                </a:cxn>
                <a:cxn ang="0">
                  <a:pos x="47" y="35"/>
                </a:cxn>
                <a:cxn ang="0">
                  <a:pos x="35" y="40"/>
                </a:cxn>
                <a:cxn ang="0">
                  <a:pos x="18" y="41"/>
                </a:cxn>
                <a:cxn ang="0">
                  <a:pos x="0" y="38"/>
                </a:cxn>
              </a:cxnLst>
              <a:rect l="0" t="0" r="r" b="b"/>
              <a:pathLst>
                <a:path w="72" h="41">
                  <a:moveTo>
                    <a:pt x="0" y="38"/>
                  </a:moveTo>
                  <a:lnTo>
                    <a:pt x="27" y="0"/>
                  </a:lnTo>
                  <a:lnTo>
                    <a:pt x="72" y="6"/>
                  </a:lnTo>
                  <a:lnTo>
                    <a:pt x="71" y="9"/>
                  </a:lnTo>
                  <a:lnTo>
                    <a:pt x="68" y="14"/>
                  </a:lnTo>
                  <a:lnTo>
                    <a:pt x="63" y="21"/>
                  </a:lnTo>
                  <a:lnTo>
                    <a:pt x="57" y="29"/>
                  </a:lnTo>
                  <a:lnTo>
                    <a:pt x="47" y="35"/>
                  </a:lnTo>
                  <a:lnTo>
                    <a:pt x="35" y="40"/>
                  </a:lnTo>
                  <a:lnTo>
                    <a:pt x="18" y="41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89" name="Freeform 397"/>
            <p:cNvSpPr>
              <a:spLocks/>
            </p:cNvSpPr>
            <p:nvPr/>
          </p:nvSpPr>
          <p:spPr bwMode="auto">
            <a:xfrm>
              <a:off x="1546" y="1524"/>
              <a:ext cx="45" cy="34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23" y="0"/>
                </a:cxn>
                <a:cxn ang="0">
                  <a:pos x="45" y="3"/>
                </a:cxn>
                <a:cxn ang="0">
                  <a:pos x="31" y="34"/>
                </a:cxn>
                <a:cxn ang="0">
                  <a:pos x="0" y="24"/>
                </a:cxn>
              </a:cxnLst>
              <a:rect l="0" t="0" r="r" b="b"/>
              <a:pathLst>
                <a:path w="45" h="34">
                  <a:moveTo>
                    <a:pt x="0" y="24"/>
                  </a:moveTo>
                  <a:lnTo>
                    <a:pt x="23" y="0"/>
                  </a:lnTo>
                  <a:lnTo>
                    <a:pt x="45" y="3"/>
                  </a:lnTo>
                  <a:lnTo>
                    <a:pt x="31" y="34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90" name="Freeform 398"/>
            <p:cNvSpPr>
              <a:spLocks/>
            </p:cNvSpPr>
            <p:nvPr/>
          </p:nvSpPr>
          <p:spPr bwMode="auto">
            <a:xfrm>
              <a:off x="1591" y="1448"/>
              <a:ext cx="27" cy="38"/>
            </a:xfrm>
            <a:custGeom>
              <a:avLst/>
              <a:gdLst/>
              <a:ahLst/>
              <a:cxnLst>
                <a:cxn ang="0">
                  <a:pos x="0" y="31"/>
                </a:cxn>
                <a:cxn ang="0">
                  <a:pos x="27" y="0"/>
                </a:cxn>
                <a:cxn ang="0">
                  <a:pos x="17" y="38"/>
                </a:cxn>
                <a:cxn ang="0">
                  <a:pos x="0" y="31"/>
                </a:cxn>
              </a:cxnLst>
              <a:rect l="0" t="0" r="r" b="b"/>
              <a:pathLst>
                <a:path w="27" h="38">
                  <a:moveTo>
                    <a:pt x="0" y="31"/>
                  </a:moveTo>
                  <a:lnTo>
                    <a:pt x="27" y="0"/>
                  </a:lnTo>
                  <a:lnTo>
                    <a:pt x="17" y="38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91" name="Freeform 399"/>
            <p:cNvSpPr>
              <a:spLocks/>
            </p:cNvSpPr>
            <p:nvPr/>
          </p:nvSpPr>
          <p:spPr bwMode="auto">
            <a:xfrm>
              <a:off x="1323" y="1977"/>
              <a:ext cx="49" cy="75"/>
            </a:xfrm>
            <a:custGeom>
              <a:avLst/>
              <a:gdLst/>
              <a:ahLst/>
              <a:cxnLst>
                <a:cxn ang="0">
                  <a:pos x="0" y="75"/>
                </a:cxn>
                <a:cxn ang="0">
                  <a:pos x="1" y="73"/>
                </a:cxn>
                <a:cxn ang="0">
                  <a:pos x="5" y="70"/>
                </a:cxn>
                <a:cxn ang="0">
                  <a:pos x="9" y="63"/>
                </a:cxn>
                <a:cxn ang="0">
                  <a:pos x="15" y="55"/>
                </a:cxn>
                <a:cxn ang="0">
                  <a:pos x="21" y="45"/>
                </a:cxn>
                <a:cxn ang="0">
                  <a:pos x="28" y="33"/>
                </a:cxn>
                <a:cxn ang="0">
                  <a:pos x="33" y="21"/>
                </a:cxn>
                <a:cxn ang="0">
                  <a:pos x="38" y="8"/>
                </a:cxn>
                <a:cxn ang="0">
                  <a:pos x="44" y="0"/>
                </a:cxn>
                <a:cxn ang="0">
                  <a:pos x="48" y="15"/>
                </a:cxn>
                <a:cxn ang="0">
                  <a:pos x="49" y="36"/>
                </a:cxn>
                <a:cxn ang="0">
                  <a:pos x="49" y="47"/>
                </a:cxn>
                <a:cxn ang="0">
                  <a:pos x="49" y="47"/>
                </a:cxn>
                <a:cxn ang="0">
                  <a:pos x="48" y="48"/>
                </a:cxn>
                <a:cxn ang="0">
                  <a:pos x="44" y="51"/>
                </a:cxn>
                <a:cxn ang="0">
                  <a:pos x="40" y="55"/>
                </a:cxn>
                <a:cxn ang="0">
                  <a:pos x="34" y="58"/>
                </a:cxn>
                <a:cxn ang="0">
                  <a:pos x="25" y="63"/>
                </a:cxn>
                <a:cxn ang="0">
                  <a:pos x="14" y="68"/>
                </a:cxn>
                <a:cxn ang="0">
                  <a:pos x="0" y="75"/>
                </a:cxn>
              </a:cxnLst>
              <a:rect l="0" t="0" r="r" b="b"/>
              <a:pathLst>
                <a:path w="49" h="75">
                  <a:moveTo>
                    <a:pt x="0" y="75"/>
                  </a:moveTo>
                  <a:lnTo>
                    <a:pt x="1" y="73"/>
                  </a:lnTo>
                  <a:lnTo>
                    <a:pt x="5" y="70"/>
                  </a:lnTo>
                  <a:lnTo>
                    <a:pt x="9" y="63"/>
                  </a:lnTo>
                  <a:lnTo>
                    <a:pt x="15" y="55"/>
                  </a:lnTo>
                  <a:lnTo>
                    <a:pt x="21" y="45"/>
                  </a:lnTo>
                  <a:lnTo>
                    <a:pt x="28" y="33"/>
                  </a:lnTo>
                  <a:lnTo>
                    <a:pt x="33" y="21"/>
                  </a:lnTo>
                  <a:lnTo>
                    <a:pt x="38" y="8"/>
                  </a:lnTo>
                  <a:lnTo>
                    <a:pt x="44" y="0"/>
                  </a:lnTo>
                  <a:lnTo>
                    <a:pt x="48" y="15"/>
                  </a:lnTo>
                  <a:lnTo>
                    <a:pt x="49" y="36"/>
                  </a:lnTo>
                  <a:lnTo>
                    <a:pt x="49" y="47"/>
                  </a:lnTo>
                  <a:lnTo>
                    <a:pt x="49" y="47"/>
                  </a:lnTo>
                  <a:lnTo>
                    <a:pt x="48" y="48"/>
                  </a:lnTo>
                  <a:lnTo>
                    <a:pt x="44" y="51"/>
                  </a:lnTo>
                  <a:lnTo>
                    <a:pt x="40" y="55"/>
                  </a:lnTo>
                  <a:lnTo>
                    <a:pt x="34" y="58"/>
                  </a:lnTo>
                  <a:lnTo>
                    <a:pt x="25" y="63"/>
                  </a:lnTo>
                  <a:lnTo>
                    <a:pt x="14" y="68"/>
                  </a:lnTo>
                  <a:lnTo>
                    <a:pt x="0" y="75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92" name="Freeform 400"/>
            <p:cNvSpPr>
              <a:spLocks/>
            </p:cNvSpPr>
            <p:nvPr/>
          </p:nvSpPr>
          <p:spPr bwMode="auto">
            <a:xfrm>
              <a:off x="1292" y="2069"/>
              <a:ext cx="222" cy="71"/>
            </a:xfrm>
            <a:custGeom>
              <a:avLst/>
              <a:gdLst/>
              <a:ahLst/>
              <a:cxnLst>
                <a:cxn ang="0">
                  <a:pos x="0" y="59"/>
                </a:cxn>
                <a:cxn ang="0">
                  <a:pos x="59" y="0"/>
                </a:cxn>
                <a:cxn ang="0">
                  <a:pos x="222" y="28"/>
                </a:cxn>
                <a:cxn ang="0">
                  <a:pos x="220" y="29"/>
                </a:cxn>
                <a:cxn ang="0">
                  <a:pos x="215" y="33"/>
                </a:cxn>
                <a:cxn ang="0">
                  <a:pos x="205" y="38"/>
                </a:cxn>
                <a:cxn ang="0">
                  <a:pos x="191" y="44"/>
                </a:cxn>
                <a:cxn ang="0">
                  <a:pos x="174" y="51"/>
                </a:cxn>
                <a:cxn ang="0">
                  <a:pos x="152" y="58"/>
                </a:cxn>
                <a:cxn ang="0">
                  <a:pos x="129" y="64"/>
                </a:cxn>
                <a:cxn ang="0">
                  <a:pos x="100" y="69"/>
                </a:cxn>
                <a:cxn ang="0">
                  <a:pos x="97" y="69"/>
                </a:cxn>
                <a:cxn ang="0">
                  <a:pos x="90" y="70"/>
                </a:cxn>
                <a:cxn ang="0">
                  <a:pos x="79" y="71"/>
                </a:cxn>
                <a:cxn ang="0">
                  <a:pos x="65" y="71"/>
                </a:cxn>
                <a:cxn ang="0">
                  <a:pos x="50" y="71"/>
                </a:cxn>
                <a:cxn ang="0">
                  <a:pos x="32" y="69"/>
                </a:cxn>
                <a:cxn ang="0">
                  <a:pos x="16" y="65"/>
                </a:cxn>
                <a:cxn ang="0">
                  <a:pos x="0" y="59"/>
                </a:cxn>
              </a:cxnLst>
              <a:rect l="0" t="0" r="r" b="b"/>
              <a:pathLst>
                <a:path w="222" h="71">
                  <a:moveTo>
                    <a:pt x="0" y="59"/>
                  </a:moveTo>
                  <a:lnTo>
                    <a:pt x="59" y="0"/>
                  </a:lnTo>
                  <a:lnTo>
                    <a:pt x="222" y="28"/>
                  </a:lnTo>
                  <a:lnTo>
                    <a:pt x="220" y="29"/>
                  </a:lnTo>
                  <a:lnTo>
                    <a:pt x="215" y="33"/>
                  </a:lnTo>
                  <a:lnTo>
                    <a:pt x="205" y="38"/>
                  </a:lnTo>
                  <a:lnTo>
                    <a:pt x="191" y="44"/>
                  </a:lnTo>
                  <a:lnTo>
                    <a:pt x="174" y="51"/>
                  </a:lnTo>
                  <a:lnTo>
                    <a:pt x="152" y="58"/>
                  </a:lnTo>
                  <a:lnTo>
                    <a:pt x="129" y="64"/>
                  </a:lnTo>
                  <a:lnTo>
                    <a:pt x="100" y="69"/>
                  </a:lnTo>
                  <a:lnTo>
                    <a:pt x="97" y="69"/>
                  </a:lnTo>
                  <a:lnTo>
                    <a:pt x="90" y="70"/>
                  </a:lnTo>
                  <a:lnTo>
                    <a:pt x="79" y="71"/>
                  </a:lnTo>
                  <a:lnTo>
                    <a:pt x="65" y="71"/>
                  </a:lnTo>
                  <a:lnTo>
                    <a:pt x="50" y="71"/>
                  </a:lnTo>
                  <a:lnTo>
                    <a:pt x="32" y="69"/>
                  </a:lnTo>
                  <a:lnTo>
                    <a:pt x="16" y="65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93" name="Freeform 401"/>
            <p:cNvSpPr>
              <a:spLocks/>
            </p:cNvSpPr>
            <p:nvPr/>
          </p:nvSpPr>
          <p:spPr bwMode="auto">
            <a:xfrm>
              <a:off x="1403" y="1995"/>
              <a:ext cx="211" cy="80"/>
            </a:xfrm>
            <a:custGeom>
              <a:avLst/>
              <a:gdLst/>
              <a:ahLst/>
              <a:cxnLst>
                <a:cxn ang="0">
                  <a:pos x="0" y="47"/>
                </a:cxn>
                <a:cxn ang="0">
                  <a:pos x="63" y="0"/>
                </a:cxn>
                <a:cxn ang="0">
                  <a:pos x="211" y="29"/>
                </a:cxn>
                <a:cxn ang="0">
                  <a:pos x="145" y="80"/>
                </a:cxn>
                <a:cxn ang="0">
                  <a:pos x="0" y="47"/>
                </a:cxn>
              </a:cxnLst>
              <a:rect l="0" t="0" r="r" b="b"/>
              <a:pathLst>
                <a:path w="211" h="80">
                  <a:moveTo>
                    <a:pt x="0" y="47"/>
                  </a:moveTo>
                  <a:lnTo>
                    <a:pt x="63" y="0"/>
                  </a:lnTo>
                  <a:lnTo>
                    <a:pt x="211" y="29"/>
                  </a:lnTo>
                  <a:lnTo>
                    <a:pt x="145" y="80"/>
                  </a:lnTo>
                  <a:lnTo>
                    <a:pt x="0" y="47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94" name="Freeform 402"/>
            <p:cNvSpPr>
              <a:spLocks/>
            </p:cNvSpPr>
            <p:nvPr/>
          </p:nvSpPr>
          <p:spPr bwMode="auto">
            <a:xfrm>
              <a:off x="1386" y="1857"/>
              <a:ext cx="68" cy="142"/>
            </a:xfrm>
            <a:custGeom>
              <a:avLst/>
              <a:gdLst/>
              <a:ahLst/>
              <a:cxnLst>
                <a:cxn ang="0">
                  <a:pos x="13" y="142"/>
                </a:cxn>
                <a:cxn ang="0">
                  <a:pos x="0" y="66"/>
                </a:cxn>
                <a:cxn ang="0">
                  <a:pos x="1" y="65"/>
                </a:cxn>
                <a:cxn ang="0">
                  <a:pos x="6" y="60"/>
                </a:cxn>
                <a:cxn ang="0">
                  <a:pos x="13" y="52"/>
                </a:cxn>
                <a:cxn ang="0">
                  <a:pos x="22" y="42"/>
                </a:cxn>
                <a:cxn ang="0">
                  <a:pos x="31" y="32"/>
                </a:cxn>
                <a:cxn ang="0">
                  <a:pos x="42" y="21"/>
                </a:cxn>
                <a:cxn ang="0">
                  <a:pos x="52" y="10"/>
                </a:cxn>
                <a:cxn ang="0">
                  <a:pos x="62" y="0"/>
                </a:cxn>
                <a:cxn ang="0">
                  <a:pos x="68" y="107"/>
                </a:cxn>
                <a:cxn ang="0">
                  <a:pos x="13" y="142"/>
                </a:cxn>
              </a:cxnLst>
              <a:rect l="0" t="0" r="r" b="b"/>
              <a:pathLst>
                <a:path w="68" h="142">
                  <a:moveTo>
                    <a:pt x="13" y="142"/>
                  </a:moveTo>
                  <a:lnTo>
                    <a:pt x="0" y="66"/>
                  </a:lnTo>
                  <a:lnTo>
                    <a:pt x="1" y="65"/>
                  </a:lnTo>
                  <a:lnTo>
                    <a:pt x="6" y="60"/>
                  </a:lnTo>
                  <a:lnTo>
                    <a:pt x="13" y="52"/>
                  </a:lnTo>
                  <a:lnTo>
                    <a:pt x="22" y="42"/>
                  </a:lnTo>
                  <a:lnTo>
                    <a:pt x="31" y="32"/>
                  </a:lnTo>
                  <a:lnTo>
                    <a:pt x="42" y="21"/>
                  </a:lnTo>
                  <a:lnTo>
                    <a:pt x="52" y="10"/>
                  </a:lnTo>
                  <a:lnTo>
                    <a:pt x="62" y="0"/>
                  </a:lnTo>
                  <a:lnTo>
                    <a:pt x="68" y="107"/>
                  </a:lnTo>
                  <a:lnTo>
                    <a:pt x="13" y="142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95" name="Freeform 403"/>
            <p:cNvSpPr>
              <a:spLocks/>
            </p:cNvSpPr>
            <p:nvPr/>
          </p:nvSpPr>
          <p:spPr bwMode="auto">
            <a:xfrm>
              <a:off x="1483" y="1774"/>
              <a:ext cx="125" cy="163"/>
            </a:xfrm>
            <a:custGeom>
              <a:avLst/>
              <a:gdLst/>
              <a:ahLst/>
              <a:cxnLst>
                <a:cxn ang="0">
                  <a:pos x="0" y="163"/>
                </a:cxn>
                <a:cxn ang="0">
                  <a:pos x="3" y="52"/>
                </a:cxn>
                <a:cxn ang="0">
                  <a:pos x="4" y="50"/>
                </a:cxn>
                <a:cxn ang="0">
                  <a:pos x="6" y="47"/>
                </a:cxn>
                <a:cxn ang="0">
                  <a:pos x="10" y="42"/>
                </a:cxn>
                <a:cxn ang="0">
                  <a:pos x="18" y="35"/>
                </a:cxn>
                <a:cxn ang="0">
                  <a:pos x="28" y="29"/>
                </a:cxn>
                <a:cxn ang="0">
                  <a:pos x="40" y="22"/>
                </a:cxn>
                <a:cxn ang="0">
                  <a:pos x="56" y="14"/>
                </a:cxn>
                <a:cxn ang="0">
                  <a:pos x="76" y="7"/>
                </a:cxn>
                <a:cxn ang="0">
                  <a:pos x="125" y="0"/>
                </a:cxn>
                <a:cxn ang="0">
                  <a:pos x="90" y="90"/>
                </a:cxn>
                <a:cxn ang="0">
                  <a:pos x="0" y="163"/>
                </a:cxn>
              </a:cxnLst>
              <a:rect l="0" t="0" r="r" b="b"/>
              <a:pathLst>
                <a:path w="125" h="163">
                  <a:moveTo>
                    <a:pt x="0" y="163"/>
                  </a:moveTo>
                  <a:lnTo>
                    <a:pt x="3" y="52"/>
                  </a:lnTo>
                  <a:lnTo>
                    <a:pt x="4" y="50"/>
                  </a:lnTo>
                  <a:lnTo>
                    <a:pt x="6" y="47"/>
                  </a:lnTo>
                  <a:lnTo>
                    <a:pt x="10" y="42"/>
                  </a:lnTo>
                  <a:lnTo>
                    <a:pt x="18" y="35"/>
                  </a:lnTo>
                  <a:lnTo>
                    <a:pt x="28" y="29"/>
                  </a:lnTo>
                  <a:lnTo>
                    <a:pt x="40" y="22"/>
                  </a:lnTo>
                  <a:lnTo>
                    <a:pt x="56" y="14"/>
                  </a:lnTo>
                  <a:lnTo>
                    <a:pt x="76" y="7"/>
                  </a:lnTo>
                  <a:lnTo>
                    <a:pt x="125" y="0"/>
                  </a:lnTo>
                  <a:lnTo>
                    <a:pt x="90" y="90"/>
                  </a:lnTo>
                  <a:lnTo>
                    <a:pt x="0" y="163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96" name="Freeform 404"/>
            <p:cNvSpPr>
              <a:spLocks/>
            </p:cNvSpPr>
            <p:nvPr/>
          </p:nvSpPr>
          <p:spPr bwMode="auto">
            <a:xfrm>
              <a:off x="1501" y="1906"/>
              <a:ext cx="183" cy="93"/>
            </a:xfrm>
            <a:custGeom>
              <a:avLst/>
              <a:gdLst/>
              <a:ahLst/>
              <a:cxnLst>
                <a:cxn ang="0">
                  <a:pos x="0" y="58"/>
                </a:cxn>
                <a:cxn ang="0">
                  <a:pos x="72" y="0"/>
                </a:cxn>
                <a:cxn ang="0">
                  <a:pos x="183" y="13"/>
                </a:cxn>
                <a:cxn ang="0">
                  <a:pos x="182" y="16"/>
                </a:cxn>
                <a:cxn ang="0">
                  <a:pos x="178" y="22"/>
                </a:cxn>
                <a:cxn ang="0">
                  <a:pos x="172" y="32"/>
                </a:cxn>
                <a:cxn ang="0">
                  <a:pos x="165" y="45"/>
                </a:cxn>
                <a:cxn ang="0">
                  <a:pos x="156" y="57"/>
                </a:cxn>
                <a:cxn ang="0">
                  <a:pos x="146" y="71"/>
                </a:cxn>
                <a:cxn ang="0">
                  <a:pos x="137" y="83"/>
                </a:cxn>
                <a:cxn ang="0">
                  <a:pos x="127" y="93"/>
                </a:cxn>
                <a:cxn ang="0">
                  <a:pos x="0" y="58"/>
                </a:cxn>
              </a:cxnLst>
              <a:rect l="0" t="0" r="r" b="b"/>
              <a:pathLst>
                <a:path w="183" h="93">
                  <a:moveTo>
                    <a:pt x="0" y="58"/>
                  </a:moveTo>
                  <a:lnTo>
                    <a:pt x="72" y="0"/>
                  </a:lnTo>
                  <a:lnTo>
                    <a:pt x="183" y="13"/>
                  </a:lnTo>
                  <a:lnTo>
                    <a:pt x="182" y="16"/>
                  </a:lnTo>
                  <a:lnTo>
                    <a:pt x="178" y="22"/>
                  </a:lnTo>
                  <a:lnTo>
                    <a:pt x="172" y="32"/>
                  </a:lnTo>
                  <a:lnTo>
                    <a:pt x="165" y="45"/>
                  </a:lnTo>
                  <a:lnTo>
                    <a:pt x="156" y="57"/>
                  </a:lnTo>
                  <a:lnTo>
                    <a:pt x="146" y="71"/>
                  </a:lnTo>
                  <a:lnTo>
                    <a:pt x="137" y="83"/>
                  </a:lnTo>
                  <a:lnTo>
                    <a:pt x="127" y="93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97" name="Freeform 405"/>
            <p:cNvSpPr>
              <a:spLocks/>
            </p:cNvSpPr>
            <p:nvPr/>
          </p:nvSpPr>
          <p:spPr bwMode="auto">
            <a:xfrm>
              <a:off x="1618" y="1749"/>
              <a:ext cx="149" cy="137"/>
            </a:xfrm>
            <a:custGeom>
              <a:avLst/>
              <a:gdLst/>
              <a:ahLst/>
              <a:cxnLst>
                <a:cxn ang="0">
                  <a:pos x="0" y="122"/>
                </a:cxn>
                <a:cxn ang="0">
                  <a:pos x="149" y="0"/>
                </a:cxn>
                <a:cxn ang="0">
                  <a:pos x="146" y="5"/>
                </a:cxn>
                <a:cxn ang="0">
                  <a:pos x="140" y="19"/>
                </a:cxn>
                <a:cxn ang="0">
                  <a:pos x="131" y="39"/>
                </a:cxn>
                <a:cxn ang="0">
                  <a:pos x="121" y="62"/>
                </a:cxn>
                <a:cxn ang="0">
                  <a:pos x="110" y="85"/>
                </a:cxn>
                <a:cxn ang="0">
                  <a:pos x="100" y="108"/>
                </a:cxn>
                <a:cxn ang="0">
                  <a:pos x="90" y="125"/>
                </a:cxn>
                <a:cxn ang="0">
                  <a:pos x="84" y="137"/>
                </a:cxn>
                <a:cxn ang="0">
                  <a:pos x="0" y="122"/>
                </a:cxn>
              </a:cxnLst>
              <a:rect l="0" t="0" r="r" b="b"/>
              <a:pathLst>
                <a:path w="149" h="137">
                  <a:moveTo>
                    <a:pt x="0" y="122"/>
                  </a:moveTo>
                  <a:lnTo>
                    <a:pt x="149" y="0"/>
                  </a:lnTo>
                  <a:lnTo>
                    <a:pt x="146" y="5"/>
                  </a:lnTo>
                  <a:lnTo>
                    <a:pt x="140" y="19"/>
                  </a:lnTo>
                  <a:lnTo>
                    <a:pt x="131" y="39"/>
                  </a:lnTo>
                  <a:lnTo>
                    <a:pt x="121" y="62"/>
                  </a:lnTo>
                  <a:lnTo>
                    <a:pt x="110" y="85"/>
                  </a:lnTo>
                  <a:lnTo>
                    <a:pt x="100" y="108"/>
                  </a:lnTo>
                  <a:lnTo>
                    <a:pt x="90" y="125"/>
                  </a:lnTo>
                  <a:lnTo>
                    <a:pt x="84" y="137"/>
                  </a:lnTo>
                  <a:lnTo>
                    <a:pt x="0" y="122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98" name="Freeform 406"/>
            <p:cNvSpPr>
              <a:spLocks/>
            </p:cNvSpPr>
            <p:nvPr/>
          </p:nvSpPr>
          <p:spPr bwMode="auto">
            <a:xfrm>
              <a:off x="1626" y="1739"/>
              <a:ext cx="117" cy="94"/>
            </a:xfrm>
            <a:custGeom>
              <a:avLst/>
              <a:gdLst/>
              <a:ahLst/>
              <a:cxnLst>
                <a:cxn ang="0">
                  <a:pos x="0" y="94"/>
                </a:cxn>
                <a:cxn ang="0">
                  <a:pos x="20" y="14"/>
                </a:cxn>
                <a:cxn ang="0">
                  <a:pos x="117" y="0"/>
                </a:cxn>
                <a:cxn ang="0">
                  <a:pos x="0" y="94"/>
                </a:cxn>
              </a:cxnLst>
              <a:rect l="0" t="0" r="r" b="b"/>
              <a:pathLst>
                <a:path w="117" h="94">
                  <a:moveTo>
                    <a:pt x="0" y="94"/>
                  </a:moveTo>
                  <a:lnTo>
                    <a:pt x="20" y="14"/>
                  </a:lnTo>
                  <a:lnTo>
                    <a:pt x="117" y="0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599" name="Freeform 407"/>
            <p:cNvSpPr>
              <a:spLocks/>
            </p:cNvSpPr>
            <p:nvPr/>
          </p:nvSpPr>
          <p:spPr bwMode="auto">
            <a:xfrm>
              <a:off x="1556" y="1951"/>
              <a:ext cx="517" cy="622"/>
            </a:xfrm>
            <a:custGeom>
              <a:avLst/>
              <a:gdLst/>
              <a:ahLst/>
              <a:cxnLst>
                <a:cxn ang="0">
                  <a:pos x="0" y="353"/>
                </a:cxn>
                <a:cxn ang="0">
                  <a:pos x="8" y="273"/>
                </a:cxn>
                <a:cxn ang="0">
                  <a:pos x="26" y="226"/>
                </a:cxn>
                <a:cxn ang="0">
                  <a:pos x="40" y="201"/>
                </a:cxn>
                <a:cxn ang="0">
                  <a:pos x="63" y="163"/>
                </a:cxn>
                <a:cxn ang="0">
                  <a:pos x="95" y="126"/>
                </a:cxn>
                <a:cxn ang="0">
                  <a:pos x="116" y="107"/>
                </a:cxn>
                <a:cxn ang="0">
                  <a:pos x="151" y="79"/>
                </a:cxn>
                <a:cxn ang="0">
                  <a:pos x="205" y="42"/>
                </a:cxn>
                <a:cxn ang="0">
                  <a:pos x="263" y="11"/>
                </a:cxn>
                <a:cxn ang="0">
                  <a:pos x="293" y="3"/>
                </a:cxn>
                <a:cxn ang="0">
                  <a:pos x="323" y="2"/>
                </a:cxn>
                <a:cxn ang="0">
                  <a:pos x="368" y="1"/>
                </a:cxn>
                <a:cxn ang="0">
                  <a:pos x="410" y="0"/>
                </a:cxn>
                <a:cxn ang="0">
                  <a:pos x="425" y="6"/>
                </a:cxn>
                <a:cxn ang="0">
                  <a:pos x="418" y="52"/>
                </a:cxn>
                <a:cxn ang="0">
                  <a:pos x="400" y="98"/>
                </a:cxn>
                <a:cxn ang="0">
                  <a:pos x="381" y="133"/>
                </a:cxn>
                <a:cxn ang="0">
                  <a:pos x="347" y="186"/>
                </a:cxn>
                <a:cxn ang="0">
                  <a:pos x="302" y="239"/>
                </a:cxn>
                <a:cxn ang="0">
                  <a:pos x="273" y="263"/>
                </a:cxn>
                <a:cxn ang="0">
                  <a:pos x="245" y="281"/>
                </a:cxn>
                <a:cxn ang="0">
                  <a:pos x="203" y="307"/>
                </a:cxn>
                <a:cxn ang="0">
                  <a:pos x="163" y="329"/>
                </a:cxn>
                <a:cxn ang="0">
                  <a:pos x="288" y="386"/>
                </a:cxn>
                <a:cxn ang="0">
                  <a:pos x="303" y="389"/>
                </a:cxn>
                <a:cxn ang="0">
                  <a:pos x="340" y="402"/>
                </a:cxn>
                <a:cxn ang="0">
                  <a:pos x="383" y="419"/>
                </a:cxn>
                <a:cxn ang="0">
                  <a:pos x="420" y="441"/>
                </a:cxn>
                <a:cxn ang="0">
                  <a:pos x="430" y="452"/>
                </a:cxn>
                <a:cxn ang="0">
                  <a:pos x="456" y="483"/>
                </a:cxn>
                <a:cxn ang="0">
                  <a:pos x="487" y="532"/>
                </a:cxn>
                <a:cxn ang="0">
                  <a:pos x="517" y="593"/>
                </a:cxn>
                <a:cxn ang="0">
                  <a:pos x="503" y="598"/>
                </a:cxn>
                <a:cxn ang="0">
                  <a:pos x="466" y="609"/>
                </a:cxn>
                <a:cxn ang="0">
                  <a:pos x="412" y="620"/>
                </a:cxn>
                <a:cxn ang="0">
                  <a:pos x="353" y="622"/>
                </a:cxn>
                <a:cxn ang="0">
                  <a:pos x="333" y="618"/>
                </a:cxn>
                <a:cxn ang="0">
                  <a:pos x="285" y="604"/>
                </a:cxn>
                <a:cxn ang="0">
                  <a:pos x="225" y="581"/>
                </a:cxn>
                <a:cxn ang="0">
                  <a:pos x="173" y="544"/>
                </a:cxn>
                <a:cxn ang="0">
                  <a:pos x="162" y="536"/>
                </a:cxn>
                <a:cxn ang="0">
                  <a:pos x="133" y="511"/>
                </a:cxn>
                <a:cxn ang="0">
                  <a:pos x="100" y="474"/>
                </a:cxn>
                <a:cxn ang="0">
                  <a:pos x="70" y="431"/>
                </a:cxn>
                <a:cxn ang="0">
                  <a:pos x="55" y="412"/>
                </a:cxn>
                <a:cxn ang="0">
                  <a:pos x="38" y="372"/>
                </a:cxn>
              </a:cxnLst>
              <a:rect l="0" t="0" r="r" b="b"/>
              <a:pathLst>
                <a:path w="517" h="622">
                  <a:moveTo>
                    <a:pt x="0" y="368"/>
                  </a:moveTo>
                  <a:lnTo>
                    <a:pt x="0" y="353"/>
                  </a:lnTo>
                  <a:lnTo>
                    <a:pt x="1" y="318"/>
                  </a:lnTo>
                  <a:lnTo>
                    <a:pt x="8" y="273"/>
                  </a:lnTo>
                  <a:lnTo>
                    <a:pt x="23" y="229"/>
                  </a:lnTo>
                  <a:lnTo>
                    <a:pt x="26" y="226"/>
                  </a:lnTo>
                  <a:lnTo>
                    <a:pt x="31" y="216"/>
                  </a:lnTo>
                  <a:lnTo>
                    <a:pt x="40" y="201"/>
                  </a:lnTo>
                  <a:lnTo>
                    <a:pt x="51" y="183"/>
                  </a:lnTo>
                  <a:lnTo>
                    <a:pt x="63" y="163"/>
                  </a:lnTo>
                  <a:lnTo>
                    <a:pt x="78" y="144"/>
                  </a:lnTo>
                  <a:lnTo>
                    <a:pt x="95" y="126"/>
                  </a:lnTo>
                  <a:lnTo>
                    <a:pt x="111" y="111"/>
                  </a:lnTo>
                  <a:lnTo>
                    <a:pt x="116" y="107"/>
                  </a:lnTo>
                  <a:lnTo>
                    <a:pt x="130" y="96"/>
                  </a:lnTo>
                  <a:lnTo>
                    <a:pt x="151" y="79"/>
                  </a:lnTo>
                  <a:lnTo>
                    <a:pt x="176" y="61"/>
                  </a:lnTo>
                  <a:lnTo>
                    <a:pt x="205" y="42"/>
                  </a:lnTo>
                  <a:lnTo>
                    <a:pt x="235" y="24"/>
                  </a:lnTo>
                  <a:lnTo>
                    <a:pt x="263" y="11"/>
                  </a:lnTo>
                  <a:lnTo>
                    <a:pt x="288" y="3"/>
                  </a:lnTo>
                  <a:lnTo>
                    <a:pt x="293" y="3"/>
                  </a:lnTo>
                  <a:lnTo>
                    <a:pt x="306" y="3"/>
                  </a:lnTo>
                  <a:lnTo>
                    <a:pt x="323" y="2"/>
                  </a:lnTo>
                  <a:lnTo>
                    <a:pt x="346" y="1"/>
                  </a:lnTo>
                  <a:lnTo>
                    <a:pt x="368" y="1"/>
                  </a:lnTo>
                  <a:lnTo>
                    <a:pt x="391" y="0"/>
                  </a:lnTo>
                  <a:lnTo>
                    <a:pt x="410" y="0"/>
                  </a:lnTo>
                  <a:lnTo>
                    <a:pt x="423" y="0"/>
                  </a:lnTo>
                  <a:lnTo>
                    <a:pt x="425" y="6"/>
                  </a:lnTo>
                  <a:lnTo>
                    <a:pt x="425" y="23"/>
                  </a:lnTo>
                  <a:lnTo>
                    <a:pt x="418" y="52"/>
                  </a:lnTo>
                  <a:lnTo>
                    <a:pt x="402" y="93"/>
                  </a:lnTo>
                  <a:lnTo>
                    <a:pt x="400" y="98"/>
                  </a:lnTo>
                  <a:lnTo>
                    <a:pt x="392" y="112"/>
                  </a:lnTo>
                  <a:lnTo>
                    <a:pt x="381" y="133"/>
                  </a:lnTo>
                  <a:lnTo>
                    <a:pt x="366" y="158"/>
                  </a:lnTo>
                  <a:lnTo>
                    <a:pt x="347" y="186"/>
                  </a:lnTo>
                  <a:lnTo>
                    <a:pt x="326" y="214"/>
                  </a:lnTo>
                  <a:lnTo>
                    <a:pt x="302" y="239"/>
                  </a:lnTo>
                  <a:lnTo>
                    <a:pt x="277" y="261"/>
                  </a:lnTo>
                  <a:lnTo>
                    <a:pt x="273" y="263"/>
                  </a:lnTo>
                  <a:lnTo>
                    <a:pt x="261" y="271"/>
                  </a:lnTo>
                  <a:lnTo>
                    <a:pt x="245" y="281"/>
                  </a:lnTo>
                  <a:lnTo>
                    <a:pt x="225" y="293"/>
                  </a:lnTo>
                  <a:lnTo>
                    <a:pt x="203" y="307"/>
                  </a:lnTo>
                  <a:lnTo>
                    <a:pt x="182" y="319"/>
                  </a:lnTo>
                  <a:lnTo>
                    <a:pt x="163" y="329"/>
                  </a:lnTo>
                  <a:lnTo>
                    <a:pt x="148" y="337"/>
                  </a:lnTo>
                  <a:lnTo>
                    <a:pt x="288" y="386"/>
                  </a:lnTo>
                  <a:lnTo>
                    <a:pt x="292" y="387"/>
                  </a:lnTo>
                  <a:lnTo>
                    <a:pt x="303" y="389"/>
                  </a:lnTo>
                  <a:lnTo>
                    <a:pt x="320" y="394"/>
                  </a:lnTo>
                  <a:lnTo>
                    <a:pt x="340" y="402"/>
                  </a:lnTo>
                  <a:lnTo>
                    <a:pt x="362" y="409"/>
                  </a:lnTo>
                  <a:lnTo>
                    <a:pt x="383" y="419"/>
                  </a:lnTo>
                  <a:lnTo>
                    <a:pt x="403" y="429"/>
                  </a:lnTo>
                  <a:lnTo>
                    <a:pt x="420" y="441"/>
                  </a:lnTo>
                  <a:lnTo>
                    <a:pt x="422" y="443"/>
                  </a:lnTo>
                  <a:lnTo>
                    <a:pt x="430" y="452"/>
                  </a:lnTo>
                  <a:lnTo>
                    <a:pt x="441" y="466"/>
                  </a:lnTo>
                  <a:lnTo>
                    <a:pt x="456" y="483"/>
                  </a:lnTo>
                  <a:lnTo>
                    <a:pt x="471" y="506"/>
                  </a:lnTo>
                  <a:lnTo>
                    <a:pt x="487" y="532"/>
                  </a:lnTo>
                  <a:lnTo>
                    <a:pt x="503" y="561"/>
                  </a:lnTo>
                  <a:lnTo>
                    <a:pt x="517" y="593"/>
                  </a:lnTo>
                  <a:lnTo>
                    <a:pt x="513" y="594"/>
                  </a:lnTo>
                  <a:lnTo>
                    <a:pt x="503" y="598"/>
                  </a:lnTo>
                  <a:lnTo>
                    <a:pt x="486" y="604"/>
                  </a:lnTo>
                  <a:lnTo>
                    <a:pt x="466" y="609"/>
                  </a:lnTo>
                  <a:lnTo>
                    <a:pt x="441" y="615"/>
                  </a:lnTo>
                  <a:lnTo>
                    <a:pt x="412" y="620"/>
                  </a:lnTo>
                  <a:lnTo>
                    <a:pt x="383" y="622"/>
                  </a:lnTo>
                  <a:lnTo>
                    <a:pt x="353" y="622"/>
                  </a:lnTo>
                  <a:lnTo>
                    <a:pt x="348" y="620"/>
                  </a:lnTo>
                  <a:lnTo>
                    <a:pt x="333" y="618"/>
                  </a:lnTo>
                  <a:lnTo>
                    <a:pt x="311" y="612"/>
                  </a:lnTo>
                  <a:lnTo>
                    <a:pt x="285" y="604"/>
                  </a:lnTo>
                  <a:lnTo>
                    <a:pt x="255" y="593"/>
                  </a:lnTo>
                  <a:lnTo>
                    <a:pt x="225" y="581"/>
                  </a:lnTo>
                  <a:lnTo>
                    <a:pt x="197" y="564"/>
                  </a:lnTo>
                  <a:lnTo>
                    <a:pt x="173" y="544"/>
                  </a:lnTo>
                  <a:lnTo>
                    <a:pt x="170" y="542"/>
                  </a:lnTo>
                  <a:lnTo>
                    <a:pt x="162" y="536"/>
                  </a:lnTo>
                  <a:lnTo>
                    <a:pt x="148" y="524"/>
                  </a:lnTo>
                  <a:lnTo>
                    <a:pt x="133" y="511"/>
                  </a:lnTo>
                  <a:lnTo>
                    <a:pt x="116" y="494"/>
                  </a:lnTo>
                  <a:lnTo>
                    <a:pt x="100" y="474"/>
                  </a:lnTo>
                  <a:lnTo>
                    <a:pt x="83" y="453"/>
                  </a:lnTo>
                  <a:lnTo>
                    <a:pt x="70" y="431"/>
                  </a:lnTo>
                  <a:lnTo>
                    <a:pt x="65" y="426"/>
                  </a:lnTo>
                  <a:lnTo>
                    <a:pt x="55" y="412"/>
                  </a:lnTo>
                  <a:lnTo>
                    <a:pt x="45" y="393"/>
                  </a:lnTo>
                  <a:lnTo>
                    <a:pt x="38" y="372"/>
                  </a:lnTo>
                  <a:lnTo>
                    <a:pt x="0" y="368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00" name="Freeform 408"/>
            <p:cNvSpPr>
              <a:spLocks/>
            </p:cNvSpPr>
            <p:nvPr/>
          </p:nvSpPr>
          <p:spPr bwMode="auto">
            <a:xfrm>
              <a:off x="1788" y="2152"/>
              <a:ext cx="445" cy="198"/>
            </a:xfrm>
            <a:custGeom>
              <a:avLst/>
              <a:gdLst/>
              <a:ahLst/>
              <a:cxnLst>
                <a:cxn ang="0">
                  <a:pos x="28" y="111"/>
                </a:cxn>
                <a:cxn ang="0">
                  <a:pos x="35" y="102"/>
                </a:cxn>
                <a:cxn ang="0">
                  <a:pos x="55" y="82"/>
                </a:cxn>
                <a:cxn ang="0">
                  <a:pos x="89" y="56"/>
                </a:cxn>
                <a:cxn ang="0">
                  <a:pos x="135" y="31"/>
                </a:cxn>
                <a:cxn ang="0">
                  <a:pos x="149" y="25"/>
                </a:cxn>
                <a:cxn ang="0">
                  <a:pos x="184" y="13"/>
                </a:cxn>
                <a:cxn ang="0">
                  <a:pos x="230" y="2"/>
                </a:cxn>
                <a:cxn ang="0">
                  <a:pos x="275" y="0"/>
                </a:cxn>
                <a:cxn ang="0">
                  <a:pos x="289" y="1"/>
                </a:cxn>
                <a:cxn ang="0">
                  <a:pos x="324" y="8"/>
                </a:cxn>
                <a:cxn ang="0">
                  <a:pos x="365" y="25"/>
                </a:cxn>
                <a:cxn ang="0">
                  <a:pos x="403" y="56"/>
                </a:cxn>
                <a:cxn ang="0">
                  <a:pos x="444" y="116"/>
                </a:cxn>
                <a:cxn ang="0">
                  <a:pos x="433" y="127"/>
                </a:cxn>
                <a:cxn ang="0">
                  <a:pos x="413" y="143"/>
                </a:cxn>
                <a:cxn ang="0">
                  <a:pos x="381" y="162"/>
                </a:cxn>
                <a:cxn ang="0">
                  <a:pos x="358" y="172"/>
                </a:cxn>
                <a:cxn ang="0">
                  <a:pos x="331" y="180"/>
                </a:cxn>
                <a:cxn ang="0">
                  <a:pos x="291" y="190"/>
                </a:cxn>
                <a:cxn ang="0">
                  <a:pos x="248" y="197"/>
                </a:cxn>
                <a:cxn ang="0">
                  <a:pos x="225" y="198"/>
                </a:cxn>
                <a:cxn ang="0">
                  <a:pos x="200" y="196"/>
                </a:cxn>
                <a:cxn ang="0">
                  <a:pos x="160" y="187"/>
                </a:cxn>
                <a:cxn ang="0">
                  <a:pos x="111" y="171"/>
                </a:cxn>
                <a:cxn ang="0">
                  <a:pos x="86" y="158"/>
                </a:cxn>
                <a:cxn ang="0">
                  <a:pos x="81" y="155"/>
                </a:cxn>
                <a:cxn ang="0">
                  <a:pos x="70" y="146"/>
                </a:cxn>
                <a:cxn ang="0">
                  <a:pos x="56" y="135"/>
                </a:cxn>
                <a:cxn ang="0">
                  <a:pos x="46" y="127"/>
                </a:cxn>
                <a:cxn ang="0">
                  <a:pos x="29" y="128"/>
                </a:cxn>
                <a:cxn ang="0">
                  <a:pos x="0" y="128"/>
                </a:cxn>
              </a:cxnLst>
              <a:rect l="0" t="0" r="r" b="b"/>
              <a:pathLst>
                <a:path w="445" h="198">
                  <a:moveTo>
                    <a:pt x="0" y="128"/>
                  </a:moveTo>
                  <a:lnTo>
                    <a:pt x="28" y="111"/>
                  </a:lnTo>
                  <a:lnTo>
                    <a:pt x="29" y="108"/>
                  </a:lnTo>
                  <a:lnTo>
                    <a:pt x="35" y="102"/>
                  </a:lnTo>
                  <a:lnTo>
                    <a:pt x="44" y="93"/>
                  </a:lnTo>
                  <a:lnTo>
                    <a:pt x="55" y="82"/>
                  </a:lnTo>
                  <a:lnTo>
                    <a:pt x="71" y="68"/>
                  </a:lnTo>
                  <a:lnTo>
                    <a:pt x="89" y="56"/>
                  </a:lnTo>
                  <a:lnTo>
                    <a:pt x="111" y="42"/>
                  </a:lnTo>
                  <a:lnTo>
                    <a:pt x="135" y="31"/>
                  </a:lnTo>
                  <a:lnTo>
                    <a:pt x="139" y="30"/>
                  </a:lnTo>
                  <a:lnTo>
                    <a:pt x="149" y="25"/>
                  </a:lnTo>
                  <a:lnTo>
                    <a:pt x="165" y="20"/>
                  </a:lnTo>
                  <a:lnTo>
                    <a:pt x="184" y="13"/>
                  </a:lnTo>
                  <a:lnTo>
                    <a:pt x="206" y="7"/>
                  </a:lnTo>
                  <a:lnTo>
                    <a:pt x="230" y="2"/>
                  </a:lnTo>
                  <a:lnTo>
                    <a:pt x="253" y="0"/>
                  </a:lnTo>
                  <a:lnTo>
                    <a:pt x="275" y="0"/>
                  </a:lnTo>
                  <a:lnTo>
                    <a:pt x="279" y="0"/>
                  </a:lnTo>
                  <a:lnTo>
                    <a:pt x="289" y="1"/>
                  </a:lnTo>
                  <a:lnTo>
                    <a:pt x="305" y="3"/>
                  </a:lnTo>
                  <a:lnTo>
                    <a:pt x="324" y="8"/>
                  </a:lnTo>
                  <a:lnTo>
                    <a:pt x="344" y="15"/>
                  </a:lnTo>
                  <a:lnTo>
                    <a:pt x="365" y="25"/>
                  </a:lnTo>
                  <a:lnTo>
                    <a:pt x="385" y="38"/>
                  </a:lnTo>
                  <a:lnTo>
                    <a:pt x="403" y="56"/>
                  </a:lnTo>
                  <a:lnTo>
                    <a:pt x="445" y="115"/>
                  </a:lnTo>
                  <a:lnTo>
                    <a:pt x="444" y="116"/>
                  </a:lnTo>
                  <a:lnTo>
                    <a:pt x="440" y="121"/>
                  </a:lnTo>
                  <a:lnTo>
                    <a:pt x="433" y="127"/>
                  </a:lnTo>
                  <a:lnTo>
                    <a:pt x="424" y="135"/>
                  </a:lnTo>
                  <a:lnTo>
                    <a:pt x="413" y="143"/>
                  </a:lnTo>
                  <a:lnTo>
                    <a:pt x="398" y="153"/>
                  </a:lnTo>
                  <a:lnTo>
                    <a:pt x="381" y="162"/>
                  </a:lnTo>
                  <a:lnTo>
                    <a:pt x="361" y="171"/>
                  </a:lnTo>
                  <a:lnTo>
                    <a:pt x="358" y="172"/>
                  </a:lnTo>
                  <a:lnTo>
                    <a:pt x="348" y="175"/>
                  </a:lnTo>
                  <a:lnTo>
                    <a:pt x="331" y="180"/>
                  </a:lnTo>
                  <a:lnTo>
                    <a:pt x="313" y="185"/>
                  </a:lnTo>
                  <a:lnTo>
                    <a:pt x="291" y="190"/>
                  </a:lnTo>
                  <a:lnTo>
                    <a:pt x="269" y="195"/>
                  </a:lnTo>
                  <a:lnTo>
                    <a:pt x="248" y="197"/>
                  </a:lnTo>
                  <a:lnTo>
                    <a:pt x="229" y="198"/>
                  </a:lnTo>
                  <a:lnTo>
                    <a:pt x="225" y="198"/>
                  </a:lnTo>
                  <a:lnTo>
                    <a:pt x="215" y="197"/>
                  </a:lnTo>
                  <a:lnTo>
                    <a:pt x="200" y="196"/>
                  </a:lnTo>
                  <a:lnTo>
                    <a:pt x="181" y="192"/>
                  </a:lnTo>
                  <a:lnTo>
                    <a:pt x="160" y="187"/>
                  </a:lnTo>
                  <a:lnTo>
                    <a:pt x="136" y="181"/>
                  </a:lnTo>
                  <a:lnTo>
                    <a:pt x="111" y="171"/>
                  </a:lnTo>
                  <a:lnTo>
                    <a:pt x="88" y="160"/>
                  </a:lnTo>
                  <a:lnTo>
                    <a:pt x="86" y="158"/>
                  </a:lnTo>
                  <a:lnTo>
                    <a:pt x="85" y="157"/>
                  </a:lnTo>
                  <a:lnTo>
                    <a:pt x="81" y="155"/>
                  </a:lnTo>
                  <a:lnTo>
                    <a:pt x="76" y="151"/>
                  </a:lnTo>
                  <a:lnTo>
                    <a:pt x="70" y="146"/>
                  </a:lnTo>
                  <a:lnTo>
                    <a:pt x="64" y="141"/>
                  </a:lnTo>
                  <a:lnTo>
                    <a:pt x="56" y="135"/>
                  </a:lnTo>
                  <a:lnTo>
                    <a:pt x="49" y="128"/>
                  </a:lnTo>
                  <a:lnTo>
                    <a:pt x="46" y="127"/>
                  </a:lnTo>
                  <a:lnTo>
                    <a:pt x="39" y="126"/>
                  </a:lnTo>
                  <a:lnTo>
                    <a:pt x="29" y="128"/>
                  </a:lnTo>
                  <a:lnTo>
                    <a:pt x="14" y="140"/>
                  </a:lnTo>
                  <a:lnTo>
                    <a:pt x="0" y="128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01" name="Freeform 409"/>
            <p:cNvSpPr>
              <a:spLocks/>
            </p:cNvSpPr>
            <p:nvPr/>
          </p:nvSpPr>
          <p:spPr bwMode="auto">
            <a:xfrm>
              <a:off x="1583" y="2114"/>
              <a:ext cx="70" cy="160"/>
            </a:xfrm>
            <a:custGeom>
              <a:avLst/>
              <a:gdLst/>
              <a:ahLst/>
              <a:cxnLst>
                <a:cxn ang="0">
                  <a:pos x="0" y="160"/>
                </a:cxn>
                <a:cxn ang="0">
                  <a:pos x="70" y="80"/>
                </a:cxn>
                <a:cxn ang="0">
                  <a:pos x="70" y="0"/>
                </a:cxn>
                <a:cxn ang="0">
                  <a:pos x="69" y="3"/>
                </a:cxn>
                <a:cxn ang="0">
                  <a:pos x="64" y="9"/>
                </a:cxn>
                <a:cxn ang="0">
                  <a:pos x="58" y="18"/>
                </a:cxn>
                <a:cxn ang="0">
                  <a:pos x="50" y="29"/>
                </a:cxn>
                <a:cxn ang="0">
                  <a:pos x="41" y="41"/>
                </a:cxn>
                <a:cxn ang="0">
                  <a:pos x="33" y="56"/>
                </a:cxn>
                <a:cxn ang="0">
                  <a:pos x="25" y="70"/>
                </a:cxn>
                <a:cxn ang="0">
                  <a:pos x="18" y="84"/>
                </a:cxn>
                <a:cxn ang="0">
                  <a:pos x="0" y="160"/>
                </a:cxn>
              </a:cxnLst>
              <a:rect l="0" t="0" r="r" b="b"/>
              <a:pathLst>
                <a:path w="70" h="160">
                  <a:moveTo>
                    <a:pt x="0" y="160"/>
                  </a:moveTo>
                  <a:lnTo>
                    <a:pt x="70" y="80"/>
                  </a:lnTo>
                  <a:lnTo>
                    <a:pt x="70" y="0"/>
                  </a:lnTo>
                  <a:lnTo>
                    <a:pt x="69" y="3"/>
                  </a:lnTo>
                  <a:lnTo>
                    <a:pt x="64" y="9"/>
                  </a:lnTo>
                  <a:lnTo>
                    <a:pt x="58" y="18"/>
                  </a:lnTo>
                  <a:lnTo>
                    <a:pt x="50" y="29"/>
                  </a:lnTo>
                  <a:lnTo>
                    <a:pt x="41" y="41"/>
                  </a:lnTo>
                  <a:lnTo>
                    <a:pt x="33" y="56"/>
                  </a:lnTo>
                  <a:lnTo>
                    <a:pt x="25" y="70"/>
                  </a:lnTo>
                  <a:lnTo>
                    <a:pt x="18" y="84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02" name="Freeform 410"/>
            <p:cNvSpPr>
              <a:spLocks/>
            </p:cNvSpPr>
            <p:nvPr/>
          </p:nvSpPr>
          <p:spPr bwMode="auto">
            <a:xfrm>
              <a:off x="1677" y="2020"/>
              <a:ext cx="97" cy="143"/>
            </a:xfrm>
            <a:custGeom>
              <a:avLst/>
              <a:gdLst/>
              <a:ahLst/>
              <a:cxnLst>
                <a:cxn ang="0">
                  <a:pos x="4" y="143"/>
                </a:cxn>
                <a:cxn ang="0">
                  <a:pos x="0" y="67"/>
                </a:cxn>
                <a:cxn ang="0">
                  <a:pos x="1" y="65"/>
                </a:cxn>
                <a:cxn ang="0">
                  <a:pos x="4" y="60"/>
                </a:cxn>
                <a:cxn ang="0">
                  <a:pos x="9" y="55"/>
                </a:cxn>
                <a:cxn ang="0">
                  <a:pos x="14" y="48"/>
                </a:cxn>
                <a:cxn ang="0">
                  <a:pos x="21" y="39"/>
                </a:cxn>
                <a:cxn ang="0">
                  <a:pos x="30" y="32"/>
                </a:cxn>
                <a:cxn ang="0">
                  <a:pos x="39" y="24"/>
                </a:cxn>
                <a:cxn ang="0">
                  <a:pos x="49" y="18"/>
                </a:cxn>
                <a:cxn ang="0">
                  <a:pos x="97" y="0"/>
                </a:cxn>
                <a:cxn ang="0">
                  <a:pos x="94" y="42"/>
                </a:cxn>
                <a:cxn ang="0">
                  <a:pos x="4" y="143"/>
                </a:cxn>
              </a:cxnLst>
              <a:rect l="0" t="0" r="r" b="b"/>
              <a:pathLst>
                <a:path w="97" h="143">
                  <a:moveTo>
                    <a:pt x="4" y="143"/>
                  </a:moveTo>
                  <a:lnTo>
                    <a:pt x="0" y="67"/>
                  </a:lnTo>
                  <a:lnTo>
                    <a:pt x="1" y="65"/>
                  </a:lnTo>
                  <a:lnTo>
                    <a:pt x="4" y="60"/>
                  </a:lnTo>
                  <a:lnTo>
                    <a:pt x="9" y="55"/>
                  </a:lnTo>
                  <a:lnTo>
                    <a:pt x="14" y="48"/>
                  </a:lnTo>
                  <a:lnTo>
                    <a:pt x="21" y="39"/>
                  </a:lnTo>
                  <a:lnTo>
                    <a:pt x="30" y="32"/>
                  </a:lnTo>
                  <a:lnTo>
                    <a:pt x="39" y="24"/>
                  </a:lnTo>
                  <a:lnTo>
                    <a:pt x="49" y="18"/>
                  </a:lnTo>
                  <a:lnTo>
                    <a:pt x="97" y="0"/>
                  </a:lnTo>
                  <a:lnTo>
                    <a:pt x="94" y="42"/>
                  </a:lnTo>
                  <a:lnTo>
                    <a:pt x="4" y="143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03" name="Freeform 411"/>
            <p:cNvSpPr>
              <a:spLocks/>
            </p:cNvSpPr>
            <p:nvPr/>
          </p:nvSpPr>
          <p:spPr bwMode="auto">
            <a:xfrm>
              <a:off x="1802" y="1972"/>
              <a:ext cx="121" cy="83"/>
            </a:xfrm>
            <a:custGeom>
              <a:avLst/>
              <a:gdLst/>
              <a:ahLst/>
              <a:cxnLst>
                <a:cxn ang="0">
                  <a:pos x="0" y="83"/>
                </a:cxn>
                <a:cxn ang="0">
                  <a:pos x="7" y="31"/>
                </a:cxn>
                <a:cxn ang="0">
                  <a:pos x="10" y="30"/>
                </a:cxn>
                <a:cxn ang="0">
                  <a:pos x="15" y="26"/>
                </a:cxn>
                <a:cxn ang="0">
                  <a:pos x="25" y="21"/>
                </a:cxn>
                <a:cxn ang="0">
                  <a:pos x="39" y="15"/>
                </a:cxn>
                <a:cxn ang="0">
                  <a:pos x="55" y="10"/>
                </a:cxn>
                <a:cxn ang="0">
                  <a:pos x="75" y="5"/>
                </a:cxn>
                <a:cxn ang="0">
                  <a:pos x="96" y="1"/>
                </a:cxn>
                <a:cxn ang="0">
                  <a:pos x="121" y="0"/>
                </a:cxn>
                <a:cxn ang="0">
                  <a:pos x="0" y="83"/>
                </a:cxn>
              </a:cxnLst>
              <a:rect l="0" t="0" r="r" b="b"/>
              <a:pathLst>
                <a:path w="121" h="83">
                  <a:moveTo>
                    <a:pt x="0" y="83"/>
                  </a:moveTo>
                  <a:lnTo>
                    <a:pt x="7" y="31"/>
                  </a:lnTo>
                  <a:lnTo>
                    <a:pt x="10" y="30"/>
                  </a:lnTo>
                  <a:lnTo>
                    <a:pt x="15" y="26"/>
                  </a:lnTo>
                  <a:lnTo>
                    <a:pt x="25" y="21"/>
                  </a:lnTo>
                  <a:lnTo>
                    <a:pt x="39" y="15"/>
                  </a:lnTo>
                  <a:lnTo>
                    <a:pt x="55" y="10"/>
                  </a:lnTo>
                  <a:lnTo>
                    <a:pt x="75" y="5"/>
                  </a:lnTo>
                  <a:lnTo>
                    <a:pt x="96" y="1"/>
                  </a:lnTo>
                  <a:lnTo>
                    <a:pt x="121" y="0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04" name="Freeform 412"/>
            <p:cNvSpPr>
              <a:spLocks/>
            </p:cNvSpPr>
            <p:nvPr/>
          </p:nvSpPr>
          <p:spPr bwMode="auto">
            <a:xfrm>
              <a:off x="1854" y="1979"/>
              <a:ext cx="100" cy="79"/>
            </a:xfrm>
            <a:custGeom>
              <a:avLst/>
              <a:gdLst/>
              <a:ahLst/>
              <a:cxnLst>
                <a:cxn ang="0">
                  <a:pos x="0" y="79"/>
                </a:cxn>
                <a:cxn ang="0">
                  <a:pos x="100" y="0"/>
                </a:cxn>
                <a:cxn ang="0">
                  <a:pos x="98" y="10"/>
                </a:cxn>
                <a:cxn ang="0">
                  <a:pos x="90" y="31"/>
                </a:cxn>
                <a:cxn ang="0">
                  <a:pos x="80" y="58"/>
                </a:cxn>
                <a:cxn ang="0">
                  <a:pos x="69" y="76"/>
                </a:cxn>
                <a:cxn ang="0">
                  <a:pos x="0" y="79"/>
                </a:cxn>
              </a:cxnLst>
              <a:rect l="0" t="0" r="r" b="b"/>
              <a:pathLst>
                <a:path w="100" h="79">
                  <a:moveTo>
                    <a:pt x="0" y="79"/>
                  </a:moveTo>
                  <a:lnTo>
                    <a:pt x="100" y="0"/>
                  </a:lnTo>
                  <a:lnTo>
                    <a:pt x="98" y="10"/>
                  </a:lnTo>
                  <a:lnTo>
                    <a:pt x="90" y="31"/>
                  </a:lnTo>
                  <a:lnTo>
                    <a:pt x="80" y="58"/>
                  </a:lnTo>
                  <a:lnTo>
                    <a:pt x="69" y="76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05" name="Freeform 413"/>
            <p:cNvSpPr>
              <a:spLocks/>
            </p:cNvSpPr>
            <p:nvPr/>
          </p:nvSpPr>
          <p:spPr bwMode="auto">
            <a:xfrm>
              <a:off x="1757" y="2079"/>
              <a:ext cx="150" cy="59"/>
            </a:xfrm>
            <a:custGeom>
              <a:avLst/>
              <a:gdLst/>
              <a:ahLst/>
              <a:cxnLst>
                <a:cxn ang="0">
                  <a:pos x="70" y="0"/>
                </a:cxn>
                <a:cxn ang="0">
                  <a:pos x="150" y="0"/>
                </a:cxn>
                <a:cxn ang="0">
                  <a:pos x="149" y="1"/>
                </a:cxn>
                <a:cxn ang="0">
                  <a:pos x="147" y="6"/>
                </a:cxn>
                <a:cxn ang="0">
                  <a:pos x="144" y="14"/>
                </a:cxn>
                <a:cxn ang="0">
                  <a:pos x="139" y="21"/>
                </a:cxn>
                <a:cxn ang="0">
                  <a:pos x="132" y="31"/>
                </a:cxn>
                <a:cxn ang="0">
                  <a:pos x="125" y="41"/>
                </a:cxn>
                <a:cxn ang="0">
                  <a:pos x="116" y="50"/>
                </a:cxn>
                <a:cxn ang="0">
                  <a:pos x="107" y="59"/>
                </a:cxn>
                <a:cxn ang="0">
                  <a:pos x="0" y="59"/>
                </a:cxn>
                <a:cxn ang="0">
                  <a:pos x="70" y="0"/>
                </a:cxn>
              </a:cxnLst>
              <a:rect l="0" t="0" r="r" b="b"/>
              <a:pathLst>
                <a:path w="150" h="59">
                  <a:moveTo>
                    <a:pt x="70" y="0"/>
                  </a:moveTo>
                  <a:lnTo>
                    <a:pt x="150" y="0"/>
                  </a:lnTo>
                  <a:lnTo>
                    <a:pt x="149" y="1"/>
                  </a:lnTo>
                  <a:lnTo>
                    <a:pt x="147" y="6"/>
                  </a:lnTo>
                  <a:lnTo>
                    <a:pt x="144" y="14"/>
                  </a:lnTo>
                  <a:lnTo>
                    <a:pt x="139" y="21"/>
                  </a:lnTo>
                  <a:lnTo>
                    <a:pt x="132" y="31"/>
                  </a:lnTo>
                  <a:lnTo>
                    <a:pt x="125" y="41"/>
                  </a:lnTo>
                  <a:lnTo>
                    <a:pt x="116" y="50"/>
                  </a:lnTo>
                  <a:lnTo>
                    <a:pt x="107" y="59"/>
                  </a:lnTo>
                  <a:lnTo>
                    <a:pt x="0" y="59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06" name="Freeform 414"/>
            <p:cNvSpPr>
              <a:spLocks/>
            </p:cNvSpPr>
            <p:nvPr/>
          </p:nvSpPr>
          <p:spPr bwMode="auto">
            <a:xfrm>
              <a:off x="1688" y="2163"/>
              <a:ext cx="153" cy="51"/>
            </a:xfrm>
            <a:custGeom>
              <a:avLst/>
              <a:gdLst/>
              <a:ahLst/>
              <a:cxnLst>
                <a:cxn ang="0">
                  <a:pos x="45" y="0"/>
                </a:cxn>
                <a:cxn ang="0">
                  <a:pos x="153" y="0"/>
                </a:cxn>
                <a:cxn ang="0">
                  <a:pos x="151" y="1"/>
                </a:cxn>
                <a:cxn ang="0">
                  <a:pos x="148" y="5"/>
                </a:cxn>
                <a:cxn ang="0">
                  <a:pos x="143" y="11"/>
                </a:cxn>
                <a:cxn ang="0">
                  <a:pos x="135" y="17"/>
                </a:cxn>
                <a:cxn ang="0">
                  <a:pos x="125" y="26"/>
                </a:cxn>
                <a:cxn ang="0">
                  <a:pos x="113" y="35"/>
                </a:cxn>
                <a:cxn ang="0">
                  <a:pos x="99" y="44"/>
                </a:cxn>
                <a:cxn ang="0">
                  <a:pos x="83" y="51"/>
                </a:cxn>
                <a:cxn ang="0">
                  <a:pos x="0" y="45"/>
                </a:cxn>
                <a:cxn ang="0">
                  <a:pos x="45" y="0"/>
                </a:cxn>
              </a:cxnLst>
              <a:rect l="0" t="0" r="r" b="b"/>
              <a:pathLst>
                <a:path w="153" h="51">
                  <a:moveTo>
                    <a:pt x="45" y="0"/>
                  </a:moveTo>
                  <a:lnTo>
                    <a:pt x="153" y="0"/>
                  </a:lnTo>
                  <a:lnTo>
                    <a:pt x="151" y="1"/>
                  </a:lnTo>
                  <a:lnTo>
                    <a:pt x="148" y="5"/>
                  </a:lnTo>
                  <a:lnTo>
                    <a:pt x="143" y="11"/>
                  </a:lnTo>
                  <a:lnTo>
                    <a:pt x="135" y="17"/>
                  </a:lnTo>
                  <a:lnTo>
                    <a:pt x="125" y="26"/>
                  </a:lnTo>
                  <a:lnTo>
                    <a:pt x="113" y="35"/>
                  </a:lnTo>
                  <a:lnTo>
                    <a:pt x="99" y="44"/>
                  </a:lnTo>
                  <a:lnTo>
                    <a:pt x="83" y="51"/>
                  </a:lnTo>
                  <a:lnTo>
                    <a:pt x="0" y="45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07" name="Freeform 415"/>
            <p:cNvSpPr>
              <a:spLocks/>
            </p:cNvSpPr>
            <p:nvPr/>
          </p:nvSpPr>
          <p:spPr bwMode="auto">
            <a:xfrm>
              <a:off x="1614" y="2232"/>
              <a:ext cx="112" cy="66"/>
            </a:xfrm>
            <a:custGeom>
              <a:avLst/>
              <a:gdLst/>
              <a:ahLst/>
              <a:cxnLst>
                <a:cxn ang="0">
                  <a:pos x="39" y="0"/>
                </a:cxn>
                <a:cxn ang="0">
                  <a:pos x="112" y="11"/>
                </a:cxn>
                <a:cxn ang="0">
                  <a:pos x="110" y="13"/>
                </a:cxn>
                <a:cxn ang="0">
                  <a:pos x="104" y="18"/>
                </a:cxn>
                <a:cxn ang="0">
                  <a:pos x="95" y="26"/>
                </a:cxn>
                <a:cxn ang="0">
                  <a:pos x="84" y="35"/>
                </a:cxn>
                <a:cxn ang="0">
                  <a:pos x="68" y="45"/>
                </a:cxn>
                <a:cxn ang="0">
                  <a:pos x="49" y="53"/>
                </a:cxn>
                <a:cxn ang="0">
                  <a:pos x="27" y="61"/>
                </a:cxn>
                <a:cxn ang="0">
                  <a:pos x="0" y="66"/>
                </a:cxn>
                <a:cxn ang="0">
                  <a:pos x="39" y="0"/>
                </a:cxn>
              </a:cxnLst>
              <a:rect l="0" t="0" r="r" b="b"/>
              <a:pathLst>
                <a:path w="112" h="66">
                  <a:moveTo>
                    <a:pt x="39" y="0"/>
                  </a:moveTo>
                  <a:lnTo>
                    <a:pt x="112" y="11"/>
                  </a:lnTo>
                  <a:lnTo>
                    <a:pt x="110" y="13"/>
                  </a:lnTo>
                  <a:lnTo>
                    <a:pt x="104" y="18"/>
                  </a:lnTo>
                  <a:lnTo>
                    <a:pt x="95" y="26"/>
                  </a:lnTo>
                  <a:lnTo>
                    <a:pt x="84" y="35"/>
                  </a:lnTo>
                  <a:lnTo>
                    <a:pt x="68" y="45"/>
                  </a:lnTo>
                  <a:lnTo>
                    <a:pt x="49" y="53"/>
                  </a:lnTo>
                  <a:lnTo>
                    <a:pt x="27" y="61"/>
                  </a:lnTo>
                  <a:lnTo>
                    <a:pt x="0" y="66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08" name="Freeform 416"/>
            <p:cNvSpPr>
              <a:spLocks/>
            </p:cNvSpPr>
            <p:nvPr/>
          </p:nvSpPr>
          <p:spPr bwMode="auto">
            <a:xfrm>
              <a:off x="1653" y="2325"/>
              <a:ext cx="211" cy="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20" y="0"/>
                </a:cxn>
                <a:cxn ang="0">
                  <a:pos x="41" y="2"/>
                </a:cxn>
                <a:cxn ang="0">
                  <a:pos x="68" y="4"/>
                </a:cxn>
                <a:cxn ang="0">
                  <a:pos x="99" y="8"/>
                </a:cxn>
                <a:cxn ang="0">
                  <a:pos x="130" y="14"/>
                </a:cxn>
                <a:cxn ang="0">
                  <a:pos x="161" y="23"/>
                </a:cxn>
                <a:cxn ang="0">
                  <a:pos x="191" y="35"/>
                </a:cxn>
                <a:cxn ang="0">
                  <a:pos x="211" y="45"/>
                </a:cxn>
                <a:cxn ang="0">
                  <a:pos x="121" y="60"/>
                </a:cxn>
                <a:cxn ang="0">
                  <a:pos x="0" y="0"/>
                </a:cxn>
              </a:cxnLst>
              <a:rect l="0" t="0" r="r" b="b"/>
              <a:pathLst>
                <a:path w="211" h="60">
                  <a:moveTo>
                    <a:pt x="0" y="0"/>
                  </a:moveTo>
                  <a:lnTo>
                    <a:pt x="5" y="0"/>
                  </a:lnTo>
                  <a:lnTo>
                    <a:pt x="20" y="0"/>
                  </a:lnTo>
                  <a:lnTo>
                    <a:pt x="41" y="2"/>
                  </a:lnTo>
                  <a:lnTo>
                    <a:pt x="68" y="4"/>
                  </a:lnTo>
                  <a:lnTo>
                    <a:pt x="99" y="8"/>
                  </a:lnTo>
                  <a:lnTo>
                    <a:pt x="130" y="14"/>
                  </a:lnTo>
                  <a:lnTo>
                    <a:pt x="161" y="23"/>
                  </a:lnTo>
                  <a:lnTo>
                    <a:pt x="191" y="35"/>
                  </a:lnTo>
                  <a:lnTo>
                    <a:pt x="211" y="45"/>
                  </a:lnTo>
                  <a:lnTo>
                    <a:pt x="121" y="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09" name="Freeform 417"/>
            <p:cNvSpPr>
              <a:spLocks/>
            </p:cNvSpPr>
            <p:nvPr/>
          </p:nvSpPr>
          <p:spPr bwMode="auto">
            <a:xfrm>
              <a:off x="1649" y="2350"/>
              <a:ext cx="73" cy="1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3" y="49"/>
                </a:cxn>
                <a:cxn ang="0">
                  <a:pos x="73" y="104"/>
                </a:cxn>
                <a:cxn ang="0">
                  <a:pos x="70" y="103"/>
                </a:cxn>
                <a:cxn ang="0">
                  <a:pos x="64" y="97"/>
                </a:cxn>
                <a:cxn ang="0">
                  <a:pos x="55" y="89"/>
                </a:cxn>
                <a:cxn ang="0">
                  <a:pos x="44" y="77"/>
                </a:cxn>
                <a:cxn ang="0">
                  <a:pos x="33" y="63"/>
                </a:cxn>
                <a:cxn ang="0">
                  <a:pos x="20" y="44"/>
                </a:cxn>
                <a:cxn ang="0">
                  <a:pos x="9" y="24"/>
                </a:cxn>
                <a:cxn ang="0">
                  <a:pos x="0" y="0"/>
                </a:cxn>
              </a:cxnLst>
              <a:rect l="0" t="0" r="r" b="b"/>
              <a:pathLst>
                <a:path w="73" h="104">
                  <a:moveTo>
                    <a:pt x="0" y="0"/>
                  </a:moveTo>
                  <a:lnTo>
                    <a:pt x="73" y="49"/>
                  </a:lnTo>
                  <a:lnTo>
                    <a:pt x="73" y="104"/>
                  </a:lnTo>
                  <a:lnTo>
                    <a:pt x="70" y="103"/>
                  </a:lnTo>
                  <a:lnTo>
                    <a:pt x="64" y="97"/>
                  </a:lnTo>
                  <a:lnTo>
                    <a:pt x="55" y="89"/>
                  </a:lnTo>
                  <a:lnTo>
                    <a:pt x="44" y="77"/>
                  </a:lnTo>
                  <a:lnTo>
                    <a:pt x="33" y="63"/>
                  </a:lnTo>
                  <a:lnTo>
                    <a:pt x="20" y="44"/>
                  </a:lnTo>
                  <a:lnTo>
                    <a:pt x="9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10" name="Freeform 418"/>
            <p:cNvSpPr>
              <a:spLocks/>
            </p:cNvSpPr>
            <p:nvPr/>
          </p:nvSpPr>
          <p:spPr bwMode="auto">
            <a:xfrm>
              <a:off x="1757" y="2405"/>
              <a:ext cx="62" cy="112"/>
            </a:xfrm>
            <a:custGeom>
              <a:avLst/>
              <a:gdLst/>
              <a:ahLst/>
              <a:cxnLst>
                <a:cxn ang="0">
                  <a:pos x="0" y="74"/>
                </a:cxn>
                <a:cxn ang="0">
                  <a:pos x="0" y="0"/>
                </a:cxn>
                <a:cxn ang="0">
                  <a:pos x="56" y="18"/>
                </a:cxn>
                <a:cxn ang="0">
                  <a:pos x="62" y="112"/>
                </a:cxn>
                <a:cxn ang="0">
                  <a:pos x="0" y="74"/>
                </a:cxn>
              </a:cxnLst>
              <a:rect l="0" t="0" r="r" b="b"/>
              <a:pathLst>
                <a:path w="62" h="112">
                  <a:moveTo>
                    <a:pt x="0" y="74"/>
                  </a:moveTo>
                  <a:lnTo>
                    <a:pt x="0" y="0"/>
                  </a:lnTo>
                  <a:lnTo>
                    <a:pt x="56" y="18"/>
                  </a:lnTo>
                  <a:lnTo>
                    <a:pt x="62" y="112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11" name="Freeform 419"/>
            <p:cNvSpPr>
              <a:spLocks/>
            </p:cNvSpPr>
            <p:nvPr/>
          </p:nvSpPr>
          <p:spPr bwMode="auto">
            <a:xfrm>
              <a:off x="1837" y="2444"/>
              <a:ext cx="90" cy="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76"/>
                </a:cxn>
                <a:cxn ang="0">
                  <a:pos x="5" y="78"/>
                </a:cxn>
                <a:cxn ang="0">
                  <a:pos x="10" y="80"/>
                </a:cxn>
                <a:cxn ang="0">
                  <a:pos x="19" y="83"/>
                </a:cxn>
                <a:cxn ang="0">
                  <a:pos x="29" y="86"/>
                </a:cxn>
                <a:cxn ang="0">
                  <a:pos x="41" y="90"/>
                </a:cxn>
                <a:cxn ang="0">
                  <a:pos x="56" y="93"/>
                </a:cxn>
                <a:cxn ang="0">
                  <a:pos x="72" y="94"/>
                </a:cxn>
                <a:cxn ang="0">
                  <a:pos x="90" y="94"/>
                </a:cxn>
                <a:cxn ang="0">
                  <a:pos x="49" y="14"/>
                </a:cxn>
                <a:cxn ang="0">
                  <a:pos x="0" y="0"/>
                </a:cxn>
              </a:cxnLst>
              <a:rect l="0" t="0" r="r" b="b"/>
              <a:pathLst>
                <a:path w="90" h="94">
                  <a:moveTo>
                    <a:pt x="0" y="0"/>
                  </a:moveTo>
                  <a:lnTo>
                    <a:pt x="4" y="76"/>
                  </a:lnTo>
                  <a:lnTo>
                    <a:pt x="5" y="78"/>
                  </a:lnTo>
                  <a:lnTo>
                    <a:pt x="10" y="80"/>
                  </a:lnTo>
                  <a:lnTo>
                    <a:pt x="19" y="83"/>
                  </a:lnTo>
                  <a:lnTo>
                    <a:pt x="29" y="86"/>
                  </a:lnTo>
                  <a:lnTo>
                    <a:pt x="41" y="90"/>
                  </a:lnTo>
                  <a:lnTo>
                    <a:pt x="56" y="93"/>
                  </a:lnTo>
                  <a:lnTo>
                    <a:pt x="72" y="94"/>
                  </a:lnTo>
                  <a:lnTo>
                    <a:pt x="90" y="94"/>
                  </a:lnTo>
                  <a:lnTo>
                    <a:pt x="49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12" name="Freeform 420"/>
            <p:cNvSpPr>
              <a:spLocks/>
            </p:cNvSpPr>
            <p:nvPr/>
          </p:nvSpPr>
          <p:spPr bwMode="auto">
            <a:xfrm>
              <a:off x="1931" y="2485"/>
              <a:ext cx="93" cy="5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7" y="53"/>
                </a:cxn>
                <a:cxn ang="0">
                  <a:pos x="28" y="53"/>
                </a:cxn>
                <a:cxn ang="0">
                  <a:pos x="33" y="53"/>
                </a:cxn>
                <a:cxn ang="0">
                  <a:pos x="40" y="54"/>
                </a:cxn>
                <a:cxn ang="0">
                  <a:pos x="48" y="54"/>
                </a:cxn>
                <a:cxn ang="0">
                  <a:pos x="58" y="54"/>
                </a:cxn>
                <a:cxn ang="0">
                  <a:pos x="70" y="53"/>
                </a:cxn>
                <a:cxn ang="0">
                  <a:pos x="82" y="52"/>
                </a:cxn>
                <a:cxn ang="0">
                  <a:pos x="93" y="49"/>
                </a:cxn>
                <a:cxn ang="0">
                  <a:pos x="92" y="48"/>
                </a:cxn>
                <a:cxn ang="0">
                  <a:pos x="87" y="44"/>
                </a:cxn>
                <a:cxn ang="0">
                  <a:pos x="80" y="39"/>
                </a:cxn>
                <a:cxn ang="0">
                  <a:pos x="70" y="33"/>
                </a:cxn>
                <a:cxn ang="0">
                  <a:pos x="57" y="25"/>
                </a:cxn>
                <a:cxn ang="0">
                  <a:pos x="41" y="17"/>
                </a:cxn>
                <a:cxn ang="0">
                  <a:pos x="22" y="9"/>
                </a:cxn>
                <a:cxn ang="0">
                  <a:pos x="0" y="0"/>
                </a:cxn>
              </a:cxnLst>
              <a:rect l="0" t="0" r="r" b="b"/>
              <a:pathLst>
                <a:path w="93" h="54">
                  <a:moveTo>
                    <a:pt x="0" y="0"/>
                  </a:moveTo>
                  <a:lnTo>
                    <a:pt x="27" y="53"/>
                  </a:lnTo>
                  <a:lnTo>
                    <a:pt x="28" y="53"/>
                  </a:lnTo>
                  <a:lnTo>
                    <a:pt x="33" y="53"/>
                  </a:lnTo>
                  <a:lnTo>
                    <a:pt x="40" y="54"/>
                  </a:lnTo>
                  <a:lnTo>
                    <a:pt x="48" y="54"/>
                  </a:lnTo>
                  <a:lnTo>
                    <a:pt x="58" y="54"/>
                  </a:lnTo>
                  <a:lnTo>
                    <a:pt x="70" y="53"/>
                  </a:lnTo>
                  <a:lnTo>
                    <a:pt x="82" y="52"/>
                  </a:lnTo>
                  <a:lnTo>
                    <a:pt x="93" y="49"/>
                  </a:lnTo>
                  <a:lnTo>
                    <a:pt x="92" y="48"/>
                  </a:lnTo>
                  <a:lnTo>
                    <a:pt x="87" y="44"/>
                  </a:lnTo>
                  <a:lnTo>
                    <a:pt x="80" y="39"/>
                  </a:lnTo>
                  <a:lnTo>
                    <a:pt x="70" y="33"/>
                  </a:lnTo>
                  <a:lnTo>
                    <a:pt x="57" y="25"/>
                  </a:lnTo>
                  <a:lnTo>
                    <a:pt x="41" y="17"/>
                  </a:lnTo>
                  <a:lnTo>
                    <a:pt x="22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13" name="Freeform 421"/>
            <p:cNvSpPr>
              <a:spLocks/>
            </p:cNvSpPr>
            <p:nvPr/>
          </p:nvSpPr>
          <p:spPr bwMode="auto">
            <a:xfrm>
              <a:off x="1841" y="2382"/>
              <a:ext cx="113" cy="55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58" y="0"/>
                </a:cxn>
                <a:cxn ang="0">
                  <a:pos x="61" y="1"/>
                </a:cxn>
                <a:cxn ang="0">
                  <a:pos x="66" y="3"/>
                </a:cxn>
                <a:cxn ang="0">
                  <a:pos x="73" y="7"/>
                </a:cxn>
                <a:cxn ang="0">
                  <a:pos x="82" y="11"/>
                </a:cxn>
                <a:cxn ang="0">
                  <a:pos x="92" y="16"/>
                </a:cxn>
                <a:cxn ang="0">
                  <a:pos x="101" y="21"/>
                </a:cxn>
                <a:cxn ang="0">
                  <a:pos x="108" y="26"/>
                </a:cxn>
                <a:cxn ang="0">
                  <a:pos x="113" y="31"/>
                </a:cxn>
                <a:cxn ang="0">
                  <a:pos x="68" y="55"/>
                </a:cxn>
                <a:cxn ang="0">
                  <a:pos x="0" y="20"/>
                </a:cxn>
              </a:cxnLst>
              <a:rect l="0" t="0" r="r" b="b"/>
              <a:pathLst>
                <a:path w="113" h="55">
                  <a:moveTo>
                    <a:pt x="0" y="20"/>
                  </a:moveTo>
                  <a:lnTo>
                    <a:pt x="58" y="0"/>
                  </a:lnTo>
                  <a:lnTo>
                    <a:pt x="61" y="1"/>
                  </a:lnTo>
                  <a:lnTo>
                    <a:pt x="66" y="3"/>
                  </a:lnTo>
                  <a:lnTo>
                    <a:pt x="73" y="7"/>
                  </a:lnTo>
                  <a:lnTo>
                    <a:pt x="82" y="11"/>
                  </a:lnTo>
                  <a:lnTo>
                    <a:pt x="92" y="16"/>
                  </a:lnTo>
                  <a:lnTo>
                    <a:pt x="101" y="21"/>
                  </a:lnTo>
                  <a:lnTo>
                    <a:pt x="108" y="26"/>
                  </a:lnTo>
                  <a:lnTo>
                    <a:pt x="113" y="31"/>
                  </a:lnTo>
                  <a:lnTo>
                    <a:pt x="68" y="55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14" name="Freeform 422"/>
            <p:cNvSpPr>
              <a:spLocks/>
            </p:cNvSpPr>
            <p:nvPr/>
          </p:nvSpPr>
          <p:spPr bwMode="auto">
            <a:xfrm>
              <a:off x="1941" y="2440"/>
              <a:ext cx="87" cy="55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42" y="0"/>
                </a:cxn>
                <a:cxn ang="0">
                  <a:pos x="43" y="2"/>
                </a:cxn>
                <a:cxn ang="0">
                  <a:pos x="46" y="4"/>
                </a:cxn>
                <a:cxn ang="0">
                  <a:pos x="50" y="9"/>
                </a:cxn>
                <a:cxn ang="0">
                  <a:pos x="55" y="15"/>
                </a:cxn>
                <a:cxn ang="0">
                  <a:pos x="61" y="23"/>
                </a:cxn>
                <a:cxn ang="0">
                  <a:pos x="68" y="33"/>
                </a:cxn>
                <a:cxn ang="0">
                  <a:pos x="77" y="43"/>
                </a:cxn>
                <a:cxn ang="0">
                  <a:pos x="87" y="55"/>
                </a:cxn>
                <a:cxn ang="0">
                  <a:pos x="0" y="10"/>
                </a:cxn>
              </a:cxnLst>
              <a:rect l="0" t="0" r="r" b="b"/>
              <a:pathLst>
                <a:path w="87" h="55">
                  <a:moveTo>
                    <a:pt x="0" y="10"/>
                  </a:moveTo>
                  <a:lnTo>
                    <a:pt x="42" y="0"/>
                  </a:lnTo>
                  <a:lnTo>
                    <a:pt x="43" y="2"/>
                  </a:lnTo>
                  <a:lnTo>
                    <a:pt x="46" y="4"/>
                  </a:lnTo>
                  <a:lnTo>
                    <a:pt x="50" y="9"/>
                  </a:lnTo>
                  <a:lnTo>
                    <a:pt x="55" y="15"/>
                  </a:lnTo>
                  <a:lnTo>
                    <a:pt x="61" y="23"/>
                  </a:lnTo>
                  <a:lnTo>
                    <a:pt x="68" y="33"/>
                  </a:lnTo>
                  <a:lnTo>
                    <a:pt x="77" y="43"/>
                  </a:lnTo>
                  <a:lnTo>
                    <a:pt x="87" y="55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15" name="Freeform 423"/>
            <p:cNvSpPr>
              <a:spLocks/>
            </p:cNvSpPr>
            <p:nvPr/>
          </p:nvSpPr>
          <p:spPr bwMode="auto">
            <a:xfrm>
              <a:off x="1868" y="2263"/>
              <a:ext cx="135" cy="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6" y="0"/>
                </a:cxn>
                <a:cxn ang="0">
                  <a:pos x="135" y="60"/>
                </a:cxn>
                <a:cxn ang="0">
                  <a:pos x="131" y="60"/>
                </a:cxn>
                <a:cxn ang="0">
                  <a:pos x="119" y="57"/>
                </a:cxn>
                <a:cxn ang="0">
                  <a:pos x="101" y="55"/>
                </a:cxn>
                <a:cxn ang="0">
                  <a:pos x="81" y="50"/>
                </a:cxn>
                <a:cxn ang="0">
                  <a:pos x="58" y="42"/>
                </a:cxn>
                <a:cxn ang="0">
                  <a:pos x="36" y="31"/>
                </a:cxn>
                <a:cxn ang="0">
                  <a:pos x="16" y="17"/>
                </a:cxn>
                <a:cxn ang="0">
                  <a:pos x="0" y="0"/>
                </a:cxn>
              </a:cxnLst>
              <a:rect l="0" t="0" r="r" b="b"/>
              <a:pathLst>
                <a:path w="135" h="60">
                  <a:moveTo>
                    <a:pt x="0" y="0"/>
                  </a:moveTo>
                  <a:lnTo>
                    <a:pt x="76" y="0"/>
                  </a:lnTo>
                  <a:lnTo>
                    <a:pt x="135" y="60"/>
                  </a:lnTo>
                  <a:lnTo>
                    <a:pt x="131" y="60"/>
                  </a:lnTo>
                  <a:lnTo>
                    <a:pt x="119" y="57"/>
                  </a:lnTo>
                  <a:lnTo>
                    <a:pt x="101" y="55"/>
                  </a:lnTo>
                  <a:lnTo>
                    <a:pt x="81" y="50"/>
                  </a:lnTo>
                  <a:lnTo>
                    <a:pt x="58" y="42"/>
                  </a:lnTo>
                  <a:lnTo>
                    <a:pt x="36" y="31"/>
                  </a:lnTo>
                  <a:lnTo>
                    <a:pt x="16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16" name="Freeform 424"/>
            <p:cNvSpPr>
              <a:spLocks/>
            </p:cNvSpPr>
            <p:nvPr/>
          </p:nvSpPr>
          <p:spPr bwMode="auto">
            <a:xfrm>
              <a:off x="1997" y="2253"/>
              <a:ext cx="125" cy="59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90" y="0"/>
                </a:cxn>
                <a:cxn ang="0">
                  <a:pos x="125" y="41"/>
                </a:cxn>
                <a:cxn ang="0">
                  <a:pos x="122" y="42"/>
                </a:cxn>
                <a:cxn ang="0">
                  <a:pos x="117" y="44"/>
                </a:cxn>
                <a:cxn ang="0">
                  <a:pos x="109" y="46"/>
                </a:cxn>
                <a:cxn ang="0">
                  <a:pos x="99" y="50"/>
                </a:cxn>
                <a:cxn ang="0">
                  <a:pos x="87" y="54"/>
                </a:cxn>
                <a:cxn ang="0">
                  <a:pos x="75" y="56"/>
                </a:cxn>
                <a:cxn ang="0">
                  <a:pos x="62" y="57"/>
                </a:cxn>
                <a:cxn ang="0">
                  <a:pos x="51" y="59"/>
                </a:cxn>
                <a:cxn ang="0">
                  <a:pos x="41" y="56"/>
                </a:cxn>
                <a:cxn ang="0">
                  <a:pos x="31" y="50"/>
                </a:cxn>
                <a:cxn ang="0">
                  <a:pos x="22" y="41"/>
                </a:cxn>
                <a:cxn ang="0">
                  <a:pos x="15" y="31"/>
                </a:cxn>
                <a:cxn ang="0">
                  <a:pos x="9" y="21"/>
                </a:cxn>
                <a:cxn ang="0">
                  <a:pos x="4" y="12"/>
                </a:cxn>
                <a:cxn ang="0">
                  <a:pos x="1" y="6"/>
                </a:cxn>
                <a:cxn ang="0">
                  <a:pos x="0" y="4"/>
                </a:cxn>
              </a:cxnLst>
              <a:rect l="0" t="0" r="r" b="b"/>
              <a:pathLst>
                <a:path w="125" h="59">
                  <a:moveTo>
                    <a:pt x="0" y="4"/>
                  </a:moveTo>
                  <a:lnTo>
                    <a:pt x="90" y="0"/>
                  </a:lnTo>
                  <a:lnTo>
                    <a:pt x="125" y="41"/>
                  </a:lnTo>
                  <a:lnTo>
                    <a:pt x="122" y="42"/>
                  </a:lnTo>
                  <a:lnTo>
                    <a:pt x="117" y="44"/>
                  </a:lnTo>
                  <a:lnTo>
                    <a:pt x="109" y="46"/>
                  </a:lnTo>
                  <a:lnTo>
                    <a:pt x="99" y="50"/>
                  </a:lnTo>
                  <a:lnTo>
                    <a:pt x="87" y="54"/>
                  </a:lnTo>
                  <a:lnTo>
                    <a:pt x="75" y="56"/>
                  </a:lnTo>
                  <a:lnTo>
                    <a:pt x="62" y="57"/>
                  </a:lnTo>
                  <a:lnTo>
                    <a:pt x="51" y="59"/>
                  </a:lnTo>
                  <a:lnTo>
                    <a:pt x="41" y="56"/>
                  </a:lnTo>
                  <a:lnTo>
                    <a:pt x="31" y="50"/>
                  </a:lnTo>
                  <a:lnTo>
                    <a:pt x="22" y="41"/>
                  </a:lnTo>
                  <a:lnTo>
                    <a:pt x="15" y="31"/>
                  </a:lnTo>
                  <a:lnTo>
                    <a:pt x="9" y="21"/>
                  </a:lnTo>
                  <a:lnTo>
                    <a:pt x="4" y="12"/>
                  </a:lnTo>
                  <a:lnTo>
                    <a:pt x="1" y="6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17" name="Freeform 425"/>
            <p:cNvSpPr>
              <a:spLocks/>
            </p:cNvSpPr>
            <p:nvPr/>
          </p:nvSpPr>
          <p:spPr bwMode="auto">
            <a:xfrm>
              <a:off x="2122" y="2257"/>
              <a:ext cx="82" cy="2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" y="23"/>
                </a:cxn>
                <a:cxn ang="0">
                  <a:pos x="82" y="3"/>
                </a:cxn>
                <a:cxn ang="0">
                  <a:pos x="0" y="0"/>
                </a:cxn>
              </a:cxnLst>
              <a:rect l="0" t="0" r="r" b="b"/>
              <a:pathLst>
                <a:path w="82" h="23">
                  <a:moveTo>
                    <a:pt x="0" y="0"/>
                  </a:moveTo>
                  <a:lnTo>
                    <a:pt x="24" y="23"/>
                  </a:lnTo>
                  <a:lnTo>
                    <a:pt x="82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18" name="Freeform 426"/>
            <p:cNvSpPr>
              <a:spLocks/>
            </p:cNvSpPr>
            <p:nvPr/>
          </p:nvSpPr>
          <p:spPr bwMode="auto">
            <a:xfrm>
              <a:off x="2096" y="2183"/>
              <a:ext cx="75" cy="42"/>
            </a:xfrm>
            <a:custGeom>
              <a:avLst/>
              <a:gdLst/>
              <a:ahLst/>
              <a:cxnLst>
                <a:cxn ang="0">
                  <a:pos x="1" y="42"/>
                </a:cxn>
                <a:cxn ang="0">
                  <a:pos x="75" y="35"/>
                </a:cxn>
                <a:cxn ang="0">
                  <a:pos x="73" y="34"/>
                </a:cxn>
                <a:cxn ang="0">
                  <a:pos x="70" y="30"/>
                </a:cxn>
                <a:cxn ang="0">
                  <a:pos x="65" y="26"/>
                </a:cxn>
                <a:cxn ang="0">
                  <a:pos x="57" y="20"/>
                </a:cxn>
                <a:cxn ang="0">
                  <a:pos x="48" y="14"/>
                </a:cxn>
                <a:cxn ang="0">
                  <a:pos x="38" y="9"/>
                </a:cxn>
                <a:cxn ang="0">
                  <a:pos x="28" y="4"/>
                </a:cxn>
                <a:cxn ang="0">
                  <a:pos x="18" y="0"/>
                </a:cxn>
                <a:cxn ang="0">
                  <a:pos x="5" y="4"/>
                </a:cxn>
                <a:cxn ang="0">
                  <a:pos x="0" y="19"/>
                </a:cxn>
                <a:cxn ang="0">
                  <a:pos x="0" y="35"/>
                </a:cxn>
                <a:cxn ang="0">
                  <a:pos x="1" y="42"/>
                </a:cxn>
              </a:cxnLst>
              <a:rect l="0" t="0" r="r" b="b"/>
              <a:pathLst>
                <a:path w="75" h="42">
                  <a:moveTo>
                    <a:pt x="1" y="42"/>
                  </a:moveTo>
                  <a:lnTo>
                    <a:pt x="75" y="35"/>
                  </a:lnTo>
                  <a:lnTo>
                    <a:pt x="73" y="34"/>
                  </a:lnTo>
                  <a:lnTo>
                    <a:pt x="70" y="30"/>
                  </a:lnTo>
                  <a:lnTo>
                    <a:pt x="65" y="26"/>
                  </a:lnTo>
                  <a:lnTo>
                    <a:pt x="57" y="20"/>
                  </a:lnTo>
                  <a:lnTo>
                    <a:pt x="48" y="14"/>
                  </a:lnTo>
                  <a:lnTo>
                    <a:pt x="38" y="9"/>
                  </a:lnTo>
                  <a:lnTo>
                    <a:pt x="28" y="4"/>
                  </a:lnTo>
                  <a:lnTo>
                    <a:pt x="18" y="0"/>
                  </a:lnTo>
                  <a:lnTo>
                    <a:pt x="5" y="4"/>
                  </a:lnTo>
                  <a:lnTo>
                    <a:pt x="0" y="19"/>
                  </a:lnTo>
                  <a:lnTo>
                    <a:pt x="0" y="35"/>
                  </a:lnTo>
                  <a:lnTo>
                    <a:pt x="1" y="42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19" name="Freeform 427"/>
            <p:cNvSpPr>
              <a:spLocks/>
            </p:cNvSpPr>
            <p:nvPr/>
          </p:nvSpPr>
          <p:spPr bwMode="auto">
            <a:xfrm>
              <a:off x="1997" y="2177"/>
              <a:ext cx="82" cy="45"/>
            </a:xfrm>
            <a:custGeom>
              <a:avLst/>
              <a:gdLst/>
              <a:ahLst/>
              <a:cxnLst>
                <a:cxn ang="0">
                  <a:pos x="59" y="45"/>
                </a:cxn>
                <a:cxn ang="0">
                  <a:pos x="82" y="0"/>
                </a:cxn>
                <a:cxn ang="0">
                  <a:pos x="81" y="0"/>
                </a:cxn>
                <a:cxn ang="0">
                  <a:pos x="76" y="0"/>
                </a:cxn>
                <a:cxn ang="0">
                  <a:pos x="70" y="0"/>
                </a:cxn>
                <a:cxn ang="0">
                  <a:pos x="62" y="0"/>
                </a:cxn>
                <a:cxn ang="0">
                  <a:pos x="54" y="1"/>
                </a:cxn>
                <a:cxn ang="0">
                  <a:pos x="44" y="2"/>
                </a:cxn>
                <a:cxn ang="0">
                  <a:pos x="34" y="5"/>
                </a:cxn>
                <a:cxn ang="0">
                  <a:pos x="24" y="10"/>
                </a:cxn>
                <a:cxn ang="0">
                  <a:pos x="10" y="21"/>
                </a:cxn>
                <a:cxn ang="0">
                  <a:pos x="2" y="31"/>
                </a:cxn>
                <a:cxn ang="0">
                  <a:pos x="0" y="38"/>
                </a:cxn>
                <a:cxn ang="0">
                  <a:pos x="0" y="41"/>
                </a:cxn>
                <a:cxn ang="0">
                  <a:pos x="59" y="45"/>
                </a:cxn>
              </a:cxnLst>
              <a:rect l="0" t="0" r="r" b="b"/>
              <a:pathLst>
                <a:path w="82" h="45">
                  <a:moveTo>
                    <a:pt x="59" y="45"/>
                  </a:moveTo>
                  <a:lnTo>
                    <a:pt x="82" y="0"/>
                  </a:lnTo>
                  <a:lnTo>
                    <a:pt x="81" y="0"/>
                  </a:lnTo>
                  <a:lnTo>
                    <a:pt x="76" y="0"/>
                  </a:lnTo>
                  <a:lnTo>
                    <a:pt x="70" y="0"/>
                  </a:lnTo>
                  <a:lnTo>
                    <a:pt x="62" y="0"/>
                  </a:lnTo>
                  <a:lnTo>
                    <a:pt x="54" y="1"/>
                  </a:lnTo>
                  <a:lnTo>
                    <a:pt x="44" y="2"/>
                  </a:lnTo>
                  <a:lnTo>
                    <a:pt x="34" y="5"/>
                  </a:lnTo>
                  <a:lnTo>
                    <a:pt x="24" y="10"/>
                  </a:lnTo>
                  <a:lnTo>
                    <a:pt x="10" y="21"/>
                  </a:lnTo>
                  <a:lnTo>
                    <a:pt x="2" y="31"/>
                  </a:lnTo>
                  <a:lnTo>
                    <a:pt x="0" y="38"/>
                  </a:lnTo>
                  <a:lnTo>
                    <a:pt x="0" y="41"/>
                  </a:lnTo>
                  <a:lnTo>
                    <a:pt x="59" y="45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20" name="Freeform 428"/>
            <p:cNvSpPr>
              <a:spLocks/>
            </p:cNvSpPr>
            <p:nvPr/>
          </p:nvSpPr>
          <p:spPr bwMode="auto">
            <a:xfrm>
              <a:off x="1877" y="2183"/>
              <a:ext cx="106" cy="64"/>
            </a:xfrm>
            <a:custGeom>
              <a:avLst/>
              <a:gdLst/>
              <a:ahLst/>
              <a:cxnLst>
                <a:cxn ang="0">
                  <a:pos x="61" y="49"/>
                </a:cxn>
                <a:cxn ang="0">
                  <a:pos x="106" y="0"/>
                </a:cxn>
                <a:cxn ang="0">
                  <a:pos x="102" y="1"/>
                </a:cxn>
                <a:cxn ang="0">
                  <a:pos x="94" y="4"/>
                </a:cxn>
                <a:cxn ang="0">
                  <a:pos x="81" y="9"/>
                </a:cxn>
                <a:cxn ang="0">
                  <a:pos x="65" y="16"/>
                </a:cxn>
                <a:cxn ang="0">
                  <a:pos x="47" y="24"/>
                </a:cxn>
                <a:cxn ang="0">
                  <a:pos x="31" y="32"/>
                </a:cxn>
                <a:cxn ang="0">
                  <a:pos x="16" y="42"/>
                </a:cxn>
                <a:cxn ang="0">
                  <a:pos x="5" y="52"/>
                </a:cxn>
                <a:cxn ang="0">
                  <a:pos x="0" y="60"/>
                </a:cxn>
                <a:cxn ang="0">
                  <a:pos x="4" y="64"/>
                </a:cxn>
                <a:cxn ang="0">
                  <a:pos x="12" y="64"/>
                </a:cxn>
                <a:cxn ang="0">
                  <a:pos x="24" y="61"/>
                </a:cxn>
                <a:cxn ang="0">
                  <a:pos x="37" y="57"/>
                </a:cxn>
                <a:cxn ang="0">
                  <a:pos x="49" y="54"/>
                </a:cxn>
                <a:cxn ang="0">
                  <a:pos x="57" y="50"/>
                </a:cxn>
                <a:cxn ang="0">
                  <a:pos x="61" y="49"/>
                </a:cxn>
              </a:cxnLst>
              <a:rect l="0" t="0" r="r" b="b"/>
              <a:pathLst>
                <a:path w="106" h="64">
                  <a:moveTo>
                    <a:pt x="61" y="49"/>
                  </a:moveTo>
                  <a:lnTo>
                    <a:pt x="106" y="0"/>
                  </a:lnTo>
                  <a:lnTo>
                    <a:pt x="102" y="1"/>
                  </a:lnTo>
                  <a:lnTo>
                    <a:pt x="94" y="4"/>
                  </a:lnTo>
                  <a:lnTo>
                    <a:pt x="81" y="9"/>
                  </a:lnTo>
                  <a:lnTo>
                    <a:pt x="65" y="16"/>
                  </a:lnTo>
                  <a:lnTo>
                    <a:pt x="47" y="24"/>
                  </a:lnTo>
                  <a:lnTo>
                    <a:pt x="31" y="32"/>
                  </a:lnTo>
                  <a:lnTo>
                    <a:pt x="16" y="42"/>
                  </a:lnTo>
                  <a:lnTo>
                    <a:pt x="5" y="52"/>
                  </a:lnTo>
                  <a:lnTo>
                    <a:pt x="0" y="60"/>
                  </a:lnTo>
                  <a:lnTo>
                    <a:pt x="4" y="64"/>
                  </a:lnTo>
                  <a:lnTo>
                    <a:pt x="12" y="64"/>
                  </a:lnTo>
                  <a:lnTo>
                    <a:pt x="24" y="61"/>
                  </a:lnTo>
                  <a:lnTo>
                    <a:pt x="37" y="57"/>
                  </a:lnTo>
                  <a:lnTo>
                    <a:pt x="49" y="54"/>
                  </a:lnTo>
                  <a:lnTo>
                    <a:pt x="57" y="50"/>
                  </a:lnTo>
                  <a:lnTo>
                    <a:pt x="61" y="49"/>
                  </a:lnTo>
                  <a:close/>
                </a:path>
              </a:pathLst>
            </a:custGeom>
            <a:solidFill>
              <a:srgbClr val="66FF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621" name="Text Box 429"/>
          <p:cNvSpPr txBox="1">
            <a:spLocks noChangeArrowheads="1"/>
          </p:cNvSpPr>
          <p:nvPr/>
        </p:nvSpPr>
        <p:spPr bwMode="auto">
          <a:xfrm>
            <a:off x="990600" y="3429000"/>
            <a:ext cx="81534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pt-BR" sz="2800" dirty="0">
                <a:latin typeface="Arial" charset="0"/>
              </a:rPr>
              <a:t>Conjunto finito de elementos particionados (divididos) em 3 subconjuntos disjuntos:</a:t>
            </a:r>
          </a:p>
        </p:txBody>
      </p:sp>
      <p:sp>
        <p:nvSpPr>
          <p:cNvPr id="8622" name="Text Box 430"/>
          <p:cNvSpPr txBox="1">
            <a:spLocks noChangeArrowheads="1"/>
          </p:cNvSpPr>
          <p:nvPr/>
        </p:nvSpPr>
        <p:spPr bwMode="auto">
          <a:xfrm>
            <a:off x="4343400" y="2590800"/>
            <a:ext cx="808038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pt-BR" sz="4000" b="1">
                <a:solidFill>
                  <a:schemeClr val="folHlink"/>
                </a:solidFill>
                <a:latin typeface="Arial Narrow" pitchFamily="34" charset="0"/>
              </a:rPr>
              <a:t>OU</a:t>
            </a:r>
          </a:p>
        </p:txBody>
      </p:sp>
      <p:sp>
        <p:nvSpPr>
          <p:cNvPr id="8623" name="Text Box 431"/>
          <p:cNvSpPr txBox="1">
            <a:spLocks noChangeArrowheads="1"/>
          </p:cNvSpPr>
          <p:nvPr/>
        </p:nvSpPr>
        <p:spPr bwMode="auto">
          <a:xfrm>
            <a:off x="990600" y="4572000"/>
            <a:ext cx="81534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pt-BR" sz="2800" dirty="0">
                <a:latin typeface="Arial" charset="0"/>
              </a:rPr>
              <a:t>1</a:t>
            </a:r>
            <a:r>
              <a:rPr lang="pt-BR" sz="2800" dirty="0">
                <a:latin typeface="Arial" charset="0"/>
                <a:cs typeface="Arial" charset="0"/>
              </a:rPr>
              <a:t>º</a:t>
            </a:r>
            <a:r>
              <a:rPr lang="pt-BR" sz="2800" dirty="0">
                <a:latin typeface="Arial" charset="0"/>
              </a:rPr>
              <a:t>: contém um único elemento: RAIZ.</a:t>
            </a:r>
          </a:p>
          <a:p>
            <a:r>
              <a:rPr lang="pt-BR" sz="2800" dirty="0">
                <a:latin typeface="Arial" charset="0"/>
              </a:rPr>
              <a:t>2</a:t>
            </a:r>
            <a:r>
              <a:rPr lang="pt-BR" sz="2800" dirty="0">
                <a:latin typeface="Arial" charset="0"/>
                <a:cs typeface="Arial" charset="0"/>
              </a:rPr>
              <a:t>º</a:t>
            </a:r>
            <a:r>
              <a:rPr lang="pt-BR" sz="2800" dirty="0">
                <a:latin typeface="Arial" charset="0"/>
              </a:rPr>
              <a:t>: sub-árvore direita  (pode estar vazia)</a:t>
            </a:r>
          </a:p>
          <a:p>
            <a:r>
              <a:rPr lang="pt-BR" sz="2800" dirty="0">
                <a:latin typeface="Arial" charset="0"/>
              </a:rPr>
              <a:t>3</a:t>
            </a:r>
            <a:r>
              <a:rPr lang="pt-BR" sz="2800" dirty="0">
                <a:latin typeface="Arial" charset="0"/>
                <a:cs typeface="Arial" charset="0"/>
              </a:rPr>
              <a:t>º</a:t>
            </a:r>
            <a:r>
              <a:rPr lang="pt-BR" sz="2800" dirty="0">
                <a:latin typeface="Arial" charset="0"/>
              </a:rPr>
              <a:t>: sub-árvore esquerda  (pode estar vazia)</a:t>
            </a:r>
          </a:p>
        </p:txBody>
      </p:sp>
      <p:sp>
        <p:nvSpPr>
          <p:cNvPr id="212" name="Espaço Reservado para Número de Slide 211"/>
          <p:cNvSpPr>
            <a:spLocks noGrp="1"/>
          </p:cNvSpPr>
          <p:nvPr>
            <p:ph type="sldNum" sz="quarter" idx="11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DBB9FE3-D63C-4A40-B010-4651D12E128D}" type="slidenum">
              <a:rPr lang="pt-BR" smtClean="0"/>
              <a:pPr/>
              <a:t>2</a:t>
            </a:fld>
            <a:endParaRPr lang="pt-B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4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4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6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6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6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6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6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6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14" grpId="0" autoUpdateAnimBg="0"/>
      <p:bldP spid="8621" grpId="0" autoUpdateAnimBg="0"/>
      <p:bldP spid="8623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/>
              <a:t>Árvore Binária – Exemplo 5</a:t>
            </a:r>
          </a:p>
        </p:txBody>
      </p:sp>
      <p:grpSp>
        <p:nvGrpSpPr>
          <p:cNvPr id="2" name="Group 41"/>
          <p:cNvGrpSpPr>
            <a:grpSpLocks/>
          </p:cNvGrpSpPr>
          <p:nvPr/>
        </p:nvGrpSpPr>
        <p:grpSpPr bwMode="auto">
          <a:xfrm>
            <a:off x="914400" y="1028700"/>
            <a:ext cx="6146800" cy="5548313"/>
            <a:chOff x="576" y="432"/>
            <a:chExt cx="4416" cy="3711"/>
          </a:xfrm>
        </p:grpSpPr>
        <p:sp>
          <p:nvSpPr>
            <p:cNvPr id="37892" name="Oval 4"/>
            <p:cNvSpPr>
              <a:spLocks noChangeArrowheads="1"/>
            </p:cNvSpPr>
            <p:nvPr/>
          </p:nvSpPr>
          <p:spPr bwMode="auto">
            <a:xfrm>
              <a:off x="2640" y="432"/>
              <a:ext cx="720" cy="62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200">
                  <a:solidFill>
                    <a:srgbClr val="000000"/>
                  </a:solidFill>
                  <a:latin typeface="Arial Narrow" pitchFamily="34" charset="0"/>
                </a:rPr>
                <a:t>A</a:t>
              </a:r>
            </a:p>
          </p:txBody>
        </p:sp>
        <p:sp>
          <p:nvSpPr>
            <p:cNvPr id="37893" name="Oval 5"/>
            <p:cNvSpPr>
              <a:spLocks noChangeArrowheads="1"/>
            </p:cNvSpPr>
            <p:nvPr/>
          </p:nvSpPr>
          <p:spPr bwMode="auto">
            <a:xfrm>
              <a:off x="1152" y="1309"/>
              <a:ext cx="720" cy="62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200">
                  <a:solidFill>
                    <a:srgbClr val="000000"/>
                  </a:solidFill>
                  <a:latin typeface="Arial Narrow" pitchFamily="34" charset="0"/>
                </a:rPr>
                <a:t>B</a:t>
              </a:r>
            </a:p>
          </p:txBody>
        </p:sp>
        <p:sp>
          <p:nvSpPr>
            <p:cNvPr id="37894" name="Oval 6"/>
            <p:cNvSpPr>
              <a:spLocks noChangeArrowheads="1"/>
            </p:cNvSpPr>
            <p:nvPr/>
          </p:nvSpPr>
          <p:spPr bwMode="auto">
            <a:xfrm>
              <a:off x="1440" y="3504"/>
              <a:ext cx="720" cy="62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200">
                  <a:solidFill>
                    <a:srgbClr val="000000"/>
                  </a:solidFill>
                  <a:latin typeface="Arial Narrow" pitchFamily="34" charset="0"/>
                </a:rPr>
                <a:t>G</a:t>
              </a:r>
            </a:p>
          </p:txBody>
        </p:sp>
        <p:sp>
          <p:nvSpPr>
            <p:cNvPr id="37895" name="Oval 7"/>
            <p:cNvSpPr>
              <a:spLocks noChangeArrowheads="1"/>
            </p:cNvSpPr>
            <p:nvPr/>
          </p:nvSpPr>
          <p:spPr bwMode="auto">
            <a:xfrm>
              <a:off x="4272" y="1309"/>
              <a:ext cx="720" cy="62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200" dirty="0">
                  <a:solidFill>
                    <a:srgbClr val="000000"/>
                  </a:solidFill>
                  <a:latin typeface="Arial Narrow" pitchFamily="34" charset="0"/>
                </a:rPr>
                <a:t>C</a:t>
              </a:r>
            </a:p>
          </p:txBody>
        </p:sp>
        <p:sp>
          <p:nvSpPr>
            <p:cNvPr id="37896" name="Oval 8"/>
            <p:cNvSpPr>
              <a:spLocks noChangeArrowheads="1"/>
            </p:cNvSpPr>
            <p:nvPr/>
          </p:nvSpPr>
          <p:spPr bwMode="auto">
            <a:xfrm>
              <a:off x="3600" y="2422"/>
              <a:ext cx="720" cy="62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200">
                  <a:solidFill>
                    <a:srgbClr val="000000"/>
                  </a:solidFill>
                  <a:latin typeface="Arial Narrow" pitchFamily="34" charset="0"/>
                </a:rPr>
                <a:t>F</a:t>
              </a:r>
            </a:p>
          </p:txBody>
        </p:sp>
        <p:sp>
          <p:nvSpPr>
            <p:cNvPr id="37897" name="Oval 9"/>
            <p:cNvSpPr>
              <a:spLocks noChangeArrowheads="1"/>
            </p:cNvSpPr>
            <p:nvPr/>
          </p:nvSpPr>
          <p:spPr bwMode="auto">
            <a:xfrm>
              <a:off x="1824" y="2470"/>
              <a:ext cx="720" cy="62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200">
                  <a:solidFill>
                    <a:srgbClr val="000000"/>
                  </a:solidFill>
                  <a:latin typeface="Arial Narrow" pitchFamily="34" charset="0"/>
                </a:rPr>
                <a:t>E</a:t>
              </a:r>
            </a:p>
          </p:txBody>
        </p:sp>
        <p:sp>
          <p:nvSpPr>
            <p:cNvPr id="37898" name="Oval 10"/>
            <p:cNvSpPr>
              <a:spLocks noChangeArrowheads="1"/>
            </p:cNvSpPr>
            <p:nvPr/>
          </p:nvSpPr>
          <p:spPr bwMode="auto">
            <a:xfrm>
              <a:off x="576" y="2485"/>
              <a:ext cx="720" cy="62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200">
                  <a:solidFill>
                    <a:srgbClr val="000000"/>
                  </a:solidFill>
                  <a:latin typeface="Arial Narrow" pitchFamily="34" charset="0"/>
                </a:rPr>
                <a:t>D</a:t>
              </a:r>
            </a:p>
          </p:txBody>
        </p:sp>
        <p:sp>
          <p:nvSpPr>
            <p:cNvPr id="37916" name="Oval 28"/>
            <p:cNvSpPr>
              <a:spLocks noChangeArrowheads="1"/>
            </p:cNvSpPr>
            <p:nvPr/>
          </p:nvSpPr>
          <p:spPr bwMode="auto">
            <a:xfrm>
              <a:off x="4224" y="3504"/>
              <a:ext cx="720" cy="62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200">
                  <a:solidFill>
                    <a:srgbClr val="000000"/>
                  </a:solidFill>
                  <a:latin typeface="Arial Narrow" pitchFamily="34" charset="0"/>
                </a:rPr>
                <a:t>I</a:t>
              </a:r>
            </a:p>
          </p:txBody>
        </p:sp>
        <p:sp>
          <p:nvSpPr>
            <p:cNvPr id="37917" name="Oval 29"/>
            <p:cNvSpPr>
              <a:spLocks noChangeArrowheads="1"/>
            </p:cNvSpPr>
            <p:nvPr/>
          </p:nvSpPr>
          <p:spPr bwMode="auto">
            <a:xfrm>
              <a:off x="2976" y="3519"/>
              <a:ext cx="720" cy="62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200">
                  <a:solidFill>
                    <a:srgbClr val="000000"/>
                  </a:solidFill>
                  <a:latin typeface="Arial Narrow" pitchFamily="34" charset="0"/>
                </a:rPr>
                <a:t>H</a:t>
              </a:r>
            </a:p>
          </p:txBody>
        </p:sp>
        <p:sp>
          <p:nvSpPr>
            <p:cNvPr id="37918" name="Line 30"/>
            <p:cNvSpPr>
              <a:spLocks noChangeShapeType="1"/>
            </p:cNvSpPr>
            <p:nvPr/>
          </p:nvSpPr>
          <p:spPr bwMode="auto">
            <a:xfrm flipH="1">
              <a:off x="1536" y="960"/>
              <a:ext cx="115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 sz="1600"/>
            </a:p>
          </p:txBody>
        </p:sp>
        <p:sp>
          <p:nvSpPr>
            <p:cNvPr id="37919" name="Line 31"/>
            <p:cNvSpPr>
              <a:spLocks noChangeShapeType="1"/>
            </p:cNvSpPr>
            <p:nvPr/>
          </p:nvSpPr>
          <p:spPr bwMode="auto">
            <a:xfrm>
              <a:off x="3264" y="960"/>
              <a:ext cx="134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 sz="1600"/>
            </a:p>
          </p:txBody>
        </p:sp>
        <p:sp>
          <p:nvSpPr>
            <p:cNvPr id="37920" name="Line 32"/>
            <p:cNvSpPr>
              <a:spLocks noChangeShapeType="1"/>
            </p:cNvSpPr>
            <p:nvPr/>
          </p:nvSpPr>
          <p:spPr bwMode="auto">
            <a:xfrm flipH="1">
              <a:off x="938" y="1942"/>
              <a:ext cx="576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 sz="1600"/>
            </a:p>
          </p:txBody>
        </p:sp>
        <p:sp>
          <p:nvSpPr>
            <p:cNvPr id="37921" name="Line 33"/>
            <p:cNvSpPr>
              <a:spLocks noChangeShapeType="1"/>
            </p:cNvSpPr>
            <p:nvPr/>
          </p:nvSpPr>
          <p:spPr bwMode="auto">
            <a:xfrm>
              <a:off x="1536" y="1920"/>
              <a:ext cx="672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 sz="1600"/>
            </a:p>
          </p:txBody>
        </p:sp>
        <p:sp>
          <p:nvSpPr>
            <p:cNvPr id="37924" name="Line 36"/>
            <p:cNvSpPr>
              <a:spLocks noChangeShapeType="1"/>
            </p:cNvSpPr>
            <p:nvPr/>
          </p:nvSpPr>
          <p:spPr bwMode="auto">
            <a:xfrm flipH="1">
              <a:off x="3312" y="3072"/>
              <a:ext cx="624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 sz="1600"/>
            </a:p>
          </p:txBody>
        </p:sp>
        <p:sp>
          <p:nvSpPr>
            <p:cNvPr id="37925" name="Line 37"/>
            <p:cNvSpPr>
              <a:spLocks noChangeShapeType="1"/>
            </p:cNvSpPr>
            <p:nvPr/>
          </p:nvSpPr>
          <p:spPr bwMode="auto">
            <a:xfrm>
              <a:off x="3936" y="3072"/>
              <a:ext cx="624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 sz="1600"/>
            </a:p>
          </p:txBody>
        </p:sp>
        <p:sp>
          <p:nvSpPr>
            <p:cNvPr id="37927" name="Line 39"/>
            <p:cNvSpPr>
              <a:spLocks noChangeShapeType="1"/>
            </p:cNvSpPr>
            <p:nvPr/>
          </p:nvSpPr>
          <p:spPr bwMode="auto">
            <a:xfrm flipH="1">
              <a:off x="3984" y="1920"/>
              <a:ext cx="672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 sz="1600"/>
            </a:p>
          </p:txBody>
        </p:sp>
        <p:sp>
          <p:nvSpPr>
            <p:cNvPr id="37928" name="Line 40"/>
            <p:cNvSpPr>
              <a:spLocks noChangeShapeType="1"/>
            </p:cNvSpPr>
            <p:nvPr/>
          </p:nvSpPr>
          <p:spPr bwMode="auto">
            <a:xfrm>
              <a:off x="960" y="3120"/>
              <a:ext cx="81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 sz="1600"/>
            </a:p>
          </p:txBody>
        </p:sp>
      </p:grpSp>
      <p:sp>
        <p:nvSpPr>
          <p:cNvPr id="21" name="Espaço Reservado para Número de Slide 20"/>
          <p:cNvSpPr>
            <a:spLocks noGrp="1"/>
          </p:cNvSpPr>
          <p:nvPr>
            <p:ph type="sldNum" sz="quarter" idx="11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DBB9FE3-D63C-4A40-B010-4651D12E128D}" type="slidenum">
              <a:rPr lang="pt-BR" smtClean="0"/>
              <a:pPr/>
              <a:t>3</a:t>
            </a:fld>
            <a:endParaRPr lang="pt-B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b="1" u="sng" dirty="0">
                <a:solidFill>
                  <a:srgbClr val="4639F1"/>
                </a:solidFill>
              </a:rPr>
              <a:t>NÃO É</a:t>
            </a:r>
            <a:r>
              <a:rPr lang="pt-BR" sz="3600" dirty="0"/>
              <a:t> Árvore Binária – Exemplo 6</a:t>
            </a: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468313" y="765175"/>
            <a:ext cx="8675687" cy="5867400"/>
            <a:chOff x="295" y="346"/>
            <a:chExt cx="5465" cy="3696"/>
          </a:xfrm>
        </p:grpSpPr>
        <p:sp>
          <p:nvSpPr>
            <p:cNvPr id="142340" name="Oval 4"/>
            <p:cNvSpPr>
              <a:spLocks noChangeArrowheads="1"/>
            </p:cNvSpPr>
            <p:nvPr/>
          </p:nvSpPr>
          <p:spPr bwMode="auto">
            <a:xfrm>
              <a:off x="2359" y="346"/>
              <a:ext cx="720" cy="62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A</a:t>
              </a:r>
            </a:p>
          </p:txBody>
        </p:sp>
        <p:sp>
          <p:nvSpPr>
            <p:cNvPr id="142341" name="Oval 5"/>
            <p:cNvSpPr>
              <a:spLocks noChangeArrowheads="1"/>
            </p:cNvSpPr>
            <p:nvPr/>
          </p:nvSpPr>
          <p:spPr bwMode="auto">
            <a:xfrm>
              <a:off x="871" y="1223"/>
              <a:ext cx="720" cy="62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B</a:t>
              </a:r>
            </a:p>
          </p:txBody>
        </p:sp>
        <p:sp>
          <p:nvSpPr>
            <p:cNvPr id="142342" name="Oval 6"/>
            <p:cNvSpPr>
              <a:spLocks noChangeArrowheads="1"/>
            </p:cNvSpPr>
            <p:nvPr/>
          </p:nvSpPr>
          <p:spPr bwMode="auto">
            <a:xfrm>
              <a:off x="1159" y="3418"/>
              <a:ext cx="720" cy="62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G</a:t>
              </a:r>
            </a:p>
          </p:txBody>
        </p:sp>
        <p:sp>
          <p:nvSpPr>
            <p:cNvPr id="142343" name="Oval 7"/>
            <p:cNvSpPr>
              <a:spLocks noChangeArrowheads="1"/>
            </p:cNvSpPr>
            <p:nvPr/>
          </p:nvSpPr>
          <p:spPr bwMode="auto">
            <a:xfrm>
              <a:off x="3923" y="1207"/>
              <a:ext cx="720" cy="62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C</a:t>
              </a:r>
            </a:p>
          </p:txBody>
        </p:sp>
        <p:sp>
          <p:nvSpPr>
            <p:cNvPr id="142344" name="Oval 8"/>
            <p:cNvSpPr>
              <a:spLocks noChangeArrowheads="1"/>
            </p:cNvSpPr>
            <p:nvPr/>
          </p:nvSpPr>
          <p:spPr bwMode="auto">
            <a:xfrm>
              <a:off x="2835" y="2160"/>
              <a:ext cx="720" cy="62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F</a:t>
              </a:r>
            </a:p>
          </p:txBody>
        </p:sp>
        <p:sp>
          <p:nvSpPr>
            <p:cNvPr id="142345" name="Oval 9"/>
            <p:cNvSpPr>
              <a:spLocks noChangeArrowheads="1"/>
            </p:cNvSpPr>
            <p:nvPr/>
          </p:nvSpPr>
          <p:spPr bwMode="auto">
            <a:xfrm>
              <a:off x="1543" y="2384"/>
              <a:ext cx="720" cy="62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E</a:t>
              </a:r>
            </a:p>
          </p:txBody>
        </p:sp>
        <p:sp>
          <p:nvSpPr>
            <p:cNvPr id="142346" name="Oval 10"/>
            <p:cNvSpPr>
              <a:spLocks noChangeArrowheads="1"/>
            </p:cNvSpPr>
            <p:nvPr/>
          </p:nvSpPr>
          <p:spPr bwMode="auto">
            <a:xfrm>
              <a:off x="295" y="2399"/>
              <a:ext cx="720" cy="62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D</a:t>
              </a:r>
            </a:p>
          </p:txBody>
        </p:sp>
        <p:sp>
          <p:nvSpPr>
            <p:cNvPr id="142347" name="Oval 11"/>
            <p:cNvSpPr>
              <a:spLocks noChangeArrowheads="1"/>
            </p:cNvSpPr>
            <p:nvPr/>
          </p:nvSpPr>
          <p:spPr bwMode="auto">
            <a:xfrm>
              <a:off x="5040" y="1933"/>
              <a:ext cx="720" cy="62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I</a:t>
              </a:r>
            </a:p>
          </p:txBody>
        </p:sp>
        <p:sp>
          <p:nvSpPr>
            <p:cNvPr id="142348" name="Oval 12"/>
            <p:cNvSpPr>
              <a:spLocks noChangeArrowheads="1"/>
            </p:cNvSpPr>
            <p:nvPr/>
          </p:nvSpPr>
          <p:spPr bwMode="auto">
            <a:xfrm>
              <a:off x="3923" y="2432"/>
              <a:ext cx="720" cy="62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H</a:t>
              </a:r>
            </a:p>
          </p:txBody>
        </p:sp>
        <p:sp>
          <p:nvSpPr>
            <p:cNvPr id="142349" name="Line 13"/>
            <p:cNvSpPr>
              <a:spLocks noChangeShapeType="1"/>
            </p:cNvSpPr>
            <p:nvPr/>
          </p:nvSpPr>
          <p:spPr bwMode="auto">
            <a:xfrm flipH="1">
              <a:off x="1255" y="874"/>
              <a:ext cx="115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142350" name="Line 14"/>
            <p:cNvSpPr>
              <a:spLocks noChangeShapeType="1"/>
            </p:cNvSpPr>
            <p:nvPr/>
          </p:nvSpPr>
          <p:spPr bwMode="auto">
            <a:xfrm>
              <a:off x="2983" y="874"/>
              <a:ext cx="134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142351" name="Line 15"/>
            <p:cNvSpPr>
              <a:spLocks noChangeShapeType="1"/>
            </p:cNvSpPr>
            <p:nvPr/>
          </p:nvSpPr>
          <p:spPr bwMode="auto">
            <a:xfrm flipH="1">
              <a:off x="657" y="1856"/>
              <a:ext cx="576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142352" name="Line 16"/>
            <p:cNvSpPr>
              <a:spLocks noChangeShapeType="1"/>
            </p:cNvSpPr>
            <p:nvPr/>
          </p:nvSpPr>
          <p:spPr bwMode="auto">
            <a:xfrm>
              <a:off x="1255" y="1834"/>
              <a:ext cx="672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142353" name="Line 17"/>
            <p:cNvSpPr>
              <a:spLocks noChangeShapeType="1"/>
            </p:cNvSpPr>
            <p:nvPr/>
          </p:nvSpPr>
          <p:spPr bwMode="auto">
            <a:xfrm flipH="1">
              <a:off x="4286" y="1842"/>
              <a:ext cx="34" cy="5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142354" name="Line 18"/>
            <p:cNvSpPr>
              <a:spLocks noChangeShapeType="1"/>
            </p:cNvSpPr>
            <p:nvPr/>
          </p:nvSpPr>
          <p:spPr bwMode="auto">
            <a:xfrm>
              <a:off x="4649" y="1570"/>
              <a:ext cx="624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142355" name="Line 19"/>
            <p:cNvSpPr>
              <a:spLocks noChangeShapeType="1"/>
            </p:cNvSpPr>
            <p:nvPr/>
          </p:nvSpPr>
          <p:spPr bwMode="auto">
            <a:xfrm flipH="1">
              <a:off x="3288" y="1661"/>
              <a:ext cx="672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142356" name="Line 20"/>
            <p:cNvSpPr>
              <a:spLocks noChangeShapeType="1"/>
            </p:cNvSpPr>
            <p:nvPr/>
          </p:nvSpPr>
          <p:spPr bwMode="auto">
            <a:xfrm>
              <a:off x="679" y="3034"/>
              <a:ext cx="81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</p:grpSp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3121819" y="1925056"/>
            <a:ext cx="3227387" cy="2938037"/>
            <a:chOff x="1338" y="1253"/>
            <a:chExt cx="2718" cy="2064"/>
          </a:xfrm>
        </p:grpSpPr>
        <p:sp>
          <p:nvSpPr>
            <p:cNvPr id="142359" name="AutoShape 23"/>
            <p:cNvSpPr>
              <a:spLocks noChangeArrowheads="1"/>
            </p:cNvSpPr>
            <p:nvPr/>
          </p:nvSpPr>
          <p:spPr bwMode="auto">
            <a:xfrm>
              <a:off x="1338" y="1253"/>
              <a:ext cx="2400" cy="2064"/>
            </a:xfrm>
            <a:prstGeom prst="star8">
              <a:avLst>
                <a:gd name="adj" fmla="val 38250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42360" name="AutoShape 24"/>
            <p:cNvSpPr>
              <a:spLocks noChangeArrowheads="1"/>
            </p:cNvSpPr>
            <p:nvPr/>
          </p:nvSpPr>
          <p:spPr bwMode="auto">
            <a:xfrm rot="9214889">
              <a:off x="3288" y="1661"/>
              <a:ext cx="768" cy="192"/>
            </a:xfrm>
            <a:prstGeom prst="notchedRightArrow">
              <a:avLst>
                <a:gd name="adj1" fmla="val 50000"/>
                <a:gd name="adj2" fmla="val 100000"/>
              </a:avLst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42361" name="Text Box 25"/>
            <p:cNvSpPr txBox="1">
              <a:spLocks noChangeArrowheads="1"/>
            </p:cNvSpPr>
            <p:nvPr/>
          </p:nvSpPr>
          <p:spPr bwMode="auto">
            <a:xfrm>
              <a:off x="1927" y="1933"/>
              <a:ext cx="1392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kumimoji="1" lang="pt-BR" sz="3600">
                  <a:latin typeface="Arial Narrow" pitchFamily="34" charset="0"/>
                </a:rPr>
                <a:t>Tem </a:t>
              </a:r>
              <a:r>
                <a:rPr kumimoji="1" lang="en-US" sz="3600">
                  <a:latin typeface="Arial Narrow" pitchFamily="34" charset="0"/>
                </a:rPr>
                <a:t>Grau 3</a:t>
              </a:r>
              <a:endParaRPr kumimoji="1" lang="pt-BR" sz="3600">
                <a:latin typeface="Arial Narrow" pitchFamily="34" charset="0"/>
              </a:endParaRPr>
            </a:p>
          </p:txBody>
        </p:sp>
      </p:grpSp>
      <p:sp>
        <p:nvSpPr>
          <p:cNvPr id="25" name="Espaço Reservado para Número de Slide 24"/>
          <p:cNvSpPr>
            <a:spLocks noGrp="1"/>
          </p:cNvSpPr>
          <p:nvPr>
            <p:ph type="sldNum" sz="quarter" idx="11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DBB9FE3-D63C-4A40-B010-4651D12E128D}" type="slidenum">
              <a:rPr lang="pt-BR" smtClean="0"/>
              <a:pPr/>
              <a:t>4</a:t>
            </a:fld>
            <a:endParaRPr lang="pt-B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Árvores Binárias - Conceitos</a:t>
            </a:r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11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DBB9FE3-D63C-4A40-B010-4651D12E128D}" type="slidenum">
              <a:rPr lang="pt-BR" smtClean="0"/>
              <a:pPr/>
              <a:t>5</a:t>
            </a:fld>
            <a:endParaRPr lang="pt-BR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66700" y="1014413"/>
            <a:ext cx="4152900" cy="4913312"/>
          </a:xfrm>
        </p:spPr>
        <p:txBody>
          <a:bodyPr/>
          <a:lstStyle/>
          <a:p>
            <a:pPr indent="22225">
              <a:buNone/>
            </a:pPr>
            <a:r>
              <a:rPr lang="pt-BR" b="1" dirty="0">
                <a:solidFill>
                  <a:srgbClr val="0066FF"/>
                </a:solidFill>
              </a:rPr>
              <a:t>Árvore Estritamente Binária</a:t>
            </a:r>
            <a:r>
              <a:rPr lang="pt-BR" dirty="0">
                <a:solidFill>
                  <a:srgbClr val="0066FF"/>
                </a:solidFill>
              </a:rPr>
              <a:t>: </a:t>
            </a:r>
            <a:r>
              <a:rPr lang="pt-BR" dirty="0"/>
              <a:t>se</a:t>
            </a:r>
            <a:r>
              <a:rPr lang="pt-BR" dirty="0">
                <a:solidFill>
                  <a:srgbClr val="0066FF"/>
                </a:solidFill>
              </a:rPr>
              <a:t> </a:t>
            </a:r>
            <a:r>
              <a:rPr lang="pt-BR" dirty="0"/>
              <a:t>todo nó que não é folha tiver sub-árvores esquerda e direita não vazias. </a:t>
            </a: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4191000" y="1014413"/>
            <a:ext cx="3810000" cy="5005387"/>
            <a:chOff x="2640" y="639"/>
            <a:chExt cx="2400" cy="3153"/>
          </a:xfrm>
        </p:grpSpPr>
        <p:sp>
          <p:nvSpPr>
            <p:cNvPr id="9223" name="Oval 7"/>
            <p:cNvSpPr>
              <a:spLocks noChangeArrowheads="1"/>
            </p:cNvSpPr>
            <p:nvPr/>
          </p:nvSpPr>
          <p:spPr bwMode="auto">
            <a:xfrm>
              <a:off x="3896" y="639"/>
              <a:ext cx="480" cy="48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A</a:t>
              </a:r>
            </a:p>
          </p:txBody>
        </p:sp>
        <p:sp>
          <p:nvSpPr>
            <p:cNvPr id="9226" name="Line 10"/>
            <p:cNvSpPr>
              <a:spLocks noChangeShapeType="1"/>
            </p:cNvSpPr>
            <p:nvPr/>
          </p:nvSpPr>
          <p:spPr bwMode="auto">
            <a:xfrm flipH="1">
              <a:off x="3530" y="1152"/>
              <a:ext cx="576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9227" name="Line 11"/>
            <p:cNvSpPr>
              <a:spLocks noChangeShapeType="1"/>
            </p:cNvSpPr>
            <p:nvPr/>
          </p:nvSpPr>
          <p:spPr bwMode="auto">
            <a:xfrm>
              <a:off x="4128" y="1130"/>
              <a:ext cx="672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9228" name="Oval 12"/>
            <p:cNvSpPr>
              <a:spLocks noChangeArrowheads="1"/>
            </p:cNvSpPr>
            <p:nvPr/>
          </p:nvSpPr>
          <p:spPr bwMode="auto">
            <a:xfrm>
              <a:off x="3312" y="1536"/>
              <a:ext cx="480" cy="48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B</a:t>
              </a:r>
            </a:p>
          </p:txBody>
        </p:sp>
        <p:sp>
          <p:nvSpPr>
            <p:cNvPr id="9229" name="Oval 13"/>
            <p:cNvSpPr>
              <a:spLocks noChangeArrowheads="1"/>
            </p:cNvSpPr>
            <p:nvPr/>
          </p:nvSpPr>
          <p:spPr bwMode="auto">
            <a:xfrm>
              <a:off x="4560" y="1536"/>
              <a:ext cx="480" cy="48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G</a:t>
              </a:r>
            </a:p>
          </p:txBody>
        </p:sp>
        <p:sp>
          <p:nvSpPr>
            <p:cNvPr id="9233" name="Line 17"/>
            <p:cNvSpPr>
              <a:spLocks noChangeShapeType="1"/>
            </p:cNvSpPr>
            <p:nvPr/>
          </p:nvSpPr>
          <p:spPr bwMode="auto">
            <a:xfrm flipH="1">
              <a:off x="2928" y="2053"/>
              <a:ext cx="576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9234" name="Line 18"/>
            <p:cNvSpPr>
              <a:spLocks noChangeShapeType="1"/>
            </p:cNvSpPr>
            <p:nvPr/>
          </p:nvSpPr>
          <p:spPr bwMode="auto">
            <a:xfrm>
              <a:off x="3526" y="2031"/>
              <a:ext cx="672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9235" name="Oval 19"/>
            <p:cNvSpPr>
              <a:spLocks noChangeArrowheads="1"/>
            </p:cNvSpPr>
            <p:nvPr/>
          </p:nvSpPr>
          <p:spPr bwMode="auto">
            <a:xfrm>
              <a:off x="2640" y="2448"/>
              <a:ext cx="480" cy="48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C</a:t>
              </a:r>
            </a:p>
          </p:txBody>
        </p:sp>
        <p:sp>
          <p:nvSpPr>
            <p:cNvPr id="9237" name="Line 21"/>
            <p:cNvSpPr>
              <a:spLocks noChangeShapeType="1"/>
            </p:cNvSpPr>
            <p:nvPr/>
          </p:nvSpPr>
          <p:spPr bwMode="auto">
            <a:xfrm flipH="1">
              <a:off x="3552" y="2917"/>
              <a:ext cx="576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9238" name="Line 22"/>
            <p:cNvSpPr>
              <a:spLocks noChangeShapeType="1"/>
            </p:cNvSpPr>
            <p:nvPr/>
          </p:nvSpPr>
          <p:spPr bwMode="auto">
            <a:xfrm>
              <a:off x="4150" y="2895"/>
              <a:ext cx="672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9239" name="Oval 23"/>
            <p:cNvSpPr>
              <a:spLocks noChangeArrowheads="1"/>
            </p:cNvSpPr>
            <p:nvPr/>
          </p:nvSpPr>
          <p:spPr bwMode="auto">
            <a:xfrm>
              <a:off x="3264" y="3312"/>
              <a:ext cx="480" cy="48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E</a:t>
              </a:r>
            </a:p>
          </p:txBody>
        </p:sp>
        <p:sp>
          <p:nvSpPr>
            <p:cNvPr id="9240" name="Oval 24"/>
            <p:cNvSpPr>
              <a:spLocks noChangeArrowheads="1"/>
            </p:cNvSpPr>
            <p:nvPr/>
          </p:nvSpPr>
          <p:spPr bwMode="auto">
            <a:xfrm>
              <a:off x="4512" y="3312"/>
              <a:ext cx="480" cy="48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F</a:t>
              </a:r>
            </a:p>
          </p:txBody>
        </p:sp>
        <p:sp>
          <p:nvSpPr>
            <p:cNvPr id="9241" name="Oval 25"/>
            <p:cNvSpPr>
              <a:spLocks noChangeArrowheads="1"/>
            </p:cNvSpPr>
            <p:nvPr/>
          </p:nvSpPr>
          <p:spPr bwMode="auto">
            <a:xfrm>
              <a:off x="3888" y="2448"/>
              <a:ext cx="480" cy="48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D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Árvores Binárias - Conceitos</a:t>
            </a:r>
          </a:p>
        </p:txBody>
      </p:sp>
      <p:sp>
        <p:nvSpPr>
          <p:cNvPr id="21" name="Espaço Reservado para Número de Slide 20"/>
          <p:cNvSpPr>
            <a:spLocks noGrp="1"/>
          </p:cNvSpPr>
          <p:nvPr>
            <p:ph type="sldNum" sz="quarter" idx="11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DBB9FE3-D63C-4A40-B010-4651D12E128D}" type="slidenum">
              <a:rPr lang="pt-BR" smtClean="0"/>
              <a:pPr/>
              <a:t>6</a:t>
            </a:fld>
            <a:endParaRPr lang="pt-BR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014413"/>
            <a:ext cx="3733800" cy="4992687"/>
          </a:xfrm>
        </p:spPr>
        <p:txBody>
          <a:bodyPr/>
          <a:lstStyle/>
          <a:p>
            <a:pPr>
              <a:buNone/>
            </a:pPr>
            <a:r>
              <a:rPr lang="pt-BR" b="1" dirty="0">
                <a:solidFill>
                  <a:srgbClr val="0066FF"/>
                </a:solidFill>
              </a:rPr>
              <a:t>    Árvore Binária Completa de Profundidade </a:t>
            </a:r>
            <a:r>
              <a:rPr lang="pt-BR" b="1" i="1" dirty="0">
                <a:solidFill>
                  <a:srgbClr val="0066FF"/>
                </a:solidFill>
              </a:rPr>
              <a:t>d</a:t>
            </a:r>
            <a:r>
              <a:rPr lang="pt-BR" dirty="0">
                <a:solidFill>
                  <a:srgbClr val="0066FF"/>
                </a:solidFill>
              </a:rPr>
              <a:t>:</a:t>
            </a:r>
          </a:p>
          <a:p>
            <a:pPr>
              <a:buFont typeface="Wingdings" pitchFamily="2" charset="2"/>
              <a:buNone/>
            </a:pPr>
            <a:r>
              <a:rPr lang="pt-BR" dirty="0"/>
              <a:t>	é a árvore estritamente binária em que todas as folhas estejam no nível </a:t>
            </a:r>
            <a:r>
              <a:rPr lang="pt-BR" i="1" dirty="0"/>
              <a:t>d</a:t>
            </a:r>
            <a:r>
              <a:rPr lang="pt-BR" dirty="0"/>
              <a:t>.</a:t>
            </a: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3733800" y="1014413"/>
            <a:ext cx="5418138" cy="3633787"/>
            <a:chOff x="2352" y="639"/>
            <a:chExt cx="3413" cy="2289"/>
          </a:xfrm>
        </p:grpSpPr>
        <p:sp>
          <p:nvSpPr>
            <p:cNvPr id="41988" name="Oval 4"/>
            <p:cNvSpPr>
              <a:spLocks noChangeArrowheads="1"/>
            </p:cNvSpPr>
            <p:nvPr/>
          </p:nvSpPr>
          <p:spPr bwMode="auto">
            <a:xfrm>
              <a:off x="3896" y="639"/>
              <a:ext cx="480" cy="48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A</a:t>
              </a:r>
            </a:p>
          </p:txBody>
        </p:sp>
        <p:sp>
          <p:nvSpPr>
            <p:cNvPr id="41989" name="Line 5"/>
            <p:cNvSpPr>
              <a:spLocks noChangeShapeType="1"/>
            </p:cNvSpPr>
            <p:nvPr/>
          </p:nvSpPr>
          <p:spPr bwMode="auto">
            <a:xfrm flipH="1">
              <a:off x="3072" y="1152"/>
              <a:ext cx="1034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41990" name="Line 6"/>
            <p:cNvSpPr>
              <a:spLocks noChangeShapeType="1"/>
            </p:cNvSpPr>
            <p:nvPr/>
          </p:nvSpPr>
          <p:spPr bwMode="auto">
            <a:xfrm>
              <a:off x="4128" y="1130"/>
              <a:ext cx="960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41991" name="Oval 7"/>
            <p:cNvSpPr>
              <a:spLocks noChangeArrowheads="1"/>
            </p:cNvSpPr>
            <p:nvPr/>
          </p:nvSpPr>
          <p:spPr bwMode="auto">
            <a:xfrm>
              <a:off x="2832" y="1584"/>
              <a:ext cx="480" cy="48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B</a:t>
              </a:r>
            </a:p>
          </p:txBody>
        </p:sp>
        <p:sp>
          <p:nvSpPr>
            <p:cNvPr id="41992" name="Oval 8"/>
            <p:cNvSpPr>
              <a:spLocks noChangeArrowheads="1"/>
            </p:cNvSpPr>
            <p:nvPr/>
          </p:nvSpPr>
          <p:spPr bwMode="auto">
            <a:xfrm>
              <a:off x="4848" y="1536"/>
              <a:ext cx="480" cy="48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G</a:t>
              </a:r>
            </a:p>
          </p:txBody>
        </p:sp>
        <p:sp>
          <p:nvSpPr>
            <p:cNvPr id="41993" name="Line 9"/>
            <p:cNvSpPr>
              <a:spLocks noChangeShapeType="1"/>
            </p:cNvSpPr>
            <p:nvPr/>
          </p:nvSpPr>
          <p:spPr bwMode="auto">
            <a:xfrm flipH="1">
              <a:off x="2455" y="2053"/>
              <a:ext cx="576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41994" name="Line 10"/>
            <p:cNvSpPr>
              <a:spLocks noChangeShapeType="1"/>
            </p:cNvSpPr>
            <p:nvPr/>
          </p:nvSpPr>
          <p:spPr bwMode="auto">
            <a:xfrm>
              <a:off x="3053" y="2031"/>
              <a:ext cx="672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41995" name="Oval 11"/>
            <p:cNvSpPr>
              <a:spLocks noChangeArrowheads="1"/>
            </p:cNvSpPr>
            <p:nvPr/>
          </p:nvSpPr>
          <p:spPr bwMode="auto">
            <a:xfrm>
              <a:off x="2352" y="2448"/>
              <a:ext cx="480" cy="48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C</a:t>
              </a:r>
            </a:p>
          </p:txBody>
        </p:sp>
        <p:sp>
          <p:nvSpPr>
            <p:cNvPr id="41996" name="Line 12"/>
            <p:cNvSpPr>
              <a:spLocks noChangeShapeType="1"/>
            </p:cNvSpPr>
            <p:nvPr/>
          </p:nvSpPr>
          <p:spPr bwMode="auto">
            <a:xfrm flipH="1">
              <a:off x="4495" y="2053"/>
              <a:ext cx="576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41997" name="Line 13"/>
            <p:cNvSpPr>
              <a:spLocks noChangeShapeType="1"/>
            </p:cNvSpPr>
            <p:nvPr/>
          </p:nvSpPr>
          <p:spPr bwMode="auto">
            <a:xfrm>
              <a:off x="5093" y="2031"/>
              <a:ext cx="672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41998" name="Oval 14"/>
            <p:cNvSpPr>
              <a:spLocks noChangeArrowheads="1"/>
            </p:cNvSpPr>
            <p:nvPr/>
          </p:nvSpPr>
          <p:spPr bwMode="auto">
            <a:xfrm>
              <a:off x="4320" y="2448"/>
              <a:ext cx="480" cy="48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E</a:t>
              </a:r>
            </a:p>
          </p:txBody>
        </p:sp>
        <p:sp>
          <p:nvSpPr>
            <p:cNvPr id="41999" name="Oval 15"/>
            <p:cNvSpPr>
              <a:spLocks noChangeArrowheads="1"/>
            </p:cNvSpPr>
            <p:nvPr/>
          </p:nvSpPr>
          <p:spPr bwMode="auto">
            <a:xfrm>
              <a:off x="5280" y="2448"/>
              <a:ext cx="480" cy="48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F</a:t>
              </a:r>
            </a:p>
          </p:txBody>
        </p:sp>
        <p:sp>
          <p:nvSpPr>
            <p:cNvPr id="42000" name="Oval 16"/>
            <p:cNvSpPr>
              <a:spLocks noChangeArrowheads="1"/>
            </p:cNvSpPr>
            <p:nvPr/>
          </p:nvSpPr>
          <p:spPr bwMode="auto">
            <a:xfrm>
              <a:off x="3312" y="2448"/>
              <a:ext cx="480" cy="48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600">
                  <a:solidFill>
                    <a:srgbClr val="000000"/>
                  </a:solidFill>
                  <a:latin typeface="Arial Narrow" pitchFamily="34" charset="0"/>
                </a:rPr>
                <a:t>D</a:t>
              </a:r>
            </a:p>
          </p:txBody>
        </p:sp>
      </p:grpSp>
      <p:grpSp>
        <p:nvGrpSpPr>
          <p:cNvPr id="3" name="Group 21"/>
          <p:cNvGrpSpPr>
            <a:grpSpLocks/>
          </p:cNvGrpSpPr>
          <p:nvPr/>
        </p:nvGrpSpPr>
        <p:grpSpPr bwMode="auto">
          <a:xfrm>
            <a:off x="4724400" y="4572000"/>
            <a:ext cx="3708400" cy="1752600"/>
            <a:chOff x="2976" y="2880"/>
            <a:chExt cx="2336" cy="1104"/>
          </a:xfrm>
        </p:grpSpPr>
        <p:sp>
          <p:nvSpPr>
            <p:cNvPr id="42002" name="AutoShape 18"/>
            <p:cNvSpPr>
              <a:spLocks noChangeArrowheads="1"/>
            </p:cNvSpPr>
            <p:nvPr/>
          </p:nvSpPr>
          <p:spPr bwMode="auto">
            <a:xfrm>
              <a:off x="3504" y="2880"/>
              <a:ext cx="1104" cy="432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009999"/>
            </a:solidFill>
            <a:ln w="9525">
              <a:solidFill>
                <a:srgbClr val="0099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2003" name="Text Box 19"/>
            <p:cNvSpPr txBox="1">
              <a:spLocks noChangeArrowheads="1"/>
            </p:cNvSpPr>
            <p:nvPr/>
          </p:nvSpPr>
          <p:spPr bwMode="auto">
            <a:xfrm>
              <a:off x="2976" y="3312"/>
              <a:ext cx="2336" cy="6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pt-BR" sz="3200" dirty="0">
                  <a:solidFill>
                    <a:srgbClr val="F1350F"/>
                  </a:solidFill>
                  <a:latin typeface="Arial Narrow" pitchFamily="34" charset="0"/>
                </a:rPr>
                <a:t>Árvore binária completa</a:t>
              </a:r>
            </a:p>
            <a:p>
              <a:r>
                <a:rPr kumimoji="1" lang="pt-BR" sz="3200" dirty="0">
                  <a:solidFill>
                    <a:srgbClr val="F1350F"/>
                  </a:solidFill>
                  <a:latin typeface="Arial Narrow" pitchFamily="34" charset="0"/>
                </a:rPr>
                <a:t> de profundidade 3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Árvores Binárias - Conceitos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1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DBB9FE3-D63C-4A40-B010-4651D12E128D}" type="slidenum">
              <a:rPr lang="pt-BR" smtClean="0"/>
              <a:pPr/>
              <a:t>7</a:t>
            </a:fld>
            <a:endParaRPr lang="pt-BR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39919" y="795476"/>
            <a:ext cx="8208962" cy="5064125"/>
          </a:xfrm>
        </p:spPr>
        <p:txBody>
          <a:bodyPr>
            <a:normAutofit/>
          </a:bodyPr>
          <a:lstStyle/>
          <a:p>
            <a:r>
              <a:rPr lang="pt-BR" sz="2800" dirty="0"/>
              <a:t>O número total (NT) de nós numa árvore binária completa de profundidade d é igual a somatória do número de nós em cada nível entre 0 e </a:t>
            </a:r>
            <a:r>
              <a:rPr lang="pt-BR" sz="2800" i="1" dirty="0"/>
              <a:t>d</a:t>
            </a:r>
            <a:r>
              <a:rPr lang="pt-BR" sz="2800" dirty="0"/>
              <a:t>:</a:t>
            </a:r>
          </a:p>
          <a:p>
            <a:pPr>
              <a:buFont typeface="Wingdings" pitchFamily="2" charset="2"/>
              <a:buNone/>
            </a:pPr>
            <a:endParaRPr lang="pt-BR" sz="1400" dirty="0"/>
          </a:p>
          <a:p>
            <a:pPr>
              <a:buFont typeface="Wingdings" pitchFamily="2" charset="2"/>
              <a:buNone/>
            </a:pPr>
            <a:r>
              <a:rPr lang="pt-BR" sz="2800" b="1" dirty="0">
                <a:solidFill>
                  <a:srgbClr val="FFFF00"/>
                </a:solidFill>
              </a:rPr>
              <a:t>                       </a:t>
            </a:r>
            <a:r>
              <a:rPr lang="pt-BR" sz="2800" b="1" dirty="0">
                <a:solidFill>
                  <a:srgbClr val="0066FF"/>
                </a:solidFill>
              </a:rPr>
              <a:t>NT =   </a:t>
            </a:r>
            <a:r>
              <a:rPr lang="pt-BR" sz="4800" b="1" dirty="0">
                <a:solidFill>
                  <a:srgbClr val="0066FF"/>
                </a:solidFill>
                <a:sym typeface="Symbol" pitchFamily="18" charset="2"/>
              </a:rPr>
              <a:t></a:t>
            </a:r>
            <a:r>
              <a:rPr lang="pt-BR" sz="4800" b="1" dirty="0">
                <a:solidFill>
                  <a:srgbClr val="0066FF"/>
                </a:solidFill>
              </a:rPr>
              <a:t> 2</a:t>
            </a:r>
            <a:r>
              <a:rPr lang="pt-BR" sz="4800" b="1" baseline="50000" dirty="0">
                <a:solidFill>
                  <a:srgbClr val="0066FF"/>
                </a:solidFill>
              </a:rPr>
              <a:t>j-1</a:t>
            </a:r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3168650" y="2049464"/>
            <a:ext cx="847725" cy="1606552"/>
            <a:chOff x="2810" y="1947"/>
            <a:chExt cx="534" cy="1012"/>
          </a:xfrm>
        </p:grpSpPr>
        <p:sp>
          <p:nvSpPr>
            <p:cNvPr id="43027" name="Text Box 19"/>
            <p:cNvSpPr txBox="1">
              <a:spLocks noChangeArrowheads="1"/>
            </p:cNvSpPr>
            <p:nvPr/>
          </p:nvSpPr>
          <p:spPr bwMode="auto">
            <a:xfrm>
              <a:off x="2810" y="2591"/>
              <a:ext cx="534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pt-BR" sz="3200" b="1" i="1" dirty="0">
                  <a:solidFill>
                    <a:srgbClr val="0066FF"/>
                  </a:solidFill>
                  <a:latin typeface="Arial Narrow" pitchFamily="34" charset="0"/>
                </a:rPr>
                <a:t>j =</a:t>
              </a:r>
              <a:r>
                <a:rPr kumimoji="1" lang="pt-BR" sz="3200" b="1" dirty="0">
                  <a:solidFill>
                    <a:srgbClr val="0066FF"/>
                  </a:solidFill>
                  <a:latin typeface="Arial Narrow" pitchFamily="34" charset="0"/>
                </a:rPr>
                <a:t> 1</a:t>
              </a:r>
            </a:p>
          </p:txBody>
        </p:sp>
        <p:sp>
          <p:nvSpPr>
            <p:cNvPr id="43028" name="Text Box 20"/>
            <p:cNvSpPr txBox="1">
              <a:spLocks noChangeArrowheads="1"/>
            </p:cNvSpPr>
            <p:nvPr/>
          </p:nvSpPr>
          <p:spPr bwMode="auto">
            <a:xfrm>
              <a:off x="2812" y="1947"/>
              <a:ext cx="41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pt-BR" sz="3200" b="1" i="1" dirty="0">
                  <a:solidFill>
                    <a:srgbClr val="0066FF"/>
                  </a:solidFill>
                  <a:latin typeface="Arial Narrow" pitchFamily="34" charset="0"/>
                </a:rPr>
                <a:t>   d</a:t>
              </a:r>
              <a:endParaRPr kumimoji="1" lang="pt-BR" sz="3200" b="1" dirty="0">
                <a:solidFill>
                  <a:srgbClr val="0066FF"/>
                </a:solidFill>
                <a:latin typeface="Arial Narrow" pitchFamily="34" charset="0"/>
              </a:endParaRPr>
            </a:p>
          </p:txBody>
        </p:sp>
      </p:grpSp>
      <p:sp>
        <p:nvSpPr>
          <p:cNvPr id="43029" name="Text Box 21"/>
          <p:cNvSpPr txBox="1">
            <a:spLocks noChangeArrowheads="1"/>
          </p:cNvSpPr>
          <p:nvPr/>
        </p:nvSpPr>
        <p:spPr bwMode="auto">
          <a:xfrm>
            <a:off x="439919" y="4109581"/>
            <a:ext cx="8494633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pt-BR" sz="2800" dirty="0"/>
              <a:t>2</a:t>
            </a:r>
            <a:r>
              <a:rPr lang="pt-BR" sz="2800" baseline="30000" dirty="0"/>
              <a:t>j </a:t>
            </a:r>
            <a:r>
              <a:rPr lang="pt-BR" sz="2800" dirty="0"/>
              <a:t>  representa a quantidade de nós do nível j:</a:t>
            </a:r>
          </a:p>
          <a:p>
            <a:pPr lvl="1"/>
            <a:r>
              <a:rPr lang="pt-BR" sz="2800" dirty="0"/>
              <a:t>j = 1 (nível 1) -&gt; NT = 2</a:t>
            </a:r>
            <a:r>
              <a:rPr lang="pt-BR" sz="2800" baseline="30000" dirty="0"/>
              <a:t>0</a:t>
            </a:r>
            <a:r>
              <a:rPr lang="pt-BR" sz="2800" dirty="0"/>
              <a:t>  = 1</a:t>
            </a:r>
          </a:p>
          <a:p>
            <a:pPr lvl="1"/>
            <a:r>
              <a:rPr lang="pt-BR" sz="2800" dirty="0"/>
              <a:t>j = 2 (nível 2) -&gt; NT = 2</a:t>
            </a:r>
            <a:r>
              <a:rPr lang="pt-BR" sz="2800" baseline="30000" dirty="0"/>
              <a:t>0</a:t>
            </a:r>
            <a:r>
              <a:rPr lang="pt-BR" sz="2800" dirty="0"/>
              <a:t> + 2</a:t>
            </a:r>
            <a:r>
              <a:rPr lang="pt-BR" sz="2800" baseline="30000" dirty="0"/>
              <a:t>1</a:t>
            </a:r>
            <a:r>
              <a:rPr lang="pt-BR" sz="2800" dirty="0"/>
              <a:t> = 1+2 = 3</a:t>
            </a:r>
          </a:p>
          <a:p>
            <a:pPr lvl="1"/>
            <a:r>
              <a:rPr lang="pt-BR" sz="2800" dirty="0"/>
              <a:t>j = 3 (nível 3) -&gt; NT = 2</a:t>
            </a:r>
            <a:r>
              <a:rPr lang="pt-BR" sz="2800" baseline="30000" dirty="0"/>
              <a:t>0</a:t>
            </a:r>
            <a:r>
              <a:rPr lang="pt-BR" sz="2800" dirty="0"/>
              <a:t> + 2</a:t>
            </a:r>
            <a:r>
              <a:rPr lang="pt-BR" sz="2800" baseline="30000" dirty="0"/>
              <a:t>1</a:t>
            </a:r>
            <a:r>
              <a:rPr lang="pt-BR" sz="2800" dirty="0"/>
              <a:t> + 2</a:t>
            </a:r>
            <a:r>
              <a:rPr lang="pt-BR" sz="2800" baseline="30000" dirty="0"/>
              <a:t>2 </a:t>
            </a:r>
            <a:r>
              <a:rPr lang="pt-BR" sz="2800" dirty="0"/>
              <a:t>= 1+2+4 = 7</a:t>
            </a:r>
          </a:p>
          <a:p>
            <a:pPr lvl="1"/>
            <a:r>
              <a:rPr lang="pt-BR" sz="2800" dirty="0"/>
              <a:t>j = 4 (nível 4) -&gt; NT = 2</a:t>
            </a:r>
            <a:r>
              <a:rPr lang="pt-BR" sz="2800" baseline="30000" dirty="0"/>
              <a:t>0</a:t>
            </a:r>
            <a:r>
              <a:rPr lang="pt-BR" sz="2800" dirty="0"/>
              <a:t> + 2</a:t>
            </a:r>
            <a:r>
              <a:rPr lang="pt-BR" sz="2800" baseline="30000" dirty="0"/>
              <a:t>1</a:t>
            </a:r>
            <a:r>
              <a:rPr lang="pt-BR" sz="2800" dirty="0"/>
              <a:t> + 2</a:t>
            </a:r>
            <a:r>
              <a:rPr lang="pt-BR" sz="2800" baseline="30000" dirty="0"/>
              <a:t>2</a:t>
            </a:r>
            <a:r>
              <a:rPr lang="pt-BR" sz="2800" dirty="0"/>
              <a:t> + 2</a:t>
            </a:r>
            <a:r>
              <a:rPr lang="pt-BR" sz="2800" baseline="30000" dirty="0"/>
              <a:t>3 </a:t>
            </a:r>
            <a:r>
              <a:rPr lang="pt-BR" sz="2800" dirty="0"/>
              <a:t>= 1+2+4+8=15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3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3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build="p" autoUpdateAnimBg="0"/>
      <p:bldP spid="43029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Árvore Binária Completa</a:t>
            </a:r>
          </a:p>
        </p:txBody>
      </p:sp>
      <p:graphicFrame>
        <p:nvGraphicFramePr>
          <p:cNvPr id="6" name="Espaço Reservado para Conteúdo 5"/>
          <p:cNvGraphicFramePr>
            <a:graphicFrameLocks noGrp="1"/>
          </p:cNvGraphicFramePr>
          <p:nvPr>
            <p:ph sz="half" idx="1"/>
          </p:nvPr>
        </p:nvGraphicFramePr>
        <p:xfrm>
          <a:off x="703943" y="2612571"/>
          <a:ext cx="8229600" cy="33375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Níveis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Número de Nós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pt-BR" sz="1800" kern="1200" dirty="0"/>
                        <a:t>4</a:t>
                      </a:r>
                      <a:endParaRPr lang="pt-BR" sz="1800" kern="1200" dirty="0">
                        <a:solidFill>
                          <a:srgbClr val="F1350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pt-BR" sz="1800" kern="1200" dirty="0"/>
                        <a:t>15</a:t>
                      </a:r>
                      <a:endParaRPr lang="pt-BR" sz="1800" kern="1200" dirty="0">
                        <a:solidFill>
                          <a:srgbClr val="F1350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pt-BR" sz="1800" kern="1200" dirty="0"/>
                        <a:t>5</a:t>
                      </a:r>
                      <a:endParaRPr lang="pt-BR" sz="1800" kern="1200" dirty="0">
                        <a:solidFill>
                          <a:srgbClr val="F1350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pt-BR" sz="1800" kern="1200" dirty="0"/>
                        <a:t>31</a:t>
                      </a:r>
                      <a:endParaRPr lang="pt-BR" sz="1800" kern="1200" dirty="0">
                        <a:solidFill>
                          <a:srgbClr val="F1350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pt-BR" sz="1800" kern="1200" dirty="0"/>
                        <a:t>10</a:t>
                      </a:r>
                      <a:endParaRPr lang="pt-B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pt-BR" sz="1800" kern="1200" dirty="0"/>
                        <a:t>1.023</a:t>
                      </a:r>
                      <a:endParaRPr lang="pt-B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pt-BR" sz="1800" kern="1200" dirty="0"/>
                        <a:t>11</a:t>
                      </a:r>
                      <a:endParaRPr lang="pt-B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pt-BR" sz="1800" kern="1200" dirty="0"/>
                        <a:t>2.047</a:t>
                      </a:r>
                      <a:endParaRPr lang="pt-B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pt-BR" sz="1800" kern="1200" dirty="0"/>
                        <a:t>20</a:t>
                      </a:r>
                      <a:endParaRPr lang="pt-BR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pt-BR" sz="1800" kern="1200" dirty="0"/>
                        <a:t>1.048.575</a:t>
                      </a:r>
                      <a:endParaRPr lang="pt-BR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pt-BR" sz="1800" kern="1200" dirty="0"/>
                        <a:t>21</a:t>
                      </a:r>
                      <a:endParaRPr lang="pt-BR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pt-BR" sz="1800" kern="1200" dirty="0"/>
                        <a:t>2.097.151</a:t>
                      </a:r>
                      <a:endParaRPr lang="pt-BR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pt-BR" sz="1800" kern="1200" dirty="0"/>
                        <a:t>27</a:t>
                      </a:r>
                      <a:endParaRPr lang="pt-BR" sz="1800" kern="1200" dirty="0">
                        <a:solidFill>
                          <a:srgbClr val="FFFF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pt-BR" sz="1800" kern="1200" dirty="0"/>
                        <a:t>134.217.727</a:t>
                      </a:r>
                      <a:endParaRPr lang="pt-BR" sz="1800" kern="1200" dirty="0">
                        <a:solidFill>
                          <a:srgbClr val="FFFF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pt-BR" sz="1800" kern="1200" dirty="0"/>
                        <a:t>28</a:t>
                      </a:r>
                      <a:endParaRPr lang="pt-BR" sz="1800" kern="1200" dirty="0">
                        <a:solidFill>
                          <a:srgbClr val="FFFF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pt-BR" sz="1800" kern="1200" dirty="0"/>
                        <a:t>268.435.455</a:t>
                      </a:r>
                      <a:endParaRPr lang="pt-BR" sz="1800" kern="1200" dirty="0">
                        <a:solidFill>
                          <a:srgbClr val="FFFF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8</a:t>
            </a:fld>
            <a:endParaRPr lang="pt-BR"/>
          </a:p>
        </p:txBody>
      </p:sp>
      <p:sp>
        <p:nvSpPr>
          <p:cNvPr id="7" name="CaixaDeTexto 6"/>
          <p:cNvSpPr txBox="1"/>
          <p:nvPr/>
        </p:nvSpPr>
        <p:spPr>
          <a:xfrm>
            <a:off x="2714171" y="1417638"/>
            <a:ext cx="38390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rgbClr val="5035F5"/>
                </a:solidFill>
                <a:latin typeface="Arial Black" pitchFamily="34" charset="0"/>
              </a:rPr>
              <a:t>N° nós </a:t>
            </a:r>
            <a:r>
              <a:rPr lang="pt-BR" sz="2400">
                <a:solidFill>
                  <a:srgbClr val="5035F5"/>
                </a:solidFill>
                <a:latin typeface="Arial Black" pitchFamily="34" charset="0"/>
              </a:rPr>
              <a:t>= 2</a:t>
            </a:r>
            <a:r>
              <a:rPr lang="pt-BR" sz="2400" baseline="30000">
                <a:solidFill>
                  <a:srgbClr val="5035F5"/>
                </a:solidFill>
                <a:latin typeface="Arial Black" pitchFamily="34" charset="0"/>
              </a:rPr>
              <a:t>níveis  </a:t>
            </a:r>
            <a:r>
              <a:rPr lang="pt-BR" sz="2400">
                <a:solidFill>
                  <a:srgbClr val="5035F5"/>
                </a:solidFill>
                <a:latin typeface="Arial Black" pitchFamily="34" charset="0"/>
              </a:rPr>
              <a:t>- 1</a:t>
            </a:r>
            <a:endParaRPr lang="pt-BR" sz="2400" dirty="0">
              <a:solidFill>
                <a:srgbClr val="5035F5"/>
              </a:solidFill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341767-AECC-4E06-A0B2-B36348C06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Eficiência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AD27FA3-DF9C-411B-BF4C-37944F4F8E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9</a:t>
            </a:fld>
            <a:endParaRPr lang="pt-BR"/>
          </a:p>
        </p:txBody>
      </p:sp>
      <p:pic>
        <p:nvPicPr>
          <p:cNvPr id="7" name="Imagem 6" descr="Gráfico, Gráfico de linhas&#10;&#10;Descrição gerada automaticamente">
            <a:extLst>
              <a:ext uri="{FF2B5EF4-FFF2-40B4-BE49-F238E27FC236}">
                <a16:creationId xmlns:a16="http://schemas.microsoft.com/office/drawing/2014/main" id="{04E0CE4A-5087-4079-9F7F-193D2256FB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31000"/>
                    </a14:imgEffect>
                    <a14:imgEffect>
                      <a14:brightnessContrast bright="-12000" contrast="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33297" y="935585"/>
            <a:ext cx="5852948" cy="2648964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  <a:outerShdw blurRad="50800" dist="50800" dir="5400000" algn="ctr" rotWithShape="0">
              <a:srgbClr val="000000"/>
            </a:outerShdw>
          </a:effectLst>
        </p:spPr>
      </p:pic>
      <p:graphicFrame>
        <p:nvGraphicFramePr>
          <p:cNvPr id="10" name="Espaço Reservado para Conteúdo 5">
            <a:extLst>
              <a:ext uri="{FF2B5EF4-FFF2-40B4-BE49-F238E27FC236}">
                <a16:creationId xmlns:a16="http://schemas.microsoft.com/office/drawing/2014/main" id="{72A88FF0-071E-4933-B78A-51953B35302E}"/>
              </a:ext>
            </a:extLst>
          </p:cNvPr>
          <p:cNvGraphicFramePr>
            <a:graphicFrameLocks/>
          </p:cNvGraphicFramePr>
          <p:nvPr/>
        </p:nvGraphicFramePr>
        <p:xfrm>
          <a:off x="469557" y="3720154"/>
          <a:ext cx="8229600" cy="1112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Níveis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Número de Nós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pt-BR" sz="1800" kern="1200" dirty="0"/>
                        <a:t>27</a:t>
                      </a:r>
                      <a:endParaRPr lang="pt-BR" sz="1800" kern="1200" dirty="0">
                        <a:solidFill>
                          <a:srgbClr val="FFFF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pt-BR" sz="1800" kern="1200" dirty="0"/>
                        <a:t>134.217.727</a:t>
                      </a:r>
                      <a:endParaRPr lang="pt-BR" sz="1800" kern="1200" dirty="0">
                        <a:solidFill>
                          <a:srgbClr val="FFFF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pt-BR" sz="1800" kern="1200" dirty="0"/>
                        <a:t>28</a:t>
                      </a:r>
                      <a:endParaRPr lang="pt-BR" sz="1800" kern="1200" dirty="0">
                        <a:solidFill>
                          <a:srgbClr val="FFFF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pt-BR" sz="1800" kern="1200" dirty="0"/>
                        <a:t>268.435.455</a:t>
                      </a:r>
                      <a:endParaRPr lang="pt-BR" sz="1800" kern="1200" dirty="0">
                        <a:solidFill>
                          <a:srgbClr val="FFFF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Estrela: 32 Pontas 10">
            <a:extLst>
              <a:ext uri="{FF2B5EF4-FFF2-40B4-BE49-F238E27FC236}">
                <a16:creationId xmlns:a16="http://schemas.microsoft.com/office/drawing/2014/main" id="{8EEB3BB2-1BA7-4EFB-B938-CAED64D23182}"/>
              </a:ext>
            </a:extLst>
          </p:cNvPr>
          <p:cNvSpPr/>
          <p:nvPr/>
        </p:nvSpPr>
        <p:spPr>
          <a:xfrm>
            <a:off x="1671144" y="4968279"/>
            <a:ext cx="6164317" cy="1677938"/>
          </a:xfrm>
          <a:prstGeom prst="star32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Com 28 comparações podemos encontrar qualquer cidadão pelo RG na base de dados </a:t>
            </a:r>
          </a:p>
        </p:txBody>
      </p:sp>
    </p:spTree>
    <p:extLst>
      <p:ext uri="{BB962C8B-B14F-4D97-AF65-F5344CB8AC3E}">
        <p14:creationId xmlns:p14="http://schemas.microsoft.com/office/powerpoint/2010/main" val="966440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Árvores Binárias - Conceitos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1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721056C0-BA11-4687-B44C-B2DBCD75817A}" type="slidenum">
              <a:rPr lang="pt-BR" smtClean="0"/>
              <a:pPr/>
              <a:t>10</a:t>
            </a:fld>
            <a:endParaRPr lang="pt-BR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219200" y="795476"/>
            <a:ext cx="7620000" cy="1905000"/>
          </a:xfrm>
        </p:spPr>
        <p:txBody>
          <a:bodyPr/>
          <a:lstStyle/>
          <a:p>
            <a:pPr>
              <a:buNone/>
            </a:pPr>
            <a:r>
              <a:rPr lang="pt-BR" sz="3200" b="1" dirty="0">
                <a:solidFill>
                  <a:srgbClr val="0066FF"/>
                </a:solidFill>
              </a:rPr>
              <a:t>Árvore Binária Quase Completa</a:t>
            </a:r>
            <a:endParaRPr lang="pt-BR" sz="3200" b="1" dirty="0">
              <a:solidFill>
                <a:srgbClr val="FFFF00"/>
              </a:solidFill>
            </a:endParaRPr>
          </a:p>
        </p:txBody>
      </p: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827088" y="2133600"/>
            <a:ext cx="80010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®"/>
            </a:pPr>
            <a:r>
              <a:rPr lang="pt-BR" sz="3200" dirty="0"/>
              <a:t>Cada folha na árvore deve estar no nível d ou no nível d-1</a:t>
            </a:r>
            <a:endParaRPr kumimoji="1" lang="pt-BR" sz="3200" dirty="0"/>
          </a:p>
        </p:txBody>
      </p:sp>
      <p:sp>
        <p:nvSpPr>
          <p:cNvPr id="10249" name="Text Box 9"/>
          <p:cNvSpPr txBox="1">
            <a:spLocks noChangeArrowheads="1"/>
          </p:cNvSpPr>
          <p:nvPr/>
        </p:nvSpPr>
        <p:spPr bwMode="auto">
          <a:xfrm>
            <a:off x="838200" y="3454400"/>
            <a:ext cx="8001000" cy="2062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®"/>
            </a:pPr>
            <a:r>
              <a:rPr lang="pt-BR" sz="3200" dirty="0"/>
              <a:t>Para cada nó X na árvore com um descendente direito no nível d, todos os descendentes esquerdos de X que forem folhas devem estar no nível d.</a:t>
            </a:r>
            <a:endParaRPr kumimoji="1" lang="pt-BR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6" grpId="0" autoUpdateAnimBg="0"/>
      <p:bldP spid="10249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133600"/>
            <a:ext cx="8229600" cy="466767"/>
          </a:xfrm>
        </p:spPr>
        <p:txBody>
          <a:bodyPr/>
          <a:lstStyle/>
          <a:p>
            <a:r>
              <a:rPr lang="pt-BR" sz="3200" b="1" dirty="0">
                <a:solidFill>
                  <a:srgbClr val="5035F5"/>
                </a:solidFill>
              </a:rPr>
              <a:t>ÁRVORE de BUSCA BINÁRIA 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DBB9FE3-D63C-4A40-B010-4651D12E128D}" type="slidenum">
              <a:rPr lang="pt-BR" smtClean="0"/>
              <a:pPr/>
              <a:t>11</a:t>
            </a:fld>
            <a:endParaRPr lang="pt-B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 de Busca Binária - ABB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DBB9FE3-D63C-4A40-B010-4651D12E128D}" type="slidenum">
              <a:rPr lang="pt-BR" smtClean="0"/>
              <a:pPr/>
              <a:t>12</a:t>
            </a:fld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803326" y="879901"/>
            <a:ext cx="756597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/>
              <a:t>Propriedades a serem seguidas para formação da ABB:</a:t>
            </a:r>
          </a:p>
          <a:p>
            <a:endParaRPr lang="pt-BR" sz="2400" dirty="0"/>
          </a:p>
          <a:p>
            <a:pPr marL="723900" indent="-457200">
              <a:buFont typeface="Arial" pitchFamily="34" charset="0"/>
              <a:buChar char="•"/>
              <a:tabLst>
                <a:tab pos="533400" algn="l"/>
                <a:tab pos="622300" algn="l"/>
                <a:tab pos="723900" algn="l"/>
              </a:tabLst>
            </a:pPr>
            <a:r>
              <a:rPr lang="pt-BR" sz="2400" dirty="0"/>
              <a:t>O dado em qualquer nó N é maior que todos os dados da sub-árvore esquerda de N</a:t>
            </a:r>
          </a:p>
          <a:p>
            <a:pPr marL="723900" indent="-457200">
              <a:buFont typeface="Arial" pitchFamily="34" charset="0"/>
              <a:buChar char="•"/>
              <a:tabLst>
                <a:tab pos="533400" algn="l"/>
                <a:tab pos="622300" algn="l"/>
                <a:tab pos="723900" algn="l"/>
              </a:tabLst>
            </a:pPr>
            <a:r>
              <a:rPr lang="pt-BR" sz="2400" dirty="0"/>
              <a:t>O dado em N é menor ou igual que todos os dados da sub-árvore direita de N</a:t>
            </a:r>
          </a:p>
          <a:p>
            <a:pPr marL="723900" indent="-457200">
              <a:tabLst>
                <a:tab pos="533400" algn="l"/>
                <a:tab pos="622300" algn="l"/>
                <a:tab pos="723900" algn="l"/>
              </a:tabLst>
            </a:pPr>
            <a:endParaRPr lang="pt-BR" sz="2400" dirty="0"/>
          </a:p>
        </p:txBody>
      </p:sp>
      <p:grpSp>
        <p:nvGrpSpPr>
          <p:cNvPr id="5" name="Group 41"/>
          <p:cNvGrpSpPr>
            <a:grpSpLocks/>
          </p:cNvGrpSpPr>
          <p:nvPr/>
        </p:nvGrpSpPr>
        <p:grpSpPr bwMode="auto">
          <a:xfrm>
            <a:off x="2718353" y="3149599"/>
            <a:ext cx="4342847" cy="3571875"/>
            <a:chOff x="1152" y="432"/>
            <a:chExt cx="3840" cy="2614"/>
          </a:xfrm>
        </p:grpSpPr>
        <p:sp>
          <p:nvSpPr>
            <p:cNvPr id="6" name="Oval 4"/>
            <p:cNvSpPr>
              <a:spLocks noChangeArrowheads="1"/>
            </p:cNvSpPr>
            <p:nvPr/>
          </p:nvSpPr>
          <p:spPr bwMode="auto">
            <a:xfrm>
              <a:off x="2640" y="432"/>
              <a:ext cx="720" cy="62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200" b="1" dirty="0">
                  <a:solidFill>
                    <a:srgbClr val="FFFF00"/>
                  </a:solidFill>
                  <a:latin typeface="Arial Narrow" pitchFamily="34" charset="0"/>
                </a:rPr>
                <a:t>6</a:t>
              </a:r>
            </a:p>
          </p:txBody>
        </p:sp>
        <p:sp>
          <p:nvSpPr>
            <p:cNvPr id="7" name="Oval 5"/>
            <p:cNvSpPr>
              <a:spLocks noChangeArrowheads="1"/>
            </p:cNvSpPr>
            <p:nvPr/>
          </p:nvSpPr>
          <p:spPr bwMode="auto">
            <a:xfrm>
              <a:off x="1152" y="1309"/>
              <a:ext cx="720" cy="62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200" b="1" dirty="0">
                  <a:solidFill>
                    <a:srgbClr val="FFFF00"/>
                  </a:solidFill>
                  <a:latin typeface="Arial Narrow" pitchFamily="34" charset="0"/>
                </a:rPr>
                <a:t>4</a:t>
              </a:r>
            </a:p>
          </p:txBody>
        </p:sp>
        <p:sp>
          <p:nvSpPr>
            <p:cNvPr id="9" name="Oval 7"/>
            <p:cNvSpPr>
              <a:spLocks noChangeArrowheads="1"/>
            </p:cNvSpPr>
            <p:nvPr/>
          </p:nvSpPr>
          <p:spPr bwMode="auto">
            <a:xfrm>
              <a:off x="4272" y="1309"/>
              <a:ext cx="720" cy="62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200" b="1" dirty="0">
                  <a:solidFill>
                    <a:srgbClr val="FFFF00"/>
                  </a:solidFill>
                  <a:latin typeface="Arial Narrow" pitchFamily="34" charset="0"/>
                </a:rPr>
                <a:t>10</a:t>
              </a:r>
            </a:p>
          </p:txBody>
        </p:sp>
        <p:sp>
          <p:nvSpPr>
            <p:cNvPr id="10" name="Oval 8"/>
            <p:cNvSpPr>
              <a:spLocks noChangeArrowheads="1"/>
            </p:cNvSpPr>
            <p:nvPr/>
          </p:nvSpPr>
          <p:spPr bwMode="auto">
            <a:xfrm>
              <a:off x="3600" y="2422"/>
              <a:ext cx="720" cy="62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pt-BR" sz="3200" b="1" dirty="0">
                  <a:solidFill>
                    <a:srgbClr val="FFFF00"/>
                  </a:solidFill>
                  <a:latin typeface="Arial Narrow" pitchFamily="34" charset="0"/>
                </a:rPr>
                <a:t>7</a:t>
              </a:r>
            </a:p>
          </p:txBody>
        </p:sp>
        <p:sp>
          <p:nvSpPr>
            <p:cNvPr id="15" name="Line 30"/>
            <p:cNvSpPr>
              <a:spLocks noChangeShapeType="1"/>
            </p:cNvSpPr>
            <p:nvPr/>
          </p:nvSpPr>
          <p:spPr bwMode="auto">
            <a:xfrm flipH="1">
              <a:off x="1536" y="960"/>
              <a:ext cx="115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 sz="1600"/>
            </a:p>
          </p:txBody>
        </p:sp>
        <p:sp>
          <p:nvSpPr>
            <p:cNvPr id="16" name="Line 31"/>
            <p:cNvSpPr>
              <a:spLocks noChangeShapeType="1"/>
            </p:cNvSpPr>
            <p:nvPr/>
          </p:nvSpPr>
          <p:spPr bwMode="auto">
            <a:xfrm>
              <a:off x="3264" y="960"/>
              <a:ext cx="134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 sz="1600"/>
            </a:p>
          </p:txBody>
        </p:sp>
        <p:sp>
          <p:nvSpPr>
            <p:cNvPr id="21" name="Line 39"/>
            <p:cNvSpPr>
              <a:spLocks noChangeShapeType="1"/>
            </p:cNvSpPr>
            <p:nvPr/>
          </p:nvSpPr>
          <p:spPr bwMode="auto">
            <a:xfrm flipH="1">
              <a:off x="3984" y="1920"/>
              <a:ext cx="672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pt-BR" sz="16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133600"/>
            <a:ext cx="8229600" cy="466767"/>
          </a:xfrm>
        </p:spPr>
        <p:txBody>
          <a:bodyPr/>
          <a:lstStyle/>
          <a:p>
            <a:r>
              <a:rPr lang="pt-BR" dirty="0"/>
              <a:t>Exemplo e Exercício</a:t>
            </a:r>
            <a:br>
              <a:rPr lang="pt-BR" dirty="0"/>
            </a:br>
            <a:br>
              <a:rPr lang="pt-BR" dirty="0"/>
            </a:br>
            <a:r>
              <a:rPr lang="pt-BR" dirty="0">
                <a:solidFill>
                  <a:srgbClr val="5035F5"/>
                </a:solidFill>
              </a:rPr>
              <a:t>Planilha </a:t>
            </a:r>
            <a:r>
              <a:rPr lang="pt-BR" b="1" dirty="0">
                <a:solidFill>
                  <a:srgbClr val="5035F5"/>
                </a:solidFill>
              </a:rPr>
              <a:t>ARVORE BINARIA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DBB9FE3-D63C-4A40-B010-4651D12E128D}" type="slidenum">
              <a:rPr lang="pt-BR" smtClean="0"/>
              <a:pPr/>
              <a:t>13</a:t>
            </a:fld>
            <a:endParaRPr lang="pt-B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sz="3000" dirty="0"/>
              <a:t>Árvores de Busca Binárias - Conceito</a:t>
            </a:r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927100" y="1663700"/>
            <a:ext cx="7772400" cy="155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1" lang="pt-BR" sz="3200" dirty="0">
                <a:latin typeface="Arial Narrow" pitchFamily="34" charset="0"/>
              </a:rPr>
              <a:t>Uma árvore de busca criada a partir de um conjunto de dados </a:t>
            </a:r>
            <a:r>
              <a:rPr kumimoji="1" lang="pt-BR" sz="3200" dirty="0">
                <a:solidFill>
                  <a:srgbClr val="FF3300"/>
                </a:solidFill>
                <a:latin typeface="Arial Narrow" pitchFamily="34" charset="0"/>
              </a:rPr>
              <a:t>não é única</a:t>
            </a:r>
            <a:r>
              <a:rPr kumimoji="1" lang="pt-BR" sz="3200" dirty="0">
                <a:latin typeface="Arial Narrow" pitchFamily="34" charset="0"/>
              </a:rPr>
              <a:t>, dependendo da ordem de inserção de dados indicada.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14</a:t>
            </a:fld>
            <a:endParaRPr lang="pt-BR"/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BA99ADDA-650E-4295-A463-DC16077F1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7100" y="3756055"/>
            <a:ext cx="7772400" cy="2062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1" lang="pt-BR" sz="3200" dirty="0">
                <a:solidFill>
                  <a:srgbClr val="5035F5"/>
                </a:solidFill>
                <a:latin typeface="Arial Narrow" pitchFamily="34" charset="0"/>
              </a:rPr>
              <a:t>Se for alterada a ordem em que os valores são inseridos nos exercícios feitos na planilha pode-se observar que, inclusive, a ABB não fica com todos os nós folha no mesmo nível.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sz="3000" dirty="0"/>
              <a:t>Árvores de Busca Binária - Conceito</a:t>
            </a: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827088" y="2276475"/>
            <a:ext cx="7772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1" lang="pt-BR" sz="3200" dirty="0"/>
              <a:t>A grande utilidade da árvore binária de busca é armazenar dados, sendo que as operações de  inserção, remoção e, em especial, a localização de dados são freqüentemente realizadas</a:t>
            </a:r>
            <a:r>
              <a:rPr kumimoji="1" lang="pt-BR" sz="3200" dirty="0">
                <a:solidFill>
                  <a:srgbClr val="0000FF"/>
                </a:solidFill>
              </a:rPr>
              <a:t>.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15</a:t>
            </a:fld>
            <a:endParaRPr lang="pt-B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sz="3000"/>
              <a:t>Árvores Binárias de Busca - Conceito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95288" y="1059771"/>
            <a:ext cx="8470900" cy="1554162"/>
            <a:chOff x="144" y="2629"/>
            <a:chExt cx="5336" cy="979"/>
          </a:xfrm>
        </p:grpSpPr>
        <p:sp>
          <p:nvSpPr>
            <p:cNvPr id="86021" name="Text Box 5"/>
            <p:cNvSpPr txBox="1">
              <a:spLocks noChangeArrowheads="1"/>
            </p:cNvSpPr>
            <p:nvPr/>
          </p:nvSpPr>
          <p:spPr bwMode="auto">
            <a:xfrm>
              <a:off x="584" y="2629"/>
              <a:ext cx="4896" cy="9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kumimoji="1" lang="pt-BR" sz="3200" dirty="0">
                  <a:latin typeface="Arial Narrow" pitchFamily="34" charset="0"/>
                </a:rPr>
                <a:t>Uma árvore de binária de busca pode sofrer alterações (</a:t>
              </a:r>
              <a:r>
                <a:rPr kumimoji="1" lang="pt-BR" sz="3200" dirty="0">
                  <a:solidFill>
                    <a:srgbClr val="FF3300"/>
                  </a:solidFill>
                  <a:latin typeface="Arial Narrow" pitchFamily="34" charset="0"/>
                </a:rPr>
                <a:t>inserções</a:t>
              </a:r>
              <a:r>
                <a:rPr kumimoji="1" lang="pt-BR" sz="3200" dirty="0">
                  <a:latin typeface="Arial Narrow" pitchFamily="34" charset="0"/>
                </a:rPr>
                <a:t> e </a:t>
              </a:r>
              <a:r>
                <a:rPr kumimoji="1" lang="pt-BR" sz="3200" dirty="0">
                  <a:solidFill>
                    <a:srgbClr val="FF3300"/>
                  </a:solidFill>
                  <a:latin typeface="Arial Narrow" pitchFamily="34" charset="0"/>
                </a:rPr>
                <a:t>remoções</a:t>
              </a:r>
              <a:r>
                <a:rPr kumimoji="1" lang="pt-BR" sz="3200" dirty="0">
                  <a:latin typeface="Arial Narrow" pitchFamily="34" charset="0"/>
                </a:rPr>
                <a:t>) após ter sido criada.</a:t>
              </a:r>
            </a:p>
          </p:txBody>
        </p:sp>
        <p:sp>
          <p:nvSpPr>
            <p:cNvPr id="86022" name="Text Box 6"/>
            <p:cNvSpPr txBox="1">
              <a:spLocks noChangeArrowheads="1"/>
            </p:cNvSpPr>
            <p:nvPr/>
          </p:nvSpPr>
          <p:spPr bwMode="auto">
            <a:xfrm>
              <a:off x="144" y="2629"/>
              <a:ext cx="373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pt-BR" sz="3600" b="1" dirty="0">
                  <a:solidFill>
                    <a:srgbClr val="57FFFF"/>
                  </a:solidFill>
                  <a:latin typeface="Book Antiqua" pitchFamily="18" charset="0"/>
                  <a:sym typeface="Wingdings" pitchFamily="2" charset="2"/>
                </a:rPr>
                <a:t></a:t>
              </a:r>
            </a:p>
          </p:txBody>
        </p:sp>
      </p:grpSp>
      <p:sp>
        <p:nvSpPr>
          <p:cNvPr id="86023" name="Text Box 7"/>
          <p:cNvSpPr txBox="1">
            <a:spLocks noChangeArrowheads="1"/>
          </p:cNvSpPr>
          <p:nvPr/>
        </p:nvSpPr>
        <p:spPr bwMode="auto">
          <a:xfrm>
            <a:off x="323850" y="2924175"/>
            <a:ext cx="8820150" cy="3503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kumimoji="1" lang="pt-BR" sz="3200">
                <a:solidFill>
                  <a:srgbClr val="0000FF"/>
                </a:solidFill>
                <a:latin typeface="Arial Narrow" pitchFamily="34" charset="0"/>
              </a:rPr>
              <a:t>Exemplo:</a:t>
            </a:r>
            <a:r>
              <a:rPr kumimoji="1" lang="pt-BR" sz="3200">
                <a:solidFill>
                  <a:srgbClr val="FFFF00"/>
                </a:solidFill>
                <a:latin typeface="Arial Narrow" pitchFamily="34" charset="0"/>
              </a:rPr>
              <a:t> </a:t>
            </a:r>
            <a:r>
              <a:rPr kumimoji="1" lang="pt-BR" sz="3200">
                <a:latin typeface="Arial Narrow" pitchFamily="34" charset="0"/>
              </a:rPr>
              <a:t>Um compilador pode usar uma árvore para armazenar os comandos válidos de uma linguagem de programação. </a:t>
            </a:r>
          </a:p>
          <a:p>
            <a:pPr lvl="1">
              <a:buFontTx/>
              <a:buChar char="•"/>
            </a:pPr>
            <a:r>
              <a:rPr kumimoji="1" lang="pt-BR" sz="3200">
                <a:latin typeface="Arial Narrow" pitchFamily="34" charset="0"/>
              </a:rPr>
              <a:t>neste caso a árvore não sofre alterações após criada. </a:t>
            </a:r>
          </a:p>
          <a:p>
            <a:pPr lvl="1">
              <a:buFontTx/>
              <a:buChar char="•"/>
            </a:pPr>
            <a:r>
              <a:rPr kumimoji="1" lang="pt-BR" sz="3200">
                <a:latin typeface="Arial Narrow" pitchFamily="34" charset="0"/>
              </a:rPr>
              <a:t>Também pode manter uma árvore para conter os símbolos definidos no programa em processamento (nomes de variáveis).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16</a:t>
            </a:fld>
            <a:endParaRPr lang="pt-B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23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/>
              <a:t>Árvores Binárias - Percursos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30213" y="1021080"/>
            <a:ext cx="8043227" cy="518477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sz="2800" dirty="0"/>
              <a:t>Não existe uma ordem “natural” para os nós de uma árvore.</a:t>
            </a:r>
          </a:p>
          <a:p>
            <a:pPr>
              <a:lnSpc>
                <a:spcPct val="90000"/>
              </a:lnSpc>
            </a:pPr>
            <a:r>
              <a:rPr lang="pt-BR" sz="2800" dirty="0"/>
              <a:t>São usados diferentes ordenamentos de percursos em diferentes casos.</a:t>
            </a:r>
          </a:p>
          <a:p>
            <a:pPr>
              <a:lnSpc>
                <a:spcPct val="90000"/>
              </a:lnSpc>
            </a:pPr>
            <a:r>
              <a:rPr lang="pt-BR" sz="2800" dirty="0"/>
              <a:t>Definiremos 3 métodos de percurso.</a:t>
            </a:r>
          </a:p>
          <a:p>
            <a:pPr>
              <a:lnSpc>
                <a:spcPct val="90000"/>
              </a:lnSpc>
            </a:pPr>
            <a:r>
              <a:rPr lang="pt-BR" sz="2800" dirty="0"/>
              <a:t>Todos eles envolvem visitar a raiz e percorrer suas sub-árvores esquerda e direita recursivamente. A diferença entre eles é a ordem em que essas operações são realizadas.</a:t>
            </a:r>
          </a:p>
          <a:p>
            <a:pPr>
              <a:lnSpc>
                <a:spcPct val="90000"/>
              </a:lnSpc>
            </a:pPr>
            <a:r>
              <a:rPr lang="pt-BR" sz="2800" dirty="0"/>
              <a:t>Os métodos são usados para a árvore não vazia.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17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Árvores Binárias - Percursos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908050"/>
            <a:ext cx="7772400" cy="685800"/>
          </a:xfrm>
        </p:spPr>
        <p:txBody>
          <a:bodyPr/>
          <a:lstStyle/>
          <a:p>
            <a:r>
              <a:rPr lang="pt-BR">
                <a:solidFill>
                  <a:srgbClr val="000099"/>
                </a:solidFill>
              </a:rPr>
              <a:t>EM Ordem (Ordem Simétrica)</a:t>
            </a:r>
          </a:p>
        </p:txBody>
      </p:sp>
      <p:sp>
        <p:nvSpPr>
          <p:cNvPr id="47108" name="Text Box 4"/>
          <p:cNvSpPr txBox="1">
            <a:spLocks noChangeArrowheads="1"/>
          </p:cNvSpPr>
          <p:nvPr/>
        </p:nvSpPr>
        <p:spPr bwMode="auto">
          <a:xfrm>
            <a:off x="1066800" y="3733800"/>
            <a:ext cx="355441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pt-BR" sz="3200" b="1" dirty="0">
                <a:latin typeface="Arial Narrow" pitchFamily="34" charset="0"/>
              </a:rPr>
              <a:t>2 – Visitamos a </a:t>
            </a:r>
            <a:r>
              <a:rPr kumimoji="1" lang="pt-BR" sz="3200" b="1" dirty="0">
                <a:solidFill>
                  <a:srgbClr val="00FFCC"/>
                </a:solidFill>
                <a:latin typeface="Arial Narrow" pitchFamily="34" charset="0"/>
              </a:rPr>
              <a:t>RAIZ</a:t>
            </a:r>
            <a:r>
              <a:rPr kumimoji="1" lang="pt-BR" sz="3200" b="1" dirty="0">
                <a:latin typeface="Arial Narrow" pitchFamily="34" charset="0"/>
              </a:rPr>
              <a:t>.</a:t>
            </a:r>
          </a:p>
        </p:txBody>
      </p:sp>
      <p:sp>
        <p:nvSpPr>
          <p:cNvPr id="47110" name="Text Box 6"/>
          <p:cNvSpPr txBox="1">
            <a:spLocks noChangeArrowheads="1"/>
          </p:cNvSpPr>
          <p:nvPr/>
        </p:nvSpPr>
        <p:spPr bwMode="auto">
          <a:xfrm>
            <a:off x="1066800" y="4800600"/>
            <a:ext cx="3440113" cy="155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1" lang="pt-BR" sz="3200" b="1">
                <a:latin typeface="Arial Narrow" pitchFamily="34" charset="0"/>
              </a:rPr>
              <a:t>3 – Percorremos a subárvore </a:t>
            </a:r>
            <a:r>
              <a:rPr kumimoji="1" lang="pt-BR" sz="3200" b="1">
                <a:solidFill>
                  <a:srgbClr val="00FFCC"/>
                </a:solidFill>
                <a:latin typeface="Arial Narrow" pitchFamily="34" charset="0"/>
              </a:rPr>
              <a:t>direita</a:t>
            </a:r>
            <a:r>
              <a:rPr kumimoji="1" lang="pt-BR" sz="3200" b="1">
                <a:latin typeface="Arial Narrow" pitchFamily="34" charset="0"/>
              </a:rPr>
              <a:t> em ordem simétrica.</a:t>
            </a:r>
          </a:p>
        </p:txBody>
      </p:sp>
      <p:sp>
        <p:nvSpPr>
          <p:cNvPr id="47111" name="Line 7"/>
          <p:cNvSpPr>
            <a:spLocks noChangeShapeType="1"/>
          </p:cNvSpPr>
          <p:nvPr/>
        </p:nvSpPr>
        <p:spPr bwMode="auto">
          <a:xfrm flipH="1">
            <a:off x="5257800" y="2398713"/>
            <a:ext cx="1371600" cy="57308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pt-BR"/>
          </a:p>
        </p:txBody>
      </p:sp>
      <p:sp>
        <p:nvSpPr>
          <p:cNvPr id="47112" name="Line 8"/>
          <p:cNvSpPr>
            <a:spLocks noChangeShapeType="1"/>
          </p:cNvSpPr>
          <p:nvPr/>
        </p:nvSpPr>
        <p:spPr bwMode="auto">
          <a:xfrm>
            <a:off x="6545263" y="2387600"/>
            <a:ext cx="1524000" cy="7207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pt-BR"/>
          </a:p>
        </p:txBody>
      </p:sp>
      <p:sp>
        <p:nvSpPr>
          <p:cNvPr id="47113" name="Line 9"/>
          <p:cNvSpPr>
            <a:spLocks noChangeShapeType="1"/>
          </p:cNvSpPr>
          <p:nvPr/>
        </p:nvSpPr>
        <p:spPr bwMode="auto">
          <a:xfrm flipH="1">
            <a:off x="4710113" y="3433763"/>
            <a:ext cx="914400" cy="838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pt-BR"/>
          </a:p>
        </p:txBody>
      </p:sp>
      <p:sp>
        <p:nvSpPr>
          <p:cNvPr id="47115" name="Oval 11"/>
          <p:cNvSpPr>
            <a:spLocks noChangeArrowheads="1"/>
          </p:cNvSpPr>
          <p:nvPr/>
        </p:nvSpPr>
        <p:spPr bwMode="auto">
          <a:xfrm>
            <a:off x="4546600" y="3781425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pt-BR" sz="3600" dirty="0">
                <a:solidFill>
                  <a:srgbClr val="000000"/>
                </a:solidFill>
                <a:latin typeface="Arial Narrow" pitchFamily="34" charset="0"/>
              </a:rPr>
              <a:t>2</a:t>
            </a:r>
          </a:p>
        </p:txBody>
      </p:sp>
      <p:sp>
        <p:nvSpPr>
          <p:cNvPr id="47116" name="Line 12"/>
          <p:cNvSpPr>
            <a:spLocks noChangeShapeType="1"/>
          </p:cNvSpPr>
          <p:nvPr/>
        </p:nvSpPr>
        <p:spPr bwMode="auto">
          <a:xfrm flipH="1">
            <a:off x="6953250" y="3171825"/>
            <a:ext cx="914400" cy="838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pt-BR"/>
          </a:p>
        </p:txBody>
      </p:sp>
      <p:sp>
        <p:nvSpPr>
          <p:cNvPr id="47117" name="Line 13"/>
          <p:cNvSpPr>
            <a:spLocks noChangeShapeType="1"/>
          </p:cNvSpPr>
          <p:nvPr/>
        </p:nvSpPr>
        <p:spPr bwMode="auto">
          <a:xfrm>
            <a:off x="7902575" y="3136900"/>
            <a:ext cx="1066800" cy="914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pt-BR"/>
          </a:p>
        </p:txBody>
      </p:sp>
      <p:sp>
        <p:nvSpPr>
          <p:cNvPr id="47118" name="Oval 14"/>
          <p:cNvSpPr>
            <a:spLocks noChangeArrowheads="1"/>
          </p:cNvSpPr>
          <p:nvPr/>
        </p:nvSpPr>
        <p:spPr bwMode="auto">
          <a:xfrm>
            <a:off x="8199438" y="3798888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pt-BR" sz="3600" dirty="0">
                <a:solidFill>
                  <a:srgbClr val="000000"/>
                </a:solidFill>
                <a:latin typeface="Arial Narrow" pitchFamily="34" charset="0"/>
              </a:rPr>
              <a:t>21</a:t>
            </a:r>
          </a:p>
        </p:txBody>
      </p:sp>
      <p:sp>
        <p:nvSpPr>
          <p:cNvPr id="47120" name="Oval 16"/>
          <p:cNvSpPr>
            <a:spLocks noChangeArrowheads="1"/>
          </p:cNvSpPr>
          <p:nvPr/>
        </p:nvSpPr>
        <p:spPr bwMode="auto">
          <a:xfrm>
            <a:off x="6176963" y="17526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pt-BR" sz="3600" dirty="0">
                <a:solidFill>
                  <a:srgbClr val="000000"/>
                </a:solidFill>
                <a:latin typeface="Arial Narrow" pitchFamily="34" charset="0"/>
              </a:rPr>
              <a:t>10</a:t>
            </a:r>
          </a:p>
        </p:txBody>
      </p:sp>
      <p:sp>
        <p:nvSpPr>
          <p:cNvPr id="47121" name="Oval 17"/>
          <p:cNvSpPr>
            <a:spLocks noChangeArrowheads="1"/>
          </p:cNvSpPr>
          <p:nvPr/>
        </p:nvSpPr>
        <p:spPr bwMode="auto">
          <a:xfrm>
            <a:off x="5181600" y="27432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pt-BR" sz="3600" dirty="0">
                <a:solidFill>
                  <a:srgbClr val="000000"/>
                </a:solidFill>
                <a:latin typeface="Arial Narrow" pitchFamily="34" charset="0"/>
              </a:rPr>
              <a:t>7</a:t>
            </a:r>
          </a:p>
        </p:txBody>
      </p:sp>
      <p:sp>
        <p:nvSpPr>
          <p:cNvPr id="47122" name="Oval 18"/>
          <p:cNvSpPr>
            <a:spLocks noChangeArrowheads="1"/>
          </p:cNvSpPr>
          <p:nvPr/>
        </p:nvSpPr>
        <p:spPr bwMode="auto">
          <a:xfrm>
            <a:off x="7543800" y="26670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pt-BR" sz="3600" dirty="0">
                <a:solidFill>
                  <a:srgbClr val="000000"/>
                </a:solidFill>
                <a:latin typeface="Arial Narrow" pitchFamily="34" charset="0"/>
              </a:rPr>
              <a:t>14</a:t>
            </a:r>
          </a:p>
        </p:txBody>
      </p:sp>
      <p:sp>
        <p:nvSpPr>
          <p:cNvPr id="47127" name="Oval 23"/>
          <p:cNvSpPr>
            <a:spLocks noChangeArrowheads="1"/>
          </p:cNvSpPr>
          <p:nvPr/>
        </p:nvSpPr>
        <p:spPr bwMode="auto">
          <a:xfrm>
            <a:off x="6675438" y="3798888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pt-BR" sz="3600" dirty="0">
                <a:solidFill>
                  <a:srgbClr val="000000"/>
                </a:solidFill>
                <a:latin typeface="Arial Narrow" pitchFamily="34" charset="0"/>
              </a:rPr>
              <a:t>12</a:t>
            </a:r>
          </a:p>
        </p:txBody>
      </p:sp>
      <p:sp>
        <p:nvSpPr>
          <p:cNvPr id="47128" name="Text Box 24"/>
          <p:cNvSpPr txBox="1">
            <a:spLocks noChangeArrowheads="1"/>
          </p:cNvSpPr>
          <p:nvPr/>
        </p:nvSpPr>
        <p:spPr bwMode="auto">
          <a:xfrm>
            <a:off x="4834678" y="5435025"/>
            <a:ext cx="443262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pt-BR" sz="3200" b="1" dirty="0">
                <a:latin typeface="Arial Narrow" pitchFamily="34" charset="0"/>
              </a:rPr>
              <a:t>Em Ordem: 2 7 10 12 14 21</a:t>
            </a:r>
          </a:p>
        </p:txBody>
      </p:sp>
      <p:grpSp>
        <p:nvGrpSpPr>
          <p:cNvPr id="29" name="Grupo 28"/>
          <p:cNvGrpSpPr/>
          <p:nvPr/>
        </p:nvGrpSpPr>
        <p:grpSpPr>
          <a:xfrm>
            <a:off x="224111" y="1828800"/>
            <a:ext cx="842689" cy="4724400"/>
            <a:chOff x="224111" y="1828800"/>
            <a:chExt cx="842689" cy="4724400"/>
          </a:xfrm>
        </p:grpSpPr>
        <p:sp>
          <p:nvSpPr>
            <p:cNvPr id="47131" name="Text Box 27"/>
            <p:cNvSpPr txBox="1">
              <a:spLocks noChangeArrowheads="1"/>
            </p:cNvSpPr>
            <p:nvPr/>
          </p:nvSpPr>
          <p:spPr bwMode="auto">
            <a:xfrm>
              <a:off x="224111" y="2362200"/>
              <a:ext cx="379413" cy="3378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pt-BR" sz="2400" b="1" dirty="0">
                  <a:solidFill>
                    <a:srgbClr val="00FFCC"/>
                  </a:solidFill>
                  <a:latin typeface="Arial Narrow" pitchFamily="34" charset="0"/>
                </a:rPr>
                <a:t>R</a:t>
              </a:r>
            </a:p>
            <a:p>
              <a:r>
                <a:rPr kumimoji="1" lang="pt-BR" sz="2400" b="1" dirty="0">
                  <a:solidFill>
                    <a:srgbClr val="00FFCC"/>
                  </a:solidFill>
                  <a:latin typeface="Arial Narrow" pitchFamily="34" charset="0"/>
                </a:rPr>
                <a:t>E</a:t>
              </a:r>
            </a:p>
            <a:p>
              <a:r>
                <a:rPr kumimoji="1" lang="pt-BR" sz="2400" b="1" dirty="0">
                  <a:solidFill>
                    <a:srgbClr val="00FFCC"/>
                  </a:solidFill>
                  <a:latin typeface="Arial Narrow" pitchFamily="34" charset="0"/>
                </a:rPr>
                <a:t>C</a:t>
              </a:r>
            </a:p>
            <a:p>
              <a:r>
                <a:rPr kumimoji="1" lang="pt-BR" sz="2400" b="1" dirty="0">
                  <a:solidFill>
                    <a:srgbClr val="00FFCC"/>
                  </a:solidFill>
                  <a:latin typeface="Arial Narrow" pitchFamily="34" charset="0"/>
                </a:rPr>
                <a:t>U</a:t>
              </a:r>
            </a:p>
            <a:p>
              <a:r>
                <a:rPr kumimoji="1" lang="pt-BR" sz="2400" b="1" dirty="0">
                  <a:solidFill>
                    <a:srgbClr val="00FFCC"/>
                  </a:solidFill>
                  <a:latin typeface="Arial Narrow" pitchFamily="34" charset="0"/>
                </a:rPr>
                <a:t>R</a:t>
              </a:r>
            </a:p>
            <a:p>
              <a:r>
                <a:rPr kumimoji="1" lang="pt-BR" sz="2400" b="1" dirty="0">
                  <a:solidFill>
                    <a:srgbClr val="00FFCC"/>
                  </a:solidFill>
                  <a:latin typeface="Arial Narrow" pitchFamily="34" charset="0"/>
                </a:rPr>
                <a:t>S</a:t>
              </a:r>
            </a:p>
            <a:p>
              <a:r>
                <a:rPr kumimoji="1" lang="pt-BR" sz="2400" b="1" dirty="0">
                  <a:solidFill>
                    <a:srgbClr val="00FFCC"/>
                  </a:solidFill>
                  <a:latin typeface="Arial Narrow" pitchFamily="34" charset="0"/>
                </a:rPr>
                <a:t>I</a:t>
              </a:r>
            </a:p>
            <a:p>
              <a:r>
                <a:rPr kumimoji="1" lang="pt-BR" sz="2400" b="1" dirty="0">
                  <a:solidFill>
                    <a:srgbClr val="00FFCC"/>
                  </a:solidFill>
                  <a:latin typeface="Arial Narrow" pitchFamily="34" charset="0"/>
                </a:rPr>
                <a:t>V</a:t>
              </a:r>
            </a:p>
            <a:p>
              <a:r>
                <a:rPr kumimoji="1" lang="pt-BR" sz="2400" b="1" dirty="0">
                  <a:solidFill>
                    <a:srgbClr val="00FFCC"/>
                  </a:solidFill>
                  <a:latin typeface="Arial Narrow" pitchFamily="34" charset="0"/>
                </a:rPr>
                <a:t>O</a:t>
              </a:r>
            </a:p>
          </p:txBody>
        </p:sp>
        <p:sp>
          <p:nvSpPr>
            <p:cNvPr id="47132" name="AutoShape 28"/>
            <p:cNvSpPr>
              <a:spLocks/>
            </p:cNvSpPr>
            <p:nvPr/>
          </p:nvSpPr>
          <p:spPr bwMode="auto">
            <a:xfrm>
              <a:off x="838200" y="1828800"/>
              <a:ext cx="228600" cy="4724400"/>
            </a:xfrm>
            <a:prstGeom prst="leftBrace">
              <a:avLst>
                <a:gd name="adj1" fmla="val 172222"/>
                <a:gd name="adj2" fmla="val 50000"/>
              </a:avLst>
            </a:prstGeom>
            <a:noFill/>
            <a:ln w="57150">
              <a:solidFill>
                <a:srgbClr val="00FF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47133" name="Text Box 29"/>
          <p:cNvSpPr txBox="1">
            <a:spLocks noChangeArrowheads="1"/>
          </p:cNvSpPr>
          <p:nvPr/>
        </p:nvSpPr>
        <p:spPr bwMode="auto">
          <a:xfrm>
            <a:off x="1076325" y="1600200"/>
            <a:ext cx="3440113" cy="155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1" lang="pt-BR" sz="3200" b="1">
                <a:latin typeface="Arial Narrow" pitchFamily="34" charset="0"/>
              </a:rPr>
              <a:t>1 – Percorremos a subárvore </a:t>
            </a:r>
            <a:r>
              <a:rPr kumimoji="1" lang="pt-BR" sz="3200" b="1">
                <a:solidFill>
                  <a:srgbClr val="00FFCC"/>
                </a:solidFill>
                <a:latin typeface="Arial Narrow" pitchFamily="34" charset="0"/>
              </a:rPr>
              <a:t>esquerda</a:t>
            </a:r>
            <a:r>
              <a:rPr kumimoji="1" lang="pt-BR" sz="3200" b="1">
                <a:latin typeface="Arial Narrow" pitchFamily="34" charset="0"/>
              </a:rPr>
              <a:t> em ordem simétrica.</a:t>
            </a:r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18</a:t>
            </a:fld>
            <a:endParaRPr lang="pt-BR" dirty="0"/>
          </a:p>
        </p:txBody>
      </p:sp>
      <p:sp>
        <p:nvSpPr>
          <p:cNvPr id="28" name="Text Box 41"/>
          <p:cNvSpPr txBox="1">
            <a:spLocks noChangeArrowheads="1"/>
          </p:cNvSpPr>
          <p:nvPr/>
        </p:nvSpPr>
        <p:spPr bwMode="auto">
          <a:xfrm>
            <a:off x="1547813" y="3798888"/>
            <a:ext cx="2959100" cy="396875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000" b="1" dirty="0"/>
              <a:t>Apresentamos DADO</a:t>
            </a:r>
          </a:p>
        </p:txBody>
      </p:sp>
      <p:cxnSp>
        <p:nvCxnSpPr>
          <p:cNvPr id="25" name="Conector de seta reta 24"/>
          <p:cNvCxnSpPr>
            <a:endCxn id="47120" idx="0"/>
          </p:cNvCxnSpPr>
          <p:nvPr/>
        </p:nvCxnSpPr>
        <p:spPr>
          <a:xfrm rot="16200000" flipH="1">
            <a:off x="6345873" y="1540510"/>
            <a:ext cx="411480" cy="1270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8" grpId="0" autoUpdateAnimBg="0"/>
      <p:bldP spid="47110" grpId="0" autoUpdateAnimBg="0"/>
      <p:bldP spid="47128" grpId="0" autoUpdateAnimBg="0"/>
      <p:bldP spid="47133" grpId="0" autoUpdateAnimBg="0"/>
      <p:bldP spid="2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Árvores Binárias - Percursos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908050"/>
            <a:ext cx="7772400" cy="685800"/>
          </a:xfrm>
        </p:spPr>
        <p:txBody>
          <a:bodyPr/>
          <a:lstStyle/>
          <a:p>
            <a:r>
              <a:rPr lang="pt-BR">
                <a:solidFill>
                  <a:srgbClr val="000099"/>
                </a:solidFill>
              </a:rPr>
              <a:t>Pré-Ordem (Percurso em Profundidade)</a:t>
            </a:r>
          </a:p>
        </p:txBody>
      </p:sp>
      <p:sp>
        <p:nvSpPr>
          <p:cNvPr id="46084" name="Text Box 4"/>
          <p:cNvSpPr txBox="1">
            <a:spLocks noChangeArrowheads="1"/>
          </p:cNvSpPr>
          <p:nvPr/>
        </p:nvSpPr>
        <p:spPr bwMode="auto">
          <a:xfrm>
            <a:off x="1050925" y="1843088"/>
            <a:ext cx="355441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pt-BR" sz="3200" b="1" dirty="0">
                <a:latin typeface="Arial Narrow" pitchFamily="34" charset="0"/>
              </a:rPr>
              <a:t>1 – Visitamos a </a:t>
            </a:r>
            <a:r>
              <a:rPr kumimoji="1" lang="pt-BR" sz="3200" b="1" dirty="0">
                <a:solidFill>
                  <a:srgbClr val="00FFCC"/>
                </a:solidFill>
                <a:latin typeface="Arial Narrow" pitchFamily="34" charset="0"/>
              </a:rPr>
              <a:t>RAIZ</a:t>
            </a:r>
            <a:r>
              <a:rPr kumimoji="1" lang="pt-BR" sz="3200" b="1" dirty="0">
                <a:latin typeface="Arial Narrow" pitchFamily="34" charset="0"/>
              </a:rPr>
              <a:t>.</a:t>
            </a:r>
          </a:p>
        </p:txBody>
      </p:sp>
      <p:sp>
        <p:nvSpPr>
          <p:cNvPr id="46086" name="Text Box 6"/>
          <p:cNvSpPr txBox="1">
            <a:spLocks noChangeArrowheads="1"/>
          </p:cNvSpPr>
          <p:nvPr/>
        </p:nvSpPr>
        <p:spPr bwMode="auto">
          <a:xfrm>
            <a:off x="1066800" y="4529138"/>
            <a:ext cx="2971800" cy="204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1" lang="pt-BR" sz="3200" b="1">
                <a:latin typeface="Arial Narrow" pitchFamily="34" charset="0"/>
              </a:rPr>
              <a:t>3 – Percorremos a subárvore </a:t>
            </a:r>
            <a:r>
              <a:rPr kumimoji="1" lang="pt-BR" sz="3200" b="1">
                <a:solidFill>
                  <a:srgbClr val="00FFCC"/>
                </a:solidFill>
                <a:latin typeface="Arial Narrow" pitchFamily="34" charset="0"/>
              </a:rPr>
              <a:t>direita</a:t>
            </a:r>
            <a:r>
              <a:rPr kumimoji="1" lang="pt-BR" sz="3200" b="1">
                <a:latin typeface="Arial Narrow" pitchFamily="34" charset="0"/>
              </a:rPr>
              <a:t> em ordem      prévia.</a:t>
            </a:r>
          </a:p>
        </p:txBody>
      </p:sp>
      <p:sp>
        <p:nvSpPr>
          <p:cNvPr id="46087" name="Text Box 7"/>
          <p:cNvSpPr txBox="1">
            <a:spLocks noChangeArrowheads="1"/>
          </p:cNvSpPr>
          <p:nvPr/>
        </p:nvSpPr>
        <p:spPr bwMode="auto">
          <a:xfrm>
            <a:off x="1055688" y="2747963"/>
            <a:ext cx="3440112" cy="155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1" lang="pt-BR" sz="3200" b="1">
                <a:latin typeface="Arial Narrow" pitchFamily="34" charset="0"/>
              </a:rPr>
              <a:t>2 – Percorremos a subárvore </a:t>
            </a:r>
            <a:r>
              <a:rPr kumimoji="1" lang="pt-BR" sz="3200" b="1">
                <a:solidFill>
                  <a:srgbClr val="00FFCC"/>
                </a:solidFill>
                <a:latin typeface="Arial Narrow" pitchFamily="34" charset="0"/>
              </a:rPr>
              <a:t>esquerda</a:t>
            </a:r>
            <a:r>
              <a:rPr kumimoji="1" lang="pt-BR" sz="3200" b="1">
                <a:latin typeface="Arial Narrow" pitchFamily="34" charset="0"/>
              </a:rPr>
              <a:t> em ordem prévia.</a:t>
            </a:r>
          </a:p>
        </p:txBody>
      </p:sp>
      <p:sp>
        <p:nvSpPr>
          <p:cNvPr id="46090" name="Line 10"/>
          <p:cNvSpPr>
            <a:spLocks noChangeShapeType="1"/>
          </p:cNvSpPr>
          <p:nvPr/>
        </p:nvSpPr>
        <p:spPr bwMode="auto">
          <a:xfrm flipH="1">
            <a:off x="5257800" y="2398713"/>
            <a:ext cx="1371600" cy="57308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pt-BR"/>
          </a:p>
        </p:txBody>
      </p:sp>
      <p:sp>
        <p:nvSpPr>
          <p:cNvPr id="46091" name="Line 11"/>
          <p:cNvSpPr>
            <a:spLocks noChangeShapeType="1"/>
          </p:cNvSpPr>
          <p:nvPr/>
        </p:nvSpPr>
        <p:spPr bwMode="auto">
          <a:xfrm>
            <a:off x="6545263" y="2387600"/>
            <a:ext cx="1524000" cy="7207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pt-BR"/>
          </a:p>
        </p:txBody>
      </p:sp>
      <p:sp>
        <p:nvSpPr>
          <p:cNvPr id="46094" name="Line 14"/>
          <p:cNvSpPr>
            <a:spLocks noChangeShapeType="1"/>
          </p:cNvSpPr>
          <p:nvPr/>
        </p:nvSpPr>
        <p:spPr bwMode="auto">
          <a:xfrm flipH="1">
            <a:off x="4710113" y="3433763"/>
            <a:ext cx="914400" cy="838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pt-BR"/>
          </a:p>
        </p:txBody>
      </p:sp>
      <p:sp>
        <p:nvSpPr>
          <p:cNvPr id="46096" name="Oval 16"/>
          <p:cNvSpPr>
            <a:spLocks noChangeArrowheads="1"/>
          </p:cNvSpPr>
          <p:nvPr/>
        </p:nvSpPr>
        <p:spPr bwMode="auto">
          <a:xfrm>
            <a:off x="4546600" y="3781425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pt-BR" sz="3600" dirty="0">
                <a:solidFill>
                  <a:srgbClr val="000000"/>
                </a:solidFill>
                <a:latin typeface="Arial Narrow" pitchFamily="34" charset="0"/>
              </a:rPr>
              <a:t>2</a:t>
            </a:r>
          </a:p>
        </p:txBody>
      </p:sp>
      <p:sp>
        <p:nvSpPr>
          <p:cNvPr id="46097" name="Line 17"/>
          <p:cNvSpPr>
            <a:spLocks noChangeShapeType="1"/>
          </p:cNvSpPr>
          <p:nvPr/>
        </p:nvSpPr>
        <p:spPr bwMode="auto">
          <a:xfrm flipH="1">
            <a:off x="6953250" y="3171825"/>
            <a:ext cx="914400" cy="838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pt-BR"/>
          </a:p>
        </p:txBody>
      </p:sp>
      <p:sp>
        <p:nvSpPr>
          <p:cNvPr id="46098" name="Line 18"/>
          <p:cNvSpPr>
            <a:spLocks noChangeShapeType="1"/>
          </p:cNvSpPr>
          <p:nvPr/>
        </p:nvSpPr>
        <p:spPr bwMode="auto">
          <a:xfrm>
            <a:off x="7902575" y="3136900"/>
            <a:ext cx="1066800" cy="914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pt-BR"/>
          </a:p>
        </p:txBody>
      </p:sp>
      <p:sp>
        <p:nvSpPr>
          <p:cNvPr id="46100" name="Oval 20"/>
          <p:cNvSpPr>
            <a:spLocks noChangeArrowheads="1"/>
          </p:cNvSpPr>
          <p:nvPr/>
        </p:nvSpPr>
        <p:spPr bwMode="auto">
          <a:xfrm>
            <a:off x="8199438" y="3798888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pt-BR" sz="3600" dirty="0">
                <a:solidFill>
                  <a:srgbClr val="000000"/>
                </a:solidFill>
                <a:latin typeface="Arial Narrow" pitchFamily="34" charset="0"/>
              </a:rPr>
              <a:t>21</a:t>
            </a:r>
          </a:p>
        </p:txBody>
      </p:sp>
      <p:sp>
        <p:nvSpPr>
          <p:cNvPr id="46102" name="Oval 22"/>
          <p:cNvSpPr>
            <a:spLocks noChangeArrowheads="1"/>
          </p:cNvSpPr>
          <p:nvPr/>
        </p:nvSpPr>
        <p:spPr bwMode="auto">
          <a:xfrm>
            <a:off x="6176963" y="17526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pt-BR" sz="3600" dirty="0">
                <a:solidFill>
                  <a:srgbClr val="000000"/>
                </a:solidFill>
                <a:latin typeface="Arial Narrow" pitchFamily="34" charset="0"/>
              </a:rPr>
              <a:t>10</a:t>
            </a:r>
          </a:p>
        </p:txBody>
      </p:sp>
      <p:sp>
        <p:nvSpPr>
          <p:cNvPr id="46103" name="Oval 23"/>
          <p:cNvSpPr>
            <a:spLocks noChangeArrowheads="1"/>
          </p:cNvSpPr>
          <p:nvPr/>
        </p:nvSpPr>
        <p:spPr bwMode="auto">
          <a:xfrm>
            <a:off x="5181600" y="27432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pt-BR" sz="3600" dirty="0">
                <a:solidFill>
                  <a:srgbClr val="000000"/>
                </a:solidFill>
                <a:latin typeface="Arial Narrow" pitchFamily="34" charset="0"/>
              </a:rPr>
              <a:t>7</a:t>
            </a:r>
          </a:p>
        </p:txBody>
      </p:sp>
      <p:sp>
        <p:nvSpPr>
          <p:cNvPr id="46104" name="Oval 24"/>
          <p:cNvSpPr>
            <a:spLocks noChangeArrowheads="1"/>
          </p:cNvSpPr>
          <p:nvPr/>
        </p:nvSpPr>
        <p:spPr bwMode="auto">
          <a:xfrm>
            <a:off x="7543800" y="26670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pt-BR" sz="3600" dirty="0">
                <a:solidFill>
                  <a:srgbClr val="000000"/>
                </a:solidFill>
                <a:latin typeface="Arial Narrow" pitchFamily="34" charset="0"/>
              </a:rPr>
              <a:t>14</a:t>
            </a:r>
          </a:p>
        </p:txBody>
      </p:sp>
      <p:sp>
        <p:nvSpPr>
          <p:cNvPr id="46113" name="Oval 33"/>
          <p:cNvSpPr>
            <a:spLocks noChangeArrowheads="1"/>
          </p:cNvSpPr>
          <p:nvPr/>
        </p:nvSpPr>
        <p:spPr bwMode="auto">
          <a:xfrm>
            <a:off x="6675438" y="3798888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pt-BR" sz="3600" dirty="0">
                <a:solidFill>
                  <a:srgbClr val="000000"/>
                </a:solidFill>
                <a:latin typeface="Arial Narrow" pitchFamily="34" charset="0"/>
              </a:rPr>
              <a:t>12</a:t>
            </a:r>
          </a:p>
        </p:txBody>
      </p:sp>
      <p:sp>
        <p:nvSpPr>
          <p:cNvPr id="46114" name="Text Box 34"/>
          <p:cNvSpPr txBox="1">
            <a:spLocks noChangeArrowheads="1"/>
          </p:cNvSpPr>
          <p:nvPr/>
        </p:nvSpPr>
        <p:spPr bwMode="auto">
          <a:xfrm>
            <a:off x="4495800" y="5352475"/>
            <a:ext cx="473238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pt-BR" sz="3200" b="1" dirty="0">
                <a:latin typeface="Arial Narrow" pitchFamily="34" charset="0"/>
              </a:rPr>
              <a:t>Pré – Ordem: 10 7 2 14 12 21</a:t>
            </a:r>
          </a:p>
        </p:txBody>
      </p:sp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252413" y="1981200"/>
            <a:ext cx="966788" cy="4572000"/>
            <a:chOff x="159" y="1248"/>
            <a:chExt cx="609" cy="2880"/>
          </a:xfrm>
        </p:grpSpPr>
        <p:sp>
          <p:nvSpPr>
            <p:cNvPr id="46116" name="Text Box 36"/>
            <p:cNvSpPr txBox="1">
              <a:spLocks noChangeArrowheads="1"/>
            </p:cNvSpPr>
            <p:nvPr/>
          </p:nvSpPr>
          <p:spPr bwMode="auto">
            <a:xfrm>
              <a:off x="159" y="1612"/>
              <a:ext cx="239" cy="2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pt-BR" sz="2400" b="1">
                  <a:solidFill>
                    <a:srgbClr val="00FFCC"/>
                  </a:solidFill>
                  <a:latin typeface="Arial Narrow" pitchFamily="34" charset="0"/>
                </a:rPr>
                <a:t>R</a:t>
              </a:r>
            </a:p>
            <a:p>
              <a:r>
                <a:rPr kumimoji="1" lang="pt-BR" sz="2400" b="1">
                  <a:solidFill>
                    <a:srgbClr val="00FFCC"/>
                  </a:solidFill>
                  <a:latin typeface="Arial Narrow" pitchFamily="34" charset="0"/>
                </a:rPr>
                <a:t>E</a:t>
              </a:r>
            </a:p>
            <a:p>
              <a:r>
                <a:rPr kumimoji="1" lang="pt-BR" sz="2400" b="1">
                  <a:solidFill>
                    <a:srgbClr val="00FFCC"/>
                  </a:solidFill>
                  <a:latin typeface="Arial Narrow" pitchFamily="34" charset="0"/>
                </a:rPr>
                <a:t>C</a:t>
              </a:r>
            </a:p>
            <a:p>
              <a:r>
                <a:rPr kumimoji="1" lang="pt-BR" sz="2400" b="1">
                  <a:solidFill>
                    <a:srgbClr val="00FFCC"/>
                  </a:solidFill>
                  <a:latin typeface="Arial Narrow" pitchFamily="34" charset="0"/>
                </a:rPr>
                <a:t>U</a:t>
              </a:r>
            </a:p>
            <a:p>
              <a:r>
                <a:rPr kumimoji="1" lang="pt-BR" sz="2400" b="1">
                  <a:solidFill>
                    <a:srgbClr val="00FFCC"/>
                  </a:solidFill>
                  <a:latin typeface="Arial Narrow" pitchFamily="34" charset="0"/>
                </a:rPr>
                <a:t>R</a:t>
              </a:r>
            </a:p>
            <a:p>
              <a:r>
                <a:rPr kumimoji="1" lang="pt-BR" sz="2400" b="1">
                  <a:solidFill>
                    <a:srgbClr val="00FFCC"/>
                  </a:solidFill>
                  <a:latin typeface="Arial Narrow" pitchFamily="34" charset="0"/>
                </a:rPr>
                <a:t>S</a:t>
              </a:r>
            </a:p>
            <a:p>
              <a:r>
                <a:rPr kumimoji="1" lang="pt-BR" sz="2400" b="1">
                  <a:solidFill>
                    <a:srgbClr val="00FFCC"/>
                  </a:solidFill>
                  <a:latin typeface="Arial Narrow" pitchFamily="34" charset="0"/>
                </a:rPr>
                <a:t>I</a:t>
              </a:r>
            </a:p>
            <a:p>
              <a:r>
                <a:rPr kumimoji="1" lang="pt-BR" sz="2400" b="1">
                  <a:solidFill>
                    <a:srgbClr val="00FFCC"/>
                  </a:solidFill>
                  <a:latin typeface="Arial Narrow" pitchFamily="34" charset="0"/>
                </a:rPr>
                <a:t>V</a:t>
              </a:r>
            </a:p>
            <a:p>
              <a:r>
                <a:rPr kumimoji="1" lang="pt-BR" sz="2400" b="1">
                  <a:solidFill>
                    <a:srgbClr val="00FFCC"/>
                  </a:solidFill>
                  <a:latin typeface="Arial Narrow" pitchFamily="34" charset="0"/>
                </a:rPr>
                <a:t>O</a:t>
              </a:r>
            </a:p>
          </p:txBody>
        </p:sp>
        <p:sp>
          <p:nvSpPr>
            <p:cNvPr id="46118" name="AutoShape 38"/>
            <p:cNvSpPr>
              <a:spLocks/>
            </p:cNvSpPr>
            <p:nvPr/>
          </p:nvSpPr>
          <p:spPr bwMode="auto">
            <a:xfrm>
              <a:off x="528" y="1248"/>
              <a:ext cx="240" cy="2880"/>
            </a:xfrm>
            <a:prstGeom prst="leftBrace">
              <a:avLst>
                <a:gd name="adj1" fmla="val 100000"/>
                <a:gd name="adj2" fmla="val 50000"/>
              </a:avLst>
            </a:prstGeom>
            <a:noFill/>
            <a:ln w="57150">
              <a:solidFill>
                <a:srgbClr val="00FF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46121" name="Text Box 41"/>
          <p:cNvSpPr txBox="1">
            <a:spLocks noChangeArrowheads="1"/>
          </p:cNvSpPr>
          <p:nvPr/>
        </p:nvSpPr>
        <p:spPr bwMode="auto">
          <a:xfrm>
            <a:off x="1547813" y="1916113"/>
            <a:ext cx="2947987" cy="396875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000" b="1" dirty="0"/>
              <a:t>Apresentamos DADO</a:t>
            </a:r>
          </a:p>
        </p:txBody>
      </p:sp>
      <p:cxnSp>
        <p:nvCxnSpPr>
          <p:cNvPr id="23" name="Conector de seta reta 22"/>
          <p:cNvCxnSpPr/>
          <p:nvPr/>
        </p:nvCxnSpPr>
        <p:spPr>
          <a:xfrm rot="16200000" flipH="1">
            <a:off x="6345873" y="1540510"/>
            <a:ext cx="411480" cy="1270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6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4" grpId="0" autoUpdateAnimBg="0"/>
      <p:bldP spid="46086" grpId="0" autoUpdateAnimBg="0"/>
      <p:bldP spid="46114" grpId="0" autoUpdateAnimBg="0"/>
      <p:bldP spid="461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Árvores Binárias - Percursos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371600" y="981075"/>
            <a:ext cx="7772400" cy="685800"/>
          </a:xfrm>
        </p:spPr>
        <p:txBody>
          <a:bodyPr/>
          <a:lstStyle/>
          <a:p>
            <a:r>
              <a:rPr lang="pt-BR">
                <a:solidFill>
                  <a:srgbClr val="000099"/>
                </a:solidFill>
              </a:rPr>
              <a:t>Pós-Ordem</a:t>
            </a:r>
          </a:p>
        </p:txBody>
      </p:sp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1066800" y="5476875"/>
            <a:ext cx="355441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pt-BR" sz="3200" b="1">
                <a:latin typeface="Arial Narrow" pitchFamily="34" charset="0"/>
              </a:rPr>
              <a:t>3 – Visitamos a </a:t>
            </a:r>
            <a:r>
              <a:rPr kumimoji="1" lang="pt-BR" sz="3200" b="1">
                <a:solidFill>
                  <a:srgbClr val="00FFCC"/>
                </a:solidFill>
                <a:latin typeface="Arial Narrow" pitchFamily="34" charset="0"/>
              </a:rPr>
              <a:t>RAIZ</a:t>
            </a:r>
            <a:r>
              <a:rPr kumimoji="1" lang="pt-BR" sz="3200" b="1">
                <a:latin typeface="Arial Narrow" pitchFamily="34" charset="0"/>
              </a:rPr>
              <a:t>.</a:t>
            </a:r>
          </a:p>
        </p:txBody>
      </p:sp>
      <p:sp>
        <p:nvSpPr>
          <p:cNvPr id="49157" name="Text Box 5"/>
          <p:cNvSpPr txBox="1">
            <a:spLocks noChangeArrowheads="1"/>
          </p:cNvSpPr>
          <p:nvPr/>
        </p:nvSpPr>
        <p:spPr bwMode="auto">
          <a:xfrm>
            <a:off x="1090613" y="3514725"/>
            <a:ext cx="3440112" cy="155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1" lang="pt-BR" sz="3200" b="1" dirty="0">
                <a:latin typeface="Arial Narrow" pitchFamily="34" charset="0"/>
              </a:rPr>
              <a:t>2 – Percorremos a </a:t>
            </a:r>
            <a:r>
              <a:rPr kumimoji="1" lang="pt-BR" sz="3200" b="1" dirty="0" err="1">
                <a:latin typeface="Arial Narrow" pitchFamily="34" charset="0"/>
              </a:rPr>
              <a:t>subárvore</a:t>
            </a:r>
            <a:r>
              <a:rPr kumimoji="1" lang="pt-BR" sz="3200" b="1" dirty="0">
                <a:latin typeface="Arial Narrow" pitchFamily="34" charset="0"/>
              </a:rPr>
              <a:t> </a:t>
            </a:r>
            <a:r>
              <a:rPr kumimoji="1" lang="pt-BR" sz="3200" b="1" dirty="0">
                <a:solidFill>
                  <a:srgbClr val="00FFCC"/>
                </a:solidFill>
                <a:latin typeface="Arial Narrow" pitchFamily="34" charset="0"/>
              </a:rPr>
              <a:t>direita</a:t>
            </a:r>
            <a:r>
              <a:rPr kumimoji="1" lang="pt-BR" sz="3200" b="1" dirty="0">
                <a:latin typeface="Arial Narrow" pitchFamily="34" charset="0"/>
              </a:rPr>
              <a:t> em ordem posterior.</a:t>
            </a:r>
          </a:p>
        </p:txBody>
      </p:sp>
      <p:sp>
        <p:nvSpPr>
          <p:cNvPr id="49158" name="Line 6"/>
          <p:cNvSpPr>
            <a:spLocks noChangeShapeType="1"/>
          </p:cNvSpPr>
          <p:nvPr/>
        </p:nvSpPr>
        <p:spPr bwMode="auto">
          <a:xfrm flipH="1">
            <a:off x="5257800" y="2398713"/>
            <a:ext cx="1371600" cy="57308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pt-BR"/>
          </a:p>
        </p:txBody>
      </p:sp>
      <p:sp>
        <p:nvSpPr>
          <p:cNvPr id="49159" name="Line 7"/>
          <p:cNvSpPr>
            <a:spLocks noChangeShapeType="1"/>
          </p:cNvSpPr>
          <p:nvPr/>
        </p:nvSpPr>
        <p:spPr bwMode="auto">
          <a:xfrm>
            <a:off x="6545263" y="2387600"/>
            <a:ext cx="1524000" cy="7207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pt-BR"/>
          </a:p>
        </p:txBody>
      </p:sp>
      <p:sp>
        <p:nvSpPr>
          <p:cNvPr id="49160" name="Line 8"/>
          <p:cNvSpPr>
            <a:spLocks noChangeShapeType="1"/>
          </p:cNvSpPr>
          <p:nvPr/>
        </p:nvSpPr>
        <p:spPr bwMode="auto">
          <a:xfrm flipH="1">
            <a:off x="4710113" y="3433763"/>
            <a:ext cx="914400" cy="838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pt-BR"/>
          </a:p>
        </p:txBody>
      </p:sp>
      <p:sp>
        <p:nvSpPr>
          <p:cNvPr id="49162" name="Oval 10"/>
          <p:cNvSpPr>
            <a:spLocks noChangeArrowheads="1"/>
          </p:cNvSpPr>
          <p:nvPr/>
        </p:nvSpPr>
        <p:spPr bwMode="auto">
          <a:xfrm>
            <a:off x="4546600" y="3781425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pt-BR" sz="3600" dirty="0">
                <a:solidFill>
                  <a:srgbClr val="000000"/>
                </a:solidFill>
                <a:latin typeface="Arial Narrow" pitchFamily="34" charset="0"/>
              </a:rPr>
              <a:t>2</a:t>
            </a:r>
          </a:p>
        </p:txBody>
      </p:sp>
      <p:sp>
        <p:nvSpPr>
          <p:cNvPr id="49163" name="Line 11"/>
          <p:cNvSpPr>
            <a:spLocks noChangeShapeType="1"/>
          </p:cNvSpPr>
          <p:nvPr/>
        </p:nvSpPr>
        <p:spPr bwMode="auto">
          <a:xfrm flipH="1">
            <a:off x="6953250" y="3171825"/>
            <a:ext cx="914400" cy="838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pt-BR"/>
          </a:p>
        </p:txBody>
      </p:sp>
      <p:sp>
        <p:nvSpPr>
          <p:cNvPr id="49164" name="Line 12"/>
          <p:cNvSpPr>
            <a:spLocks noChangeShapeType="1"/>
          </p:cNvSpPr>
          <p:nvPr/>
        </p:nvSpPr>
        <p:spPr bwMode="auto">
          <a:xfrm>
            <a:off x="7902575" y="3136900"/>
            <a:ext cx="1066800" cy="914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pt-BR"/>
          </a:p>
        </p:txBody>
      </p:sp>
      <p:sp>
        <p:nvSpPr>
          <p:cNvPr id="49165" name="Oval 13"/>
          <p:cNvSpPr>
            <a:spLocks noChangeArrowheads="1"/>
          </p:cNvSpPr>
          <p:nvPr/>
        </p:nvSpPr>
        <p:spPr bwMode="auto">
          <a:xfrm>
            <a:off x="8199438" y="3798888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pt-BR" sz="3600" dirty="0">
                <a:solidFill>
                  <a:srgbClr val="000000"/>
                </a:solidFill>
                <a:latin typeface="Arial Narrow" pitchFamily="34" charset="0"/>
              </a:rPr>
              <a:t>21</a:t>
            </a:r>
          </a:p>
        </p:txBody>
      </p:sp>
      <p:sp>
        <p:nvSpPr>
          <p:cNvPr id="49167" name="Oval 15"/>
          <p:cNvSpPr>
            <a:spLocks noChangeArrowheads="1"/>
          </p:cNvSpPr>
          <p:nvPr/>
        </p:nvSpPr>
        <p:spPr bwMode="auto">
          <a:xfrm>
            <a:off x="6176963" y="17526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pt-BR" sz="3600" dirty="0">
                <a:solidFill>
                  <a:srgbClr val="000000"/>
                </a:solidFill>
                <a:latin typeface="Arial Narrow" pitchFamily="34" charset="0"/>
              </a:rPr>
              <a:t>10</a:t>
            </a:r>
          </a:p>
        </p:txBody>
      </p:sp>
      <p:sp>
        <p:nvSpPr>
          <p:cNvPr id="49168" name="Oval 16"/>
          <p:cNvSpPr>
            <a:spLocks noChangeArrowheads="1"/>
          </p:cNvSpPr>
          <p:nvPr/>
        </p:nvSpPr>
        <p:spPr bwMode="auto">
          <a:xfrm>
            <a:off x="5181600" y="27432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pt-BR" sz="3600" dirty="0">
                <a:solidFill>
                  <a:srgbClr val="000000"/>
                </a:solidFill>
                <a:latin typeface="Arial Narrow" pitchFamily="34" charset="0"/>
              </a:rPr>
              <a:t>7</a:t>
            </a:r>
          </a:p>
        </p:txBody>
      </p:sp>
      <p:sp>
        <p:nvSpPr>
          <p:cNvPr id="49169" name="Oval 17"/>
          <p:cNvSpPr>
            <a:spLocks noChangeArrowheads="1"/>
          </p:cNvSpPr>
          <p:nvPr/>
        </p:nvSpPr>
        <p:spPr bwMode="auto">
          <a:xfrm>
            <a:off x="7543800" y="26670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pt-BR" sz="3600" dirty="0">
                <a:solidFill>
                  <a:srgbClr val="000000"/>
                </a:solidFill>
                <a:latin typeface="Arial Narrow" pitchFamily="34" charset="0"/>
              </a:rPr>
              <a:t>14</a:t>
            </a:r>
          </a:p>
        </p:txBody>
      </p:sp>
      <p:sp>
        <p:nvSpPr>
          <p:cNvPr id="49174" name="Oval 22"/>
          <p:cNvSpPr>
            <a:spLocks noChangeArrowheads="1"/>
          </p:cNvSpPr>
          <p:nvPr/>
        </p:nvSpPr>
        <p:spPr bwMode="auto">
          <a:xfrm>
            <a:off x="6675438" y="3798888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pt-BR" sz="3600" dirty="0">
                <a:solidFill>
                  <a:srgbClr val="000000"/>
                </a:solidFill>
                <a:latin typeface="Arial Narrow" pitchFamily="34" charset="0"/>
              </a:rPr>
              <a:t>12</a:t>
            </a:r>
          </a:p>
        </p:txBody>
      </p:sp>
      <p:sp>
        <p:nvSpPr>
          <p:cNvPr id="49175" name="Text Box 23"/>
          <p:cNvSpPr txBox="1">
            <a:spLocks noChangeArrowheads="1"/>
          </p:cNvSpPr>
          <p:nvPr/>
        </p:nvSpPr>
        <p:spPr bwMode="auto">
          <a:xfrm>
            <a:off x="4621213" y="5068888"/>
            <a:ext cx="463780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pt-BR" sz="3200" b="1" dirty="0">
                <a:latin typeface="Arial Narrow" pitchFamily="34" charset="0"/>
              </a:rPr>
              <a:t>Pós-Ordem:  2 7 12 21 14 10</a:t>
            </a:r>
          </a:p>
        </p:txBody>
      </p:sp>
      <p:sp>
        <p:nvSpPr>
          <p:cNvPr id="49178" name="Text Box 26"/>
          <p:cNvSpPr txBox="1">
            <a:spLocks noChangeArrowheads="1"/>
          </p:cNvSpPr>
          <p:nvPr/>
        </p:nvSpPr>
        <p:spPr bwMode="auto">
          <a:xfrm>
            <a:off x="1076325" y="1600200"/>
            <a:ext cx="3440113" cy="155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1" lang="pt-BR" sz="3200" b="1">
                <a:latin typeface="Arial Narrow" pitchFamily="34" charset="0"/>
              </a:rPr>
              <a:t>1 – Percorremos a subárvore </a:t>
            </a:r>
            <a:r>
              <a:rPr kumimoji="1" lang="pt-BR" sz="3200" b="1">
                <a:solidFill>
                  <a:srgbClr val="00FFCC"/>
                </a:solidFill>
                <a:latin typeface="Arial Narrow" pitchFamily="34" charset="0"/>
              </a:rPr>
              <a:t>esquerda</a:t>
            </a:r>
            <a:r>
              <a:rPr kumimoji="1" lang="pt-BR" sz="3200" b="1">
                <a:latin typeface="Arial Narrow" pitchFamily="34" charset="0"/>
              </a:rPr>
              <a:t> em ordem posterior.</a:t>
            </a:r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20</a:t>
            </a:fld>
            <a:endParaRPr lang="pt-BR"/>
          </a:p>
        </p:txBody>
      </p:sp>
      <p:grpSp>
        <p:nvGrpSpPr>
          <p:cNvPr id="31" name="Grupo 30"/>
          <p:cNvGrpSpPr/>
          <p:nvPr/>
        </p:nvGrpSpPr>
        <p:grpSpPr>
          <a:xfrm>
            <a:off x="231775" y="1828800"/>
            <a:ext cx="835025" cy="4724400"/>
            <a:chOff x="381000" y="1828800"/>
            <a:chExt cx="685800" cy="4724400"/>
          </a:xfrm>
        </p:grpSpPr>
        <p:sp>
          <p:nvSpPr>
            <p:cNvPr id="49177" name="AutoShape 25"/>
            <p:cNvSpPr>
              <a:spLocks/>
            </p:cNvSpPr>
            <p:nvPr/>
          </p:nvSpPr>
          <p:spPr bwMode="auto">
            <a:xfrm>
              <a:off x="838200" y="1828800"/>
              <a:ext cx="228600" cy="4724400"/>
            </a:xfrm>
            <a:prstGeom prst="leftBrace">
              <a:avLst>
                <a:gd name="adj1" fmla="val 172222"/>
                <a:gd name="adj2" fmla="val 50000"/>
              </a:avLst>
            </a:prstGeom>
            <a:noFill/>
            <a:ln w="57150">
              <a:solidFill>
                <a:srgbClr val="00FF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9" name="Text Box 36"/>
            <p:cNvSpPr txBox="1">
              <a:spLocks noChangeArrowheads="1"/>
            </p:cNvSpPr>
            <p:nvPr/>
          </p:nvSpPr>
          <p:spPr bwMode="auto">
            <a:xfrm>
              <a:off x="381000" y="2559050"/>
              <a:ext cx="379413" cy="3378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pt-BR" sz="2400" b="1" dirty="0">
                  <a:solidFill>
                    <a:srgbClr val="00FFCC"/>
                  </a:solidFill>
                  <a:latin typeface="Arial Narrow" pitchFamily="34" charset="0"/>
                </a:rPr>
                <a:t>R</a:t>
              </a:r>
            </a:p>
            <a:p>
              <a:r>
                <a:rPr kumimoji="1" lang="pt-BR" sz="2400" b="1" dirty="0">
                  <a:solidFill>
                    <a:srgbClr val="00FFCC"/>
                  </a:solidFill>
                  <a:latin typeface="Arial Narrow" pitchFamily="34" charset="0"/>
                </a:rPr>
                <a:t>E</a:t>
              </a:r>
            </a:p>
            <a:p>
              <a:r>
                <a:rPr kumimoji="1" lang="pt-BR" sz="2400" b="1" dirty="0">
                  <a:solidFill>
                    <a:srgbClr val="00FFCC"/>
                  </a:solidFill>
                  <a:latin typeface="Arial Narrow" pitchFamily="34" charset="0"/>
                </a:rPr>
                <a:t>C</a:t>
              </a:r>
            </a:p>
            <a:p>
              <a:r>
                <a:rPr kumimoji="1" lang="pt-BR" sz="2400" b="1" dirty="0">
                  <a:solidFill>
                    <a:srgbClr val="00FFCC"/>
                  </a:solidFill>
                  <a:latin typeface="Arial Narrow" pitchFamily="34" charset="0"/>
                </a:rPr>
                <a:t>U</a:t>
              </a:r>
            </a:p>
            <a:p>
              <a:r>
                <a:rPr kumimoji="1" lang="pt-BR" sz="2400" b="1" dirty="0">
                  <a:solidFill>
                    <a:srgbClr val="00FFCC"/>
                  </a:solidFill>
                  <a:latin typeface="Arial Narrow" pitchFamily="34" charset="0"/>
                </a:rPr>
                <a:t>R</a:t>
              </a:r>
            </a:p>
            <a:p>
              <a:r>
                <a:rPr kumimoji="1" lang="pt-BR" sz="2400" b="1" dirty="0">
                  <a:solidFill>
                    <a:srgbClr val="00FFCC"/>
                  </a:solidFill>
                  <a:latin typeface="Arial Narrow" pitchFamily="34" charset="0"/>
                </a:rPr>
                <a:t>S</a:t>
              </a:r>
            </a:p>
            <a:p>
              <a:r>
                <a:rPr kumimoji="1" lang="pt-BR" sz="2400" b="1" dirty="0">
                  <a:solidFill>
                    <a:srgbClr val="00FFCC"/>
                  </a:solidFill>
                  <a:latin typeface="Arial Narrow" pitchFamily="34" charset="0"/>
                </a:rPr>
                <a:t>I</a:t>
              </a:r>
            </a:p>
            <a:p>
              <a:r>
                <a:rPr kumimoji="1" lang="pt-BR" sz="2400" b="1" dirty="0">
                  <a:solidFill>
                    <a:srgbClr val="00FFCC"/>
                  </a:solidFill>
                  <a:latin typeface="Arial Narrow" pitchFamily="34" charset="0"/>
                </a:rPr>
                <a:t>V</a:t>
              </a:r>
            </a:p>
            <a:p>
              <a:r>
                <a:rPr kumimoji="1" lang="pt-BR" sz="2400" b="1" dirty="0">
                  <a:solidFill>
                    <a:srgbClr val="00FFCC"/>
                  </a:solidFill>
                  <a:latin typeface="Arial Narrow" pitchFamily="34" charset="0"/>
                </a:rPr>
                <a:t>O</a:t>
              </a:r>
            </a:p>
          </p:txBody>
        </p:sp>
      </p:grpSp>
      <p:sp>
        <p:nvSpPr>
          <p:cNvPr id="32" name="Text Box 41"/>
          <p:cNvSpPr txBox="1">
            <a:spLocks noChangeArrowheads="1"/>
          </p:cNvSpPr>
          <p:nvPr/>
        </p:nvSpPr>
        <p:spPr bwMode="auto">
          <a:xfrm>
            <a:off x="1598613" y="5540375"/>
            <a:ext cx="2947987" cy="396875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000" b="1" dirty="0"/>
              <a:t>Apresentamos DADO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6" grpId="0" autoUpdateAnimBg="0"/>
      <p:bldP spid="49157" grpId="0" autoUpdateAnimBg="0"/>
      <p:bldP spid="49175" grpId="0" autoUpdateAnimBg="0"/>
      <p:bldP spid="3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cap="all" dirty="0" err="1"/>
              <a:t>Tenenbaum</a:t>
            </a:r>
            <a:r>
              <a:rPr lang="pt-BR" cap="all" dirty="0"/>
              <a:t>, </a:t>
            </a:r>
            <a:r>
              <a:rPr lang="pt-BR" cap="all" dirty="0" err="1"/>
              <a:t>A.M.</a:t>
            </a:r>
            <a:r>
              <a:rPr lang="pt-BR" cap="all" dirty="0"/>
              <a:t> e </a:t>
            </a:r>
            <a:r>
              <a:rPr lang="pt-BR" dirty="0"/>
              <a:t>outros - </a:t>
            </a:r>
            <a:r>
              <a:rPr lang="pt-BR" b="1" dirty="0"/>
              <a:t>Estruturas de Dados usando C</a:t>
            </a:r>
            <a:r>
              <a:rPr lang="pt-BR" dirty="0"/>
              <a:t>. </a:t>
            </a:r>
            <a:r>
              <a:rPr lang="pt-BR" dirty="0" err="1"/>
              <a:t>Makron</a:t>
            </a:r>
            <a:r>
              <a:rPr lang="pt-BR" dirty="0"/>
              <a:t> Books do Brasil Editora </a:t>
            </a:r>
            <a:r>
              <a:rPr lang="pt-BR" dirty="0" err="1"/>
              <a:t>Ltda</a:t>
            </a:r>
            <a:r>
              <a:rPr lang="pt-BR" dirty="0"/>
              <a:t>, SP.</a:t>
            </a:r>
          </a:p>
          <a:p>
            <a:r>
              <a:rPr lang="pt-BR" dirty="0"/>
              <a:t>PEREIRA, S. L. </a:t>
            </a:r>
            <a:r>
              <a:rPr lang="pt-BR" b="1" dirty="0"/>
              <a:t>Estrutura de Dados Fundamentais. </a:t>
            </a:r>
            <a:r>
              <a:rPr lang="pt-BR" dirty="0"/>
              <a:t>São Paulo: Érica.</a:t>
            </a:r>
          </a:p>
          <a:p>
            <a:r>
              <a:rPr lang="pt-BR" cap="all" dirty="0"/>
              <a:t>FORBELLONE, </a:t>
            </a:r>
            <a:r>
              <a:rPr lang="pt-BR" cap="all" dirty="0" err="1"/>
              <a:t>A.L.V.</a:t>
            </a:r>
            <a:r>
              <a:rPr lang="pt-BR" cap="all" dirty="0"/>
              <a:t> &amp; EBERSPÄCHER, </a:t>
            </a:r>
            <a:r>
              <a:rPr lang="pt-BR" cap="all" dirty="0" err="1"/>
              <a:t>H.F.</a:t>
            </a:r>
            <a:r>
              <a:rPr lang="pt-BR" cap="all" dirty="0"/>
              <a:t> – </a:t>
            </a:r>
            <a:r>
              <a:rPr lang="pt-BR" b="1" dirty="0"/>
              <a:t>Lógica de Programação: A Construção de Algoritmos e Estruturas de Dados.</a:t>
            </a:r>
            <a:r>
              <a:rPr lang="pt-BR" dirty="0"/>
              <a:t> </a:t>
            </a:r>
            <a:r>
              <a:rPr lang="pt-BR" dirty="0" err="1"/>
              <a:t>Makron</a:t>
            </a:r>
            <a:r>
              <a:rPr lang="pt-BR" dirty="0"/>
              <a:t> Books, São Paulo, SP</a:t>
            </a:r>
          </a:p>
          <a:p>
            <a:r>
              <a:rPr lang="pt-BR" dirty="0"/>
              <a:t>ASCENCIO,</a:t>
            </a:r>
            <a:r>
              <a:rPr lang="pt-BR" dirty="0" err="1"/>
              <a:t>A.F.</a:t>
            </a:r>
            <a:r>
              <a:rPr lang="pt-BR" dirty="0"/>
              <a:t>G e ARAÚJO, </a:t>
            </a:r>
            <a:r>
              <a:rPr lang="pt-BR" dirty="0" err="1"/>
              <a:t>G.S.</a:t>
            </a:r>
            <a:r>
              <a:rPr lang="pt-BR" dirty="0"/>
              <a:t> – Estruturas de Dados: Algoritmos, Análise da Complexidade e Implementação em JAVA e C/C++</a:t>
            </a:r>
          </a:p>
          <a:p>
            <a:pPr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27266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2" y="3222882"/>
            <a:ext cx="7759752" cy="1939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pt-BR" sz="2000" dirty="0">
                <a:solidFill>
                  <a:schemeClr val="bg1"/>
                </a:solidFill>
                <a:latin typeface="Gotham-Bold"/>
                <a:cs typeface="Gotham-Bold"/>
              </a:rPr>
              <a:t>Copyright </a:t>
            </a:r>
            <a:r>
              <a:rPr kumimoji="1" lang="pt-BR" sz="2000">
                <a:solidFill>
                  <a:schemeClr val="bg1"/>
                </a:solidFill>
                <a:latin typeface="Gotham-Bold"/>
                <a:cs typeface="Gotham-Bold"/>
              </a:rPr>
              <a:t>© 2023</a:t>
            </a:r>
            <a:endParaRPr kumimoji="1" lang="pt-BR" sz="2000" dirty="0">
              <a:solidFill>
                <a:schemeClr val="bg1"/>
              </a:solidFill>
              <a:latin typeface="Gotham-Bold"/>
              <a:cs typeface="Gotham-Bold"/>
            </a:endParaRPr>
          </a:p>
          <a:p>
            <a:pPr>
              <a:defRPr/>
            </a:pPr>
            <a:r>
              <a:rPr kumimoji="1" lang="pt-BR" sz="2000" dirty="0" err="1">
                <a:solidFill>
                  <a:schemeClr val="bg1"/>
                </a:solidFill>
                <a:latin typeface="Gotham-Bold"/>
                <a:cs typeface="Gotham-Bold"/>
              </a:rPr>
              <a:t>Profa</a:t>
            </a:r>
            <a:r>
              <a:rPr kumimoji="1" lang="pt-BR" sz="2000" dirty="0">
                <a:solidFill>
                  <a:schemeClr val="bg1"/>
                </a:solidFill>
                <a:latin typeface="Gotham-Bold"/>
                <a:cs typeface="Gotham-Bold"/>
              </a:rPr>
              <a:t>. Patrícia Magna</a:t>
            </a:r>
          </a:p>
          <a:p>
            <a:pPr>
              <a:defRPr/>
            </a:pPr>
            <a:endParaRPr kumimoji="1" lang="pt-BR" sz="2000" dirty="0">
              <a:solidFill>
                <a:schemeClr val="bg1"/>
              </a:solidFill>
              <a:latin typeface="Gotham-Bold"/>
              <a:cs typeface="Gotham-Bold"/>
            </a:endParaRPr>
          </a:p>
          <a:p>
            <a:pPr>
              <a:defRPr/>
            </a:pPr>
            <a:r>
              <a:rPr kumimoji="1" lang="pt-BR" sz="2000" dirty="0">
                <a:solidFill>
                  <a:schemeClr val="bg1"/>
                </a:solidFill>
                <a:latin typeface="Gotham-Bold"/>
                <a:cs typeface="Gotham-Bold"/>
              </a:rPr>
              <a:t>Todos direitos reservados. Reprodução ou divulgação total ou parcial deste documento é expressamente proibido sem o consentimento formal, por escrito, dos professores.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1010</TotalTime>
  <Words>1082</Words>
  <Application>Microsoft Office PowerPoint</Application>
  <PresentationFormat>Apresentação na tela (4:3)</PresentationFormat>
  <Paragraphs>221</Paragraphs>
  <Slides>22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22</vt:i4>
      </vt:variant>
    </vt:vector>
  </HeadingPairs>
  <TitlesOfParts>
    <vt:vector size="35" baseType="lpstr">
      <vt:lpstr>Arial</vt:lpstr>
      <vt:lpstr>Arial Black</vt:lpstr>
      <vt:lpstr>Arial Narrow</vt:lpstr>
      <vt:lpstr>Book Antiqua</vt:lpstr>
      <vt:lpstr>Calibri</vt:lpstr>
      <vt:lpstr>Gotham HTF</vt:lpstr>
      <vt:lpstr>Gotham-Bold</vt:lpstr>
      <vt:lpstr>Gotham-Book</vt:lpstr>
      <vt:lpstr>Wingdings</vt:lpstr>
      <vt:lpstr>Default Theme</vt:lpstr>
      <vt:lpstr>1_Personalizar design</vt:lpstr>
      <vt:lpstr>2_Personalizar design</vt:lpstr>
      <vt:lpstr>Office Theme</vt:lpstr>
      <vt:lpstr>Apresentação do PowerPoint</vt:lpstr>
      <vt:lpstr>Árvores Binárias</vt:lpstr>
      <vt:lpstr>Árvore Binária – Exemplo 5</vt:lpstr>
      <vt:lpstr>NÃO É Árvore Binária – Exemplo 6</vt:lpstr>
      <vt:lpstr>Árvores Binárias - Conceitos</vt:lpstr>
      <vt:lpstr>Árvores Binárias - Conceitos</vt:lpstr>
      <vt:lpstr>Árvores Binárias - Conceitos</vt:lpstr>
      <vt:lpstr>Árvore Binária Completa</vt:lpstr>
      <vt:lpstr>Exemplo de Eficiência</vt:lpstr>
      <vt:lpstr>Árvores Binárias - Conceitos</vt:lpstr>
      <vt:lpstr>ÁRVORE de BUSCA BINÁRIA </vt:lpstr>
      <vt:lpstr>Árvore  de Busca Binária - ABB</vt:lpstr>
      <vt:lpstr>Exemplo e Exercício  Planilha ARVORE BINARIA</vt:lpstr>
      <vt:lpstr>Árvores de Busca Binárias - Conceito</vt:lpstr>
      <vt:lpstr>Árvores de Busca Binária - Conceito</vt:lpstr>
      <vt:lpstr>Árvores Binárias de Busca - Conceito</vt:lpstr>
      <vt:lpstr>Árvores Binárias - Percursos</vt:lpstr>
      <vt:lpstr>Árvores Binárias - Percursos</vt:lpstr>
      <vt:lpstr>Árvores Binárias - Percursos</vt:lpstr>
      <vt:lpstr>Árvores Binárias - Percursos</vt:lpstr>
      <vt:lpstr>Apresentação do PowerPoint</vt:lpstr>
      <vt:lpstr>Apresentação do PowerPoint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Patrícia Magna</cp:lastModifiedBy>
  <cp:revision>207</cp:revision>
  <dcterms:created xsi:type="dcterms:W3CDTF">2015-01-30T10:46:50Z</dcterms:created>
  <dcterms:modified xsi:type="dcterms:W3CDTF">2023-10-18T19:48:30Z</dcterms:modified>
</cp:coreProperties>
</file>