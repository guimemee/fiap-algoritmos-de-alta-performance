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664" r:id="rId3"/>
    <p:sldMasterId id="2147483739" r:id="rId4"/>
  </p:sldMasterIdLst>
  <p:notesMasterIdLst>
    <p:notesMasterId r:id="rId35"/>
  </p:notesMasterIdLst>
  <p:sldIdLst>
    <p:sldId id="267" r:id="rId5"/>
    <p:sldId id="309" r:id="rId6"/>
    <p:sldId id="335" r:id="rId7"/>
    <p:sldId id="334" r:id="rId8"/>
    <p:sldId id="313" r:id="rId9"/>
    <p:sldId id="315" r:id="rId10"/>
    <p:sldId id="314" r:id="rId11"/>
    <p:sldId id="338" r:id="rId12"/>
    <p:sldId id="316" r:id="rId13"/>
    <p:sldId id="337" r:id="rId14"/>
    <p:sldId id="317" r:id="rId15"/>
    <p:sldId id="327" r:id="rId16"/>
    <p:sldId id="328" r:id="rId17"/>
    <p:sldId id="347" r:id="rId18"/>
    <p:sldId id="349" r:id="rId19"/>
    <p:sldId id="318" r:id="rId20"/>
    <p:sldId id="319" r:id="rId21"/>
    <p:sldId id="320" r:id="rId22"/>
    <p:sldId id="321" r:id="rId23"/>
    <p:sldId id="322" r:id="rId24"/>
    <p:sldId id="333" r:id="rId25"/>
    <p:sldId id="323" r:id="rId26"/>
    <p:sldId id="324" r:id="rId27"/>
    <p:sldId id="336" r:id="rId28"/>
    <p:sldId id="351" r:id="rId29"/>
    <p:sldId id="352" r:id="rId30"/>
    <p:sldId id="353" r:id="rId31"/>
    <p:sldId id="331" r:id="rId32"/>
    <p:sldId id="330" r:id="rId33"/>
    <p:sldId id="265" r:id="rId3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8E"/>
    <a:srgbClr val="F4D3D6"/>
    <a:srgbClr val="5035F5"/>
    <a:srgbClr val="4639F1"/>
    <a:srgbClr val="F0265D"/>
    <a:srgbClr val="EBAFB5"/>
    <a:srgbClr val="F9E8EA"/>
    <a:srgbClr val="020000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449" autoAdjust="0"/>
  </p:normalViewPr>
  <p:slideViewPr>
    <p:cSldViewPr snapToGrid="0" snapToObjects="1">
      <p:cViewPr varScale="1">
        <p:scale>
          <a:sx n="51" d="100"/>
          <a:sy n="51" d="100"/>
        </p:scale>
        <p:origin x="1872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01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23528" y="44625"/>
            <a:ext cx="7272808" cy="720079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Slide 1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9512" y="908720"/>
            <a:ext cx="8712968" cy="532859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7323138" cy="5556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62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44625"/>
            <a:ext cx="7596336" cy="12241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75656" y="1340768"/>
            <a:ext cx="6192688" cy="41044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619672" y="44625"/>
            <a:ext cx="6120680" cy="1008112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3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47664" y="1268760"/>
            <a:ext cx="6192688" cy="417646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E1B9-0FF2-47D3-A570-AF2DA5A4D6D2}" type="datetime1">
              <a:rPr lang="pt-BR" smtClean="0"/>
              <a:pPr/>
              <a:t>05/08/2025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/>
          <p:nvPr userDrawn="1"/>
        </p:nvSpPr>
        <p:spPr>
          <a:xfrm>
            <a:off x="8044249" y="6343992"/>
            <a:ext cx="1176708" cy="365125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557" y="328709"/>
            <a:ext cx="8229600" cy="466767"/>
          </a:xfrm>
        </p:spPr>
        <p:txBody>
          <a:bodyPr>
            <a:noAutofit/>
          </a:bodyPr>
          <a:lstStyle>
            <a:lvl1pPr algn="l">
              <a:defRPr sz="2500"/>
            </a:lvl1pPr>
          </a:lstStyle>
          <a:p>
            <a:r>
              <a:rPr lang="x-none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0C508-BAC6-4988-82C5-CEE4F4388CEA}" type="datetime1">
              <a:rPr lang="pt-BR" smtClean="0"/>
              <a:pPr/>
              <a:t>05/08/2025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 b="1"/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457200" y="741405"/>
            <a:ext cx="8229600" cy="0"/>
          </a:xfrm>
          <a:prstGeom prst="line">
            <a:avLst/>
          </a:prstGeom>
          <a:ln w="31750">
            <a:solidFill>
              <a:srgbClr val="F02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1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18"/>
          <p:cNvSpPr/>
          <p:nvPr userDrawn="1"/>
        </p:nvSpPr>
        <p:spPr>
          <a:xfrm>
            <a:off x="397557" y="364111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91266-BD96-423C-BFC8-E552F7F0EF51}" type="datetime1">
              <a:rPr lang="pt-BR" smtClean="0"/>
              <a:pPr/>
              <a:t>05/08/2025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292D1-CC1F-48F3-A1CE-88DF081558D2}" type="datetime1">
              <a:rPr lang="pt-BR" smtClean="0"/>
              <a:pPr/>
              <a:t>05/08/2025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47DF8-EA86-4A42-9D0F-D7B72ECDF5B8}" type="datetime1">
              <a:rPr lang="pt-BR" smtClean="0"/>
              <a:pPr/>
              <a:t>05/08/2025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343B-B992-4412-8F81-38EE98798B6D}" type="datetime1">
              <a:rPr lang="pt-BR" smtClean="0"/>
              <a:pPr/>
              <a:t>05/08/2025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8D6AD-52A6-47A0-A87B-B583A028078A}" type="datetime1">
              <a:rPr lang="pt-BR" smtClean="0"/>
              <a:pPr/>
              <a:t>05/08/2025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E8378-CD32-4651-91B4-85234BF8C3FE}" type="datetime1">
              <a:rPr lang="pt-BR" smtClean="0"/>
              <a:pPr/>
              <a:t>05/08/2025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EC4E4-B2AD-4CCF-B31F-92E82F9B339C}" type="datetime1">
              <a:rPr lang="pt-BR" smtClean="0"/>
              <a:pPr/>
              <a:t>05/08/2025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20BB1-D3B6-4F0E-BFC6-350510C0CB04}" type="datetime1">
              <a:rPr lang="pt-BR" smtClean="0"/>
              <a:pPr/>
              <a:t>05/08/2025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876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78374-1EAF-4CD8-B958-19AC576D0182}" type="datetime1">
              <a:rPr lang="pt-BR" smtClean="0"/>
              <a:pPr/>
              <a:t>05/08/2025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3562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A17560-05F2-4AB1-A981-A1363DCD87DA}" type="datetime1">
              <a:rPr lang="pt-BR" altLang="en-US" smtClean="0"/>
              <a:pPr/>
              <a:t>05/08/2025</a:t>
            </a:fld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9F8228-CD93-4FB7-83F5-A66C290929B3}" type="slidenum">
              <a:rPr lang="pt-BR" altLang="en-US"/>
              <a:pPr/>
              <a:t>‹nº›</a:t>
            </a:fld>
            <a:endParaRPr lang="pt-B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5193A-14C7-4AF4-93A4-91396384D479}" type="datetime1">
              <a:rPr lang="pt-BR" smtClean="0"/>
              <a:pPr/>
              <a:t>05/08/2025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050" name="Picture 2" descr="K:\Júnior\B.I\FIAP Shift\Template 4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99C0E-554C-4479-BA5D-EB2F7F5419E3}" type="datetime1">
              <a:rPr lang="pt-BR" smtClean="0"/>
              <a:pPr/>
              <a:t>05/08/2025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9B6C0-1EBF-4909-A23C-2B4E6C0F977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074" name="Picture 2" descr="K:\Júnior\B.I\FIAP Shift\Template 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33F08-179D-4004-8D37-922397405F45}" type="datetime1">
              <a:rPr lang="pt-BR" smtClean="0"/>
              <a:pPr/>
              <a:t>05/08/2025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BDE16-AB64-4071-8A5E-208E5097AA4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98" name="Picture 2" descr="K:\Júnior\B.I\FIAP Shift\Template 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99393"/>
            <a:ext cx="9276524" cy="6957393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8E966E-F854-4135-812A-4555870BC5F8}" type="datetime1">
              <a:rPr lang="pt-BR" smtClean="0"/>
              <a:pPr/>
              <a:t>05/08/2025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3" r:id="rId13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/>
          <a:srcRect l="21776" r="21705"/>
          <a:stretch/>
        </p:blipFill>
        <p:spPr>
          <a:xfrm>
            <a:off x="0" y="2608031"/>
            <a:ext cx="9155651" cy="278985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011881" y="2879111"/>
            <a:ext cx="8132119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3200" dirty="0">
                <a:solidFill>
                  <a:srgbClr val="FFFF00"/>
                </a:solidFill>
                <a:latin typeface="Gotham-Bold"/>
                <a:cs typeface="Gotham-Bold"/>
              </a:rPr>
              <a:t>Criando Novos Tipos de Dados: </a:t>
            </a:r>
          </a:p>
          <a:p>
            <a:pPr>
              <a:lnSpc>
                <a:spcPct val="90000"/>
              </a:lnSpc>
            </a:pPr>
            <a:r>
              <a:rPr lang="pt-BR" sz="3200" dirty="0">
                <a:solidFill>
                  <a:srgbClr val="FFFF00"/>
                </a:solidFill>
                <a:latin typeface="Gotham-Bold"/>
                <a:cs typeface="Gotham-Bold"/>
              </a:rPr>
              <a:t>               Listas Lineares</a:t>
            </a:r>
            <a:endParaRPr lang="en-US" sz="3200" dirty="0">
              <a:solidFill>
                <a:srgbClr val="FFFF00"/>
              </a:solidFill>
              <a:latin typeface="Gotham-Bold"/>
              <a:cs typeface="Gotham-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11882" y="3857840"/>
            <a:ext cx="5541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2"/>
                </a:solidFill>
                <a:latin typeface="Gotham-Bold"/>
              </a:rPr>
              <a:t>Algoritmos de Alta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1882" y="4444109"/>
            <a:ext cx="681713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 err="1">
                <a:solidFill>
                  <a:srgbClr val="FFFFFF"/>
                </a:solidFill>
                <a:latin typeface="Gotham-Bold"/>
                <a:cs typeface="Gotham-Bold"/>
              </a:rPr>
              <a:t>PROFa</a:t>
            </a: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. PATRÍCIA MAGNA  - profpatricia.magna@fiap.com.br</a:t>
            </a:r>
          </a:p>
        </p:txBody>
      </p:sp>
      <p:sp>
        <p:nvSpPr>
          <p:cNvPr id="23" name="Rectangle 22"/>
          <p:cNvSpPr/>
          <p:nvPr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444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Por que e quando usar “novos” tipos de dados?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9557" y="866384"/>
            <a:ext cx="8441968" cy="2233277"/>
          </a:xfrm>
        </p:spPr>
        <p:txBody>
          <a:bodyPr>
            <a:normAutofit lnSpcReduction="10000"/>
          </a:bodyPr>
          <a:lstStyle/>
          <a:p>
            <a:endParaRPr lang="pt-BR" sz="2000" dirty="0"/>
          </a:p>
          <a:p>
            <a:r>
              <a:rPr lang="pt-BR" sz="2400" dirty="0"/>
              <a:t>Uma loja de varejo vai fazer uma </a:t>
            </a:r>
            <a:r>
              <a:rPr lang="pt-BR" sz="2400" i="1" dirty="0"/>
              <a:t>hiper mega </a:t>
            </a:r>
            <a:r>
              <a:rPr lang="pt-BR" sz="2400" i="1" dirty="0" err="1"/>
              <a:t>blaster</a:t>
            </a:r>
            <a:r>
              <a:rPr lang="pt-BR" sz="2400" i="1" dirty="0"/>
              <a:t> </a:t>
            </a:r>
            <a:r>
              <a:rPr lang="pt-BR" sz="2400" dirty="0"/>
              <a:t>promoção de um determinado produto.</a:t>
            </a:r>
          </a:p>
          <a:p>
            <a:r>
              <a:rPr lang="pt-BR" sz="2400" dirty="0"/>
              <a:t>A venda pode apenas ser feita usando um aplicativo.</a:t>
            </a:r>
          </a:p>
          <a:p>
            <a:r>
              <a:rPr lang="pt-BR" sz="2400" dirty="0"/>
              <a:t>Você deve desenvolver uma aplicação para controlar a chegada de pedidos de clientes para o produto em promoção.</a:t>
            </a:r>
          </a:p>
          <a:p>
            <a:endParaRPr lang="pt-BR" sz="2000" dirty="0"/>
          </a:p>
          <a:p>
            <a:pPr>
              <a:buNone/>
            </a:pPr>
            <a:endParaRPr lang="pt-BR" sz="20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2</a:t>
            </a:fld>
            <a:endParaRPr lang="pt-BR"/>
          </a:p>
        </p:txBody>
      </p:sp>
      <p:sp>
        <p:nvSpPr>
          <p:cNvPr id="2" name="AutoShape 2" descr="Resultado de imagem para fila grande de pessoa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23556" name="AutoShape 4" descr="5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8" name="Imagem 7" descr="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511" y="3170569"/>
            <a:ext cx="3439029" cy="2292686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4538348" y="3429000"/>
            <a:ext cx="44104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Como organizar os pedidos a fim de controlar a sequência de pedidos de forma justa e eficiente??</a:t>
            </a:r>
          </a:p>
          <a:p>
            <a:endParaRPr lang="pt-BR" sz="24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381E972-9E76-4D2D-814E-38ACDB3B740D}"/>
              </a:ext>
            </a:extLst>
          </p:cNvPr>
          <p:cNvSpPr txBox="1"/>
          <p:nvPr/>
        </p:nvSpPr>
        <p:spPr>
          <a:xfrm>
            <a:off x="533537" y="5541105"/>
            <a:ext cx="80096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00008E"/>
                </a:solidFill>
              </a:rPr>
              <a:t>É o que vamos descobrir e desenvolver ao longo desta disciplina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Outro exemplo: previsão do tempo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3</a:t>
            </a:fld>
            <a:endParaRPr lang="pt-BR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63000"/>
                    </a14:imgEffect>
                    <a14:imgEffect>
                      <a14:brightnessContrast bright="-6000" contrast="-39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2202607" y="1109663"/>
            <a:ext cx="4533822" cy="35612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5" name="Group 1"/>
          <p:cNvGrpSpPr>
            <a:grpSpLocks noChangeAspect="1"/>
          </p:cNvGrpSpPr>
          <p:nvPr/>
        </p:nvGrpSpPr>
        <p:grpSpPr bwMode="auto">
          <a:xfrm>
            <a:off x="-78706" y="4670907"/>
            <a:ext cx="9222706" cy="1446405"/>
            <a:chOff x="2201" y="2715"/>
            <a:chExt cx="6246" cy="980"/>
          </a:xfrm>
        </p:grpSpPr>
        <p:sp>
          <p:nvSpPr>
            <p:cNvPr id="6" name="AutoShape 8"/>
            <p:cNvSpPr>
              <a:spLocks noChangeAspect="1" noChangeArrowheads="1" noTextEdit="1"/>
            </p:cNvSpPr>
            <p:nvPr/>
          </p:nvSpPr>
          <p:spPr bwMode="auto">
            <a:xfrm>
              <a:off x="2201" y="2715"/>
              <a:ext cx="6246" cy="98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grpSp>
          <p:nvGrpSpPr>
            <p:cNvPr id="7" name="Group 2"/>
            <p:cNvGrpSpPr>
              <a:grpSpLocks/>
            </p:cNvGrpSpPr>
            <p:nvPr/>
          </p:nvGrpSpPr>
          <p:grpSpPr bwMode="auto">
            <a:xfrm>
              <a:off x="2764" y="2852"/>
              <a:ext cx="5383" cy="843"/>
              <a:chOff x="2764" y="2852"/>
              <a:chExt cx="5383" cy="843"/>
            </a:xfrm>
          </p:grpSpPr>
          <p:sp>
            <p:nvSpPr>
              <p:cNvPr id="8" name="Text Box 7"/>
              <p:cNvSpPr txBox="1">
                <a:spLocks noChangeArrowheads="1"/>
              </p:cNvSpPr>
              <p:nvPr/>
            </p:nvSpPr>
            <p:spPr bwMode="auto">
              <a:xfrm>
                <a:off x="2764" y="2852"/>
                <a:ext cx="1435" cy="84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BR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Calibri" pitchFamily="34" charset="0"/>
                    <a:cs typeface="Times New Roman" pitchFamily="18" charset="0"/>
                  </a:rPr>
                  <a:t>Dados</a:t>
                </a:r>
                <a:endParaRPr kumimoji="0" lang="pt-BR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BR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Calibri" pitchFamily="34" charset="0"/>
                    <a:cs typeface="Times New Roman" pitchFamily="18" charset="0"/>
                  </a:rPr>
                  <a:t>Metereológicos </a:t>
                </a:r>
                <a:endParaRPr kumimoji="0" lang="pt-BR" sz="4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9" name="Text Box 6"/>
              <p:cNvSpPr txBox="1">
                <a:spLocks noChangeArrowheads="1"/>
              </p:cNvSpPr>
              <p:nvPr/>
            </p:nvSpPr>
            <p:spPr bwMode="auto">
              <a:xfrm>
                <a:off x="6506" y="2923"/>
                <a:ext cx="1641" cy="658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B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Calibri" pitchFamily="34" charset="0"/>
                    <a:cs typeface="Times New Roman" pitchFamily="18" charset="0"/>
                  </a:rPr>
                  <a:t>Informações: possibilidade de chuva</a:t>
                </a:r>
                <a:endParaRPr kumimoji="0" lang="pt-BR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pt-BR" sz="3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0" name="Text Box 5"/>
              <p:cNvSpPr txBox="1">
                <a:spLocks noChangeArrowheads="1"/>
              </p:cNvSpPr>
              <p:nvPr/>
            </p:nvSpPr>
            <p:spPr bwMode="auto">
              <a:xfrm>
                <a:off x="4609" y="2923"/>
                <a:ext cx="1430" cy="584"/>
              </a:xfrm>
              <a:prstGeom prst="rect">
                <a:avLst/>
              </a:prstGeom>
              <a:solidFill>
                <a:srgbClr val="A8D08D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pt-BR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Times New Roman" pitchFamily="18" charset="0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B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Calibri" pitchFamily="34" charset="0"/>
                    <a:cs typeface="Times New Roman" pitchFamily="18" charset="0"/>
                  </a:rPr>
                  <a:t>Processamento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pt-B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1" name="Line 4"/>
              <p:cNvSpPr>
                <a:spLocks noChangeShapeType="1"/>
              </p:cNvSpPr>
              <p:nvPr/>
            </p:nvSpPr>
            <p:spPr bwMode="auto">
              <a:xfrm>
                <a:off x="3746" y="3115"/>
                <a:ext cx="85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12" name="Line 3"/>
              <p:cNvSpPr>
                <a:spLocks noChangeShapeType="1"/>
              </p:cNvSpPr>
              <p:nvPr/>
            </p:nvSpPr>
            <p:spPr bwMode="auto">
              <a:xfrm>
                <a:off x="6029" y="3115"/>
                <a:ext cx="47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De uma forma geral...</a:t>
            </a:r>
          </a:p>
        </p:txBody>
      </p:sp>
      <p:sp>
        <p:nvSpPr>
          <p:cNvPr id="27659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0" y="3716338"/>
            <a:ext cx="8229600" cy="2414587"/>
          </a:xfrm>
        </p:spPr>
        <p:txBody>
          <a:bodyPr>
            <a:normAutofit/>
          </a:bodyPr>
          <a:lstStyle/>
          <a:p>
            <a:r>
              <a:rPr lang="pt-BR" sz="2400" dirty="0"/>
              <a:t>Modelar uma aplicação para processamento em um computador implica em:</a:t>
            </a:r>
          </a:p>
          <a:p>
            <a:pPr lvl="1"/>
            <a:r>
              <a:rPr lang="pt-BR" sz="2000" dirty="0"/>
              <a:t>Definir como os dados vão ser representados no programa </a:t>
            </a:r>
          </a:p>
          <a:p>
            <a:pPr lvl="1"/>
            <a:r>
              <a:rPr lang="pt-BR" sz="2000" dirty="0"/>
              <a:t>Quais as operações esses dados poderão sofrer no processamento a ser realizado pela aplicação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684213" y="1484313"/>
            <a:ext cx="7715250" cy="2039937"/>
            <a:chOff x="521" y="1706"/>
            <a:chExt cx="4860" cy="1285"/>
          </a:xfrm>
        </p:grpSpPr>
        <p:sp>
          <p:nvSpPr>
            <p:cNvPr id="27653" name="Text Box 5"/>
            <p:cNvSpPr txBox="1">
              <a:spLocks noChangeArrowheads="1"/>
            </p:cNvSpPr>
            <p:nvPr/>
          </p:nvSpPr>
          <p:spPr bwMode="auto">
            <a:xfrm>
              <a:off x="521" y="1706"/>
              <a:ext cx="752" cy="128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pt-BR" sz="2400" b="0" dirty="0"/>
            </a:p>
            <a:p>
              <a:pPr algn="ctr"/>
              <a:r>
                <a:rPr lang="pt-BR" sz="2400" b="0" dirty="0"/>
                <a:t>Dados</a:t>
              </a:r>
              <a:r>
                <a:rPr lang="pt-BR" sz="1200" b="0" dirty="0"/>
                <a:t> </a:t>
              </a:r>
              <a:endParaRPr lang="pt-BR" dirty="0"/>
            </a:p>
          </p:txBody>
        </p:sp>
        <p:sp>
          <p:nvSpPr>
            <p:cNvPr id="27654" name="Text Box 6"/>
            <p:cNvSpPr txBox="1">
              <a:spLocks noChangeArrowheads="1"/>
            </p:cNvSpPr>
            <p:nvPr/>
          </p:nvSpPr>
          <p:spPr bwMode="auto">
            <a:xfrm>
              <a:off x="4195" y="1706"/>
              <a:ext cx="1186" cy="128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pt-BR" sz="2400" b="0"/>
            </a:p>
            <a:p>
              <a:r>
                <a:rPr lang="pt-BR" sz="2400" b="0"/>
                <a:t>Informações</a:t>
              </a:r>
              <a:r>
                <a:rPr lang="pt-BR" sz="1200" b="0"/>
                <a:t> </a:t>
              </a:r>
              <a:endParaRPr lang="pt-BR"/>
            </a:p>
          </p:txBody>
        </p:sp>
        <p:sp>
          <p:nvSpPr>
            <p:cNvPr id="27655" name="Text Box 7"/>
            <p:cNvSpPr txBox="1">
              <a:spLocks noChangeArrowheads="1"/>
            </p:cNvSpPr>
            <p:nvPr/>
          </p:nvSpPr>
          <p:spPr bwMode="auto">
            <a:xfrm>
              <a:off x="2064" y="1706"/>
              <a:ext cx="1530" cy="1174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 sz="2400" b="0" dirty="0"/>
            </a:p>
            <a:p>
              <a:pPr algn="ctr"/>
              <a:r>
                <a:rPr lang="pt-BR" sz="2400" b="0" dirty="0"/>
                <a:t>Processamento</a:t>
              </a:r>
              <a:endParaRPr lang="pt-BR" sz="2400" dirty="0"/>
            </a:p>
          </p:txBody>
        </p:sp>
        <p:sp>
          <p:nvSpPr>
            <p:cNvPr id="27656" name="Line 8"/>
            <p:cNvSpPr>
              <a:spLocks noChangeShapeType="1"/>
            </p:cNvSpPr>
            <p:nvPr/>
          </p:nvSpPr>
          <p:spPr bwMode="auto">
            <a:xfrm>
              <a:off x="1284" y="2081"/>
              <a:ext cx="70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657" name="Line 9"/>
            <p:cNvSpPr>
              <a:spLocks noChangeShapeType="1"/>
            </p:cNvSpPr>
            <p:nvPr/>
          </p:nvSpPr>
          <p:spPr bwMode="auto">
            <a:xfrm>
              <a:off x="3651" y="2069"/>
              <a:ext cx="49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4</a:t>
            </a:fld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 de Tipo de Dado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93630" y="1600200"/>
            <a:ext cx="7435970" cy="4525963"/>
          </a:xfrm>
        </p:spPr>
        <p:txBody>
          <a:bodyPr>
            <a:normAutofit/>
          </a:bodyPr>
          <a:lstStyle/>
          <a:p>
            <a:r>
              <a:rPr lang="pt-BR" sz="2400" dirty="0"/>
              <a:t>Um tipo de dado constitui-se de:</a:t>
            </a:r>
          </a:p>
          <a:p>
            <a:pPr lvl="1"/>
            <a:r>
              <a:rPr lang="pt-BR" sz="2000" dirty="0"/>
              <a:t>Valores que podem ser assumidos;</a:t>
            </a:r>
          </a:p>
          <a:p>
            <a:pPr lvl="1"/>
            <a:r>
              <a:rPr lang="pt-BR" sz="2000" dirty="0"/>
              <a:t>Operações que podem ser efetuadas sobre esses valores.</a:t>
            </a:r>
          </a:p>
          <a:p>
            <a:pPr lvl="1"/>
            <a:endParaRPr lang="pt-BR" sz="2000" dirty="0"/>
          </a:p>
          <a:p>
            <a:pPr lvl="1"/>
            <a:endParaRPr lang="pt-BR" sz="2000" dirty="0">
              <a:solidFill>
                <a:srgbClr val="00008E"/>
              </a:solidFill>
            </a:endParaRPr>
          </a:p>
          <a:p>
            <a:pPr lvl="1"/>
            <a:endParaRPr lang="pt-BR" sz="2000" dirty="0">
              <a:solidFill>
                <a:schemeClr val="bg1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5</a:t>
            </a:fld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28709"/>
            <a:ext cx="8229600" cy="466767"/>
          </a:xfrm>
        </p:spPr>
        <p:txBody>
          <a:bodyPr>
            <a:normAutofit/>
          </a:bodyPr>
          <a:lstStyle/>
          <a:p>
            <a:r>
              <a:rPr lang="pt-BR" sz="2000" b="1" dirty="0"/>
              <a:t>Tipos Abstratos de Dados (TAD) versus Tipos Concretos de Dados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71625"/>
            <a:ext cx="8229600" cy="4530725"/>
          </a:xfrm>
        </p:spPr>
        <p:txBody>
          <a:bodyPr>
            <a:normAutofit/>
          </a:bodyPr>
          <a:lstStyle/>
          <a:p>
            <a:r>
              <a:rPr lang="pt-BR" sz="2000" dirty="0"/>
              <a:t>Os </a:t>
            </a:r>
            <a:r>
              <a:rPr lang="pt-BR" sz="2000" b="1" dirty="0"/>
              <a:t>tipos abstratos de dados </a:t>
            </a:r>
            <a:r>
              <a:rPr lang="pt-BR" sz="2000" dirty="0"/>
              <a:t>(</a:t>
            </a:r>
            <a:r>
              <a:rPr lang="pt-BR" sz="2000" b="1" dirty="0"/>
              <a:t>TAD</a:t>
            </a:r>
            <a:r>
              <a:rPr lang="pt-BR" sz="2000" dirty="0"/>
              <a:t>) especificam as propriedades lógicas e matemáticas de um tipo de dado ou estrutura, tornando-se guias úteis para os programadores.</a:t>
            </a:r>
          </a:p>
          <a:p>
            <a:endParaRPr lang="pt-BR" sz="2000" dirty="0">
              <a:solidFill>
                <a:schemeClr val="tx1"/>
              </a:solidFill>
            </a:endParaRPr>
          </a:p>
          <a:p>
            <a:r>
              <a:rPr lang="pt-BR" sz="2000" dirty="0">
                <a:solidFill>
                  <a:schemeClr val="tx1"/>
                </a:solidFill>
              </a:rPr>
              <a:t>Já os </a:t>
            </a:r>
            <a:r>
              <a:rPr lang="pt-BR" sz="2000" b="1" dirty="0">
                <a:solidFill>
                  <a:schemeClr val="tx1"/>
                </a:solidFill>
              </a:rPr>
              <a:t>tipos concretos de dados </a:t>
            </a:r>
            <a:r>
              <a:rPr lang="pt-BR" sz="2000" dirty="0">
                <a:solidFill>
                  <a:schemeClr val="tx1"/>
                </a:solidFill>
              </a:rPr>
              <a:t>são aqueles que são escolhidos dentro das opções de tipos de dados oferecidos pela arquitetura do computador, ou seja, dentro das limitações que são inerentes do mundo digital.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6</a:t>
            </a:fld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69557" y="224287"/>
            <a:ext cx="7846307" cy="57119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 b="1" dirty="0">
                <a:solidFill>
                  <a:srgbClr val="5035F5"/>
                </a:solidFill>
              </a:rPr>
              <a:t>Exemplo de </a:t>
            </a:r>
            <a:r>
              <a:rPr lang="pt-BR" b="1">
                <a:solidFill>
                  <a:srgbClr val="5035F5"/>
                </a:solidFill>
              </a:rPr>
              <a:t>Tipo Abstrato </a:t>
            </a:r>
            <a:r>
              <a:rPr lang="pt-BR" b="1" dirty="0">
                <a:solidFill>
                  <a:srgbClr val="5035F5"/>
                </a:solidFill>
              </a:rPr>
              <a:t>e Tipo Concreto de Dado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1540" y="1155941"/>
            <a:ext cx="8457618" cy="508134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2000" dirty="0"/>
              <a:t>A modelagem de uma aplicação define que há necessidade de um contador do número de carros que transitam em uma estrada no período de 1 ano.</a:t>
            </a:r>
          </a:p>
          <a:p>
            <a:pPr>
              <a:lnSpc>
                <a:spcPct val="90000"/>
              </a:lnSpc>
            </a:pPr>
            <a:endParaRPr lang="pt-BR" sz="1600" dirty="0"/>
          </a:p>
          <a:p>
            <a:pPr lvl="1">
              <a:lnSpc>
                <a:spcPct val="90000"/>
              </a:lnSpc>
            </a:pPr>
            <a:r>
              <a:rPr lang="es-ES" sz="2000" dirty="0"/>
              <a:t>O </a:t>
            </a:r>
            <a:r>
              <a:rPr lang="es-ES" sz="2000" dirty="0">
                <a:solidFill>
                  <a:srgbClr val="FF0000"/>
                </a:solidFill>
              </a:rPr>
              <a:t>TAD (Tipo </a:t>
            </a:r>
            <a:r>
              <a:rPr lang="es-ES" sz="2000" dirty="0" err="1">
                <a:solidFill>
                  <a:srgbClr val="FF0000"/>
                </a:solidFill>
              </a:rPr>
              <a:t>Abstrato</a:t>
            </a:r>
            <a:r>
              <a:rPr lang="es-ES" sz="2000" dirty="0">
                <a:solidFill>
                  <a:srgbClr val="FF0000"/>
                </a:solidFill>
              </a:rPr>
              <a:t> de Dado) </a:t>
            </a:r>
            <a:r>
              <a:rPr lang="es-ES" sz="2000" dirty="0"/>
              <a:t>definido </a:t>
            </a:r>
            <a:r>
              <a:rPr lang="es-ES" sz="2000" dirty="0" err="1"/>
              <a:t>na</a:t>
            </a:r>
            <a:r>
              <a:rPr lang="es-ES" sz="2000" dirty="0"/>
              <a:t> </a:t>
            </a:r>
            <a:r>
              <a:rPr lang="es-ES" sz="2000" dirty="0" err="1"/>
              <a:t>modelagem</a:t>
            </a:r>
            <a:r>
              <a:rPr lang="es-ES" sz="2000" dirty="0"/>
              <a:t>  especifica o contador como </a:t>
            </a:r>
            <a:r>
              <a:rPr lang="es-ES" sz="2000" dirty="0" err="1"/>
              <a:t>sendo</a:t>
            </a:r>
            <a:r>
              <a:rPr lang="es-ES" sz="2000" dirty="0"/>
              <a:t> </a:t>
            </a:r>
            <a:r>
              <a:rPr lang="pt-BR" sz="2000" dirty="0"/>
              <a:t>um número </a:t>
            </a:r>
            <a:r>
              <a:rPr lang="pt-BR" sz="2000" dirty="0">
                <a:solidFill>
                  <a:srgbClr val="FF0000"/>
                </a:solidFill>
              </a:rPr>
              <a:t>inteiro positivo</a:t>
            </a:r>
            <a:r>
              <a:rPr lang="pt-BR" sz="2000" dirty="0"/>
              <a:t>.</a:t>
            </a:r>
          </a:p>
          <a:p>
            <a:pPr lvl="1">
              <a:lnSpc>
                <a:spcPct val="90000"/>
              </a:lnSpc>
            </a:pPr>
            <a:endParaRPr lang="pt-BR" sz="1100" dirty="0"/>
          </a:p>
          <a:p>
            <a:pPr lvl="1">
              <a:lnSpc>
                <a:spcPct val="90000"/>
              </a:lnSpc>
            </a:pPr>
            <a:r>
              <a:rPr lang="pt-BR" sz="2000" dirty="0"/>
              <a:t>Utilizando a linguagem de programação JAVA a implementação  do </a:t>
            </a:r>
            <a:r>
              <a:rPr lang="pt-BR" sz="2000" b="1" dirty="0">
                <a:solidFill>
                  <a:srgbClr val="4639F1"/>
                </a:solidFill>
              </a:rPr>
              <a:t>Tipo</a:t>
            </a:r>
            <a:r>
              <a:rPr lang="pt-BR" sz="2000" dirty="0">
                <a:solidFill>
                  <a:srgbClr val="4639F1"/>
                </a:solidFill>
              </a:rPr>
              <a:t> </a:t>
            </a:r>
            <a:r>
              <a:rPr lang="pt-BR" sz="2000" b="1" dirty="0">
                <a:solidFill>
                  <a:srgbClr val="4639F1"/>
                </a:solidFill>
              </a:rPr>
              <a:t>de Dado Concreto </a:t>
            </a:r>
            <a:r>
              <a:rPr lang="pt-BR" sz="2000" dirty="0"/>
              <a:t>contador pode ser </a:t>
            </a:r>
            <a:r>
              <a:rPr lang="pt-BR" sz="2000" b="1" dirty="0" err="1">
                <a:solidFill>
                  <a:srgbClr val="4639F1"/>
                </a:solidFill>
              </a:rPr>
              <a:t>int</a:t>
            </a:r>
            <a:endParaRPr lang="pt-BR" sz="2000" b="1" dirty="0">
              <a:solidFill>
                <a:srgbClr val="4639F1"/>
              </a:solidFill>
            </a:endParaRPr>
          </a:p>
          <a:p>
            <a:pPr lvl="2">
              <a:lnSpc>
                <a:spcPct val="90000"/>
              </a:lnSpc>
            </a:pPr>
            <a:r>
              <a:rPr lang="pt-BR" sz="1800" dirty="0"/>
              <a:t>Todas as operações sobre números inteiros são</a:t>
            </a:r>
            <a:r>
              <a:rPr lang="pt-BR" sz="1800" b="1" dirty="0"/>
              <a:t> </a:t>
            </a:r>
            <a:r>
              <a:rPr lang="pt-BR" sz="1800" dirty="0"/>
              <a:t>permitidas sobre esse dado (soma, subtração, auto-incremento, </a:t>
            </a:r>
            <a:r>
              <a:rPr lang="pt-BR" sz="1800" dirty="0" err="1"/>
              <a:t>etc</a:t>
            </a:r>
            <a:r>
              <a:rPr lang="pt-BR" sz="1800" dirty="0"/>
              <a:t>).</a:t>
            </a:r>
          </a:p>
          <a:p>
            <a:pPr lvl="2">
              <a:lnSpc>
                <a:spcPct val="90000"/>
              </a:lnSpc>
            </a:pPr>
            <a:r>
              <a:rPr lang="pt-BR" sz="1800" dirty="0"/>
              <a:t>Os valores possíveis de serem representados dependem do compilador e da plataforma (processador e SO) </a:t>
            </a:r>
          </a:p>
          <a:p>
            <a:pPr lvl="3">
              <a:lnSpc>
                <a:spcPct val="90000"/>
              </a:lnSpc>
            </a:pPr>
            <a:r>
              <a:rPr lang="pt-BR" sz="1800" dirty="0"/>
              <a:t>Se compilador e plataforma trabalham com palavras de 16 bits o número de carros que podem ser contados será limitado pelo intervalo de 0 até o valor 65536.</a:t>
            </a:r>
          </a:p>
          <a:p>
            <a:pPr lvl="3">
              <a:lnSpc>
                <a:spcPct val="90000"/>
              </a:lnSpc>
            </a:pPr>
            <a:r>
              <a:rPr lang="pt-BR" sz="1800" dirty="0"/>
              <a:t>Mas, se compilador e a plataforma for  32 bits o contador poderá representar de 0 até 4.294.967.296!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7</a:t>
            </a:fld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9D8CEF-3028-4EEF-8197-2838463B7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231784E-0F73-4F53-ABB1-B021E7E1E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8</a:t>
            </a:fld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24A5E6D-DA55-4874-903F-65EA509E67B2}"/>
              </a:ext>
            </a:extLst>
          </p:cNvPr>
          <p:cNvSpPr txBox="1"/>
          <p:nvPr/>
        </p:nvSpPr>
        <p:spPr>
          <a:xfrm>
            <a:off x="591457" y="1712408"/>
            <a:ext cx="702854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8E"/>
                </a:solidFill>
              </a:rPr>
              <a:t>Com 16 bits quantas combinações são possíveis?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00008E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00008E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00008E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E1EBA8-8492-4BBC-BA70-49B1DB7CBB41}"/>
              </a:ext>
            </a:extLst>
          </p:cNvPr>
          <p:cNvSpPr txBox="1"/>
          <p:nvPr/>
        </p:nvSpPr>
        <p:spPr>
          <a:xfrm>
            <a:off x="881742" y="2551837"/>
            <a:ext cx="801551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008E"/>
                </a:solidFill>
              </a:rPr>
              <a:t>1bit: 0 e 1 (2 combinações)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008E"/>
                </a:solidFill>
              </a:rPr>
              <a:t>2 bits: 00 01 10 11 (4 combinações)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008E"/>
                </a:solidFill>
              </a:rPr>
              <a:t>3 bits : 000 001 010 011 100 101 110 111 (8 combinações)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008E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008E"/>
                </a:solidFill>
              </a:rPr>
              <a:t>16 bits : 2</a:t>
            </a:r>
            <a:r>
              <a:rPr lang="pt-BR" sz="2000" baseline="30000" dirty="0">
                <a:solidFill>
                  <a:srgbClr val="00008E"/>
                </a:solidFill>
              </a:rPr>
              <a:t>16 </a:t>
            </a:r>
            <a:r>
              <a:rPr lang="pt-BR" sz="2000" dirty="0">
                <a:solidFill>
                  <a:srgbClr val="00008E"/>
                </a:solidFill>
              </a:rPr>
              <a:t>combinações = 2</a:t>
            </a:r>
            <a:r>
              <a:rPr lang="pt-BR" sz="2000" baseline="30000" dirty="0">
                <a:solidFill>
                  <a:srgbClr val="00008E"/>
                </a:solidFill>
              </a:rPr>
              <a:t>6 </a:t>
            </a:r>
            <a:r>
              <a:rPr lang="pt-BR" sz="2000" dirty="0">
                <a:solidFill>
                  <a:srgbClr val="00008E"/>
                </a:solidFill>
              </a:rPr>
              <a:t>2</a:t>
            </a:r>
            <a:r>
              <a:rPr lang="pt-BR" sz="2000" baseline="30000" dirty="0">
                <a:solidFill>
                  <a:srgbClr val="00008E"/>
                </a:solidFill>
              </a:rPr>
              <a:t>10 = </a:t>
            </a:r>
            <a:r>
              <a:rPr lang="pt-BR" sz="2000" dirty="0">
                <a:solidFill>
                  <a:srgbClr val="00008E"/>
                </a:solidFill>
              </a:rPr>
              <a:t>64k = 64*1024 </a:t>
            </a:r>
            <a:r>
              <a:rPr lang="pt-BR" sz="2000" dirty="0">
                <a:solidFill>
                  <a:schemeClr val="bg1"/>
                </a:solidFill>
              </a:rPr>
              <a:t>= 65000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92660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Estruturas de Dados 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00664" y="1600200"/>
            <a:ext cx="7228936" cy="4525963"/>
          </a:xfrm>
        </p:spPr>
        <p:txBody>
          <a:bodyPr>
            <a:normAutofit/>
          </a:bodyPr>
          <a:lstStyle/>
          <a:p>
            <a:r>
              <a:rPr lang="pt-BR" sz="2000" dirty="0">
                <a:solidFill>
                  <a:schemeClr val="tx1"/>
                </a:solidFill>
              </a:rPr>
              <a:t>Nesta disciplina não serão estudadas as técnicas e notações de </a:t>
            </a:r>
            <a:r>
              <a:rPr lang="pt-BR" sz="2000" dirty="0" err="1">
                <a:solidFill>
                  <a:schemeClr val="tx1"/>
                </a:solidFill>
              </a:rPr>
              <a:t>TAD's</a:t>
            </a:r>
            <a:r>
              <a:rPr lang="pt-BR" sz="2000" dirty="0">
                <a:solidFill>
                  <a:schemeClr val="tx1"/>
                </a:solidFill>
              </a:rPr>
              <a:t>, mas sim o uso de alguns destes em problemas de programação. </a:t>
            </a:r>
          </a:p>
          <a:p>
            <a:r>
              <a:rPr lang="pt-BR" sz="2000" dirty="0"/>
              <a:t>Os tipos de dados estudados nesta disciplina serão aqueles que agrupam em estruturas compostas de várias elementos e que seguem alguma ordem.</a:t>
            </a:r>
          </a:p>
          <a:p>
            <a:pPr lvl="1"/>
            <a:r>
              <a:rPr lang="pt-BR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Por isso, são denominados de estruturas de dados.</a:t>
            </a:r>
          </a:p>
          <a:p>
            <a:endParaRPr lang="pt-BR" sz="20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9</a:t>
            </a:fld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17EE83-A2BF-42DA-8F7D-4B35FE697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criar um novo Tipo de Dado em JAVA?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77839319-CD4B-499A-B1C3-40BAF0601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10</a:t>
            </a:fld>
            <a:endParaRPr lang="pt-BR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1BA0142-C0A1-4785-9E29-1907C376B711}"/>
              </a:ext>
            </a:extLst>
          </p:cNvPr>
          <p:cNvSpPr txBox="1">
            <a:spLocks noChangeArrowheads="1"/>
          </p:cNvSpPr>
          <p:nvPr/>
        </p:nvSpPr>
        <p:spPr>
          <a:xfrm>
            <a:off x="882869" y="1100890"/>
            <a:ext cx="7816288" cy="2827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/>
              <a:t>Seguindo aplicação sugerida na planilha de notas de uma turma, cada aluno:</a:t>
            </a:r>
          </a:p>
          <a:p>
            <a:pPr lvl="1"/>
            <a:r>
              <a:rPr lang="pt-BR" sz="1800" dirty="0"/>
              <a:t>Possui RM, 2 notas e a média das notas</a:t>
            </a:r>
          </a:p>
          <a:p>
            <a:pPr marL="457200" lvl="1" indent="0">
              <a:buNone/>
            </a:pPr>
            <a:endParaRPr lang="pt-BR" sz="1800" dirty="0"/>
          </a:p>
          <a:p>
            <a:pPr lvl="1"/>
            <a:r>
              <a:rPr lang="pt-BR" sz="1800" dirty="0"/>
              <a:t>O RM e as notas são digitados no teclado.</a:t>
            </a:r>
          </a:p>
          <a:p>
            <a:pPr lvl="1"/>
            <a:r>
              <a:rPr lang="pt-BR" sz="1800" dirty="0"/>
              <a:t>A média é calculada usando a média aritmética das 2 notas</a:t>
            </a:r>
          </a:p>
          <a:p>
            <a:endParaRPr lang="pt-BR" sz="20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47F36F9-2092-4178-80D5-31C2790AF35A}"/>
              </a:ext>
            </a:extLst>
          </p:cNvPr>
          <p:cNvSpPr txBox="1"/>
          <p:nvPr/>
        </p:nvSpPr>
        <p:spPr>
          <a:xfrm>
            <a:off x="5607268" y="2042508"/>
            <a:ext cx="2774732" cy="369332"/>
          </a:xfrm>
          <a:prstGeom prst="rect">
            <a:avLst/>
          </a:prstGeom>
          <a:solidFill>
            <a:srgbClr val="F4D3D6"/>
          </a:solidFill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00008E"/>
                </a:solidFill>
              </a:defRPr>
            </a:lvl1pPr>
          </a:lstStyle>
          <a:p>
            <a:r>
              <a:rPr lang="pt-BR" dirty="0"/>
              <a:t>Atributos (dados) do aluno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2D4E0FE-8F3A-424C-9E8E-BFB60A7CCD34}"/>
              </a:ext>
            </a:extLst>
          </p:cNvPr>
          <p:cNvSpPr txBox="1"/>
          <p:nvPr/>
        </p:nvSpPr>
        <p:spPr>
          <a:xfrm>
            <a:off x="5500851" y="3264896"/>
            <a:ext cx="2987566" cy="646331"/>
          </a:xfrm>
          <a:prstGeom prst="rect">
            <a:avLst/>
          </a:prstGeom>
          <a:solidFill>
            <a:srgbClr val="F4D3D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008E"/>
                </a:solidFill>
              </a:rPr>
              <a:t>Métodos que manipulam os</a:t>
            </a:r>
          </a:p>
          <a:p>
            <a:r>
              <a:rPr lang="pt-BR" b="1" dirty="0">
                <a:solidFill>
                  <a:srgbClr val="00008E"/>
                </a:solidFill>
              </a:rPr>
              <a:t>atributos do aluno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0AC23CA-F24E-49EF-A391-FDE8A37D4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264896"/>
            <a:ext cx="4790805" cy="359310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C153215-EB0C-7259-4B81-BD058BABC11D}"/>
              </a:ext>
            </a:extLst>
          </p:cNvPr>
          <p:cNvSpPr txBox="1"/>
          <p:nvPr/>
        </p:nvSpPr>
        <p:spPr>
          <a:xfrm>
            <a:off x="4947557" y="4669971"/>
            <a:ext cx="3314700" cy="1200329"/>
          </a:xfrm>
          <a:prstGeom prst="rect">
            <a:avLst/>
          </a:prstGeom>
          <a:solidFill>
            <a:srgbClr val="F4D3D6"/>
          </a:solidFill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00008E"/>
                </a:solidFill>
              </a:defRPr>
            </a:lvl1pPr>
          </a:lstStyle>
          <a:p>
            <a:r>
              <a:rPr lang="pt-BR" dirty="0"/>
              <a:t>Se fossemos definir o tipo de dado </a:t>
            </a:r>
            <a:r>
              <a:rPr lang="pt-BR" dirty="0">
                <a:solidFill>
                  <a:srgbClr val="FF0000"/>
                </a:solidFill>
              </a:rPr>
              <a:t>Aluno</a:t>
            </a:r>
            <a:r>
              <a:rPr lang="pt-BR" dirty="0"/>
              <a:t> esse teria que especificar os atributos e métodos .</a:t>
            </a:r>
          </a:p>
        </p:txBody>
      </p:sp>
    </p:spTree>
    <p:extLst>
      <p:ext uri="{BB962C8B-B14F-4D97-AF65-F5344CB8AC3E}">
        <p14:creationId xmlns:p14="http://schemas.microsoft.com/office/powerpoint/2010/main" val="2953039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4000" b="1" dirty="0">
                <a:solidFill>
                  <a:srgbClr val="FF0000"/>
                </a:solidFill>
              </a:rPr>
              <a:t>Listas Lineares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 de Listas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12</a:t>
            </a:fld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1050586" y="1079770"/>
            <a:ext cx="627434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Cotidianamente criamos listas:</a:t>
            </a:r>
          </a:p>
          <a:p>
            <a:pPr marL="360363" indent="261938">
              <a:buFont typeface="Wingdings" pitchFamily="2" charset="2"/>
              <a:buChar char="ü"/>
              <a:tabLst>
                <a:tab pos="273050" algn="l"/>
              </a:tabLst>
            </a:pPr>
            <a:r>
              <a:rPr lang="pt-BR" sz="2000" dirty="0"/>
              <a:t> Lista de compras </a:t>
            </a:r>
          </a:p>
          <a:p>
            <a:pPr marL="360363" indent="261938">
              <a:buFont typeface="Wingdings" pitchFamily="2" charset="2"/>
              <a:buChar char="ü"/>
              <a:tabLst>
                <a:tab pos="273050" algn="l"/>
              </a:tabLst>
            </a:pPr>
            <a:r>
              <a:rPr lang="pt-BR" sz="2000" dirty="0"/>
              <a:t>Lista de tarefas realizadas no trabalho</a:t>
            </a:r>
          </a:p>
          <a:p>
            <a:pPr marL="360363" indent="261938">
              <a:buFont typeface="Wingdings" pitchFamily="2" charset="2"/>
              <a:buChar char="ü"/>
              <a:tabLst>
                <a:tab pos="273050" algn="l"/>
              </a:tabLst>
            </a:pPr>
            <a:r>
              <a:rPr lang="pt-BR" sz="2000" dirty="0"/>
              <a:t>Lista de convidados para uma festa</a:t>
            </a:r>
          </a:p>
          <a:p>
            <a:endParaRPr lang="pt-BR" sz="2000" dirty="0"/>
          </a:p>
        </p:txBody>
      </p:sp>
      <p:sp>
        <p:nvSpPr>
          <p:cNvPr id="6" name="CaixaDeTexto 5"/>
          <p:cNvSpPr txBox="1"/>
          <p:nvPr/>
        </p:nvSpPr>
        <p:spPr>
          <a:xfrm>
            <a:off x="1050586" y="4166930"/>
            <a:ext cx="691636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Em desenvolvimento de sistemas de computação também precisamos de </a:t>
            </a:r>
            <a:r>
              <a:rPr lang="pt-BR" sz="2000"/>
              <a:t>listas:</a:t>
            </a:r>
            <a:endParaRPr lang="pt-BR" sz="2000" dirty="0"/>
          </a:p>
          <a:p>
            <a:pPr marL="622300" indent="-261938">
              <a:buFont typeface="Wingdings" pitchFamily="2" charset="2"/>
              <a:buChar char="ü"/>
              <a:tabLst>
                <a:tab pos="273050" algn="l"/>
              </a:tabLst>
            </a:pPr>
            <a:r>
              <a:rPr lang="pt-BR" sz="2000" dirty="0"/>
              <a:t>Lista de solicitações de acesso para consulta de um banco de dados</a:t>
            </a:r>
          </a:p>
          <a:p>
            <a:pPr marL="360363">
              <a:buFont typeface="Wingdings" pitchFamily="2" charset="2"/>
              <a:buChar char="ü"/>
              <a:tabLst>
                <a:tab pos="273050" algn="l"/>
              </a:tabLst>
            </a:pPr>
            <a:r>
              <a:rPr lang="pt-BR" sz="2000" dirty="0"/>
              <a:t>Lista de processos a serem executados pelo processador</a:t>
            </a:r>
          </a:p>
          <a:p>
            <a:pPr>
              <a:buFont typeface="Wingdings" pitchFamily="2" charset="2"/>
              <a:buChar char="ü"/>
            </a:pPr>
            <a:endParaRPr lang="pt-BR" sz="2000" dirty="0"/>
          </a:p>
          <a:p>
            <a:endParaRPr lang="pt-BR" sz="2000" dirty="0"/>
          </a:p>
        </p:txBody>
      </p:sp>
      <p:pic>
        <p:nvPicPr>
          <p:cNvPr id="1740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22929" y="2409110"/>
            <a:ext cx="3476228" cy="1757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 de Listas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13</a:t>
            </a:fld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943583" y="1079770"/>
            <a:ext cx="714983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Analisando as aplicações que usam listas em computação podemos observar que não basta criar um conjunto de  elementos, mas precisamos definir uma ordem a fim de sermos justos com os usuários que solicitaram algum serviço.</a:t>
            </a:r>
          </a:p>
          <a:p>
            <a:endParaRPr lang="pt-BR" sz="2000" dirty="0"/>
          </a:p>
        </p:txBody>
      </p:sp>
      <p:sp>
        <p:nvSpPr>
          <p:cNvPr id="6" name="CaixaDeTexto 5"/>
          <p:cNvSpPr txBox="1"/>
          <p:nvPr/>
        </p:nvSpPr>
        <p:spPr>
          <a:xfrm>
            <a:off x="599405" y="2092569"/>
            <a:ext cx="742220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000" dirty="0"/>
          </a:p>
          <a:p>
            <a:pPr marL="622300" indent="-261938">
              <a:buFont typeface="Wingdings" pitchFamily="2" charset="2"/>
              <a:buChar char="ü"/>
              <a:tabLst>
                <a:tab pos="273050" algn="l"/>
              </a:tabLst>
            </a:pPr>
            <a:r>
              <a:rPr lang="pt-BR" sz="2000" dirty="0"/>
              <a:t>Lista de solicitações de acesso para consulta de um banco de dados</a:t>
            </a:r>
          </a:p>
          <a:p>
            <a:pPr marL="817563" lvl="1" indent="165100">
              <a:buFont typeface="Arial" pitchFamily="34" charset="0"/>
              <a:buChar char="•"/>
              <a:tabLst>
                <a:tab pos="273050" algn="l"/>
                <a:tab pos="1079500" algn="l"/>
              </a:tabLst>
            </a:pPr>
            <a:r>
              <a:rPr lang="pt-BR" sz="2000" dirty="0"/>
              <a:t>Se vários clientes de um banco solicitam o saldo, o atendimento deve atender o primeiro a pedir</a:t>
            </a:r>
          </a:p>
          <a:p>
            <a:pPr marL="360363">
              <a:buFont typeface="Wingdings" pitchFamily="2" charset="2"/>
              <a:buChar char="ü"/>
              <a:tabLst>
                <a:tab pos="273050" algn="l"/>
              </a:tabLst>
            </a:pPr>
            <a:r>
              <a:rPr lang="pt-BR" sz="2000" dirty="0"/>
              <a:t>Lista de processos a serem executados pelo processador</a:t>
            </a:r>
          </a:p>
          <a:p>
            <a:pPr marL="817563" lvl="1" indent="165100">
              <a:buFont typeface="Arial" pitchFamily="34" charset="0"/>
              <a:buChar char="•"/>
              <a:tabLst>
                <a:tab pos="273050" algn="l"/>
                <a:tab pos="1079500" algn="l"/>
              </a:tabLst>
            </a:pPr>
            <a:r>
              <a:rPr lang="pt-BR" sz="2000" dirty="0"/>
              <a:t>Se vários processos devem compartilhar o mesmo processador, o processo que chegou primeiro ou o processo que tem maior prioridade deve ser o primeiro a ocupar o tempo do processador.</a:t>
            </a:r>
          </a:p>
          <a:p>
            <a:pPr>
              <a:buFont typeface="Wingdings" pitchFamily="2" charset="2"/>
              <a:buChar char="ü"/>
            </a:pPr>
            <a:endParaRPr lang="pt-BR" sz="2000" dirty="0"/>
          </a:p>
          <a:p>
            <a:endParaRPr lang="pt-BR" sz="20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4518498" y="5833130"/>
            <a:ext cx="2954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rgbClr val="5035F5"/>
                </a:solidFill>
              </a:rPr>
              <a:t>Listas Lineares!!!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7CD4151-23E4-D8D0-B691-D6448B4A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1C45AEB-FF1A-20C4-25FA-53F85FC3B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14</a:t>
            </a:fld>
            <a:endParaRPr lang="pt-BR"/>
          </a:p>
        </p:txBody>
      </p:sp>
      <p:pic>
        <p:nvPicPr>
          <p:cNvPr id="8" name="Imagem 7" descr="Diagrama&#10;&#10;Descrição gerada automaticamente">
            <a:extLst>
              <a:ext uri="{FF2B5EF4-FFF2-40B4-BE49-F238E27FC236}">
                <a16:creationId xmlns:a16="http://schemas.microsoft.com/office/drawing/2014/main" id="{27003070-5A8C-744B-49B1-8AB7A82424C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8492"/>
            <a:ext cx="9144000" cy="5361016"/>
          </a:xfrm>
          <a:prstGeom prst="rect">
            <a:avLst/>
          </a:prstGeom>
        </p:spPr>
      </p:pic>
      <p:sp>
        <p:nvSpPr>
          <p:cNvPr id="6" name="Título 5">
            <a:extLst>
              <a:ext uri="{FF2B5EF4-FFF2-40B4-BE49-F238E27FC236}">
                <a16:creationId xmlns:a16="http://schemas.microsoft.com/office/drawing/2014/main" id="{2DE5C2CA-6EC7-3543-70EA-A7697DD3F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557" y="136525"/>
            <a:ext cx="7057914" cy="466767"/>
          </a:xfrm>
        </p:spPr>
        <p:txBody>
          <a:bodyPr/>
          <a:lstStyle/>
          <a:p>
            <a:r>
              <a:rPr lang="pt-BR" dirty="0"/>
              <a:t>Solicitações de Acesso a Banco de Dados – Modelo Cliente/Servidor</a:t>
            </a:r>
          </a:p>
        </p:txBody>
      </p:sp>
    </p:spTree>
    <p:extLst>
      <p:ext uri="{BB962C8B-B14F-4D97-AF65-F5344CB8AC3E}">
        <p14:creationId xmlns:p14="http://schemas.microsoft.com/office/powerpoint/2010/main" val="896228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240410-1AE3-AA4F-1E35-4F0D9A519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pt-BR" sz="2800" dirty="0" err="1">
                <a:solidFill>
                  <a:srgbClr val="C00000"/>
                </a:solidFill>
                <a:latin typeface="Arial" panose="020B0604020202020204" pitchFamily="34" charset="0"/>
              </a:rPr>
              <a:t>Escalonamento</a:t>
            </a:r>
            <a:r>
              <a:rPr lang="en-US" altLang="pt-BR" sz="2800" dirty="0">
                <a:solidFill>
                  <a:srgbClr val="C00000"/>
                </a:solidFill>
                <a:latin typeface="Arial" panose="020B0604020202020204" pitchFamily="34" charset="0"/>
              </a:rPr>
              <a:t> de </a:t>
            </a:r>
            <a:r>
              <a:rPr lang="en-US" altLang="pt-BR" sz="2800" dirty="0" err="1">
                <a:solidFill>
                  <a:srgbClr val="C00000"/>
                </a:solidFill>
                <a:latin typeface="Arial" panose="020B0604020202020204" pitchFamily="34" charset="0"/>
              </a:rPr>
              <a:t>Processos</a:t>
            </a:r>
            <a:r>
              <a:rPr lang="en-US" altLang="pt-BR" sz="2800" dirty="0">
                <a:solidFill>
                  <a:srgbClr val="C00000"/>
                </a:solidFill>
                <a:latin typeface="Arial" panose="020B0604020202020204" pitchFamily="34" charset="0"/>
              </a:rPr>
              <a:t> com </a:t>
            </a:r>
            <a:r>
              <a:rPr lang="en-US" altLang="pt-BR" sz="2800" dirty="0" err="1">
                <a:solidFill>
                  <a:srgbClr val="C00000"/>
                </a:solidFill>
                <a:latin typeface="Arial" panose="020B0604020202020204" pitchFamily="34" charset="0"/>
              </a:rPr>
              <a:t>prioridade</a:t>
            </a:r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66B56BC-77C0-C4BE-0E2B-01CBFA1A3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15</a:t>
            </a:fld>
            <a:endParaRPr lang="pt-BR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978F0BAB-692B-D937-F0DF-FBEB39DA6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72" t="25391" r="7178" b="17513"/>
          <a:stretch>
            <a:fillRect/>
          </a:stretch>
        </p:blipFill>
        <p:spPr bwMode="auto">
          <a:xfrm>
            <a:off x="468313" y="1477963"/>
            <a:ext cx="8675687" cy="453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3469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Definição de Lista Linear</a:t>
            </a:r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8228-CD93-4FB7-83F5-A66C290929B3}" type="slidenum">
              <a:rPr lang="pt-BR" altLang="en-US" smtClean="0"/>
              <a:pPr/>
              <a:t>16</a:t>
            </a:fld>
            <a:endParaRPr lang="pt-BR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371600"/>
            <a:ext cx="8458200" cy="4759325"/>
          </a:xfrm>
        </p:spPr>
        <p:txBody>
          <a:bodyPr>
            <a:normAutofit/>
          </a:bodyPr>
          <a:lstStyle/>
          <a:p>
            <a:pPr indent="342900">
              <a:lnSpc>
                <a:spcPct val="90000"/>
              </a:lnSpc>
              <a:buNone/>
            </a:pPr>
            <a:r>
              <a:rPr lang="pt-BR" sz="2400" dirty="0"/>
              <a:t>Uma lista linear é uma estrutura dinâmica caracterizada por uma </a:t>
            </a:r>
            <a:r>
              <a:rPr lang="pt-BR" sz="2400" dirty="0" err="1"/>
              <a:t>seqüência</a:t>
            </a:r>
            <a:r>
              <a:rPr lang="pt-BR" sz="2400" dirty="0"/>
              <a:t> ordenada de elementos, ordenada no sentido de sua posição relativa: E</a:t>
            </a:r>
            <a:r>
              <a:rPr lang="pt-BR" baseline="-25000" dirty="0"/>
              <a:t>0</a:t>
            </a:r>
            <a:r>
              <a:rPr lang="pt-BR" sz="2400" dirty="0"/>
              <a:t>  , E</a:t>
            </a:r>
            <a:r>
              <a:rPr lang="pt-BR" baseline="-25000" dirty="0"/>
              <a:t>1</a:t>
            </a:r>
            <a:r>
              <a:rPr lang="pt-BR" sz="2400" dirty="0"/>
              <a:t> , E</a:t>
            </a:r>
            <a:r>
              <a:rPr lang="pt-BR" baseline="-25000" dirty="0"/>
              <a:t>2</a:t>
            </a:r>
            <a:r>
              <a:rPr lang="pt-BR" sz="2400" dirty="0"/>
              <a:t> ,.... E</a:t>
            </a:r>
            <a:r>
              <a:rPr lang="pt-BR" baseline="-25000" dirty="0"/>
              <a:t>n-1</a:t>
            </a:r>
            <a:r>
              <a:rPr lang="pt-BR" sz="2400" dirty="0"/>
              <a:t>, tal que:</a:t>
            </a:r>
          </a:p>
          <a:p>
            <a:pPr marL="0" indent="0">
              <a:lnSpc>
                <a:spcPct val="90000"/>
              </a:lnSpc>
              <a:buNone/>
            </a:pPr>
            <a:endParaRPr lang="pt-BR" sz="2400" dirty="0"/>
          </a:p>
          <a:p>
            <a:pPr lvl="1">
              <a:lnSpc>
                <a:spcPct val="90000"/>
              </a:lnSpc>
            </a:pPr>
            <a:r>
              <a:rPr lang="pt-BR" sz="2000" dirty="0"/>
              <a:t>Existem n elementos na </a:t>
            </a:r>
            <a:r>
              <a:rPr lang="pt-BR" sz="2000" dirty="0" err="1"/>
              <a:t>seqüência</a:t>
            </a:r>
            <a:r>
              <a:rPr lang="pt-BR" sz="2000" dirty="0"/>
              <a:t>;</a:t>
            </a:r>
          </a:p>
          <a:p>
            <a:pPr lvl="1">
              <a:lnSpc>
                <a:spcPct val="90000"/>
              </a:lnSpc>
            </a:pPr>
            <a:r>
              <a:rPr lang="pt-BR" sz="2000" dirty="0"/>
              <a:t>E</a:t>
            </a:r>
            <a:r>
              <a:rPr lang="pt-BR" sz="2000" baseline="-25000" dirty="0"/>
              <a:t>0</a:t>
            </a:r>
            <a:r>
              <a:rPr lang="pt-BR" sz="2000" dirty="0"/>
              <a:t>  é o primeiro elemento da </a:t>
            </a:r>
            <a:r>
              <a:rPr lang="pt-BR" sz="2000" dirty="0" err="1"/>
              <a:t>seqüência</a:t>
            </a:r>
            <a:r>
              <a:rPr lang="pt-BR" sz="2000" dirty="0"/>
              <a:t>;</a:t>
            </a:r>
          </a:p>
          <a:p>
            <a:pPr lvl="1">
              <a:lnSpc>
                <a:spcPct val="90000"/>
              </a:lnSpc>
            </a:pPr>
            <a:r>
              <a:rPr lang="pt-BR" sz="2000" dirty="0"/>
              <a:t>E</a:t>
            </a:r>
            <a:r>
              <a:rPr lang="pt-BR" sz="2000" baseline="-25000" dirty="0"/>
              <a:t>n-1</a:t>
            </a:r>
            <a:r>
              <a:rPr lang="pt-BR" sz="2000" dirty="0"/>
              <a:t> é o último elemento da </a:t>
            </a:r>
            <a:r>
              <a:rPr lang="pt-BR" sz="2000" dirty="0" err="1"/>
              <a:t>seqüência</a:t>
            </a:r>
            <a:r>
              <a:rPr lang="pt-BR" sz="2000" dirty="0"/>
              <a:t>;</a:t>
            </a:r>
          </a:p>
          <a:p>
            <a:pPr lvl="1">
              <a:lnSpc>
                <a:spcPct val="90000"/>
              </a:lnSpc>
            </a:pPr>
            <a:r>
              <a:rPr lang="pt-BR" sz="2000" dirty="0"/>
              <a:t>Para todo i e j entre 0 e n-1, se i &lt; j, então E</a:t>
            </a:r>
            <a:r>
              <a:rPr lang="pt-BR" sz="2000" baseline="-25000" dirty="0"/>
              <a:t>i</a:t>
            </a:r>
            <a:r>
              <a:rPr lang="pt-BR" sz="2000" dirty="0"/>
              <a:t> antecede </a:t>
            </a:r>
            <a:r>
              <a:rPr lang="pt-BR" sz="2000" dirty="0" err="1"/>
              <a:t>E</a:t>
            </a:r>
            <a:r>
              <a:rPr lang="pt-BR" sz="2000" baseline="-25000" dirty="0" err="1"/>
              <a:t>j</a:t>
            </a:r>
            <a:r>
              <a:rPr lang="pt-BR" sz="2000" dirty="0"/>
              <a:t> ;</a:t>
            </a:r>
          </a:p>
          <a:p>
            <a:pPr lvl="1">
              <a:lnSpc>
                <a:spcPct val="90000"/>
              </a:lnSpc>
            </a:pPr>
            <a:r>
              <a:rPr lang="pt-BR" sz="2000" dirty="0"/>
              <a:t>Caso i = j -1, E</a:t>
            </a:r>
            <a:r>
              <a:rPr lang="pt-BR" sz="2000" baseline="-25000" dirty="0"/>
              <a:t>i</a:t>
            </a:r>
            <a:r>
              <a:rPr lang="pt-BR" sz="2000" dirty="0"/>
              <a:t> é o antecessor de </a:t>
            </a:r>
            <a:r>
              <a:rPr lang="pt-BR" sz="2000" dirty="0" err="1"/>
              <a:t>E</a:t>
            </a:r>
            <a:r>
              <a:rPr lang="pt-BR" sz="2000" baseline="-25000" dirty="0" err="1"/>
              <a:t>j</a:t>
            </a:r>
            <a:r>
              <a:rPr lang="pt-BR" sz="2000" dirty="0"/>
              <a:t>  e </a:t>
            </a:r>
            <a:r>
              <a:rPr lang="pt-BR" sz="2000" dirty="0" err="1"/>
              <a:t>E</a:t>
            </a:r>
            <a:r>
              <a:rPr lang="pt-BR" sz="2000" baseline="-25000" dirty="0" err="1"/>
              <a:t>j</a:t>
            </a:r>
            <a:r>
              <a:rPr lang="pt-BR" sz="2000" dirty="0"/>
              <a:t> é o sucessor de E</a:t>
            </a:r>
            <a:r>
              <a:rPr lang="pt-BR" sz="2000" baseline="-25000" dirty="0"/>
              <a:t>i</a:t>
            </a:r>
            <a:r>
              <a:rPr lang="pt-BR" sz="2000" dirty="0"/>
              <a:t> 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Definição de Lista Linear</a:t>
            </a:r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8228-CD93-4FB7-83F5-A66C290929B3}" type="slidenum">
              <a:rPr lang="pt-BR" altLang="en-US" smtClean="0"/>
              <a:pPr/>
              <a:t>17</a:t>
            </a:fld>
            <a:endParaRPr lang="pt-BR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9557" y="2380891"/>
            <a:ext cx="8229600" cy="1755775"/>
          </a:xfrm>
        </p:spPr>
        <p:txBody>
          <a:bodyPr>
            <a:normAutofit/>
          </a:bodyPr>
          <a:lstStyle/>
          <a:p>
            <a:r>
              <a:rPr lang="pt-BR" sz="2400" dirty="0"/>
              <a:t>A característica principal de uma lista linear é o sentido de ordem unidirecional dos elementos que a compõem.</a:t>
            </a:r>
            <a:r>
              <a:rPr lang="en-US" sz="2400" dirty="0"/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0581"/>
            <a:ext cx="8229600" cy="795476"/>
          </a:xfrm>
        </p:spPr>
        <p:txBody>
          <a:bodyPr>
            <a:noAutofit/>
          </a:bodyPr>
          <a:lstStyle/>
          <a:p>
            <a:r>
              <a:rPr lang="pt-BR" sz="2800" dirty="0"/>
              <a:t>Definição do Tipo Abstrato de Dado Lista Linear</a:t>
            </a:r>
            <a:endParaRPr lang="en-US" sz="2800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8228-CD93-4FB7-83F5-A66C290929B3}" type="slidenum">
              <a:rPr lang="pt-BR" altLang="en-US" smtClean="0"/>
              <a:pPr/>
              <a:t>18</a:t>
            </a:fld>
            <a:endParaRPr lang="pt-BR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622425"/>
            <a:ext cx="8229600" cy="2362200"/>
          </a:xfrm>
        </p:spPr>
        <p:txBody>
          <a:bodyPr>
            <a:normAutofit/>
          </a:bodyPr>
          <a:lstStyle/>
          <a:p>
            <a:r>
              <a:rPr lang="pt-BR" sz="2400" dirty="0"/>
              <a:t>Definição do tipo de valor (ou valores) que será o tipo de dado adequado para cada elemento da lista;</a:t>
            </a:r>
          </a:p>
          <a:p>
            <a:r>
              <a:rPr lang="pt-BR" sz="2400" dirty="0"/>
              <a:t>Definição de operações sobre os elementos da lista linear</a:t>
            </a:r>
            <a:endParaRPr lang="en-US" sz="2400" dirty="0"/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1447800" y="4419600"/>
            <a:ext cx="65532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sz="2800" dirty="0">
                <a:solidFill>
                  <a:srgbClr val="CC3300"/>
                </a:solidFill>
              </a:rPr>
              <a:t>A definição da modelagem do problema é que especifica a TAD </a:t>
            </a:r>
            <a:endParaRPr lang="en-US" sz="2800" dirty="0">
              <a:solidFill>
                <a:srgbClr val="CC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  <p:bldP spid="614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28709"/>
            <a:ext cx="8229600" cy="466767"/>
          </a:xfrm>
        </p:spPr>
        <p:txBody>
          <a:bodyPr>
            <a:noAutofit/>
          </a:bodyPr>
          <a:lstStyle/>
          <a:p>
            <a:r>
              <a:rPr lang="pt-BR" sz="2800" dirty="0"/>
              <a:t>Possíveis Operações sobre Lista Linear</a:t>
            </a:r>
            <a:endParaRPr lang="en-US" sz="28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8228-CD93-4FB7-83F5-A66C290929B3}" type="slidenum">
              <a:rPr lang="pt-BR" altLang="en-US" smtClean="0"/>
              <a:pPr/>
              <a:t>19</a:t>
            </a:fld>
            <a:endParaRPr lang="pt-BR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2400" dirty="0"/>
              <a:t>Ter acesso a um elemento qualquer da lista (acesso)</a:t>
            </a:r>
          </a:p>
          <a:p>
            <a:pPr>
              <a:lnSpc>
                <a:spcPct val="90000"/>
              </a:lnSpc>
            </a:pPr>
            <a:r>
              <a:rPr lang="pt-BR" sz="2400" dirty="0"/>
              <a:t>Inserir um elemento em uma posição específica da lista (inserção)</a:t>
            </a:r>
          </a:p>
          <a:p>
            <a:pPr>
              <a:lnSpc>
                <a:spcPct val="90000"/>
              </a:lnSpc>
            </a:pPr>
            <a:r>
              <a:rPr lang="pt-BR" sz="2400" dirty="0"/>
              <a:t>Remover um elemento em uma posição específica da lista (remoção)</a:t>
            </a:r>
          </a:p>
          <a:p>
            <a:pPr>
              <a:lnSpc>
                <a:spcPct val="90000"/>
              </a:lnSpc>
            </a:pPr>
            <a:r>
              <a:rPr lang="pt-BR" sz="2400" dirty="0"/>
              <a:t>Combinar duas listas em uma única</a:t>
            </a:r>
          </a:p>
          <a:p>
            <a:pPr>
              <a:lnSpc>
                <a:spcPct val="90000"/>
              </a:lnSpc>
            </a:pPr>
            <a:r>
              <a:rPr lang="pt-BR" sz="2400" dirty="0" err="1"/>
              <a:t>Particionar</a:t>
            </a:r>
            <a:r>
              <a:rPr lang="pt-BR" sz="2400" dirty="0"/>
              <a:t> ou dividir uma lista em duas</a:t>
            </a:r>
          </a:p>
          <a:p>
            <a:pPr>
              <a:lnSpc>
                <a:spcPct val="90000"/>
              </a:lnSpc>
            </a:pPr>
            <a:r>
              <a:rPr lang="pt-BR" sz="2400" dirty="0"/>
              <a:t>Determinar o total de elementos, etc.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Tipos Especiais de Listas Lineares</a:t>
            </a:r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8228-CD93-4FB7-83F5-A66C290929B3}" type="slidenum">
              <a:rPr lang="pt-BR" altLang="en-US" smtClean="0"/>
              <a:pPr/>
              <a:t>20</a:t>
            </a:fld>
            <a:endParaRPr lang="pt-BR" altLang="en-US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1540" y="1600200"/>
            <a:ext cx="7988060" cy="4525963"/>
          </a:xfrm>
        </p:spPr>
        <p:txBody>
          <a:bodyPr>
            <a:normAutofit/>
          </a:bodyPr>
          <a:lstStyle/>
          <a:p>
            <a:r>
              <a:rPr lang="pt-BR" sz="2000" dirty="0"/>
              <a:t>Em função das operações que uma lista linear especifica as regras de inserção e remoção, definem-se tipos especiais de lista linear:</a:t>
            </a:r>
            <a:endParaRPr lang="pt-BR" sz="2400" dirty="0"/>
          </a:p>
          <a:p>
            <a:pPr lvl="1"/>
            <a:r>
              <a:rPr lang="pt-BR" sz="2000" dirty="0"/>
              <a:t>Pilha</a:t>
            </a:r>
          </a:p>
          <a:p>
            <a:pPr lvl="1"/>
            <a:r>
              <a:rPr lang="pt-BR" sz="2000" dirty="0"/>
              <a:t>Fila</a:t>
            </a:r>
          </a:p>
          <a:p>
            <a:pPr lvl="1"/>
            <a:r>
              <a:rPr lang="pt-BR" sz="2000" dirty="0"/>
              <a:t>Deque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Linear: </a:t>
            </a:r>
            <a:r>
              <a:rPr lang="pt-BR" b="1" dirty="0">
                <a:solidFill>
                  <a:srgbClr val="FF0000"/>
                </a:solidFill>
              </a:rPr>
              <a:t>PILHA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8228-CD93-4FB7-83F5-A66C290929B3}" type="slidenum">
              <a:rPr lang="pt-BR" altLang="en-US" smtClean="0"/>
              <a:pPr/>
              <a:t>21</a:t>
            </a:fld>
            <a:endParaRPr lang="pt-BR" alt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72363" y="1115878"/>
            <a:ext cx="8305800" cy="3429000"/>
          </a:xfrm>
        </p:spPr>
        <p:txBody>
          <a:bodyPr>
            <a:normAutofit/>
          </a:bodyPr>
          <a:lstStyle/>
          <a:p>
            <a:r>
              <a:rPr lang="pt-BR" sz="2000" dirty="0"/>
              <a:t>Uma pilha (</a:t>
            </a:r>
            <a:r>
              <a:rPr lang="pt-BR" sz="2000" i="1" dirty="0" err="1"/>
              <a:t>stack</a:t>
            </a:r>
            <a:r>
              <a:rPr lang="pt-BR" sz="2000" dirty="0"/>
              <a:t>) é uma lista linear onde as operações de inserção e remoção são efetuadas apenas em uma extremidade, denominada </a:t>
            </a:r>
            <a:r>
              <a:rPr lang="pt-BR" sz="2000" u="sng" dirty="0"/>
              <a:t>topo da pilha</a:t>
            </a:r>
            <a:r>
              <a:rPr lang="pt-BR" sz="2000" dirty="0"/>
              <a:t>. </a:t>
            </a:r>
          </a:p>
          <a:p>
            <a:r>
              <a:rPr lang="pt-BR" sz="2000" dirty="0"/>
              <a:t>Estruturas deste tipo são conhecidas como LIFO (</a:t>
            </a:r>
            <a:r>
              <a:rPr lang="pt-BR" sz="2000" i="1" dirty="0" err="1"/>
              <a:t>last</a:t>
            </a:r>
            <a:r>
              <a:rPr lang="pt-BR" sz="2000" i="1" dirty="0"/>
              <a:t> in </a:t>
            </a:r>
            <a:r>
              <a:rPr lang="pt-BR" sz="2000" i="1" dirty="0" err="1"/>
              <a:t>first</a:t>
            </a:r>
            <a:r>
              <a:rPr lang="pt-BR" sz="2000" i="1" dirty="0"/>
              <a:t> out</a:t>
            </a:r>
            <a:r>
              <a:rPr lang="pt-BR" sz="2000" dirty="0"/>
              <a:t> – último a entrar primeiro a sair). </a:t>
            </a:r>
            <a:endParaRPr lang="en-US" sz="2000" dirty="0"/>
          </a:p>
        </p:txBody>
      </p:sp>
      <p:pic>
        <p:nvPicPr>
          <p:cNvPr id="13" name="Imagem 12" descr="pilha_de_livros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4019922" y="3226618"/>
            <a:ext cx="1988820" cy="2636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Linear: </a:t>
            </a:r>
            <a:r>
              <a:rPr lang="pt-BR" b="1" dirty="0">
                <a:solidFill>
                  <a:srgbClr val="FF0000"/>
                </a:solidFill>
              </a:rPr>
              <a:t>PILHA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8228-CD93-4FB7-83F5-A66C290929B3}" type="slidenum">
              <a:rPr lang="pt-BR" altLang="en-US" smtClean="0"/>
              <a:pPr/>
              <a:t>22</a:t>
            </a:fld>
            <a:endParaRPr lang="pt-BR" altLang="en-US"/>
          </a:p>
        </p:txBody>
      </p:sp>
      <p:grpSp>
        <p:nvGrpSpPr>
          <p:cNvPr id="14" name="Group 4"/>
          <p:cNvGrpSpPr>
            <a:grpSpLocks/>
          </p:cNvGrpSpPr>
          <p:nvPr/>
        </p:nvGrpSpPr>
        <p:grpSpPr bwMode="auto">
          <a:xfrm>
            <a:off x="1499166" y="3712746"/>
            <a:ext cx="6858000" cy="1219200"/>
            <a:chOff x="2858" y="6422"/>
            <a:chExt cx="5292" cy="461"/>
          </a:xfrm>
        </p:grpSpPr>
        <p:sp>
          <p:nvSpPr>
            <p:cNvPr id="15" name="Text Box 5"/>
            <p:cNvSpPr txBox="1">
              <a:spLocks noChangeArrowheads="1"/>
            </p:cNvSpPr>
            <p:nvPr/>
          </p:nvSpPr>
          <p:spPr bwMode="auto">
            <a:xfrm>
              <a:off x="2858" y="6422"/>
              <a:ext cx="605" cy="46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2400"/>
            </a:p>
            <a:p>
              <a:pPr algn="ctr"/>
              <a:r>
                <a:rPr lang="en-US" sz="2400"/>
                <a:t>E</a:t>
              </a:r>
              <a:r>
                <a:rPr lang="en-US" sz="2400" baseline="-25000"/>
                <a:t>0</a:t>
              </a:r>
              <a:endParaRPr lang="en-US" sz="2400"/>
            </a:p>
          </p:txBody>
        </p:sp>
        <p:sp>
          <p:nvSpPr>
            <p:cNvPr id="16" name="Text Box 6"/>
            <p:cNvSpPr txBox="1">
              <a:spLocks noChangeArrowheads="1"/>
            </p:cNvSpPr>
            <p:nvPr/>
          </p:nvSpPr>
          <p:spPr bwMode="auto">
            <a:xfrm>
              <a:off x="3851" y="6422"/>
              <a:ext cx="606" cy="46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en-US" sz="2400"/>
            </a:p>
            <a:p>
              <a:pPr algn="ctr"/>
              <a:r>
                <a:rPr lang="en-US" sz="2400"/>
                <a:t>E</a:t>
              </a:r>
              <a:r>
                <a:rPr lang="en-US" sz="2400" baseline="-25000"/>
                <a:t>1</a:t>
              </a:r>
              <a:endParaRPr lang="en-US" sz="2400"/>
            </a:p>
          </p:txBody>
        </p:sp>
        <p:sp>
          <p:nvSpPr>
            <p:cNvPr id="17" name="Text Box 7"/>
            <p:cNvSpPr txBox="1">
              <a:spLocks noChangeArrowheads="1"/>
            </p:cNvSpPr>
            <p:nvPr/>
          </p:nvSpPr>
          <p:spPr bwMode="auto">
            <a:xfrm>
              <a:off x="5429" y="6422"/>
              <a:ext cx="605" cy="46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en-US" sz="2400"/>
            </a:p>
            <a:p>
              <a:pPr algn="ctr"/>
              <a:r>
                <a:rPr lang="en-US" sz="2400"/>
                <a:t>E</a:t>
              </a:r>
              <a:r>
                <a:rPr lang="en-US" sz="2400" baseline="-25000"/>
                <a:t>n-1</a:t>
              </a:r>
              <a:endParaRPr lang="en-US" sz="2400"/>
            </a:p>
          </p:txBody>
        </p:sp>
        <p:sp>
          <p:nvSpPr>
            <p:cNvPr id="18" name="Text Box 8"/>
            <p:cNvSpPr txBox="1">
              <a:spLocks noChangeArrowheads="1"/>
            </p:cNvSpPr>
            <p:nvPr/>
          </p:nvSpPr>
          <p:spPr bwMode="auto">
            <a:xfrm>
              <a:off x="4673" y="6422"/>
              <a:ext cx="604" cy="30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3200" b="1" dirty="0"/>
                <a:t>. . .</a:t>
              </a:r>
              <a:endParaRPr lang="en-US" sz="3200" dirty="0"/>
            </a:p>
          </p:txBody>
        </p:sp>
        <p:sp>
          <p:nvSpPr>
            <p:cNvPr id="19" name="Line 9"/>
            <p:cNvSpPr>
              <a:spLocks noChangeShapeType="1"/>
            </p:cNvSpPr>
            <p:nvPr/>
          </p:nvSpPr>
          <p:spPr bwMode="auto">
            <a:xfrm>
              <a:off x="6034" y="6575"/>
              <a:ext cx="60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Line 10"/>
            <p:cNvSpPr>
              <a:spLocks noChangeShapeType="1"/>
            </p:cNvSpPr>
            <p:nvPr/>
          </p:nvSpPr>
          <p:spPr bwMode="auto">
            <a:xfrm flipH="1">
              <a:off x="6034" y="6730"/>
              <a:ext cx="60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Text Box 11"/>
            <p:cNvSpPr txBox="1">
              <a:spLocks noChangeArrowheads="1"/>
            </p:cNvSpPr>
            <p:nvPr/>
          </p:nvSpPr>
          <p:spPr bwMode="auto">
            <a:xfrm>
              <a:off x="6789" y="6422"/>
              <a:ext cx="1361" cy="46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400"/>
                <a:t>Topo da Pilha</a:t>
              </a:r>
            </a:p>
          </p:txBody>
        </p:sp>
      </p:grp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481093" y="1998246"/>
            <a:ext cx="8305800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Pela ordem de inserção de elementos em uma pilha E</a:t>
            </a:r>
            <a:r>
              <a:rPr kumimoji="0" lang="pt-BR" sz="20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 </a:t>
            </a: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o primeiro elemento, E</a:t>
            </a:r>
            <a:r>
              <a:rPr kumimoji="0" lang="pt-BR" sz="20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é o seu</a:t>
            </a:r>
            <a:r>
              <a:rPr kumimoji="0" lang="pt-BR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sucessor e assim por diante.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Linear: </a:t>
            </a:r>
            <a:r>
              <a:rPr lang="pt-BR" b="1" dirty="0">
                <a:solidFill>
                  <a:srgbClr val="FF0000"/>
                </a:solidFill>
              </a:rPr>
              <a:t>FILA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8228-CD93-4FB7-83F5-A66C290929B3}" type="slidenum">
              <a:rPr lang="pt-BR" altLang="en-US" smtClean="0"/>
              <a:pPr/>
              <a:t>23</a:t>
            </a:fld>
            <a:endParaRPr lang="pt-BR" altLang="en-US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53968" y="1766792"/>
            <a:ext cx="8458200" cy="3581400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pt-BR" sz="2000" dirty="0"/>
              <a:t>Uma fila (</a:t>
            </a:r>
            <a:r>
              <a:rPr lang="pt-BR" sz="2000" i="1" dirty="0" err="1"/>
              <a:t>queue</a:t>
            </a:r>
            <a:r>
              <a:rPr lang="pt-BR" sz="2000" dirty="0"/>
              <a:t>) é uma lista linear onde a operação de inserção é feita em uma extremidade denominada </a:t>
            </a:r>
            <a:r>
              <a:rPr lang="pt-BR" sz="2000" u="sng" dirty="0"/>
              <a:t>final</a:t>
            </a:r>
            <a:r>
              <a:rPr lang="pt-BR" sz="2000" dirty="0"/>
              <a:t> da fila e remoção é efetuada apenas na outra extremidade denominada </a:t>
            </a:r>
            <a:r>
              <a:rPr lang="pt-BR" sz="2000" u="sng" dirty="0"/>
              <a:t>início</a:t>
            </a:r>
            <a:r>
              <a:rPr lang="pt-BR" sz="2000" dirty="0"/>
              <a:t>. </a:t>
            </a:r>
          </a:p>
          <a:p>
            <a:pPr algn="just">
              <a:lnSpc>
                <a:spcPct val="90000"/>
              </a:lnSpc>
            </a:pPr>
            <a:endParaRPr lang="pt-BR" sz="2000" dirty="0"/>
          </a:p>
        </p:txBody>
      </p:sp>
      <p:pic>
        <p:nvPicPr>
          <p:cNvPr id="14" name="Imagem 13" descr="Fila_do_Banco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2229542" y="3013080"/>
            <a:ext cx="4323658" cy="309325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Linear: </a:t>
            </a:r>
            <a:r>
              <a:rPr lang="pt-BR" b="1" dirty="0">
                <a:solidFill>
                  <a:srgbClr val="FF0000"/>
                </a:solidFill>
              </a:rPr>
              <a:t>FILA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8228-CD93-4FB7-83F5-A66C290929B3}" type="slidenum">
              <a:rPr lang="pt-BR" altLang="en-US" smtClean="0"/>
              <a:pPr/>
              <a:t>24</a:t>
            </a:fld>
            <a:endParaRPr lang="pt-BR" altLang="en-US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9557" y="1766792"/>
            <a:ext cx="8458200" cy="3581400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pt-BR" sz="2000" dirty="0"/>
              <a:t>Estruturas deste tipo são conhecidas como FIFO (</a:t>
            </a:r>
            <a:r>
              <a:rPr lang="pt-BR" sz="2000" i="1" dirty="0" err="1"/>
              <a:t>first</a:t>
            </a:r>
            <a:r>
              <a:rPr lang="pt-BR" sz="2000" i="1" dirty="0"/>
              <a:t> in </a:t>
            </a:r>
            <a:r>
              <a:rPr lang="pt-BR" sz="2000" i="1" dirty="0" err="1"/>
              <a:t>first</a:t>
            </a:r>
            <a:r>
              <a:rPr lang="pt-BR" sz="2000" i="1" dirty="0"/>
              <a:t> out</a:t>
            </a:r>
            <a:r>
              <a:rPr lang="pt-BR" sz="2000" dirty="0"/>
              <a:t> – primeiro a entrar primeiro a sair). </a:t>
            </a:r>
            <a:endParaRPr lang="en-US" sz="2000" dirty="0"/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914400" y="3101975"/>
            <a:ext cx="7772400" cy="1219200"/>
            <a:chOff x="480" y="2880"/>
            <a:chExt cx="4896" cy="768"/>
          </a:xfrm>
        </p:grpSpPr>
        <p:sp>
          <p:nvSpPr>
            <p:cNvPr id="43013" name="Text Box 5"/>
            <p:cNvSpPr txBox="1">
              <a:spLocks noChangeArrowheads="1"/>
            </p:cNvSpPr>
            <p:nvPr/>
          </p:nvSpPr>
          <p:spPr bwMode="auto">
            <a:xfrm>
              <a:off x="1632" y="2880"/>
              <a:ext cx="494" cy="7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2400"/>
            </a:p>
            <a:p>
              <a:pPr algn="ctr"/>
              <a:r>
                <a:rPr lang="en-US" sz="2400"/>
                <a:t>E</a:t>
              </a:r>
              <a:r>
                <a:rPr lang="en-US" sz="2400" baseline="-25000"/>
                <a:t>0</a:t>
              </a:r>
              <a:endParaRPr lang="en-US" sz="2400"/>
            </a:p>
          </p:txBody>
        </p:sp>
        <p:sp>
          <p:nvSpPr>
            <p:cNvPr id="43014" name="Text Box 6"/>
            <p:cNvSpPr txBox="1">
              <a:spLocks noChangeArrowheads="1"/>
            </p:cNvSpPr>
            <p:nvPr/>
          </p:nvSpPr>
          <p:spPr bwMode="auto">
            <a:xfrm>
              <a:off x="2443" y="2880"/>
              <a:ext cx="494" cy="7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en-US" sz="2400"/>
            </a:p>
            <a:p>
              <a:pPr algn="ctr"/>
              <a:r>
                <a:rPr lang="en-US" sz="2400"/>
                <a:t>E</a:t>
              </a:r>
              <a:r>
                <a:rPr lang="en-US" sz="2400" baseline="-25000"/>
                <a:t>1</a:t>
              </a:r>
              <a:endParaRPr lang="en-US" sz="2400"/>
            </a:p>
          </p:txBody>
        </p:sp>
        <p:sp>
          <p:nvSpPr>
            <p:cNvPr id="43015" name="Text Box 7"/>
            <p:cNvSpPr txBox="1">
              <a:spLocks noChangeArrowheads="1"/>
            </p:cNvSpPr>
            <p:nvPr/>
          </p:nvSpPr>
          <p:spPr bwMode="auto">
            <a:xfrm>
              <a:off x="3731" y="2880"/>
              <a:ext cx="494" cy="7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en-US" sz="2400"/>
            </a:p>
            <a:p>
              <a:pPr algn="ctr"/>
              <a:r>
                <a:rPr lang="en-US" sz="2400"/>
                <a:t>E</a:t>
              </a:r>
              <a:r>
                <a:rPr lang="en-US" sz="2400" baseline="-25000"/>
                <a:t>n-1</a:t>
              </a:r>
              <a:endParaRPr lang="en-US" sz="2400"/>
            </a:p>
          </p:txBody>
        </p:sp>
        <p:sp>
          <p:nvSpPr>
            <p:cNvPr id="43016" name="Text Box 8"/>
            <p:cNvSpPr txBox="1">
              <a:spLocks noChangeArrowheads="1"/>
            </p:cNvSpPr>
            <p:nvPr/>
          </p:nvSpPr>
          <p:spPr bwMode="auto">
            <a:xfrm>
              <a:off x="3114" y="2880"/>
              <a:ext cx="493" cy="51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3200" b="1"/>
                <a:t>. . .</a:t>
              </a:r>
              <a:endParaRPr lang="en-US" sz="3200"/>
            </a:p>
          </p:txBody>
        </p:sp>
        <p:sp>
          <p:nvSpPr>
            <p:cNvPr id="43018" name="Line 10"/>
            <p:cNvSpPr>
              <a:spLocks noChangeShapeType="1"/>
            </p:cNvSpPr>
            <p:nvPr/>
          </p:nvSpPr>
          <p:spPr bwMode="auto">
            <a:xfrm flipH="1">
              <a:off x="4224" y="3216"/>
              <a:ext cx="49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019" name="Text Box 11"/>
            <p:cNvSpPr txBox="1">
              <a:spLocks noChangeArrowheads="1"/>
            </p:cNvSpPr>
            <p:nvPr/>
          </p:nvSpPr>
          <p:spPr bwMode="auto">
            <a:xfrm>
              <a:off x="4841" y="3072"/>
              <a:ext cx="535" cy="38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400"/>
                <a:t>final</a:t>
              </a:r>
            </a:p>
          </p:txBody>
        </p:sp>
        <p:sp>
          <p:nvSpPr>
            <p:cNvPr id="43020" name="Line 12"/>
            <p:cNvSpPr>
              <a:spLocks noChangeShapeType="1"/>
            </p:cNvSpPr>
            <p:nvPr/>
          </p:nvSpPr>
          <p:spPr bwMode="auto">
            <a:xfrm flipH="1">
              <a:off x="1152" y="3216"/>
              <a:ext cx="49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021" name="Text Box 13"/>
            <p:cNvSpPr txBox="1">
              <a:spLocks noChangeArrowheads="1"/>
            </p:cNvSpPr>
            <p:nvPr/>
          </p:nvSpPr>
          <p:spPr bwMode="auto">
            <a:xfrm>
              <a:off x="480" y="3024"/>
              <a:ext cx="679" cy="38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400"/>
                <a:t>início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04A9F-CEBC-163F-077C-0E974B99B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C032DEC4-7FCB-4E83-3E8A-FFB4D35141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Linear: </a:t>
            </a:r>
            <a:r>
              <a:rPr lang="pt-BR" b="1" dirty="0">
                <a:solidFill>
                  <a:srgbClr val="FF0000"/>
                </a:solidFill>
              </a:rPr>
              <a:t>DEQUE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AD67C298-5749-1CC9-8E33-C3CD2BF97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8228-CD93-4FB7-83F5-A66C290929B3}" type="slidenum">
              <a:rPr lang="pt-BR" altLang="en-US" smtClean="0"/>
              <a:pPr/>
              <a:t>25</a:t>
            </a:fld>
            <a:endParaRPr lang="pt-BR" altLang="en-US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9E83C7F9-F394-4C91-E9DD-FD05E253209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53968" y="1766792"/>
            <a:ext cx="8458200" cy="3581400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pt-BR" sz="2000" dirty="0"/>
              <a:t>Uma fila (</a:t>
            </a:r>
            <a:r>
              <a:rPr lang="pt-BR" sz="2000" i="1" dirty="0" err="1"/>
              <a:t>queue</a:t>
            </a:r>
            <a:r>
              <a:rPr lang="pt-BR" sz="2000" dirty="0"/>
              <a:t>) é uma lista linear onde a operação de inserção é feita em uma extremidade denominada </a:t>
            </a:r>
            <a:r>
              <a:rPr lang="pt-BR" sz="2000" u="sng" dirty="0"/>
              <a:t>final</a:t>
            </a:r>
            <a:r>
              <a:rPr lang="pt-BR" sz="2000" dirty="0"/>
              <a:t> da fila e remoção é efetuada apenas na outra extremidade denominada </a:t>
            </a:r>
            <a:r>
              <a:rPr lang="pt-BR" sz="2000" u="sng" dirty="0"/>
              <a:t>início</a:t>
            </a:r>
            <a:r>
              <a:rPr lang="pt-BR" sz="2000" dirty="0"/>
              <a:t>. </a:t>
            </a:r>
          </a:p>
          <a:p>
            <a:pPr algn="just">
              <a:lnSpc>
                <a:spcPct val="90000"/>
              </a:lnSpc>
            </a:pPr>
            <a:endParaRPr lang="pt-BR" sz="2000" dirty="0"/>
          </a:p>
        </p:txBody>
      </p:sp>
      <p:pic>
        <p:nvPicPr>
          <p:cNvPr id="14" name="Imagem 13" descr="Fila_do_Banco.jpg">
            <a:extLst>
              <a:ext uri="{FF2B5EF4-FFF2-40B4-BE49-F238E27FC236}">
                <a16:creationId xmlns:a16="http://schemas.microsoft.com/office/drawing/2014/main" id="{E418375B-2803-6D7F-675D-982B338C9E3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229542" y="3013080"/>
            <a:ext cx="4323658" cy="309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7510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CD140-F15D-F0B1-7AC0-898C55DDF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7FC310E8-FAC8-6017-952C-3595C0BD69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Linear: </a:t>
            </a:r>
            <a:r>
              <a:rPr lang="pt-BR" b="1" dirty="0">
                <a:solidFill>
                  <a:srgbClr val="FF0000"/>
                </a:solidFill>
              </a:rPr>
              <a:t>FILA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89F0658F-D6B2-330C-762F-CDB47BC6C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8228-CD93-4FB7-83F5-A66C290929B3}" type="slidenum">
              <a:rPr lang="pt-BR" altLang="en-US" smtClean="0"/>
              <a:pPr/>
              <a:t>26</a:t>
            </a:fld>
            <a:endParaRPr lang="pt-BR" altLang="en-US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8DB52F93-A4FB-FD00-52C0-F28CC139DD1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53968" y="1766792"/>
            <a:ext cx="8458200" cy="3581400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pt-BR" sz="2000" dirty="0"/>
              <a:t>Deque (pronuncia-se "deck") é a abreviação de Double </a:t>
            </a:r>
            <a:r>
              <a:rPr lang="pt-BR" sz="2000" dirty="0" err="1"/>
              <a:t>Ended</a:t>
            </a:r>
            <a:r>
              <a:rPr lang="pt-BR" sz="2000" dirty="0"/>
              <a:t> </a:t>
            </a:r>
            <a:r>
              <a:rPr lang="pt-BR" sz="2000" dirty="0" err="1"/>
              <a:t>Queue</a:t>
            </a:r>
            <a:r>
              <a:rPr lang="pt-BR" sz="2000" dirty="0"/>
              <a:t> — ou seja, uma fila de dois extremos, em que os elementos podem ser inseridos e removidos tanto do início quanto do fim.</a:t>
            </a:r>
          </a:p>
          <a:p>
            <a:r>
              <a:rPr lang="pt-BR" sz="2000" dirty="0"/>
              <a:t>Aplicações comuns do Deque:</a:t>
            </a:r>
          </a:p>
          <a:p>
            <a:pPr lvl="1"/>
            <a:r>
              <a:rPr lang="pt-BR" sz="1600" dirty="0"/>
              <a:t>Implementar </a:t>
            </a:r>
            <a:r>
              <a:rPr lang="pt-BR" sz="1600" b="1" dirty="0"/>
              <a:t>pilhas</a:t>
            </a:r>
            <a:r>
              <a:rPr lang="pt-BR" sz="1600" dirty="0"/>
              <a:t> ou </a:t>
            </a:r>
            <a:r>
              <a:rPr lang="pt-BR" sz="1600" b="1" dirty="0"/>
              <a:t>filas</a:t>
            </a:r>
            <a:r>
              <a:rPr lang="pt-BR" sz="1600" dirty="0"/>
              <a:t> com mais flexibilidade.</a:t>
            </a:r>
          </a:p>
          <a:p>
            <a:pPr lvl="1"/>
            <a:r>
              <a:rPr lang="pt-BR" sz="1600" dirty="0"/>
              <a:t>Resolver problemas como palíndromos, navegação de páginas, agendamento de tarefas, algoritmos de </a:t>
            </a:r>
            <a:r>
              <a:rPr lang="pt-BR" sz="1600" dirty="0" err="1"/>
              <a:t>sliding</a:t>
            </a:r>
            <a:r>
              <a:rPr lang="pt-BR" sz="1600" dirty="0"/>
              <a:t> </a:t>
            </a:r>
            <a:r>
              <a:rPr lang="pt-BR" sz="1600" dirty="0" err="1"/>
              <a:t>window</a:t>
            </a:r>
            <a:r>
              <a:rPr lang="pt-BR" sz="1600" dirty="0"/>
              <a:t>, etc.</a:t>
            </a:r>
          </a:p>
          <a:p>
            <a:pPr lvl="1"/>
            <a:r>
              <a:rPr lang="pt-BR" sz="1600" dirty="0"/>
              <a:t>Pode ser usado em algoritmos de busca em grafos, como BFS otimizado.</a:t>
            </a:r>
          </a:p>
          <a:p>
            <a:pPr algn="just">
              <a:lnSpc>
                <a:spcPct val="90000"/>
              </a:lnSpc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6869215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E0DA5-8171-004E-1E10-6901041C4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DE8C163E-6E0C-ABE0-0B32-3098831744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Linear: </a:t>
            </a:r>
            <a:r>
              <a:rPr lang="pt-BR" b="1" dirty="0">
                <a:solidFill>
                  <a:srgbClr val="FF0000"/>
                </a:solidFill>
              </a:rPr>
              <a:t>DEQUE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3194B4AD-3C21-1555-72B1-5EC1F4D36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8228-CD93-4FB7-83F5-A66C290929B3}" type="slidenum">
              <a:rPr lang="pt-BR" altLang="en-US" smtClean="0"/>
              <a:pPr/>
              <a:t>27</a:t>
            </a:fld>
            <a:endParaRPr lang="pt-BR" altLang="en-US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2F06E297-42F5-186D-01AF-9419F81D2D2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9557" y="1766792"/>
            <a:ext cx="8458200" cy="3581400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endParaRPr lang="en-US" sz="2000" dirty="0"/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09A2EA1C-81D9-FE07-2B68-AD280E384F4C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3101975"/>
            <a:ext cx="7772400" cy="1219200"/>
            <a:chOff x="480" y="2880"/>
            <a:chExt cx="4896" cy="768"/>
          </a:xfrm>
        </p:grpSpPr>
        <p:sp>
          <p:nvSpPr>
            <p:cNvPr id="43013" name="Text Box 5">
              <a:extLst>
                <a:ext uri="{FF2B5EF4-FFF2-40B4-BE49-F238E27FC236}">
                  <a16:creationId xmlns:a16="http://schemas.microsoft.com/office/drawing/2014/main" id="{05945A1C-FFAA-484F-2D96-ED3F9F221B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880"/>
              <a:ext cx="494" cy="7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2400"/>
            </a:p>
            <a:p>
              <a:pPr algn="ctr"/>
              <a:r>
                <a:rPr lang="en-US" sz="2400"/>
                <a:t>E</a:t>
              </a:r>
              <a:r>
                <a:rPr lang="en-US" sz="2400" baseline="-25000"/>
                <a:t>0</a:t>
              </a:r>
              <a:endParaRPr lang="en-US" sz="2400"/>
            </a:p>
          </p:txBody>
        </p:sp>
        <p:sp>
          <p:nvSpPr>
            <p:cNvPr id="43014" name="Text Box 6">
              <a:extLst>
                <a:ext uri="{FF2B5EF4-FFF2-40B4-BE49-F238E27FC236}">
                  <a16:creationId xmlns:a16="http://schemas.microsoft.com/office/drawing/2014/main" id="{5BE08775-78A9-0677-0E37-50EC18428F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3" y="2880"/>
              <a:ext cx="494" cy="7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en-US" sz="2400"/>
            </a:p>
            <a:p>
              <a:pPr algn="ctr"/>
              <a:r>
                <a:rPr lang="en-US" sz="2400"/>
                <a:t>E</a:t>
              </a:r>
              <a:r>
                <a:rPr lang="en-US" sz="2400" baseline="-25000"/>
                <a:t>1</a:t>
              </a:r>
              <a:endParaRPr lang="en-US" sz="2400"/>
            </a:p>
          </p:txBody>
        </p:sp>
        <p:sp>
          <p:nvSpPr>
            <p:cNvPr id="43015" name="Text Box 7">
              <a:extLst>
                <a:ext uri="{FF2B5EF4-FFF2-40B4-BE49-F238E27FC236}">
                  <a16:creationId xmlns:a16="http://schemas.microsoft.com/office/drawing/2014/main" id="{DFA00A77-3851-69F7-3FBF-EF93104363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1" y="2880"/>
              <a:ext cx="494" cy="7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en-US" sz="2400"/>
            </a:p>
            <a:p>
              <a:pPr algn="ctr"/>
              <a:r>
                <a:rPr lang="en-US" sz="2400"/>
                <a:t>E</a:t>
              </a:r>
              <a:r>
                <a:rPr lang="en-US" sz="2400" baseline="-25000"/>
                <a:t>n-1</a:t>
              </a:r>
              <a:endParaRPr lang="en-US" sz="2400"/>
            </a:p>
          </p:txBody>
        </p:sp>
        <p:sp>
          <p:nvSpPr>
            <p:cNvPr id="43016" name="Text Box 8">
              <a:extLst>
                <a:ext uri="{FF2B5EF4-FFF2-40B4-BE49-F238E27FC236}">
                  <a16:creationId xmlns:a16="http://schemas.microsoft.com/office/drawing/2014/main" id="{FBDF2188-5A43-A4AD-1DB5-3A8084AA2F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4" y="2880"/>
              <a:ext cx="493" cy="51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3200" b="1"/>
                <a:t>. . .</a:t>
              </a:r>
              <a:endParaRPr lang="en-US" sz="3200"/>
            </a:p>
          </p:txBody>
        </p:sp>
        <p:sp>
          <p:nvSpPr>
            <p:cNvPr id="43018" name="Line 10">
              <a:extLst>
                <a:ext uri="{FF2B5EF4-FFF2-40B4-BE49-F238E27FC236}">
                  <a16:creationId xmlns:a16="http://schemas.microsoft.com/office/drawing/2014/main" id="{8EDC662E-4FDD-2BEB-577B-E840DD5E5E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3216"/>
              <a:ext cx="49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019" name="Text Box 11">
              <a:extLst>
                <a:ext uri="{FF2B5EF4-FFF2-40B4-BE49-F238E27FC236}">
                  <a16:creationId xmlns:a16="http://schemas.microsoft.com/office/drawing/2014/main" id="{EF1B7847-3B8C-8CC2-5AAB-4FA700CD7B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1" y="3072"/>
              <a:ext cx="535" cy="38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400"/>
                <a:t>final</a:t>
              </a:r>
            </a:p>
          </p:txBody>
        </p:sp>
        <p:sp>
          <p:nvSpPr>
            <p:cNvPr id="43020" name="Line 12">
              <a:extLst>
                <a:ext uri="{FF2B5EF4-FFF2-40B4-BE49-F238E27FC236}">
                  <a16:creationId xmlns:a16="http://schemas.microsoft.com/office/drawing/2014/main" id="{B256D58C-D77F-6489-AA4E-D8F667E4CF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52" y="3216"/>
              <a:ext cx="49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021" name="Text Box 13">
              <a:extLst>
                <a:ext uri="{FF2B5EF4-FFF2-40B4-BE49-F238E27FC236}">
                  <a16:creationId xmlns:a16="http://schemas.microsoft.com/office/drawing/2014/main" id="{7AD79480-2F4E-2D3C-F2F6-5CFCF0EA71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3024"/>
              <a:ext cx="679" cy="38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400"/>
                <a:t>início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51783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rgbClr val="C00000"/>
                </a:solidFill>
              </a:rPr>
              <a:t>Exercícios de Fixação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28</a:t>
            </a:fld>
            <a:endParaRPr lang="pt-BR"/>
          </a:p>
        </p:txBody>
      </p:sp>
      <p:sp>
        <p:nvSpPr>
          <p:cNvPr id="4" name="CaixaDeTexto 3"/>
          <p:cNvSpPr txBox="1"/>
          <p:nvPr/>
        </p:nvSpPr>
        <p:spPr>
          <a:xfrm>
            <a:off x="469557" y="1670538"/>
            <a:ext cx="80062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sz="2000" dirty="0"/>
              <a:t>Defina um Tipo Abstrato de Dado (TAD) para modelar um aluno de uma determinada disciplina (nome, RM, nota1, nota2 e média).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000" dirty="0"/>
              <a:t>Como definir o Tipo Concreto de Dado usando a linguagem JAVA para implementar o TAD definido na questão 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000" dirty="0"/>
              <a:t>Qual a diferença entre um lista qualquer e uma lista linear?</a:t>
            </a:r>
          </a:p>
          <a:p>
            <a:pPr marL="342900" indent="-342900">
              <a:buFont typeface="+mj-lt"/>
              <a:buAutoNum type="arabicPeriod"/>
            </a:pPr>
            <a:endParaRPr lang="pt-BR" sz="2000" dirty="0"/>
          </a:p>
          <a:p>
            <a:pPr marL="342900" indent="-342900">
              <a:buFont typeface="+mj-lt"/>
              <a:buAutoNum type="arabicPeriod"/>
            </a:pPr>
            <a:endParaRPr lang="pt-BR" sz="2000" dirty="0"/>
          </a:p>
          <a:p>
            <a:pPr marL="342900" indent="-342900">
              <a:buFont typeface="+mj-lt"/>
              <a:buAutoNum type="arabicPeriod"/>
            </a:pPr>
            <a:endParaRPr lang="pt-BR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cap="all" dirty="0" err="1"/>
              <a:t>Tenenbaum</a:t>
            </a:r>
            <a:r>
              <a:rPr lang="pt-BR" cap="all" dirty="0"/>
              <a:t>, </a:t>
            </a:r>
            <a:r>
              <a:rPr lang="pt-BR" cap="all" dirty="0" err="1"/>
              <a:t>A.M.</a:t>
            </a:r>
            <a:r>
              <a:rPr lang="pt-BR" cap="all" dirty="0"/>
              <a:t> e </a:t>
            </a:r>
            <a:r>
              <a:rPr lang="pt-BR" dirty="0"/>
              <a:t>outros - </a:t>
            </a:r>
            <a:r>
              <a:rPr lang="pt-BR" b="1" dirty="0"/>
              <a:t>Estruturas de Dados usando C</a:t>
            </a:r>
            <a:r>
              <a:rPr lang="pt-BR" dirty="0"/>
              <a:t>. </a:t>
            </a:r>
            <a:r>
              <a:rPr lang="pt-BR" dirty="0" err="1"/>
              <a:t>Makron</a:t>
            </a:r>
            <a:r>
              <a:rPr lang="pt-BR" dirty="0"/>
              <a:t> Books do Brasil Editora </a:t>
            </a:r>
            <a:r>
              <a:rPr lang="pt-BR" dirty="0" err="1"/>
              <a:t>Ltda</a:t>
            </a:r>
            <a:r>
              <a:rPr lang="pt-BR" dirty="0"/>
              <a:t>, SP.</a:t>
            </a:r>
          </a:p>
          <a:p>
            <a:r>
              <a:rPr lang="pt-BR" dirty="0"/>
              <a:t>PEREIRA, S. L. </a:t>
            </a:r>
            <a:r>
              <a:rPr lang="pt-BR" b="1" dirty="0"/>
              <a:t>Estrutura de Dados Fundamentais. </a:t>
            </a:r>
            <a:r>
              <a:rPr lang="pt-BR" dirty="0"/>
              <a:t>São Paulo: Érica.</a:t>
            </a:r>
          </a:p>
          <a:p>
            <a:r>
              <a:rPr lang="pt-BR" cap="all" dirty="0"/>
              <a:t>FORBELLONE, </a:t>
            </a:r>
            <a:r>
              <a:rPr lang="pt-BR" cap="all" dirty="0" err="1"/>
              <a:t>A.L.V.</a:t>
            </a:r>
            <a:r>
              <a:rPr lang="pt-BR" cap="all" dirty="0"/>
              <a:t> &amp; EBERSPÄCHER, </a:t>
            </a:r>
            <a:r>
              <a:rPr lang="pt-BR" cap="all" dirty="0" err="1"/>
              <a:t>H.F.</a:t>
            </a:r>
            <a:r>
              <a:rPr lang="pt-BR" cap="all" dirty="0"/>
              <a:t> – </a:t>
            </a:r>
            <a:r>
              <a:rPr lang="pt-BR" b="1" dirty="0"/>
              <a:t>Lógica de Programação: A Construção de Algoritmos e Estruturas de Dados.</a:t>
            </a:r>
            <a:r>
              <a:rPr lang="pt-BR" dirty="0"/>
              <a:t> </a:t>
            </a:r>
            <a:r>
              <a:rPr lang="pt-BR" dirty="0" err="1"/>
              <a:t>Makron</a:t>
            </a:r>
            <a:r>
              <a:rPr lang="pt-BR" dirty="0"/>
              <a:t> Books, São Paulo, SP</a:t>
            </a:r>
          </a:p>
          <a:p>
            <a:r>
              <a:rPr lang="pt-BR" dirty="0"/>
              <a:t>ASCENCIO,</a:t>
            </a:r>
            <a:r>
              <a:rPr lang="pt-BR" dirty="0" err="1"/>
              <a:t>A.F.</a:t>
            </a:r>
            <a:r>
              <a:rPr lang="pt-BR" dirty="0"/>
              <a:t>G e ARAÚJO, </a:t>
            </a:r>
            <a:r>
              <a:rPr lang="pt-BR" dirty="0" err="1"/>
              <a:t>G.S.</a:t>
            </a:r>
            <a:r>
              <a:rPr lang="pt-BR" dirty="0"/>
              <a:t> – Estruturas de Dados: Algoritmos, Análise da Complexidade e Implementação em JAVA e C/C++</a:t>
            </a:r>
          </a:p>
          <a:p>
            <a:pPr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726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2" y="3222882"/>
            <a:ext cx="7759752" cy="1939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Copyright © 2025</a:t>
            </a:r>
          </a:p>
          <a:p>
            <a:pPr>
              <a:defRPr/>
            </a:pPr>
            <a:r>
              <a:rPr kumimoji="1" lang="pt-BR" sz="2000" dirty="0" err="1">
                <a:solidFill>
                  <a:schemeClr val="bg1"/>
                </a:solidFill>
                <a:latin typeface="Gotham-Bold"/>
                <a:cs typeface="Gotham-Bold"/>
              </a:rPr>
              <a:t>Profa</a:t>
            </a: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. Patrícia Magna</a:t>
            </a:r>
          </a:p>
          <a:p>
            <a:pPr>
              <a:defRPr/>
            </a:pPr>
            <a:endParaRPr kumimoji="1" lang="pt-BR" sz="2000" dirty="0">
              <a:solidFill>
                <a:schemeClr val="bg1"/>
              </a:solidFill>
              <a:latin typeface="Gotham-Bold"/>
              <a:cs typeface="Gotham-Bold"/>
            </a:endParaRPr>
          </a:p>
          <a:p>
            <a:pPr>
              <a:defRPr/>
            </a:pP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Todos direitos reservados. Reprodução ou divulgação total ou parcial deste documento é expressamente proibido sem o consentimento formal, por escrito, dos professores.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1527</TotalTime>
  <Words>1620</Words>
  <Application>Microsoft Office PowerPoint</Application>
  <PresentationFormat>Apresentação na tela (4:3)</PresentationFormat>
  <Paragraphs>200</Paragraphs>
  <Slides>30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30</vt:i4>
      </vt:variant>
    </vt:vector>
  </HeadingPairs>
  <TitlesOfParts>
    <vt:vector size="40" baseType="lpstr">
      <vt:lpstr>Arial</vt:lpstr>
      <vt:lpstr>Calibri</vt:lpstr>
      <vt:lpstr>Gotham HTF</vt:lpstr>
      <vt:lpstr>Gotham-Bold</vt:lpstr>
      <vt:lpstr>Gotham-Book</vt:lpstr>
      <vt:lpstr>Wingdings</vt:lpstr>
      <vt:lpstr>Default Theme</vt:lpstr>
      <vt:lpstr>1_Personalizar design</vt:lpstr>
      <vt:lpstr>2_Personalizar design</vt:lpstr>
      <vt:lpstr>Office Theme</vt:lpstr>
      <vt:lpstr>Apresentação do PowerPoint</vt:lpstr>
      <vt:lpstr>Por que e quando usar “novos” tipos de dados?</vt:lpstr>
      <vt:lpstr>Outro exemplo: previsão do tempo</vt:lpstr>
      <vt:lpstr>De uma forma geral...</vt:lpstr>
      <vt:lpstr>Definição de Tipo de Dado</vt:lpstr>
      <vt:lpstr>Tipos Abstratos de Dados (TAD) versus Tipos Concretos de Dados</vt:lpstr>
      <vt:lpstr>Exemplo de Tipo Abstrato e Tipo Concreto de Dado</vt:lpstr>
      <vt:lpstr>Apresentação do PowerPoint</vt:lpstr>
      <vt:lpstr>Estruturas de Dados </vt:lpstr>
      <vt:lpstr>Como criar um novo Tipo de Dado em JAVA?</vt:lpstr>
      <vt:lpstr>Listas Lineares</vt:lpstr>
      <vt:lpstr>Definição de Listas</vt:lpstr>
      <vt:lpstr>Definição de Listas</vt:lpstr>
      <vt:lpstr>Solicitações de Acesso a Banco de Dados – Modelo Cliente/Servidor</vt:lpstr>
      <vt:lpstr>Escalonamento de Processos com prioridade</vt:lpstr>
      <vt:lpstr>Definição de Lista Linear</vt:lpstr>
      <vt:lpstr>Definição de Lista Linear</vt:lpstr>
      <vt:lpstr>Definição do Tipo Abstrato de Dado Lista Linear</vt:lpstr>
      <vt:lpstr>Possíveis Operações sobre Lista Linear</vt:lpstr>
      <vt:lpstr>Tipos Especiais de Listas Lineares</vt:lpstr>
      <vt:lpstr>Lista Linear: PILHA</vt:lpstr>
      <vt:lpstr>Lista Linear: PILHA</vt:lpstr>
      <vt:lpstr>Lista Linear: FILA</vt:lpstr>
      <vt:lpstr>Lista Linear: FILA</vt:lpstr>
      <vt:lpstr>Lista Linear: DEQUE</vt:lpstr>
      <vt:lpstr>Lista Linear: FILA</vt:lpstr>
      <vt:lpstr>Lista Linear: DEQUE</vt:lpstr>
      <vt:lpstr>Exercícios de Fixação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Patrícia Magna</cp:lastModifiedBy>
  <cp:revision>205</cp:revision>
  <dcterms:created xsi:type="dcterms:W3CDTF">2015-01-30T10:46:50Z</dcterms:created>
  <dcterms:modified xsi:type="dcterms:W3CDTF">2025-08-05T16:44:01Z</dcterms:modified>
</cp:coreProperties>
</file>