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  <p:sldMasterId id="2147483664" r:id="rId3"/>
    <p:sldMasterId id="2147483739" r:id="rId4"/>
  </p:sldMasterIdLst>
  <p:notesMasterIdLst>
    <p:notesMasterId r:id="rId26"/>
  </p:notesMasterIdLst>
  <p:sldIdLst>
    <p:sldId id="267" r:id="rId5"/>
    <p:sldId id="329" r:id="rId6"/>
    <p:sldId id="343" r:id="rId7"/>
    <p:sldId id="333" r:id="rId8"/>
    <p:sldId id="332" r:id="rId9"/>
    <p:sldId id="310" r:id="rId10"/>
    <p:sldId id="311" r:id="rId11"/>
    <p:sldId id="312" r:id="rId12"/>
    <p:sldId id="313" r:id="rId13"/>
    <p:sldId id="314" r:id="rId14"/>
    <p:sldId id="316" r:id="rId15"/>
    <p:sldId id="317" r:id="rId16"/>
    <p:sldId id="318" r:id="rId17"/>
    <p:sldId id="319" r:id="rId18"/>
    <p:sldId id="320" r:id="rId19"/>
    <p:sldId id="321" r:id="rId20"/>
    <p:sldId id="322" r:id="rId21"/>
    <p:sldId id="323" r:id="rId22"/>
    <p:sldId id="327" r:id="rId23"/>
    <p:sldId id="342" r:id="rId24"/>
    <p:sldId id="265" r:id="rId25"/>
  </p:sldIdLst>
  <p:sldSz cx="9144000" cy="6858000" type="screen4x3"/>
  <p:notesSz cx="7099300" cy="102346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44E6"/>
    <a:srgbClr val="EBAFB5"/>
    <a:srgbClr val="F0265D"/>
    <a:srgbClr val="F4D3D6"/>
    <a:srgbClr val="F9E8EA"/>
    <a:srgbClr val="020000"/>
    <a:srgbClr val="30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449" autoAdjust="0"/>
  </p:normalViewPr>
  <p:slideViewPr>
    <p:cSldViewPr snapToGrid="0" snapToObjects="1">
      <p:cViewPr varScale="1">
        <p:scale>
          <a:sx n="59" d="100"/>
          <a:sy n="59" d="100"/>
        </p:scale>
        <p:origin x="163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18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0F498697-E7EB-B84D-9726-13965ED94444}" type="datetimeFigureOut">
              <a:rPr lang="en-US" smtClean="0"/>
              <a:pPr/>
              <a:t>9/20/2023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1DC6CD5E-26BD-9B45-BB2F-78648736C277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88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839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27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323528" y="44625"/>
            <a:ext cx="7272808" cy="720079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Slide 1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79512" y="908720"/>
            <a:ext cx="8712968" cy="5328592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pt-B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9581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190500"/>
            <a:ext cx="7323138" cy="5556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162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0" y="44625"/>
            <a:ext cx="7596336" cy="122413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pt-BR" dirty="0"/>
              <a:t>Slide 2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475656" y="1340768"/>
            <a:ext cx="6192688" cy="410445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619672" y="44625"/>
            <a:ext cx="6120680" cy="1008112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pt-BR" dirty="0"/>
              <a:t>Slide 3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47664" y="1268760"/>
            <a:ext cx="6192688" cy="417646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603E2-892A-4D6E-ADD0-A2E67019303E}" type="datetime1">
              <a:rPr lang="pt-BR" smtClean="0"/>
              <a:pPr/>
              <a:t>20/09/2023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Códigos de Alta Performance-  - Prof Patrícia Magna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629CB-7937-4506-A327-ACF88B95BB0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56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/>
          <p:nvPr userDrawn="1"/>
        </p:nvSpPr>
        <p:spPr>
          <a:xfrm>
            <a:off x="8044249" y="6343992"/>
            <a:ext cx="1176708" cy="365125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9557" y="328709"/>
            <a:ext cx="8229600" cy="466767"/>
          </a:xfrm>
        </p:spPr>
        <p:txBody>
          <a:bodyPr>
            <a:noAutofit/>
          </a:bodyPr>
          <a:lstStyle>
            <a:lvl1pPr algn="l">
              <a:defRPr sz="2500" b="1"/>
            </a:lvl1pPr>
          </a:lstStyle>
          <a:p>
            <a:r>
              <a:rPr lang="x-none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EBA02-EF3C-4C96-8169-0A13F7CE9DEA}" type="datetime1">
              <a:rPr lang="pt-BR" smtClean="0"/>
              <a:pPr/>
              <a:t>20/09/2023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Códigos de Alta Performance-  - Prof Patrícia Magna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 b="1"/>
            </a:lvl1pPr>
          </a:lstStyle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  <p:cxnSp>
        <p:nvCxnSpPr>
          <p:cNvPr id="8" name="Conector reto 7"/>
          <p:cNvCxnSpPr/>
          <p:nvPr userDrawn="1"/>
        </p:nvCxnSpPr>
        <p:spPr>
          <a:xfrm>
            <a:off x="457200" y="741405"/>
            <a:ext cx="8229600" cy="0"/>
          </a:xfrm>
          <a:prstGeom prst="line">
            <a:avLst/>
          </a:prstGeom>
          <a:ln w="31750">
            <a:solidFill>
              <a:srgbClr val="F02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17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1" name="Rectangle 18"/>
          <p:cNvSpPr/>
          <p:nvPr userDrawn="1"/>
        </p:nvSpPr>
        <p:spPr>
          <a:xfrm>
            <a:off x="397557" y="364111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548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9A4B2-1132-481D-9D63-7CD9A0829CDF}" type="datetime1">
              <a:rPr lang="pt-BR" smtClean="0"/>
              <a:pPr/>
              <a:t>20/09/2023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Códigos de Alta Performance-  - Prof Patrícia Magna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629CB-7937-4506-A327-ACF88B95BB0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28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0D54B-93A8-4DF1-A342-9665B172BA47}" type="datetime1">
              <a:rPr lang="pt-BR" smtClean="0"/>
              <a:pPr/>
              <a:t>20/09/2023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Códigos de Alta Performance-  - Prof Patrícia Magna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8292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9A5D2-8827-405E-AB5B-214F95AB4FDE}" type="datetime1">
              <a:rPr lang="pt-BR" smtClean="0"/>
              <a:pPr/>
              <a:t>20/09/2023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Códigos de Alta Performance-  - Prof Patrícia Magna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1823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82828-151A-49B9-8D7C-BD9D76329185}" type="datetime1">
              <a:rPr lang="pt-BR" smtClean="0"/>
              <a:pPr/>
              <a:t>20/09/2023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Códigos de Alta Performance-  - Prof Patrícia Magna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3957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CED79-88A9-48FA-8798-CB5C680E31FE}" type="datetime1">
              <a:rPr lang="pt-BR" smtClean="0"/>
              <a:pPr/>
              <a:t>20/09/2023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Códigos de Alta Performance-  - Prof Patrícia Magna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4AAA4-6363-4581-962D-1ACCC2D600C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296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6AF6A-8065-4003-AD43-98F27388AB14}" type="datetime1">
              <a:rPr lang="pt-BR" smtClean="0"/>
              <a:pPr/>
              <a:t>20/09/2023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Códigos de Alta Performance-  - Prof Patrícia Magna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7339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B39B7-8475-4FD9-A7C4-7E8CF3E31A3B}" type="datetime1">
              <a:rPr lang="pt-BR" smtClean="0"/>
              <a:pPr/>
              <a:t>20/09/2023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Códigos de Alta Performance-  - Prof Patrícia Magna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37524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B89AC-2F4A-4FAD-9484-AE8A3C3AD8A9}" type="datetime1">
              <a:rPr lang="pt-BR" smtClean="0"/>
              <a:pPr/>
              <a:t>20/09/2023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Códigos de Alta Performance-  - Prof Patrícia Magna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98760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6FB71-5BFF-4497-AE2F-AE254C82105D}" type="datetime1">
              <a:rPr lang="pt-BR" smtClean="0"/>
              <a:pPr/>
              <a:t>20/09/2023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Códigos de Alta Performance-  - Prof Patrícia Magna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33562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ítulo, texto e clip-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lip-art 3"/>
          <p:cNvSpPr>
            <a:spLocks noGrp="1"/>
          </p:cNvSpPr>
          <p:nvPr>
            <p:ph type="clipArt"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34B22A9D-15B3-4014-AB7D-C6F074FD753B}" type="datetime1">
              <a:rPr lang="pt-BR" altLang="en-US" smtClean="0"/>
              <a:pPr/>
              <a:t>20/09/2023</a:t>
            </a:fld>
            <a:endParaRPr lang="en-US" alt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pt-BR" altLang="en-US"/>
              <a:t>Códigos de Alta Performance-  - Prof Patrícia Magna</a:t>
            </a:r>
            <a:endParaRPr lang="en-US" alt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6C400250-887D-42A4-9844-4914E7598DA4}" type="slidenum">
              <a:rPr lang="en-US" altLang="en-US"/>
              <a:pPr/>
              <a:t>‹nº›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151AE33-2F4D-4AAF-89B9-894DDF031D63}" type="datetime1">
              <a:rPr lang="pt-BR" altLang="en-US" smtClean="0"/>
              <a:pPr/>
              <a:t>20/09/2023</a:t>
            </a:fld>
            <a:endParaRPr lang="en-US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altLang="en-US"/>
              <a:t>Códigos de Alta Performance-  - Prof Patrícia Magna</a:t>
            </a:r>
            <a:endParaRPr lang="en-US" alt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5EF0C5-2879-425C-8A32-6061D40191ED}" type="slidenum">
              <a:rPr lang="en-US" altLang="en-US"/>
              <a:pPr/>
              <a:t>‹nº›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C65398-5FA9-42DF-B058-763BA0645E56}" type="datetime1">
              <a:rPr lang="pt-BR" smtClean="0"/>
              <a:pPr/>
              <a:t>20/09/2023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Códigos de Alta Performance-  - Prof Patrícia Magna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2050" name="Picture 2" descr="K:\Júnior\B.I\FIAP Shift\Template 4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0"/>
            <a:ext cx="9144000" cy="6858001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7" r:id="rId2"/>
    <p:sldLayoutId id="2147483668" r:id="rId3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CB2756-78A2-4FC6-B51A-E05200310138}" type="datetime1">
              <a:rPr lang="pt-BR" smtClean="0"/>
              <a:pPr/>
              <a:t>20/09/2023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Códigos de Alta Performance-  - Prof Patrícia Magna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9B6C0-1EBF-4909-A23C-2B4E6C0F9776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3074" name="Picture 2" descr="K:\Júnior\B.I\FIAP Shift\Template 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310BA5-19D2-4669-B584-D02AC0B2B596}" type="datetime1">
              <a:rPr lang="pt-BR" smtClean="0"/>
              <a:pPr/>
              <a:t>20/09/2023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Códigos de Alta Performance-  - Prof Patrícia Magna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8BDE16-AB64-4071-8A5E-208E5097AA46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098" name="Picture 2" descr="K:\Júnior\B.I\FIAP Shift\Template 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-99393"/>
            <a:ext cx="9276524" cy="6957393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6392E5-EFBE-470C-93C4-7428ABFFBCA4}" type="datetime1">
              <a:rPr lang="pt-BR" smtClean="0"/>
              <a:pPr/>
              <a:t>20/09/2023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Códigos de Alta Performance-  - Prof Patrícia Magna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106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  <p:sldLayoutId id="2147483752" r:id="rId13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/>
          <a:srcRect l="21776" r="21705"/>
          <a:stretch/>
        </p:blipFill>
        <p:spPr>
          <a:xfrm>
            <a:off x="0" y="2608031"/>
            <a:ext cx="9155651" cy="2789855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1011881" y="3293781"/>
            <a:ext cx="814377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pt-BR" sz="3200" dirty="0">
                <a:solidFill>
                  <a:srgbClr val="FFFF00"/>
                </a:solidFill>
                <a:latin typeface="Gotham-Bold"/>
                <a:cs typeface="Gotham-Bold"/>
              </a:rPr>
              <a:t>Lista Linear Especial:  Pilha Encadeada</a:t>
            </a:r>
            <a:endParaRPr lang="en-US" sz="3200" dirty="0">
              <a:solidFill>
                <a:srgbClr val="FFFF00"/>
              </a:solidFill>
              <a:latin typeface="Gotham-Bold"/>
              <a:cs typeface="Gotham-Bold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11882" y="3857840"/>
            <a:ext cx="55413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bg2"/>
                </a:solidFill>
                <a:latin typeface="Gotham-Bold"/>
              </a:rPr>
              <a:t>Algoritmos de Alta Performance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1882" y="4444109"/>
            <a:ext cx="681713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 err="1">
                <a:solidFill>
                  <a:srgbClr val="FFFFFF"/>
                </a:solidFill>
                <a:latin typeface="Gotham-Bold"/>
                <a:cs typeface="Gotham-Bold"/>
              </a:rPr>
              <a:t>PROFa</a:t>
            </a:r>
            <a:r>
              <a:rPr lang="en-US" dirty="0">
                <a:solidFill>
                  <a:srgbClr val="FFFFFF"/>
                </a:solidFill>
                <a:latin typeface="Gotham-Bold"/>
                <a:cs typeface="Gotham-Bold"/>
              </a:rPr>
              <a:t>. PATRÍCIA MAGNA  - profpatricia.magna@fiap.com.br</a:t>
            </a:r>
          </a:p>
        </p:txBody>
      </p:sp>
      <p:sp>
        <p:nvSpPr>
          <p:cNvPr id="23" name="Rectangle 22"/>
          <p:cNvSpPr/>
          <p:nvPr/>
        </p:nvSpPr>
        <p:spPr>
          <a:xfrm flipH="1">
            <a:off x="759004" y="3423920"/>
            <a:ext cx="45719" cy="12903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4AAA4-6363-4581-962D-1ACCC2D600C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444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Recordação: Definição de Pilha</a:t>
            </a:r>
            <a:endParaRPr lang="en-US" dirty="0"/>
          </a:p>
        </p:txBody>
      </p:sp>
      <p:sp>
        <p:nvSpPr>
          <p:cNvPr id="12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6201126"/>
            <a:ext cx="2460172" cy="520350"/>
          </a:xfrm>
        </p:spPr>
        <p:txBody>
          <a:bodyPr/>
          <a:lstStyle/>
          <a:p>
            <a:r>
              <a:rPr lang="pt-BR" altLang="en-US" dirty="0"/>
              <a:t>Algoritmos de Alta Performance-  - </a:t>
            </a:r>
            <a:r>
              <a:rPr lang="pt-BR" altLang="en-US" dirty="0" err="1"/>
              <a:t>Prof</a:t>
            </a:r>
            <a:r>
              <a:rPr lang="pt-BR" altLang="en-US" dirty="0"/>
              <a:t> Patrícia Magna</a:t>
            </a:r>
            <a:endParaRPr lang="en-US" altLang="en-US" dirty="0"/>
          </a:p>
        </p:txBody>
      </p:sp>
      <p:sp>
        <p:nvSpPr>
          <p:cNvPr id="13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65BB3-6131-455D-A835-E19259A9F4C3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38200" y="1219200"/>
            <a:ext cx="8305800" cy="3429000"/>
          </a:xfrm>
        </p:spPr>
        <p:txBody>
          <a:bodyPr/>
          <a:lstStyle/>
          <a:p>
            <a:r>
              <a:rPr lang="pt-BR" sz="2800"/>
              <a:t>Uma pilha (</a:t>
            </a:r>
            <a:r>
              <a:rPr lang="pt-BR" sz="2800" i="1"/>
              <a:t>stack</a:t>
            </a:r>
            <a:r>
              <a:rPr lang="pt-BR" sz="2800"/>
              <a:t>) é uma lista linear onde as operações de inserção e remoção são efetuadas apenas em uma extremidade, denominada </a:t>
            </a:r>
            <a:r>
              <a:rPr lang="pt-BR" sz="2800" u="sng"/>
              <a:t>topo da pilha</a:t>
            </a:r>
            <a:r>
              <a:rPr lang="pt-BR" sz="2800"/>
              <a:t>. </a:t>
            </a:r>
          </a:p>
          <a:p>
            <a:r>
              <a:rPr lang="pt-BR" sz="2800"/>
              <a:t>Estruturas deste tipo são conhecidas como LIFO (</a:t>
            </a:r>
            <a:r>
              <a:rPr lang="pt-BR" sz="2800" i="1"/>
              <a:t>last in first out</a:t>
            </a:r>
            <a:r>
              <a:rPr lang="pt-BR" sz="2800"/>
              <a:t> – último a entrar primeiro a sair). </a:t>
            </a:r>
            <a:endParaRPr lang="en-US" sz="280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143000" y="4572000"/>
            <a:ext cx="6858000" cy="1219200"/>
            <a:chOff x="2858" y="6422"/>
            <a:chExt cx="5292" cy="461"/>
          </a:xfrm>
        </p:grpSpPr>
        <p:sp>
          <p:nvSpPr>
            <p:cNvPr id="41989" name="Text Box 5"/>
            <p:cNvSpPr txBox="1">
              <a:spLocks noChangeArrowheads="1"/>
            </p:cNvSpPr>
            <p:nvPr/>
          </p:nvSpPr>
          <p:spPr bwMode="auto">
            <a:xfrm>
              <a:off x="2858" y="6422"/>
              <a:ext cx="605" cy="46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2400"/>
            </a:p>
            <a:p>
              <a:pPr algn="ctr"/>
              <a:r>
                <a:rPr lang="en-US" sz="2400"/>
                <a:t>E</a:t>
              </a:r>
              <a:r>
                <a:rPr lang="en-US" sz="2400" baseline="-25000"/>
                <a:t>0</a:t>
              </a:r>
              <a:endParaRPr lang="en-US" sz="2400"/>
            </a:p>
          </p:txBody>
        </p:sp>
        <p:sp>
          <p:nvSpPr>
            <p:cNvPr id="41990" name="Text Box 6"/>
            <p:cNvSpPr txBox="1">
              <a:spLocks noChangeArrowheads="1"/>
            </p:cNvSpPr>
            <p:nvPr/>
          </p:nvSpPr>
          <p:spPr bwMode="auto">
            <a:xfrm>
              <a:off x="3851" y="6422"/>
              <a:ext cx="606" cy="46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endParaRPr lang="en-US" sz="2400"/>
            </a:p>
            <a:p>
              <a:pPr algn="ctr"/>
              <a:r>
                <a:rPr lang="en-US" sz="2400"/>
                <a:t>E</a:t>
              </a:r>
              <a:r>
                <a:rPr lang="en-US" sz="2400" baseline="-25000"/>
                <a:t>1</a:t>
              </a:r>
              <a:endParaRPr lang="en-US" sz="2400"/>
            </a:p>
          </p:txBody>
        </p:sp>
        <p:sp>
          <p:nvSpPr>
            <p:cNvPr id="41991" name="Text Box 7"/>
            <p:cNvSpPr txBox="1">
              <a:spLocks noChangeArrowheads="1"/>
            </p:cNvSpPr>
            <p:nvPr/>
          </p:nvSpPr>
          <p:spPr bwMode="auto">
            <a:xfrm>
              <a:off x="5429" y="6422"/>
              <a:ext cx="605" cy="46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endParaRPr lang="en-US" sz="2400"/>
            </a:p>
            <a:p>
              <a:pPr algn="ctr"/>
              <a:r>
                <a:rPr lang="en-US" sz="2400"/>
                <a:t>E</a:t>
              </a:r>
              <a:r>
                <a:rPr lang="en-US" sz="2400" baseline="-25000"/>
                <a:t>n-1</a:t>
              </a:r>
              <a:endParaRPr lang="en-US" sz="2400"/>
            </a:p>
          </p:txBody>
        </p:sp>
        <p:sp>
          <p:nvSpPr>
            <p:cNvPr id="41992" name="Text Box 8"/>
            <p:cNvSpPr txBox="1">
              <a:spLocks noChangeArrowheads="1"/>
            </p:cNvSpPr>
            <p:nvPr/>
          </p:nvSpPr>
          <p:spPr bwMode="auto">
            <a:xfrm>
              <a:off x="4673" y="6422"/>
              <a:ext cx="604" cy="30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3200" b="1"/>
                <a:t>. . .</a:t>
              </a:r>
              <a:endParaRPr lang="en-US" sz="3200"/>
            </a:p>
          </p:txBody>
        </p:sp>
        <p:sp>
          <p:nvSpPr>
            <p:cNvPr id="41993" name="Line 9"/>
            <p:cNvSpPr>
              <a:spLocks noChangeShapeType="1"/>
            </p:cNvSpPr>
            <p:nvPr/>
          </p:nvSpPr>
          <p:spPr bwMode="auto">
            <a:xfrm>
              <a:off x="6034" y="6575"/>
              <a:ext cx="60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1994" name="Line 10"/>
            <p:cNvSpPr>
              <a:spLocks noChangeShapeType="1"/>
            </p:cNvSpPr>
            <p:nvPr/>
          </p:nvSpPr>
          <p:spPr bwMode="auto">
            <a:xfrm flipH="1">
              <a:off x="6034" y="6730"/>
              <a:ext cx="60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1995" name="Text Box 11"/>
            <p:cNvSpPr txBox="1">
              <a:spLocks noChangeArrowheads="1"/>
            </p:cNvSpPr>
            <p:nvPr/>
          </p:nvSpPr>
          <p:spPr bwMode="auto">
            <a:xfrm>
              <a:off x="6789" y="6422"/>
              <a:ext cx="1361" cy="46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2400"/>
                <a:t>Topo da Pilha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implementar o tipo de dado Pilha?</a:t>
            </a: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492829" cy="365125"/>
          </a:xfrm>
        </p:spPr>
        <p:txBody>
          <a:bodyPr/>
          <a:lstStyle/>
          <a:p>
            <a:r>
              <a:rPr lang="pt-BR" altLang="en-US" dirty="0"/>
              <a:t>Algoritmos</a:t>
            </a:r>
            <a:r>
              <a:rPr lang="pt-BR" dirty="0"/>
              <a:t> de Alta Performance    </a:t>
            </a:r>
            <a:r>
              <a:rPr lang="pt-BR" dirty="0" err="1"/>
              <a:t>Prof</a:t>
            </a:r>
            <a:r>
              <a:rPr lang="pt-BR" dirty="0"/>
              <a:t> Patrícia Magna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3</a:t>
            </a:fld>
            <a:endParaRPr lang="pt-BR"/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224287" y="1417638"/>
            <a:ext cx="8686800" cy="4708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pt-BR" sz="2800" dirty="0"/>
              <a:t>Implementação </a:t>
            </a:r>
            <a:r>
              <a:rPr lang="pt-BR" sz="2800" dirty="0" err="1"/>
              <a:t>sequencial</a:t>
            </a:r>
            <a:endParaRPr lang="pt-BR" sz="2800" dirty="0"/>
          </a:p>
          <a:p>
            <a:pPr marL="800100" lvl="1" indent="-342900" defTabSz="457200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ü"/>
            </a:pPr>
            <a:r>
              <a:rPr kumimoji="0" lang="pt-BR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</a:t>
            </a:r>
            <a:r>
              <a:rPr kumimoji="0" lang="pt-BR" sz="28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um vetor para armazenar elementos</a:t>
            </a:r>
          </a:p>
          <a:p>
            <a:pPr marL="1257300" lvl="2" indent="-342900" defTabSz="457200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ü"/>
            </a:pPr>
            <a:r>
              <a:rPr lang="pt-BR" sz="2800" b="1" baseline="0" dirty="0">
                <a:solidFill>
                  <a:srgbClr val="FF0000"/>
                </a:solidFill>
              </a:rPr>
              <a:t>J</a:t>
            </a:r>
            <a:r>
              <a:rPr lang="pt-BR" sz="2800" b="1" dirty="0">
                <a:solidFill>
                  <a:srgbClr val="FF0000"/>
                </a:solidFill>
              </a:rPr>
              <a:t>á feita!!!</a:t>
            </a:r>
            <a:endParaRPr kumimoji="0" lang="pt-BR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lang="pt-BR" sz="2800" dirty="0"/>
          </a:p>
          <a:p>
            <a:pPr marL="342900" marR="0" lvl="0" indent="-34290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pt-BR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Encadeada</a:t>
            </a:r>
          </a:p>
          <a:p>
            <a:pPr marL="800100" lvl="1" indent="-342900" defTabSz="457200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ü"/>
            </a:pPr>
            <a:r>
              <a:rPr lang="pt-BR" sz="2800" dirty="0"/>
              <a:t>Faz alocação dinâmica na memória para cada elemento a ser armazenado na pilha</a:t>
            </a:r>
          </a:p>
        </p:txBody>
      </p:sp>
      <p:sp>
        <p:nvSpPr>
          <p:cNvPr id="14" name="Rosto feliz 13"/>
          <p:cNvSpPr/>
          <p:nvPr/>
        </p:nvSpPr>
        <p:spPr>
          <a:xfrm>
            <a:off x="7619657" y="4432300"/>
            <a:ext cx="1079500" cy="1143000"/>
          </a:xfrm>
          <a:prstGeom prst="smileyFace">
            <a:avLst/>
          </a:prstGeom>
          <a:solidFill>
            <a:srgbClr val="F0E50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Operações Auxiliares sobre Pilha</a:t>
            </a:r>
          </a:p>
        </p:txBody>
      </p:sp>
      <p:sp>
        <p:nvSpPr>
          <p:cNvPr id="4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237072" cy="365125"/>
          </a:xfrm>
        </p:spPr>
        <p:txBody>
          <a:bodyPr/>
          <a:lstStyle/>
          <a:p>
            <a:r>
              <a:rPr lang="pt-BR" altLang="en-US" dirty="0"/>
              <a:t>Algoritmos de Alta Performance-  - </a:t>
            </a:r>
            <a:r>
              <a:rPr lang="pt-BR" altLang="en-US" dirty="0" err="1"/>
              <a:t>Prof</a:t>
            </a:r>
            <a:r>
              <a:rPr lang="pt-BR" altLang="en-US" dirty="0"/>
              <a:t> Patrícia Magna</a:t>
            </a:r>
            <a:endParaRPr lang="en-US" altLang="en-US" dirty="0"/>
          </a:p>
        </p:txBody>
      </p:sp>
      <p:sp>
        <p:nvSpPr>
          <p:cNvPr id="5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C6C42-7E49-4F28-A1D3-EEA97D9057F8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4287" y="1417638"/>
            <a:ext cx="8686800" cy="47085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BR" dirty="0"/>
              <a:t>Inicialização</a:t>
            </a:r>
          </a:p>
          <a:p>
            <a:pPr lvl="1">
              <a:lnSpc>
                <a:spcPct val="90000"/>
              </a:lnSpc>
            </a:pPr>
            <a:r>
              <a:rPr lang="pt-BR" dirty="0" err="1">
                <a:solidFill>
                  <a:srgbClr val="0033CC"/>
                </a:solidFill>
              </a:rPr>
              <a:t>init</a:t>
            </a:r>
            <a:r>
              <a:rPr lang="pt-BR" dirty="0">
                <a:solidFill>
                  <a:srgbClr val="0033CC"/>
                </a:solidFill>
              </a:rPr>
              <a:t>():</a:t>
            </a:r>
          </a:p>
          <a:p>
            <a:pPr lvl="2">
              <a:lnSpc>
                <a:spcPct val="90000"/>
              </a:lnSpc>
            </a:pPr>
            <a:r>
              <a:rPr lang="pt-BR" dirty="0">
                <a:solidFill>
                  <a:srgbClr val="0033CC"/>
                </a:solidFill>
              </a:rPr>
              <a:t> inicia a pilha deixando-a vazia</a:t>
            </a:r>
          </a:p>
          <a:p>
            <a:pPr>
              <a:lnSpc>
                <a:spcPct val="90000"/>
              </a:lnSpc>
            </a:pPr>
            <a:r>
              <a:rPr lang="pt-BR" dirty="0"/>
              <a:t>Verificação se pilha está vazia</a:t>
            </a:r>
          </a:p>
          <a:p>
            <a:pPr lvl="1">
              <a:lnSpc>
                <a:spcPct val="90000"/>
              </a:lnSpc>
            </a:pPr>
            <a:r>
              <a:rPr lang="pt-BR" dirty="0" err="1">
                <a:solidFill>
                  <a:srgbClr val="0033CC"/>
                </a:solidFill>
              </a:rPr>
              <a:t>isEmpty</a:t>
            </a:r>
            <a:r>
              <a:rPr lang="pt-BR" dirty="0">
                <a:solidFill>
                  <a:srgbClr val="0033CC"/>
                </a:solidFill>
              </a:rPr>
              <a:t> () :</a:t>
            </a:r>
          </a:p>
          <a:p>
            <a:pPr lvl="2">
              <a:lnSpc>
                <a:spcPct val="90000"/>
              </a:lnSpc>
            </a:pPr>
            <a:r>
              <a:rPr lang="pt-BR" dirty="0">
                <a:solidFill>
                  <a:srgbClr val="0033CC"/>
                </a:solidFill>
              </a:rPr>
              <a:t> verifica se a pilha está vazia, retornando verdade se a pilha estiver vazia e falso, caso contrário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Operações Básicas sobre Pilha</a:t>
            </a:r>
          </a:p>
        </p:txBody>
      </p:sp>
      <p:sp>
        <p:nvSpPr>
          <p:cNvPr id="4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227446" cy="365125"/>
          </a:xfrm>
        </p:spPr>
        <p:txBody>
          <a:bodyPr/>
          <a:lstStyle/>
          <a:p>
            <a:r>
              <a:rPr lang="pt-BR" altLang="en-US" dirty="0"/>
              <a:t>Algoritmos de Alta Performance-  - </a:t>
            </a:r>
            <a:r>
              <a:rPr lang="pt-BR" altLang="en-US" dirty="0" err="1"/>
              <a:t>Prof</a:t>
            </a:r>
            <a:r>
              <a:rPr lang="pt-BR" altLang="en-US" dirty="0"/>
              <a:t> Patrícia Magna</a:t>
            </a:r>
            <a:endParaRPr lang="en-US" altLang="en-US" dirty="0"/>
          </a:p>
        </p:txBody>
      </p:sp>
      <p:sp>
        <p:nvSpPr>
          <p:cNvPr id="5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17ED5-DB78-4DCA-BC2E-FFCEC9A73AC4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9556" y="1345722"/>
            <a:ext cx="8217243" cy="478044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pt-BR" dirty="0"/>
              <a:t>Inserção (</a:t>
            </a:r>
            <a:r>
              <a:rPr lang="pt-BR" dirty="0" err="1"/>
              <a:t>push</a:t>
            </a:r>
            <a:r>
              <a:rPr lang="pt-BR" dirty="0"/>
              <a:t>)</a:t>
            </a:r>
          </a:p>
          <a:p>
            <a:pPr lvl="1">
              <a:lnSpc>
                <a:spcPct val="90000"/>
              </a:lnSpc>
            </a:pPr>
            <a:r>
              <a:rPr lang="pt-BR" dirty="0" err="1">
                <a:solidFill>
                  <a:srgbClr val="0033CC"/>
                </a:solidFill>
              </a:rPr>
              <a:t>push</a:t>
            </a:r>
            <a:r>
              <a:rPr lang="pt-BR" dirty="0">
                <a:solidFill>
                  <a:srgbClr val="0033CC"/>
                </a:solidFill>
              </a:rPr>
              <a:t>(v) :</a:t>
            </a:r>
          </a:p>
          <a:p>
            <a:pPr lvl="2">
              <a:lnSpc>
                <a:spcPct val="90000"/>
              </a:lnSpc>
            </a:pPr>
            <a:r>
              <a:rPr lang="pt-BR" dirty="0">
                <a:solidFill>
                  <a:srgbClr val="0033CC"/>
                </a:solidFill>
              </a:rPr>
              <a:t> armazena no topo da pilha  o elemento v, aumentando a pilha</a:t>
            </a:r>
          </a:p>
          <a:p>
            <a:pPr>
              <a:lnSpc>
                <a:spcPct val="90000"/>
              </a:lnSpc>
            </a:pPr>
            <a:r>
              <a:rPr lang="pt-BR" dirty="0"/>
              <a:t>Remoção (pop)</a:t>
            </a:r>
          </a:p>
          <a:p>
            <a:pPr lvl="1">
              <a:lnSpc>
                <a:spcPct val="90000"/>
              </a:lnSpc>
            </a:pPr>
            <a:r>
              <a:rPr lang="pt-BR" dirty="0">
                <a:solidFill>
                  <a:srgbClr val="0033CC"/>
                </a:solidFill>
              </a:rPr>
              <a:t>v = pop(): </a:t>
            </a:r>
          </a:p>
          <a:p>
            <a:pPr lvl="2">
              <a:lnSpc>
                <a:spcPct val="90000"/>
              </a:lnSpc>
            </a:pPr>
            <a:r>
              <a:rPr lang="pt-BR" dirty="0">
                <a:solidFill>
                  <a:srgbClr val="0033CC"/>
                </a:solidFill>
              </a:rPr>
              <a:t>retira do topo da pilha o elemento e armazena em v, diminuindo o tamanho da pilha</a:t>
            </a:r>
          </a:p>
          <a:p>
            <a:pPr>
              <a:lnSpc>
                <a:spcPct val="90000"/>
              </a:lnSpc>
            </a:pPr>
            <a:r>
              <a:rPr lang="pt-BR" dirty="0"/>
              <a:t>Leitura do valor do elemento que está no topo (top)</a:t>
            </a:r>
          </a:p>
          <a:p>
            <a:pPr lvl="1">
              <a:lnSpc>
                <a:spcPct val="90000"/>
              </a:lnSpc>
            </a:pPr>
            <a:r>
              <a:rPr lang="pt-BR" dirty="0">
                <a:solidFill>
                  <a:srgbClr val="0033CC"/>
                </a:solidFill>
              </a:rPr>
              <a:t>v = top(): </a:t>
            </a:r>
          </a:p>
          <a:p>
            <a:pPr lvl="2">
              <a:lnSpc>
                <a:spcPct val="90000"/>
              </a:lnSpc>
            </a:pPr>
            <a:r>
              <a:rPr lang="pt-BR" dirty="0">
                <a:solidFill>
                  <a:srgbClr val="0033CC"/>
                </a:solidFill>
              </a:rPr>
              <a:t>lê o elemento que está no topo da pilha e armazena em v.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Definição</a:t>
            </a:r>
            <a:endParaRPr lang="en-US"/>
          </a:p>
        </p:txBody>
      </p:sp>
      <p:sp>
        <p:nvSpPr>
          <p:cNvPr id="5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294823" cy="365125"/>
          </a:xfrm>
        </p:spPr>
        <p:txBody>
          <a:bodyPr/>
          <a:lstStyle/>
          <a:p>
            <a:r>
              <a:rPr lang="pt-BR" altLang="en-US" dirty="0"/>
              <a:t>Algoritmos de Alta Performance-  - </a:t>
            </a:r>
            <a:r>
              <a:rPr lang="pt-BR" altLang="en-US" dirty="0" err="1"/>
              <a:t>Prof</a:t>
            </a:r>
            <a:r>
              <a:rPr lang="pt-BR" altLang="en-US" dirty="0"/>
              <a:t> Patrícia Magna</a:t>
            </a:r>
            <a:endParaRPr lang="en-US" altLang="en-US" dirty="0"/>
          </a:p>
        </p:txBody>
      </p:sp>
      <p:sp>
        <p:nvSpPr>
          <p:cNvPr id="6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4F32C-FD7F-4239-B446-511910DB3BAC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762000" y="1219200"/>
            <a:ext cx="7937157" cy="4800600"/>
          </a:xfrm>
        </p:spPr>
        <p:txBody>
          <a:bodyPr>
            <a:normAutofit/>
          </a:bodyPr>
          <a:lstStyle/>
          <a:p>
            <a:r>
              <a:rPr lang="pt-BR" sz="2800" dirty="0"/>
              <a:t>Uma pilha encadeada é uma estrutura de dados do tipo pilha, cujos elementos nela armazenados são alocados dinamicamente em nós.</a:t>
            </a:r>
          </a:p>
          <a:p>
            <a:r>
              <a:rPr lang="pt-BR" sz="2800" dirty="0"/>
              <a:t>Como visto na definição de lista encadeada, cada nó, além de armazenar o valor do elemento, precisa conter o ponteiro para o seu sucessor.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Definição do TipoPilha</a:t>
            </a:r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333324" cy="365125"/>
          </a:xfrm>
        </p:spPr>
        <p:txBody>
          <a:bodyPr/>
          <a:lstStyle/>
          <a:p>
            <a:r>
              <a:rPr lang="pt-BR" altLang="en-US" dirty="0"/>
              <a:t>Algoritmos de Alta Performance-  - </a:t>
            </a:r>
            <a:r>
              <a:rPr lang="pt-BR" altLang="en-US" dirty="0" err="1"/>
              <a:t>Prof</a:t>
            </a:r>
            <a:r>
              <a:rPr lang="pt-BR" altLang="en-US" dirty="0"/>
              <a:t> Patrícia Magna</a:t>
            </a:r>
            <a:endParaRPr lang="en-US" altLang="en-US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B65AD-4C57-4E5F-8D3F-9C1907255A4E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9556" y="1600200"/>
            <a:ext cx="7890673" cy="4038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BR" sz="2800" dirty="0"/>
              <a:t>A pilha na implementação encadeada deve ser formada por nós.</a:t>
            </a:r>
          </a:p>
          <a:p>
            <a:pPr>
              <a:lnSpc>
                <a:spcPct val="90000"/>
              </a:lnSpc>
            </a:pPr>
            <a:r>
              <a:rPr lang="pt-BR" sz="2800" dirty="0"/>
              <a:t>Apenas uma referência (ponteiro) para o primeiro nó é necessário.</a:t>
            </a:r>
          </a:p>
          <a:p>
            <a:pPr>
              <a:lnSpc>
                <a:spcPct val="90000"/>
              </a:lnSpc>
            </a:pPr>
            <a:r>
              <a:rPr lang="pt-BR" sz="2800" dirty="0"/>
              <a:t>Esta referência é conhecida como topo </a:t>
            </a:r>
          </a:p>
          <a:p>
            <a:pPr>
              <a:lnSpc>
                <a:spcPct val="90000"/>
              </a:lnSpc>
            </a:pPr>
            <a:r>
              <a:rPr lang="pt-BR" sz="2800" dirty="0"/>
              <a:t>Cada nó deve conter:</a:t>
            </a:r>
          </a:p>
          <a:p>
            <a:pPr lvl="1">
              <a:lnSpc>
                <a:spcPct val="90000"/>
              </a:lnSpc>
            </a:pPr>
            <a:r>
              <a:rPr lang="pt-BR" sz="2400" dirty="0"/>
              <a:t>Valor do elemento</a:t>
            </a:r>
          </a:p>
          <a:p>
            <a:pPr lvl="1">
              <a:lnSpc>
                <a:spcPct val="90000"/>
              </a:lnSpc>
            </a:pPr>
            <a:r>
              <a:rPr lang="pt-BR" sz="2400" dirty="0"/>
              <a:t>Referência para o nó sucessor do nó, ou próximo nó.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Definição do TipoPilha</a:t>
            </a:r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525485" cy="365125"/>
          </a:xfrm>
        </p:spPr>
        <p:txBody>
          <a:bodyPr/>
          <a:lstStyle/>
          <a:p>
            <a:r>
              <a:rPr lang="pt-BR" altLang="en-US" dirty="0"/>
              <a:t>Algoritmos de Alta Performance-  - </a:t>
            </a:r>
            <a:r>
              <a:rPr lang="pt-BR" altLang="en-US" dirty="0" err="1"/>
              <a:t>Prof</a:t>
            </a:r>
            <a:r>
              <a:rPr lang="pt-BR" altLang="en-US" dirty="0"/>
              <a:t> Patrícia Magna</a:t>
            </a:r>
            <a:endParaRPr lang="en-US" altLang="en-US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53397-36E1-4CAF-915B-F26EB4EF4BE5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36870" name="Rectangle 6"/>
          <p:cNvSpPr>
            <a:spLocks noChangeArrowheads="1"/>
          </p:cNvSpPr>
          <p:nvPr/>
        </p:nvSpPr>
        <p:spPr bwMode="auto">
          <a:xfrm>
            <a:off x="914400" y="1778000"/>
            <a:ext cx="7162800" cy="1938992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pt-BR" sz="2400" dirty="0"/>
              <a:t>NO</a:t>
            </a:r>
            <a:endParaRPr lang="en-US" sz="2400" dirty="0"/>
          </a:p>
          <a:p>
            <a:r>
              <a:rPr lang="pt-BR" sz="2400" dirty="0"/>
              <a:t>	{</a:t>
            </a:r>
            <a:endParaRPr lang="en-US" sz="2400" dirty="0"/>
          </a:p>
          <a:p>
            <a:r>
              <a:rPr lang="pt-BR" sz="2400" dirty="0"/>
              <a:t>	dado: </a:t>
            </a:r>
            <a:r>
              <a:rPr lang="pt-BR" sz="2400" dirty="0" err="1"/>
              <a:t>tipo_dos_elementos</a:t>
            </a:r>
            <a:endParaRPr lang="en-US" sz="2400" dirty="0"/>
          </a:p>
          <a:p>
            <a:r>
              <a:rPr lang="pt-BR" sz="2400" dirty="0"/>
              <a:t>	</a:t>
            </a:r>
            <a:r>
              <a:rPr lang="pt-BR" sz="2400" dirty="0" err="1"/>
              <a:t>prox</a:t>
            </a:r>
            <a:r>
              <a:rPr lang="pt-BR" sz="2400" dirty="0"/>
              <a:t>: referência para próximo no</a:t>
            </a:r>
            <a:endParaRPr lang="en-US" sz="2400" dirty="0"/>
          </a:p>
          <a:p>
            <a:r>
              <a:rPr lang="pt-BR" sz="2400" dirty="0"/>
              <a:t>	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PilhaEncadeada</a:t>
            </a:r>
            <a:r>
              <a:rPr lang="pt-BR" dirty="0"/>
              <a:t>: </a:t>
            </a:r>
            <a:r>
              <a:rPr lang="pt-BR" dirty="0" err="1"/>
              <a:t>init</a:t>
            </a:r>
            <a:endParaRPr lang="en-US" dirty="0"/>
          </a:p>
        </p:txBody>
      </p:sp>
      <p:sp>
        <p:nvSpPr>
          <p:cNvPr id="1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2590801" y="6356350"/>
            <a:ext cx="2275113" cy="365125"/>
          </a:xfrm>
        </p:spPr>
        <p:txBody>
          <a:bodyPr/>
          <a:lstStyle/>
          <a:p>
            <a:r>
              <a:rPr lang="pt-BR" altLang="en-US" dirty="0"/>
              <a:t>Algoritmos de Alta Performance-  - </a:t>
            </a:r>
            <a:r>
              <a:rPr lang="pt-BR" altLang="en-US" dirty="0" err="1"/>
              <a:t>Prof</a:t>
            </a:r>
            <a:r>
              <a:rPr lang="pt-BR" altLang="en-US" dirty="0"/>
              <a:t> Patrícia Magna</a:t>
            </a:r>
            <a:endParaRPr lang="en-US" altLang="en-US" dirty="0"/>
          </a:p>
        </p:txBody>
      </p:sp>
      <p:sp>
        <p:nvSpPr>
          <p:cNvPr id="1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3FD2A-0E05-4A39-8399-555DAB3592FF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9351" name="Rectangle 135"/>
          <p:cNvSpPr>
            <a:spLocks noGrp="1" noChangeArrowheads="1"/>
          </p:cNvSpPr>
          <p:nvPr>
            <p:ph type="body" idx="4294967295"/>
          </p:nvPr>
        </p:nvSpPr>
        <p:spPr>
          <a:xfrm>
            <a:off x="838200" y="1371600"/>
            <a:ext cx="8305800" cy="8382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pt-BR" sz="2600" dirty="0"/>
              <a:t>Inicia a pilha deixando-a na condição de pilha vazia</a:t>
            </a:r>
          </a:p>
          <a:p>
            <a:pPr>
              <a:lnSpc>
                <a:spcPct val="90000"/>
              </a:lnSpc>
            </a:pPr>
            <a:r>
              <a:rPr lang="pt-BR" sz="2600" dirty="0"/>
              <a:t>Referência de topo deve apontar para NULO.</a:t>
            </a:r>
          </a:p>
        </p:txBody>
      </p:sp>
      <p:sp>
        <p:nvSpPr>
          <p:cNvPr id="9361" name="Rectangle 145"/>
          <p:cNvSpPr>
            <a:spLocks noChangeArrowheads="1"/>
          </p:cNvSpPr>
          <p:nvPr/>
        </p:nvSpPr>
        <p:spPr bwMode="auto">
          <a:xfrm>
            <a:off x="0" y="25400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9373" name="Rectangle 157"/>
          <p:cNvSpPr>
            <a:spLocks noChangeArrowheads="1"/>
          </p:cNvSpPr>
          <p:nvPr/>
        </p:nvSpPr>
        <p:spPr bwMode="auto">
          <a:xfrm>
            <a:off x="0" y="25400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9375" name="Rectangle 159"/>
          <p:cNvSpPr>
            <a:spLocks noChangeArrowheads="1"/>
          </p:cNvSpPr>
          <p:nvPr/>
        </p:nvSpPr>
        <p:spPr bwMode="auto">
          <a:xfrm>
            <a:off x="228600" y="2903538"/>
            <a:ext cx="6477000" cy="2462213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/>
        </p:spPr>
        <p:txBody>
          <a:bodyPr lIns="0" rIns="0" anchor="ctr">
            <a:spAutoFit/>
          </a:bodyPr>
          <a:lstStyle/>
          <a:p>
            <a:pPr indent="449263"/>
            <a:endParaRPr lang="pt-BR" sz="1000" dirty="0">
              <a:latin typeface="Courier New" pitchFamily="49" charset="0"/>
              <a:ea typeface="Times New Roman" pitchFamily="18" charset="0"/>
              <a:cs typeface="Courier New" pitchFamily="49" charset="0"/>
            </a:endParaRPr>
          </a:p>
          <a:p>
            <a:pPr indent="449263" eaLnBrk="0" hangingPunct="0"/>
            <a:r>
              <a:rPr lang="pt-BR" sz="2400" dirty="0">
                <a:solidFill>
                  <a:srgbClr val="0033CC"/>
                </a:solidFill>
                <a:ea typeface="Times New Roman" pitchFamily="18" charset="0"/>
                <a:cs typeface="Courier New" pitchFamily="49" charset="0"/>
              </a:rPr>
              <a:t>modulo </a:t>
            </a:r>
            <a:r>
              <a:rPr lang="pt-BR" sz="2400" dirty="0" err="1">
                <a:solidFill>
                  <a:srgbClr val="0033CC"/>
                </a:solidFill>
                <a:ea typeface="Times New Roman" pitchFamily="18" charset="0"/>
                <a:cs typeface="Courier New" pitchFamily="49" charset="0"/>
              </a:rPr>
              <a:t>init</a:t>
            </a:r>
            <a:r>
              <a:rPr lang="pt-BR" sz="2400" dirty="0">
                <a:solidFill>
                  <a:srgbClr val="0033CC"/>
                </a:solidFill>
                <a:ea typeface="Times New Roman" pitchFamily="18" charset="0"/>
                <a:cs typeface="Courier New" pitchFamily="49" charset="0"/>
              </a:rPr>
              <a:t>()</a:t>
            </a:r>
            <a:endParaRPr lang="pt-BR" sz="2400" dirty="0">
              <a:solidFill>
                <a:srgbClr val="0033CC"/>
              </a:solidFill>
              <a:cs typeface="Times New Roman" pitchFamily="18" charset="0"/>
            </a:endParaRPr>
          </a:p>
          <a:p>
            <a:pPr indent="449263" eaLnBrk="0" hangingPunct="0"/>
            <a:r>
              <a:rPr lang="pt-BR" sz="2400" dirty="0">
                <a:solidFill>
                  <a:srgbClr val="0033CC"/>
                </a:solidFill>
                <a:cs typeface="Times New Roman" pitchFamily="18" charset="0"/>
              </a:rPr>
              <a:t>{</a:t>
            </a:r>
          </a:p>
          <a:p>
            <a:pPr indent="449263"/>
            <a:r>
              <a:rPr lang="pt-BR" sz="2400" dirty="0">
                <a:solidFill>
                  <a:srgbClr val="0033CC"/>
                </a:solidFill>
              </a:rPr>
              <a:t>	topo </a:t>
            </a:r>
            <a:r>
              <a:rPr lang="pt-BR" sz="2400" dirty="0">
                <a:solidFill>
                  <a:srgbClr val="0033CC"/>
                </a:solidFill>
                <a:sym typeface="Wingdings" pitchFamily="2" charset="2"/>
              </a:rPr>
              <a:t>=</a:t>
            </a:r>
            <a:r>
              <a:rPr lang="pt-BR" sz="2400" dirty="0">
                <a:solidFill>
                  <a:srgbClr val="0033CC"/>
                </a:solidFill>
              </a:rPr>
              <a:t> NULO</a:t>
            </a:r>
            <a:endParaRPr lang="en-US" sz="2400" dirty="0">
              <a:solidFill>
                <a:srgbClr val="0033CC"/>
              </a:solidFill>
              <a:sym typeface="Wingdings" pitchFamily="2" charset="2"/>
            </a:endParaRPr>
          </a:p>
          <a:p>
            <a:pPr indent="449263"/>
            <a:r>
              <a:rPr lang="pt-BR" sz="2400" dirty="0">
                <a:solidFill>
                  <a:srgbClr val="0033CC"/>
                </a:solidFill>
                <a:sym typeface="Wingdings" pitchFamily="2" charset="2"/>
              </a:rPr>
              <a:t>}</a:t>
            </a:r>
          </a:p>
          <a:p>
            <a:pPr indent="449263" eaLnBrk="0" hangingPunct="0"/>
            <a:endParaRPr lang="en-US" sz="2400" dirty="0">
              <a:solidFill>
                <a:srgbClr val="0033CC"/>
              </a:solidFill>
            </a:endParaRPr>
          </a:p>
          <a:p>
            <a:pPr indent="449263" eaLnBrk="0" hangingPunct="0"/>
            <a:endParaRPr lang="en-US" sz="2400" dirty="0"/>
          </a:p>
        </p:txBody>
      </p:sp>
      <p:grpSp>
        <p:nvGrpSpPr>
          <p:cNvPr id="19" name="Grupo 18"/>
          <p:cNvGrpSpPr/>
          <p:nvPr/>
        </p:nvGrpSpPr>
        <p:grpSpPr>
          <a:xfrm>
            <a:off x="7239000" y="3810000"/>
            <a:ext cx="1676400" cy="1447800"/>
            <a:chOff x="7239000" y="3810000"/>
            <a:chExt cx="1676400" cy="1447800"/>
          </a:xfrm>
        </p:grpSpPr>
        <p:sp>
          <p:nvSpPr>
            <p:cNvPr id="9365" name="Rectangle 149"/>
            <p:cNvSpPr>
              <a:spLocks noChangeArrowheads="1"/>
            </p:cNvSpPr>
            <p:nvPr/>
          </p:nvSpPr>
          <p:spPr bwMode="auto">
            <a:xfrm>
              <a:off x="7239000" y="3810000"/>
              <a:ext cx="1676400" cy="1447800"/>
            </a:xfrm>
            <a:prstGeom prst="rect">
              <a:avLst/>
            </a:prstGeom>
            <a:solidFill>
              <a:srgbClr val="C0C0C0">
                <a:alpha val="30000"/>
              </a:srgb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372" name="Line 156"/>
            <p:cNvSpPr>
              <a:spLocks noChangeShapeType="1"/>
            </p:cNvSpPr>
            <p:nvPr/>
          </p:nvSpPr>
          <p:spPr bwMode="auto">
            <a:xfrm>
              <a:off x="7988300" y="4915841"/>
              <a:ext cx="5461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371" name="Line 155"/>
            <p:cNvSpPr>
              <a:spLocks noChangeShapeType="1"/>
            </p:cNvSpPr>
            <p:nvPr/>
          </p:nvSpPr>
          <p:spPr bwMode="auto">
            <a:xfrm flipH="1">
              <a:off x="8132856" y="5103577"/>
              <a:ext cx="200772" cy="182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367" name="Text Box 151"/>
            <p:cNvSpPr txBox="1">
              <a:spLocks noChangeArrowheads="1"/>
            </p:cNvSpPr>
            <p:nvPr/>
          </p:nvSpPr>
          <p:spPr bwMode="auto">
            <a:xfrm>
              <a:off x="7315200" y="3962400"/>
              <a:ext cx="914400" cy="3238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pt-BR" sz="2000" b="1" dirty="0">
                  <a:cs typeface="Times New Roman" pitchFamily="18" charset="0"/>
                </a:rPr>
                <a:t>topo</a:t>
              </a:r>
              <a:endParaRPr lang="pt-BR" sz="2000" b="1" dirty="0"/>
            </a:p>
          </p:txBody>
        </p:sp>
        <p:cxnSp>
          <p:nvCxnSpPr>
            <p:cNvPr id="18" name="Conector de seta reta 17"/>
            <p:cNvCxnSpPr/>
            <p:nvPr/>
          </p:nvCxnSpPr>
          <p:spPr>
            <a:xfrm rot="16200000" flipH="1">
              <a:off x="7818061" y="4552673"/>
              <a:ext cx="629590" cy="9674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PilhaEncadeada</a:t>
            </a:r>
            <a:r>
              <a:rPr lang="pt-BR" dirty="0"/>
              <a:t>: </a:t>
            </a:r>
            <a:r>
              <a:rPr lang="pt-BR" dirty="0" err="1"/>
              <a:t>i</a:t>
            </a:r>
            <a:r>
              <a:rPr lang="pt-BR" b="1" dirty="0" err="1"/>
              <a:t>sEmpty</a:t>
            </a:r>
            <a:endParaRPr lang="en-US" b="1" dirty="0"/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237072" cy="365125"/>
          </a:xfrm>
        </p:spPr>
        <p:txBody>
          <a:bodyPr/>
          <a:lstStyle/>
          <a:p>
            <a:r>
              <a:rPr lang="pt-BR" altLang="en-US" dirty="0"/>
              <a:t>Algoritmos de Alta Performance-  - </a:t>
            </a:r>
            <a:r>
              <a:rPr lang="pt-BR" altLang="en-US" dirty="0" err="1"/>
              <a:t>Prof</a:t>
            </a:r>
            <a:r>
              <a:rPr lang="pt-BR" altLang="en-US" dirty="0"/>
              <a:t> Patrícia Magna</a:t>
            </a:r>
            <a:endParaRPr lang="en-US" altLang="en-US" dirty="0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A357A-708F-4DDD-8D1A-68660E9BE098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143000"/>
            <a:ext cx="8229600" cy="1677988"/>
          </a:xfrm>
        </p:spPr>
        <p:txBody>
          <a:bodyPr/>
          <a:lstStyle/>
          <a:p>
            <a:pPr marL="609600" indent="-609600"/>
            <a:r>
              <a:rPr lang="pt-BR" dirty="0"/>
              <a:t>Verifica se a pilha está vazia, retornando: </a:t>
            </a:r>
          </a:p>
          <a:p>
            <a:pPr marL="990600" lvl="1" indent="-646113"/>
            <a:r>
              <a:rPr lang="pt-BR" dirty="0"/>
              <a:t>verdade se estiver vazia  </a:t>
            </a:r>
          </a:p>
          <a:p>
            <a:pPr marL="990600" lvl="1" indent="-646113"/>
            <a:r>
              <a:rPr lang="pt-BR" dirty="0"/>
              <a:t>falso caso contrário.</a:t>
            </a:r>
            <a:endParaRPr lang="en-US" dirty="0"/>
          </a:p>
        </p:txBody>
      </p:sp>
      <p:sp>
        <p:nvSpPr>
          <p:cNvPr id="15364" name="Text Box 4"/>
          <p:cNvSpPr txBox="1">
            <a:spLocks noChangeArrowheads="1"/>
          </p:cNvSpPr>
          <p:nvPr/>
        </p:nvSpPr>
        <p:spPr bwMode="auto">
          <a:xfrm>
            <a:off x="838200" y="2743200"/>
            <a:ext cx="7620000" cy="2677656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pt-BR" sz="2400" dirty="0">
                <a:solidFill>
                  <a:srgbClr val="0033CC"/>
                </a:solidFill>
              </a:rPr>
              <a:t>modulo </a:t>
            </a:r>
            <a:r>
              <a:rPr lang="pt-BR" sz="2400" dirty="0" err="1">
                <a:solidFill>
                  <a:srgbClr val="0033CC"/>
                </a:solidFill>
              </a:rPr>
              <a:t>IsEmpty</a:t>
            </a:r>
            <a:r>
              <a:rPr lang="pt-BR" sz="2400" dirty="0">
                <a:solidFill>
                  <a:srgbClr val="0033CC"/>
                </a:solidFill>
              </a:rPr>
              <a:t> ()</a:t>
            </a:r>
          </a:p>
          <a:p>
            <a:r>
              <a:rPr lang="pt-BR" sz="2400" dirty="0">
                <a:solidFill>
                  <a:srgbClr val="0033CC"/>
                </a:solidFill>
              </a:rPr>
              <a:t>{</a:t>
            </a:r>
          </a:p>
          <a:p>
            <a:r>
              <a:rPr lang="pt-BR" sz="2400" dirty="0">
                <a:solidFill>
                  <a:srgbClr val="0033CC"/>
                </a:solidFill>
              </a:rPr>
              <a:t>	se (topo == NULO) então</a:t>
            </a:r>
          </a:p>
          <a:p>
            <a:r>
              <a:rPr lang="pt-BR" sz="2400" dirty="0">
                <a:solidFill>
                  <a:srgbClr val="0033CC"/>
                </a:solidFill>
              </a:rPr>
              <a:t>		retorna(verdade)</a:t>
            </a:r>
          </a:p>
          <a:p>
            <a:r>
              <a:rPr lang="pt-BR" sz="2400" dirty="0">
                <a:solidFill>
                  <a:srgbClr val="0033CC"/>
                </a:solidFill>
              </a:rPr>
              <a:t>	senão</a:t>
            </a:r>
          </a:p>
          <a:p>
            <a:r>
              <a:rPr lang="pt-BR" sz="2400" dirty="0">
                <a:solidFill>
                  <a:srgbClr val="0033CC"/>
                </a:solidFill>
              </a:rPr>
              <a:t>		retorna(falso)</a:t>
            </a:r>
          </a:p>
          <a:p>
            <a:r>
              <a:rPr lang="pt-BR" sz="2400" dirty="0">
                <a:solidFill>
                  <a:srgbClr val="0033CC"/>
                </a:solidFill>
              </a:rPr>
              <a:t>}</a:t>
            </a:r>
            <a:endParaRPr lang="en-US" sz="2400" dirty="0">
              <a:solidFill>
                <a:srgbClr val="0033CC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838200" indent="-838200"/>
            <a:r>
              <a:rPr lang="pt-BR" b="1" dirty="0"/>
              <a:t>Pilha Encadeada: </a:t>
            </a:r>
            <a:r>
              <a:rPr lang="pt-BR" b="1" dirty="0" err="1"/>
              <a:t>push</a:t>
            </a:r>
            <a:endParaRPr lang="en-US" b="1" dirty="0"/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323699" cy="365125"/>
          </a:xfrm>
        </p:spPr>
        <p:txBody>
          <a:bodyPr/>
          <a:lstStyle/>
          <a:p>
            <a:r>
              <a:rPr lang="pt-BR" altLang="en-US" dirty="0"/>
              <a:t>Algoritmos de Alta Performance-  - </a:t>
            </a:r>
            <a:r>
              <a:rPr lang="pt-BR" altLang="en-US" dirty="0" err="1"/>
              <a:t>Prof</a:t>
            </a:r>
            <a:r>
              <a:rPr lang="pt-BR" altLang="en-US" dirty="0"/>
              <a:t> Patrícia Magna</a:t>
            </a:r>
            <a:endParaRPr lang="en-US" altLang="en-US" dirty="0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37254-F51E-4867-94A1-2435124D4CDA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9557" y="1485900"/>
            <a:ext cx="8936967" cy="1143000"/>
          </a:xfrm>
        </p:spPr>
        <p:txBody>
          <a:bodyPr/>
          <a:lstStyle/>
          <a:p>
            <a:r>
              <a:rPr lang="pt-BR" sz="2400" dirty="0"/>
              <a:t>Armazena um elemento no topo da pilha</a:t>
            </a:r>
            <a:endParaRPr lang="en-US" sz="2400" dirty="0"/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1451427" y="2325112"/>
            <a:ext cx="4867729" cy="3046988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indent="449263"/>
            <a:r>
              <a:rPr lang="pt-BR" sz="2400" dirty="0">
                <a:solidFill>
                  <a:srgbClr val="0033CC"/>
                </a:solidFill>
              </a:rPr>
              <a:t>modulo </a:t>
            </a:r>
            <a:r>
              <a:rPr lang="pt-BR" sz="2400" dirty="0" err="1">
                <a:solidFill>
                  <a:srgbClr val="0033CC"/>
                </a:solidFill>
              </a:rPr>
              <a:t>push</a:t>
            </a:r>
            <a:r>
              <a:rPr lang="pt-BR" sz="2400" dirty="0">
                <a:solidFill>
                  <a:srgbClr val="0033CC"/>
                </a:solidFill>
              </a:rPr>
              <a:t>(elem)</a:t>
            </a:r>
          </a:p>
          <a:p>
            <a:pPr indent="449263"/>
            <a:r>
              <a:rPr lang="pt-BR" sz="2400" dirty="0">
                <a:solidFill>
                  <a:srgbClr val="0033CC"/>
                </a:solidFill>
              </a:rPr>
              <a:t>{</a:t>
            </a:r>
          </a:p>
          <a:p>
            <a:pPr indent="979488"/>
            <a:r>
              <a:rPr lang="pt-BR" sz="2400" dirty="0">
                <a:solidFill>
                  <a:srgbClr val="0033CC"/>
                </a:solidFill>
              </a:rPr>
              <a:t>novo: referência para nó</a:t>
            </a:r>
          </a:p>
          <a:p>
            <a:pPr indent="979488"/>
            <a:r>
              <a:rPr lang="pt-BR" sz="2400" dirty="0">
                <a:solidFill>
                  <a:srgbClr val="0033CC"/>
                </a:solidFill>
              </a:rPr>
              <a:t>novo = ALOCA nó</a:t>
            </a:r>
          </a:p>
          <a:p>
            <a:pPr indent="979488"/>
            <a:r>
              <a:rPr lang="pt-BR" sz="2400" dirty="0" err="1">
                <a:solidFill>
                  <a:srgbClr val="0033CC"/>
                </a:solidFill>
              </a:rPr>
              <a:t>novo.dado</a:t>
            </a:r>
            <a:r>
              <a:rPr lang="pt-BR" sz="2400" dirty="0">
                <a:solidFill>
                  <a:srgbClr val="0033CC"/>
                </a:solidFill>
              </a:rPr>
              <a:t> =</a:t>
            </a:r>
            <a:r>
              <a:rPr lang="en-US" sz="2000" dirty="0"/>
              <a:t> </a:t>
            </a:r>
            <a:r>
              <a:rPr lang="pt-BR" sz="2000" dirty="0"/>
              <a:t> </a:t>
            </a:r>
            <a:r>
              <a:rPr lang="pt-BR" sz="2400" dirty="0">
                <a:solidFill>
                  <a:srgbClr val="0033CC"/>
                </a:solidFill>
              </a:rPr>
              <a:t>elem</a:t>
            </a:r>
          </a:p>
          <a:p>
            <a:pPr indent="979488"/>
            <a:r>
              <a:rPr lang="pt-BR" sz="2400" dirty="0">
                <a:solidFill>
                  <a:srgbClr val="0033CC"/>
                </a:solidFill>
              </a:rPr>
              <a:t>novo.</a:t>
            </a:r>
            <a:r>
              <a:rPr lang="pt-BR" sz="2400" dirty="0" err="1">
                <a:solidFill>
                  <a:srgbClr val="0033CC"/>
                </a:solidFill>
              </a:rPr>
              <a:t>prox</a:t>
            </a:r>
            <a:r>
              <a:rPr lang="pt-BR" sz="2400" dirty="0">
                <a:solidFill>
                  <a:srgbClr val="0033CC"/>
                </a:solidFill>
              </a:rPr>
              <a:t>  </a:t>
            </a:r>
            <a:r>
              <a:rPr lang="pt-BR" sz="2400" dirty="0">
                <a:solidFill>
                  <a:srgbClr val="0033CC"/>
                </a:solidFill>
                <a:sym typeface="Wingdings" pitchFamily="2" charset="2"/>
              </a:rPr>
              <a:t>=</a:t>
            </a:r>
            <a:r>
              <a:rPr lang="en-US" sz="2400" dirty="0"/>
              <a:t> </a:t>
            </a:r>
            <a:r>
              <a:rPr lang="pt-BR" sz="2400" dirty="0"/>
              <a:t> </a:t>
            </a:r>
            <a:r>
              <a:rPr lang="pt-BR" sz="2400" dirty="0">
                <a:solidFill>
                  <a:srgbClr val="0033CC"/>
                </a:solidFill>
              </a:rPr>
              <a:t>topo</a:t>
            </a:r>
          </a:p>
          <a:p>
            <a:pPr indent="979488"/>
            <a:r>
              <a:rPr lang="pt-BR" sz="2400" dirty="0">
                <a:solidFill>
                  <a:srgbClr val="0033CC"/>
                </a:solidFill>
              </a:rPr>
              <a:t>topo </a:t>
            </a:r>
            <a:r>
              <a:rPr lang="pt-BR" sz="2400" dirty="0">
                <a:solidFill>
                  <a:srgbClr val="0033CC"/>
                </a:solidFill>
                <a:sym typeface="Wingdings" pitchFamily="2" charset="2"/>
              </a:rPr>
              <a:t>=</a:t>
            </a:r>
            <a:r>
              <a:rPr lang="pt-BR" sz="2000" dirty="0"/>
              <a:t> </a:t>
            </a:r>
            <a:r>
              <a:rPr lang="pt-BR" sz="2400" dirty="0">
                <a:solidFill>
                  <a:srgbClr val="0033CC"/>
                </a:solidFill>
              </a:rPr>
              <a:t>novo</a:t>
            </a:r>
          </a:p>
          <a:p>
            <a:pPr indent="449263"/>
            <a:r>
              <a:rPr lang="pt-BR" sz="2400" dirty="0">
                <a:solidFill>
                  <a:srgbClr val="0033CC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Execução do </a:t>
            </a:r>
            <a:r>
              <a:rPr lang="pt-BR" dirty="0" err="1"/>
              <a:t>push</a:t>
            </a:r>
            <a:endParaRPr lang="en-US" dirty="0"/>
          </a:p>
        </p:txBody>
      </p:sp>
      <p:sp>
        <p:nvSpPr>
          <p:cNvPr id="33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2785510" y="6329023"/>
            <a:ext cx="2309003" cy="392451"/>
          </a:xfrm>
        </p:spPr>
        <p:txBody>
          <a:bodyPr/>
          <a:lstStyle/>
          <a:p>
            <a:r>
              <a:rPr lang="pt-BR" altLang="en-US" dirty="0"/>
              <a:t>Algoritmos de Alta Performance-  - </a:t>
            </a:r>
            <a:r>
              <a:rPr lang="pt-BR" altLang="en-US" dirty="0" err="1"/>
              <a:t>Prof</a:t>
            </a:r>
            <a:r>
              <a:rPr lang="pt-BR" altLang="en-US" dirty="0"/>
              <a:t> Patrícia Magna</a:t>
            </a:r>
            <a:endParaRPr lang="en-US" altLang="en-US" dirty="0"/>
          </a:p>
        </p:txBody>
      </p:sp>
      <p:sp>
        <p:nvSpPr>
          <p:cNvPr id="34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F8203-4D2A-4F59-9DA2-DB4E9B170AE3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38929" name="Rectangle 17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143000"/>
            <a:ext cx="8915400" cy="1066800"/>
          </a:xfrm>
          <a:noFill/>
          <a:ln/>
        </p:spPr>
        <p:txBody>
          <a:bodyPr>
            <a:normAutofit/>
          </a:bodyPr>
          <a:lstStyle/>
          <a:p>
            <a:pPr marL="571500" indent="-571500" defTabSz="914400"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r>
              <a:rPr lang="pt-BR" sz="2400" dirty="0"/>
              <a:t>Depois do ALOCA nó, o nó está alocado e é referenciado por novo. Considerando a pilha como vazia.</a:t>
            </a:r>
            <a:endParaRPr lang="en-US" sz="2400" dirty="0"/>
          </a:p>
        </p:txBody>
      </p:sp>
      <p:grpSp>
        <p:nvGrpSpPr>
          <p:cNvPr id="2" name="Group 33"/>
          <p:cNvGrpSpPr>
            <a:grpSpLocks/>
          </p:cNvGrpSpPr>
          <p:nvPr/>
        </p:nvGrpSpPr>
        <p:grpSpPr bwMode="auto">
          <a:xfrm>
            <a:off x="533400" y="1974850"/>
            <a:ext cx="8382000" cy="1149350"/>
            <a:chOff x="288" y="1488"/>
            <a:chExt cx="5280" cy="724"/>
          </a:xfrm>
        </p:grpSpPr>
        <p:sp>
          <p:nvSpPr>
            <p:cNvPr id="38917" name="AutoShape 5"/>
            <p:cNvSpPr>
              <a:spLocks noChangeAspect="1" noChangeArrowheads="1"/>
            </p:cNvSpPr>
            <p:nvPr/>
          </p:nvSpPr>
          <p:spPr bwMode="auto">
            <a:xfrm>
              <a:off x="288" y="1488"/>
              <a:ext cx="5280" cy="724"/>
            </a:xfrm>
            <a:prstGeom prst="rect">
              <a:avLst/>
            </a:prstGeom>
            <a:solidFill>
              <a:srgbClr val="C0C0C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8918" name="Line 6"/>
            <p:cNvSpPr>
              <a:spLocks noChangeShapeType="1"/>
            </p:cNvSpPr>
            <p:nvPr/>
          </p:nvSpPr>
          <p:spPr bwMode="auto">
            <a:xfrm>
              <a:off x="1104" y="1680"/>
              <a:ext cx="248" cy="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8919" name="Text Box 7"/>
            <p:cNvSpPr txBox="1">
              <a:spLocks noChangeArrowheads="1"/>
            </p:cNvSpPr>
            <p:nvPr/>
          </p:nvSpPr>
          <p:spPr bwMode="auto">
            <a:xfrm>
              <a:off x="1536" y="1728"/>
              <a:ext cx="996" cy="3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70409" tIns="35204" rIns="70409" bIns="35204"/>
            <a:lstStyle/>
            <a:p>
              <a:endParaRPr lang="pt-BR"/>
            </a:p>
          </p:txBody>
        </p:sp>
        <p:sp>
          <p:nvSpPr>
            <p:cNvPr id="38920" name="Line 8"/>
            <p:cNvSpPr>
              <a:spLocks noChangeShapeType="1"/>
            </p:cNvSpPr>
            <p:nvPr/>
          </p:nvSpPr>
          <p:spPr bwMode="auto">
            <a:xfrm>
              <a:off x="2064" y="1728"/>
              <a:ext cx="0" cy="31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8921" name="Text Box 9"/>
            <p:cNvSpPr txBox="1">
              <a:spLocks noChangeArrowheads="1"/>
            </p:cNvSpPr>
            <p:nvPr/>
          </p:nvSpPr>
          <p:spPr bwMode="auto">
            <a:xfrm>
              <a:off x="432" y="1584"/>
              <a:ext cx="568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70409" tIns="35204" rIns="70409" bIns="35204"/>
            <a:lstStyle/>
            <a:p>
              <a:pPr algn="r"/>
              <a:r>
                <a:rPr lang="en-US" b="1"/>
                <a:t>novo</a:t>
              </a:r>
            </a:p>
          </p:txBody>
        </p:sp>
        <p:grpSp>
          <p:nvGrpSpPr>
            <p:cNvPr id="3" name="Group 10"/>
            <p:cNvGrpSpPr>
              <a:grpSpLocks/>
            </p:cNvGrpSpPr>
            <p:nvPr/>
          </p:nvGrpSpPr>
          <p:grpSpPr bwMode="auto">
            <a:xfrm>
              <a:off x="3984" y="1488"/>
              <a:ext cx="775" cy="607"/>
              <a:chOff x="8580" y="10218"/>
              <a:chExt cx="977" cy="871"/>
            </a:xfrm>
          </p:grpSpPr>
          <p:grpSp>
            <p:nvGrpSpPr>
              <p:cNvPr id="4" name="Group 11"/>
              <p:cNvGrpSpPr>
                <a:grpSpLocks/>
              </p:cNvGrpSpPr>
              <p:nvPr/>
            </p:nvGrpSpPr>
            <p:grpSpPr bwMode="auto">
              <a:xfrm>
                <a:off x="9353" y="10765"/>
                <a:ext cx="204" cy="324"/>
                <a:chOff x="9338" y="10765"/>
                <a:chExt cx="204" cy="324"/>
              </a:xfrm>
            </p:grpSpPr>
            <p:sp>
              <p:nvSpPr>
                <p:cNvPr id="38924" name="Line 12"/>
                <p:cNvSpPr>
                  <a:spLocks noChangeShapeType="1"/>
                </p:cNvSpPr>
                <p:nvPr/>
              </p:nvSpPr>
              <p:spPr bwMode="auto">
                <a:xfrm>
                  <a:off x="9338" y="10985"/>
                  <a:ext cx="204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38925" name="Line 13"/>
                <p:cNvSpPr>
                  <a:spLocks noChangeShapeType="1"/>
                </p:cNvSpPr>
                <p:nvPr/>
              </p:nvSpPr>
              <p:spPr bwMode="auto">
                <a:xfrm flipH="1">
                  <a:off x="9392" y="11088"/>
                  <a:ext cx="75" cy="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38926" name="Line 14"/>
                <p:cNvSpPr>
                  <a:spLocks noChangeShapeType="1"/>
                </p:cNvSpPr>
                <p:nvPr/>
              </p:nvSpPr>
              <p:spPr bwMode="auto">
                <a:xfrm>
                  <a:off x="9467" y="10765"/>
                  <a:ext cx="0" cy="22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sp>
            <p:nvSpPr>
              <p:cNvPr id="38927" name="Line 15"/>
              <p:cNvSpPr>
                <a:spLocks noChangeShapeType="1"/>
              </p:cNvSpPr>
              <p:nvPr/>
            </p:nvSpPr>
            <p:spPr bwMode="auto">
              <a:xfrm>
                <a:off x="9446" y="10494"/>
                <a:ext cx="36" cy="48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8928" name="Text Box 16"/>
              <p:cNvSpPr txBox="1">
                <a:spLocks noChangeArrowheads="1"/>
              </p:cNvSpPr>
              <p:nvPr/>
            </p:nvSpPr>
            <p:spPr bwMode="auto">
              <a:xfrm>
                <a:off x="8580" y="10218"/>
                <a:ext cx="773" cy="4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70409" tIns="35204" rIns="70409" bIns="35204"/>
              <a:lstStyle/>
              <a:p>
                <a:pPr algn="r"/>
                <a:r>
                  <a:rPr lang="en-US" b="1"/>
                  <a:t>topo</a:t>
                </a:r>
              </a:p>
            </p:txBody>
          </p:sp>
        </p:grpSp>
      </p:grpSp>
      <p:sp>
        <p:nvSpPr>
          <p:cNvPr id="38930" name="Rectangle 18"/>
          <p:cNvSpPr>
            <a:spLocks noChangeArrowheads="1"/>
          </p:cNvSpPr>
          <p:nvPr/>
        </p:nvSpPr>
        <p:spPr bwMode="auto">
          <a:xfrm>
            <a:off x="228600" y="3276599"/>
            <a:ext cx="8686800" cy="16301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571500" indent="-5715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r>
              <a:rPr lang="pt-BR" sz="2400" dirty="0"/>
              <a:t>O novo nó alocado, e referenciado por </a:t>
            </a:r>
            <a:r>
              <a:rPr lang="pt-BR" sz="2400" b="1" dirty="0"/>
              <a:t>novo, </a:t>
            </a:r>
            <a:r>
              <a:rPr lang="pt-BR" sz="2400" dirty="0"/>
              <a:t>tem o atributo dado recebendo elem</a:t>
            </a:r>
            <a:r>
              <a:rPr lang="en-US" sz="2400" dirty="0"/>
              <a:t>. </a:t>
            </a:r>
            <a:r>
              <a:rPr lang="en-US" sz="2400" dirty="0" err="1"/>
              <a:t>Já</a:t>
            </a:r>
            <a:r>
              <a:rPr lang="en-US" sz="2400" dirty="0"/>
              <a:t> para </a:t>
            </a:r>
            <a:r>
              <a:rPr lang="en-US" sz="2400" dirty="0" err="1"/>
              <a:t>atributo</a:t>
            </a:r>
            <a:r>
              <a:rPr lang="en-US" sz="2400" dirty="0"/>
              <a:t> </a:t>
            </a:r>
            <a:r>
              <a:rPr lang="pt-BR" sz="2400" b="1" dirty="0" err="1"/>
              <a:t>prox</a:t>
            </a:r>
            <a:r>
              <a:rPr lang="pt-BR" sz="2400" b="1" dirty="0"/>
              <a:t> </a:t>
            </a:r>
            <a:r>
              <a:rPr lang="pt-BR" sz="2400" dirty="0"/>
              <a:t>é atribuído topo (neste caso vai “apontar” para NULO uma vez que não há elementos na pilha).</a:t>
            </a:r>
            <a:endParaRPr lang="en-US" sz="2400" dirty="0"/>
          </a:p>
        </p:txBody>
      </p:sp>
      <p:grpSp>
        <p:nvGrpSpPr>
          <p:cNvPr id="5" name="Group 19"/>
          <p:cNvGrpSpPr>
            <a:grpSpLocks noChangeAspect="1"/>
          </p:cNvGrpSpPr>
          <p:nvPr/>
        </p:nvGrpSpPr>
        <p:grpSpPr bwMode="auto">
          <a:xfrm>
            <a:off x="469557" y="4906745"/>
            <a:ext cx="8305800" cy="1431925"/>
            <a:chOff x="2876" y="10218"/>
            <a:chExt cx="5298" cy="1039"/>
          </a:xfrm>
        </p:grpSpPr>
        <p:sp>
          <p:nvSpPr>
            <p:cNvPr id="38932" name="AutoShape 20"/>
            <p:cNvSpPr>
              <a:spLocks noChangeAspect="1" noChangeArrowheads="1"/>
            </p:cNvSpPr>
            <p:nvPr/>
          </p:nvSpPr>
          <p:spPr bwMode="auto">
            <a:xfrm>
              <a:off x="2876" y="10218"/>
              <a:ext cx="5298" cy="1039"/>
            </a:xfrm>
            <a:prstGeom prst="rect">
              <a:avLst/>
            </a:prstGeom>
            <a:solidFill>
              <a:srgbClr val="C0C0C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8933" name="Line 21"/>
            <p:cNvSpPr>
              <a:spLocks noChangeShapeType="1"/>
            </p:cNvSpPr>
            <p:nvPr/>
          </p:nvSpPr>
          <p:spPr bwMode="auto">
            <a:xfrm>
              <a:off x="3593" y="10533"/>
              <a:ext cx="312" cy="9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8934" name="Text Box 22"/>
            <p:cNvSpPr txBox="1">
              <a:spLocks noChangeArrowheads="1"/>
            </p:cNvSpPr>
            <p:nvPr/>
          </p:nvSpPr>
          <p:spPr bwMode="auto">
            <a:xfrm>
              <a:off x="3905" y="10635"/>
              <a:ext cx="1257" cy="45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70409" tIns="35204" rIns="70409" bIns="35204"/>
            <a:lstStyle/>
            <a:p>
              <a:pPr indent="80963"/>
              <a:r>
                <a:rPr lang="en-US" b="1" dirty="0"/>
                <a:t>  </a:t>
              </a:r>
              <a:r>
                <a:rPr lang="en-US" b="1" dirty="0" err="1"/>
                <a:t>elem</a:t>
              </a:r>
              <a:endParaRPr lang="en-US" b="1" dirty="0"/>
            </a:p>
          </p:txBody>
        </p:sp>
        <p:sp>
          <p:nvSpPr>
            <p:cNvPr id="38935" name="Line 23"/>
            <p:cNvSpPr>
              <a:spLocks noChangeShapeType="1"/>
            </p:cNvSpPr>
            <p:nvPr/>
          </p:nvSpPr>
          <p:spPr bwMode="auto">
            <a:xfrm>
              <a:off x="4563" y="10636"/>
              <a:ext cx="1" cy="45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8936" name="Text Box 24"/>
            <p:cNvSpPr txBox="1">
              <a:spLocks noChangeArrowheads="1"/>
            </p:cNvSpPr>
            <p:nvPr/>
          </p:nvSpPr>
          <p:spPr bwMode="auto">
            <a:xfrm>
              <a:off x="2876" y="10322"/>
              <a:ext cx="717" cy="4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70409" tIns="35204" rIns="70409" bIns="35204"/>
            <a:lstStyle/>
            <a:p>
              <a:pPr algn="r"/>
              <a:r>
                <a:rPr lang="en-US" b="1"/>
                <a:t>novo</a:t>
              </a:r>
            </a:p>
          </p:txBody>
        </p:sp>
        <p:grpSp>
          <p:nvGrpSpPr>
            <p:cNvPr id="6" name="Group 25"/>
            <p:cNvGrpSpPr>
              <a:grpSpLocks/>
            </p:cNvGrpSpPr>
            <p:nvPr/>
          </p:nvGrpSpPr>
          <p:grpSpPr bwMode="auto">
            <a:xfrm>
              <a:off x="6375" y="10218"/>
              <a:ext cx="977" cy="871"/>
              <a:chOff x="8580" y="10218"/>
              <a:chExt cx="977" cy="871"/>
            </a:xfrm>
          </p:grpSpPr>
          <p:grpSp>
            <p:nvGrpSpPr>
              <p:cNvPr id="7" name="Group 26"/>
              <p:cNvGrpSpPr>
                <a:grpSpLocks/>
              </p:cNvGrpSpPr>
              <p:nvPr/>
            </p:nvGrpSpPr>
            <p:grpSpPr bwMode="auto">
              <a:xfrm>
                <a:off x="9353" y="10985"/>
                <a:ext cx="204" cy="104"/>
                <a:chOff x="9338" y="10985"/>
                <a:chExt cx="204" cy="104"/>
              </a:xfrm>
            </p:grpSpPr>
            <p:sp>
              <p:nvSpPr>
                <p:cNvPr id="38939" name="Line 27"/>
                <p:cNvSpPr>
                  <a:spLocks noChangeShapeType="1"/>
                </p:cNvSpPr>
                <p:nvPr/>
              </p:nvSpPr>
              <p:spPr bwMode="auto">
                <a:xfrm>
                  <a:off x="9338" y="10985"/>
                  <a:ext cx="204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38940" name="Line 28"/>
                <p:cNvSpPr>
                  <a:spLocks noChangeShapeType="1"/>
                </p:cNvSpPr>
                <p:nvPr/>
              </p:nvSpPr>
              <p:spPr bwMode="auto">
                <a:xfrm flipH="1">
                  <a:off x="9392" y="11088"/>
                  <a:ext cx="75" cy="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sp>
            <p:nvSpPr>
              <p:cNvPr id="38942" name="Line 30"/>
              <p:cNvSpPr>
                <a:spLocks noChangeShapeType="1"/>
              </p:cNvSpPr>
              <p:nvPr/>
            </p:nvSpPr>
            <p:spPr bwMode="auto">
              <a:xfrm>
                <a:off x="9319" y="10533"/>
                <a:ext cx="151" cy="45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8943" name="Text Box 31"/>
              <p:cNvSpPr txBox="1">
                <a:spLocks noChangeArrowheads="1"/>
              </p:cNvSpPr>
              <p:nvPr/>
            </p:nvSpPr>
            <p:spPr bwMode="auto">
              <a:xfrm>
                <a:off x="8580" y="10218"/>
                <a:ext cx="773" cy="4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70409" tIns="35204" rIns="70409" bIns="35204"/>
              <a:lstStyle/>
              <a:p>
                <a:pPr algn="r"/>
                <a:r>
                  <a:rPr lang="en-US" b="1"/>
                  <a:t>topo</a:t>
                </a:r>
              </a:p>
            </p:txBody>
          </p:sp>
        </p:grpSp>
        <p:sp>
          <p:nvSpPr>
            <p:cNvPr id="38944" name="Line 32"/>
            <p:cNvSpPr>
              <a:spLocks noChangeShapeType="1"/>
            </p:cNvSpPr>
            <p:nvPr/>
          </p:nvSpPr>
          <p:spPr bwMode="auto">
            <a:xfrm>
              <a:off x="5008" y="10823"/>
              <a:ext cx="2106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3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pt-BR" dirty="0"/>
              <a:t>Exemplo de Execução do </a:t>
            </a:r>
            <a:r>
              <a:rPr lang="pt-BR" dirty="0" err="1"/>
              <a:t>push</a:t>
            </a:r>
            <a:endParaRPr lang="en-US" dirty="0"/>
          </a:p>
        </p:txBody>
      </p:sp>
      <p:sp>
        <p:nvSpPr>
          <p:cNvPr id="17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314074" cy="365125"/>
          </a:xfrm>
        </p:spPr>
        <p:txBody>
          <a:bodyPr/>
          <a:lstStyle/>
          <a:p>
            <a:r>
              <a:rPr lang="pt-BR" altLang="en-US" dirty="0"/>
              <a:t>Algoritmos de Alta Performance-  - </a:t>
            </a:r>
            <a:r>
              <a:rPr lang="pt-BR" altLang="en-US" dirty="0" err="1"/>
              <a:t>Prof</a:t>
            </a:r>
            <a:r>
              <a:rPr lang="pt-BR" altLang="en-US" dirty="0"/>
              <a:t> Patrícia Magna</a:t>
            </a:r>
            <a:endParaRPr lang="en-US" altLang="en-US" dirty="0"/>
          </a:p>
        </p:txBody>
      </p:sp>
      <p:sp>
        <p:nvSpPr>
          <p:cNvPr id="18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42426-9D2D-4292-AE09-B60379310688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4608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600200"/>
            <a:ext cx="8229600" cy="1143000"/>
          </a:xfrm>
        </p:spPr>
        <p:txBody>
          <a:bodyPr>
            <a:normAutofit/>
          </a:bodyPr>
          <a:lstStyle/>
          <a:p>
            <a:pPr marL="571500" indent="-571500" defTabSz="914400"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r>
              <a:rPr lang="pt-BR" sz="2400" dirty="0"/>
              <a:t>Posicionando o topo para referencia a pilha em sua nova configuração.</a:t>
            </a:r>
            <a:endParaRPr lang="en-US" sz="2400" dirty="0"/>
          </a:p>
        </p:txBody>
      </p:sp>
      <p:sp>
        <p:nvSpPr>
          <p:cNvPr id="46084" name="AutoShape 4"/>
          <p:cNvSpPr>
            <a:spLocks noChangeAspect="1" noChangeArrowheads="1"/>
          </p:cNvSpPr>
          <p:nvPr/>
        </p:nvSpPr>
        <p:spPr bwMode="auto">
          <a:xfrm>
            <a:off x="1676400" y="2667000"/>
            <a:ext cx="5638800" cy="1708150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46085" name="Text Box 5"/>
          <p:cNvSpPr txBox="1">
            <a:spLocks noChangeArrowheads="1"/>
          </p:cNvSpPr>
          <p:nvPr/>
        </p:nvSpPr>
        <p:spPr bwMode="auto">
          <a:xfrm>
            <a:off x="3944938" y="3200400"/>
            <a:ext cx="1770062" cy="50006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b="1"/>
              <a:t>elem</a:t>
            </a:r>
            <a:endParaRPr lang="en-US"/>
          </a:p>
        </p:txBody>
      </p:sp>
      <p:sp>
        <p:nvSpPr>
          <p:cNvPr id="46086" name="Line 6"/>
          <p:cNvSpPr>
            <a:spLocks noChangeShapeType="1"/>
          </p:cNvSpPr>
          <p:nvPr/>
        </p:nvSpPr>
        <p:spPr bwMode="auto">
          <a:xfrm>
            <a:off x="4935538" y="3184525"/>
            <a:ext cx="1587" cy="5159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46087" name="Line 7"/>
          <p:cNvSpPr>
            <a:spLocks noChangeShapeType="1"/>
          </p:cNvSpPr>
          <p:nvPr/>
        </p:nvSpPr>
        <p:spPr bwMode="auto">
          <a:xfrm>
            <a:off x="3433763" y="3184525"/>
            <a:ext cx="511175" cy="1603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BR"/>
          </a:p>
        </p:txBody>
      </p:sp>
      <p:sp>
        <p:nvSpPr>
          <p:cNvPr id="46088" name="Line 8"/>
          <p:cNvSpPr>
            <a:spLocks noChangeShapeType="1"/>
          </p:cNvSpPr>
          <p:nvPr/>
        </p:nvSpPr>
        <p:spPr bwMode="auto">
          <a:xfrm>
            <a:off x="5535613" y="3565525"/>
            <a:ext cx="1004887" cy="31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6350000" y="3563938"/>
            <a:ext cx="336550" cy="533400"/>
            <a:chOff x="9338" y="10765"/>
            <a:chExt cx="204" cy="324"/>
          </a:xfrm>
        </p:grpSpPr>
        <p:sp>
          <p:nvSpPr>
            <p:cNvPr id="46090" name="Line 10"/>
            <p:cNvSpPr>
              <a:spLocks noChangeShapeType="1"/>
            </p:cNvSpPr>
            <p:nvPr/>
          </p:nvSpPr>
          <p:spPr bwMode="auto">
            <a:xfrm>
              <a:off x="9338" y="10985"/>
              <a:ext cx="20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6091" name="Line 11"/>
            <p:cNvSpPr>
              <a:spLocks noChangeShapeType="1"/>
            </p:cNvSpPr>
            <p:nvPr/>
          </p:nvSpPr>
          <p:spPr bwMode="auto">
            <a:xfrm flipH="1">
              <a:off x="9392" y="11088"/>
              <a:ext cx="75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6092" name="Line 12"/>
            <p:cNvSpPr>
              <a:spLocks noChangeShapeType="1"/>
            </p:cNvSpPr>
            <p:nvPr/>
          </p:nvSpPr>
          <p:spPr bwMode="auto">
            <a:xfrm>
              <a:off x="9467" y="10765"/>
              <a:ext cx="0" cy="22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6093" name="Text Box 13"/>
          <p:cNvSpPr txBox="1">
            <a:spLocks noChangeArrowheads="1"/>
          </p:cNvSpPr>
          <p:nvPr/>
        </p:nvSpPr>
        <p:spPr bwMode="auto">
          <a:xfrm>
            <a:off x="2590800" y="2819400"/>
            <a:ext cx="1419225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sz="2000" b="1"/>
              <a:t>topo</a:t>
            </a:r>
          </a:p>
        </p:txBody>
      </p:sp>
      <p:sp>
        <p:nvSpPr>
          <p:cNvPr id="46094" name="Line 14"/>
          <p:cNvSpPr>
            <a:spLocks noChangeShapeType="1"/>
          </p:cNvSpPr>
          <p:nvPr/>
        </p:nvSpPr>
        <p:spPr bwMode="auto">
          <a:xfrm flipV="1">
            <a:off x="3316288" y="3662363"/>
            <a:ext cx="512762" cy="1666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BR"/>
          </a:p>
        </p:txBody>
      </p:sp>
      <p:sp>
        <p:nvSpPr>
          <p:cNvPr id="46095" name="Text Box 15"/>
          <p:cNvSpPr txBox="1">
            <a:spLocks noChangeArrowheads="1"/>
          </p:cNvSpPr>
          <p:nvPr/>
        </p:nvSpPr>
        <p:spPr bwMode="auto">
          <a:xfrm>
            <a:off x="2338388" y="3700463"/>
            <a:ext cx="977900" cy="52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4008" tIns="32004" rIns="64008" bIns="32004"/>
          <a:lstStyle/>
          <a:p>
            <a:pPr algn="r"/>
            <a:r>
              <a:rPr lang="en-US" b="1"/>
              <a:t>novo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838200" indent="-838200"/>
            <a:r>
              <a:rPr lang="pt-BR" dirty="0" err="1"/>
              <a:t>PilhaEncadeada</a:t>
            </a:r>
            <a:r>
              <a:rPr lang="pt-BR" dirty="0"/>
              <a:t>: pop</a:t>
            </a:r>
            <a:endParaRPr lang="en-US" b="1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2806566" y="6356350"/>
            <a:ext cx="2294823" cy="365125"/>
          </a:xfrm>
        </p:spPr>
        <p:txBody>
          <a:bodyPr/>
          <a:lstStyle/>
          <a:p>
            <a:r>
              <a:rPr lang="pt-BR" altLang="en-US" dirty="0"/>
              <a:t>Algoritmos de Alta Performance-  - </a:t>
            </a:r>
            <a:r>
              <a:rPr lang="pt-BR" altLang="en-US" dirty="0" err="1"/>
              <a:t>Prof</a:t>
            </a:r>
            <a:r>
              <a:rPr lang="pt-BR" altLang="en-US" dirty="0"/>
              <a:t> Patrícia Magna</a:t>
            </a:r>
            <a:endParaRPr lang="en-US" altLang="en-US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4805C-75C9-4790-A252-487EAB0481A7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9557" y="1639019"/>
            <a:ext cx="8229600" cy="1143000"/>
          </a:xfrm>
        </p:spPr>
        <p:txBody>
          <a:bodyPr/>
          <a:lstStyle/>
          <a:p>
            <a:r>
              <a:rPr lang="pt-BR" sz="2600" dirty="0"/>
              <a:t>Retira um elemento do topo da pilha se esta não estiver vazia.</a:t>
            </a:r>
            <a:r>
              <a:rPr lang="pt-BR" dirty="0"/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PilhaEncadeada</a:t>
            </a:r>
            <a:r>
              <a:rPr lang="pt-BR" dirty="0"/>
              <a:t>: pop</a:t>
            </a:r>
            <a:endParaRPr lang="en-US" dirty="0"/>
          </a:p>
        </p:txBody>
      </p:sp>
      <p:sp>
        <p:nvSpPr>
          <p:cNvPr id="5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3429000" y="6356350"/>
            <a:ext cx="2590800" cy="365125"/>
          </a:xfrm>
        </p:spPr>
        <p:txBody>
          <a:bodyPr/>
          <a:lstStyle/>
          <a:p>
            <a:r>
              <a:rPr lang="pt-BR" altLang="en-US" dirty="0"/>
              <a:t>Algoritmos de Alta Performance-  - </a:t>
            </a:r>
            <a:r>
              <a:rPr lang="pt-BR" altLang="en-US" dirty="0" err="1"/>
              <a:t>Prof</a:t>
            </a:r>
            <a:r>
              <a:rPr lang="pt-BR" altLang="en-US" dirty="0"/>
              <a:t> Patrícia Magna</a:t>
            </a:r>
            <a:endParaRPr lang="en-US" altLang="en-US" dirty="0"/>
          </a:p>
        </p:txBody>
      </p:sp>
      <p:sp>
        <p:nvSpPr>
          <p:cNvPr id="6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1CB24-F46C-4B9D-AB4F-3C30EDC22101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43012" name="Rectangle 4"/>
          <p:cNvSpPr>
            <a:spLocks noChangeArrowheads="1"/>
          </p:cNvSpPr>
          <p:nvPr/>
        </p:nvSpPr>
        <p:spPr bwMode="auto">
          <a:xfrm>
            <a:off x="1747157" y="1995062"/>
            <a:ext cx="5649686" cy="1938992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274320" anchor="ctr">
            <a:spAutoFit/>
          </a:bodyPr>
          <a:lstStyle/>
          <a:p>
            <a:pPr indent="449263"/>
            <a:r>
              <a:rPr lang="pt-BR" sz="2400" dirty="0">
                <a:solidFill>
                  <a:srgbClr val="0033CC"/>
                </a:solidFill>
              </a:rPr>
              <a:t>modulo pop()</a:t>
            </a:r>
            <a:r>
              <a:rPr lang="en-US" sz="2400" dirty="0">
                <a:solidFill>
                  <a:srgbClr val="0033CC"/>
                </a:solidFill>
              </a:rPr>
              <a:t> </a:t>
            </a:r>
            <a:r>
              <a:rPr lang="pt-BR" sz="2400" dirty="0">
                <a:solidFill>
                  <a:srgbClr val="0033CC"/>
                </a:solidFill>
              </a:rPr>
              <a:t>{</a:t>
            </a:r>
            <a:endParaRPr lang="en-US" sz="2400" dirty="0">
              <a:solidFill>
                <a:srgbClr val="0033CC"/>
              </a:solidFill>
            </a:endParaRPr>
          </a:p>
          <a:p>
            <a:pPr indent="898525"/>
            <a:r>
              <a:rPr lang="pt-BR" sz="2400" dirty="0">
                <a:solidFill>
                  <a:srgbClr val="0033CC"/>
                </a:solidFill>
              </a:rPr>
              <a:t>valor = topo.dado</a:t>
            </a:r>
          </a:p>
          <a:p>
            <a:pPr indent="898525"/>
            <a:r>
              <a:rPr lang="pt-BR" sz="2400" dirty="0">
                <a:solidFill>
                  <a:srgbClr val="0033CC"/>
                </a:solidFill>
              </a:rPr>
              <a:t>topo = topo.</a:t>
            </a:r>
            <a:r>
              <a:rPr lang="pt-BR" sz="2400" dirty="0" err="1">
                <a:solidFill>
                  <a:srgbClr val="0033CC"/>
                </a:solidFill>
              </a:rPr>
              <a:t>prox</a:t>
            </a:r>
            <a:endParaRPr lang="pt-BR" sz="2400" dirty="0">
              <a:solidFill>
                <a:srgbClr val="0033CC"/>
              </a:solidFill>
            </a:endParaRPr>
          </a:p>
          <a:p>
            <a:pPr indent="898525"/>
            <a:r>
              <a:rPr lang="pt-BR" sz="2400" dirty="0">
                <a:solidFill>
                  <a:srgbClr val="0033CC"/>
                </a:solidFill>
              </a:rPr>
              <a:t>retorna (valor)</a:t>
            </a:r>
          </a:p>
          <a:p>
            <a:pPr indent="449263"/>
            <a:r>
              <a:rPr lang="pt-BR" sz="2400" dirty="0">
                <a:solidFill>
                  <a:srgbClr val="0033CC"/>
                </a:solidFill>
              </a:rPr>
              <a:t>}</a:t>
            </a:r>
            <a:endParaRPr lang="pt-BR" sz="2400" dirty="0">
              <a:solidFill>
                <a:srgbClr val="0033CC"/>
              </a:solidFill>
              <a:sym typeface="Wingdings" pitchFamily="2" charset="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Execução do pop</a:t>
            </a:r>
            <a:endParaRPr lang="en-US" dirty="0"/>
          </a:p>
        </p:txBody>
      </p:sp>
      <p:sp>
        <p:nvSpPr>
          <p:cNvPr id="31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374900" cy="365125"/>
          </a:xfrm>
        </p:spPr>
        <p:txBody>
          <a:bodyPr/>
          <a:lstStyle/>
          <a:p>
            <a:r>
              <a:rPr lang="pt-BR" altLang="en-US"/>
              <a:t>Códigos de Alta Performance-  - Prof Patrícia Magna</a:t>
            </a:r>
            <a:endParaRPr lang="en-US" altLang="en-US"/>
          </a:p>
        </p:txBody>
      </p:sp>
      <p:sp>
        <p:nvSpPr>
          <p:cNvPr id="32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413EC-BFAD-4BA0-9859-4114793536FA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9557" y="1143000"/>
            <a:ext cx="8674443" cy="1066800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571500" indent="-571500" defTabSz="914400"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r>
              <a:rPr lang="pt-BR" sz="2400" dirty="0"/>
              <a:t>Estado inicia da pilha quando esta contém apenas 1 elemento):</a:t>
            </a:r>
            <a:endParaRPr lang="en-US" sz="2400" dirty="0"/>
          </a:p>
        </p:txBody>
      </p:sp>
      <p:sp>
        <p:nvSpPr>
          <p:cNvPr id="45073" name="Rectangle 17"/>
          <p:cNvSpPr>
            <a:spLocks noChangeArrowheads="1"/>
          </p:cNvSpPr>
          <p:nvPr/>
        </p:nvSpPr>
        <p:spPr bwMode="auto">
          <a:xfrm>
            <a:off x="457200" y="3733800"/>
            <a:ext cx="77724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571500" indent="-5715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r>
              <a:rPr lang="pt-BR" sz="2400" dirty="0"/>
              <a:t>Depois do comando topo </a:t>
            </a:r>
            <a:r>
              <a:rPr lang="pt-BR" sz="2400" dirty="0">
                <a:sym typeface="Wingdings" pitchFamily="2" charset="2"/>
              </a:rPr>
              <a:t>=</a:t>
            </a:r>
            <a:r>
              <a:rPr lang="pt-BR" sz="2400" dirty="0"/>
              <a:t> topo.</a:t>
            </a:r>
            <a:r>
              <a:rPr lang="pt-BR" sz="2400" dirty="0" err="1"/>
              <a:t>prox</a:t>
            </a:r>
            <a:r>
              <a:rPr lang="pt-BR" sz="2400" dirty="0"/>
              <a:t>:</a:t>
            </a:r>
            <a:endParaRPr lang="en-US" sz="2400" dirty="0"/>
          </a:p>
        </p:txBody>
      </p:sp>
      <p:grpSp>
        <p:nvGrpSpPr>
          <p:cNvPr id="2" name="Group 32"/>
          <p:cNvGrpSpPr>
            <a:grpSpLocks noChangeAspect="1"/>
          </p:cNvGrpSpPr>
          <p:nvPr/>
        </p:nvGrpSpPr>
        <p:grpSpPr bwMode="auto">
          <a:xfrm>
            <a:off x="2133600" y="1663639"/>
            <a:ext cx="4953000" cy="1498600"/>
            <a:chOff x="2523" y="10218"/>
            <a:chExt cx="3434" cy="1039"/>
          </a:xfrm>
        </p:grpSpPr>
        <p:sp>
          <p:nvSpPr>
            <p:cNvPr id="45089" name="AutoShape 33"/>
            <p:cNvSpPr>
              <a:spLocks noChangeAspect="1" noChangeArrowheads="1"/>
            </p:cNvSpPr>
            <p:nvPr/>
          </p:nvSpPr>
          <p:spPr bwMode="auto">
            <a:xfrm>
              <a:off x="2523" y="10218"/>
              <a:ext cx="3434" cy="1039"/>
            </a:xfrm>
            <a:prstGeom prst="rect">
              <a:avLst/>
            </a:prstGeom>
            <a:solidFill>
              <a:srgbClr val="C0C0C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5090" name="Text Box 34"/>
            <p:cNvSpPr txBox="1">
              <a:spLocks noChangeArrowheads="1"/>
            </p:cNvSpPr>
            <p:nvPr/>
          </p:nvSpPr>
          <p:spPr bwMode="auto">
            <a:xfrm>
              <a:off x="3905" y="10533"/>
              <a:ext cx="1183" cy="31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en-US" b="1"/>
                <a:t>dado</a:t>
              </a:r>
              <a:r>
                <a:rPr lang="en-US" sz="1000"/>
                <a:t>	</a:t>
              </a:r>
              <a:endParaRPr lang="en-US"/>
            </a:p>
          </p:txBody>
        </p:sp>
        <p:sp>
          <p:nvSpPr>
            <p:cNvPr id="45091" name="Line 35"/>
            <p:cNvSpPr>
              <a:spLocks noChangeShapeType="1"/>
            </p:cNvSpPr>
            <p:nvPr/>
          </p:nvSpPr>
          <p:spPr bwMode="auto">
            <a:xfrm>
              <a:off x="4508" y="10533"/>
              <a:ext cx="1" cy="31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5092" name="Line 36"/>
            <p:cNvSpPr>
              <a:spLocks noChangeShapeType="1"/>
            </p:cNvSpPr>
            <p:nvPr/>
          </p:nvSpPr>
          <p:spPr bwMode="auto">
            <a:xfrm>
              <a:off x="3593" y="10533"/>
              <a:ext cx="312" cy="9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5093" name="Line 37"/>
            <p:cNvSpPr>
              <a:spLocks noChangeShapeType="1"/>
            </p:cNvSpPr>
            <p:nvPr/>
          </p:nvSpPr>
          <p:spPr bwMode="auto">
            <a:xfrm>
              <a:off x="4873" y="10765"/>
              <a:ext cx="61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grpSp>
          <p:nvGrpSpPr>
            <p:cNvPr id="3" name="Group 38"/>
            <p:cNvGrpSpPr>
              <a:grpSpLocks/>
            </p:cNvGrpSpPr>
            <p:nvPr/>
          </p:nvGrpSpPr>
          <p:grpSpPr bwMode="auto">
            <a:xfrm>
              <a:off x="5369" y="10764"/>
              <a:ext cx="205" cy="324"/>
              <a:chOff x="9338" y="10765"/>
              <a:chExt cx="204" cy="324"/>
            </a:xfrm>
          </p:grpSpPr>
          <p:sp>
            <p:nvSpPr>
              <p:cNvPr id="45095" name="Line 39"/>
              <p:cNvSpPr>
                <a:spLocks noChangeShapeType="1"/>
              </p:cNvSpPr>
              <p:nvPr/>
            </p:nvSpPr>
            <p:spPr bwMode="auto">
              <a:xfrm>
                <a:off x="9338" y="10985"/>
                <a:ext cx="204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5096" name="Line 40"/>
              <p:cNvSpPr>
                <a:spLocks noChangeShapeType="1"/>
              </p:cNvSpPr>
              <p:nvPr/>
            </p:nvSpPr>
            <p:spPr bwMode="auto">
              <a:xfrm flipH="1">
                <a:off x="9392" y="11088"/>
                <a:ext cx="75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5097" name="Line 41"/>
              <p:cNvSpPr>
                <a:spLocks noChangeShapeType="1"/>
              </p:cNvSpPr>
              <p:nvPr/>
            </p:nvSpPr>
            <p:spPr bwMode="auto">
              <a:xfrm>
                <a:off x="9467" y="10765"/>
                <a:ext cx="0" cy="22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45098" name="Text Box 42"/>
            <p:cNvSpPr txBox="1">
              <a:spLocks noChangeArrowheads="1"/>
            </p:cNvSpPr>
            <p:nvPr/>
          </p:nvSpPr>
          <p:spPr bwMode="auto">
            <a:xfrm>
              <a:off x="2876" y="10316"/>
              <a:ext cx="864" cy="3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b="1"/>
                <a:t>topo</a:t>
              </a:r>
            </a:p>
          </p:txBody>
        </p:sp>
      </p:grpSp>
      <p:sp>
        <p:nvSpPr>
          <p:cNvPr id="45102" name="AutoShape 46"/>
          <p:cNvSpPr>
            <a:spLocks noChangeAspect="1" noChangeArrowheads="1"/>
          </p:cNvSpPr>
          <p:nvPr/>
        </p:nvSpPr>
        <p:spPr bwMode="auto">
          <a:xfrm>
            <a:off x="2057400" y="4267200"/>
            <a:ext cx="5029200" cy="1524000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45103" name="Text Box 47"/>
          <p:cNvSpPr txBox="1">
            <a:spLocks noChangeArrowheads="1"/>
          </p:cNvSpPr>
          <p:nvPr/>
        </p:nvSpPr>
        <p:spPr bwMode="auto">
          <a:xfrm>
            <a:off x="4081463" y="4729163"/>
            <a:ext cx="1731962" cy="4603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b="1"/>
              <a:t>dado</a:t>
            </a:r>
            <a:r>
              <a:rPr lang="en-US" sz="1000"/>
              <a:t>	</a:t>
            </a:r>
            <a:endParaRPr lang="en-US"/>
          </a:p>
        </p:txBody>
      </p:sp>
      <p:sp>
        <p:nvSpPr>
          <p:cNvPr id="45104" name="Line 48"/>
          <p:cNvSpPr>
            <a:spLocks noChangeShapeType="1"/>
          </p:cNvSpPr>
          <p:nvPr/>
        </p:nvSpPr>
        <p:spPr bwMode="auto">
          <a:xfrm>
            <a:off x="4964113" y="4729163"/>
            <a:ext cx="1587" cy="4603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45105" name="Line 49"/>
          <p:cNvSpPr>
            <a:spLocks noChangeShapeType="1"/>
          </p:cNvSpPr>
          <p:nvPr/>
        </p:nvSpPr>
        <p:spPr bwMode="auto">
          <a:xfrm>
            <a:off x="6248400" y="4572000"/>
            <a:ext cx="149225" cy="4953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BR"/>
          </a:p>
        </p:txBody>
      </p:sp>
      <p:sp>
        <p:nvSpPr>
          <p:cNvPr id="45106" name="Line 50"/>
          <p:cNvSpPr>
            <a:spLocks noChangeShapeType="1"/>
          </p:cNvSpPr>
          <p:nvPr/>
        </p:nvSpPr>
        <p:spPr bwMode="auto">
          <a:xfrm>
            <a:off x="5499100" y="5068888"/>
            <a:ext cx="896938" cy="15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grpSp>
        <p:nvGrpSpPr>
          <p:cNvPr id="4" name="Group 51"/>
          <p:cNvGrpSpPr>
            <a:grpSpLocks/>
          </p:cNvGrpSpPr>
          <p:nvPr/>
        </p:nvGrpSpPr>
        <p:grpSpPr bwMode="auto">
          <a:xfrm>
            <a:off x="6226175" y="5067300"/>
            <a:ext cx="300038" cy="476250"/>
            <a:chOff x="9338" y="10765"/>
            <a:chExt cx="204" cy="324"/>
          </a:xfrm>
        </p:grpSpPr>
        <p:sp>
          <p:nvSpPr>
            <p:cNvPr id="45108" name="Line 52"/>
            <p:cNvSpPr>
              <a:spLocks noChangeShapeType="1"/>
            </p:cNvSpPr>
            <p:nvPr/>
          </p:nvSpPr>
          <p:spPr bwMode="auto">
            <a:xfrm>
              <a:off x="9338" y="10985"/>
              <a:ext cx="20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5109" name="Line 53"/>
            <p:cNvSpPr>
              <a:spLocks noChangeShapeType="1"/>
            </p:cNvSpPr>
            <p:nvPr/>
          </p:nvSpPr>
          <p:spPr bwMode="auto">
            <a:xfrm flipH="1">
              <a:off x="9392" y="11088"/>
              <a:ext cx="75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5110" name="Line 54"/>
            <p:cNvSpPr>
              <a:spLocks noChangeShapeType="1"/>
            </p:cNvSpPr>
            <p:nvPr/>
          </p:nvSpPr>
          <p:spPr bwMode="auto">
            <a:xfrm>
              <a:off x="9467" y="10765"/>
              <a:ext cx="0" cy="22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5113" name="Text Box 57"/>
          <p:cNvSpPr txBox="1">
            <a:spLocks noChangeArrowheads="1"/>
          </p:cNvSpPr>
          <p:nvPr/>
        </p:nvSpPr>
        <p:spPr bwMode="auto">
          <a:xfrm>
            <a:off x="5791200" y="4267200"/>
            <a:ext cx="992188" cy="636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b="1"/>
              <a:t>topo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pt-BR"/>
              <a:t>Exemplo de Execução do POP</a:t>
            </a:r>
            <a:endParaRPr lang="en-US"/>
          </a:p>
        </p:txBody>
      </p:sp>
      <p:sp>
        <p:nvSpPr>
          <p:cNvPr id="13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314074" cy="365125"/>
          </a:xfrm>
        </p:spPr>
        <p:txBody>
          <a:bodyPr/>
          <a:lstStyle/>
          <a:p>
            <a:r>
              <a:rPr lang="pt-BR" altLang="en-US" dirty="0"/>
              <a:t>Algoritmos de Alta Performance-  - </a:t>
            </a:r>
            <a:r>
              <a:rPr lang="pt-BR" altLang="en-US" dirty="0" err="1"/>
              <a:t>Prof</a:t>
            </a:r>
            <a:r>
              <a:rPr lang="pt-BR" altLang="en-US" dirty="0"/>
              <a:t> Patrícia Magna</a:t>
            </a:r>
            <a:endParaRPr lang="en-US" altLang="en-US" dirty="0"/>
          </a:p>
        </p:txBody>
      </p:sp>
      <p:sp>
        <p:nvSpPr>
          <p:cNvPr id="14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F332C-1F82-40CF-871C-126FCB253737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600200"/>
            <a:ext cx="8229600" cy="1143000"/>
          </a:xfrm>
        </p:spPr>
        <p:txBody>
          <a:bodyPr/>
          <a:lstStyle/>
          <a:p>
            <a:pPr marL="571500" indent="-571500"/>
            <a:r>
              <a:rPr lang="pt-BR"/>
              <a:t>Configuração final da pilha:</a:t>
            </a:r>
            <a:endParaRPr lang="en-US" sz="2400"/>
          </a:p>
        </p:txBody>
      </p:sp>
      <p:grpSp>
        <p:nvGrpSpPr>
          <p:cNvPr id="16" name="Grupo 15"/>
          <p:cNvGrpSpPr/>
          <p:nvPr/>
        </p:nvGrpSpPr>
        <p:grpSpPr>
          <a:xfrm>
            <a:off x="3761874" y="3086100"/>
            <a:ext cx="2143626" cy="1752600"/>
            <a:chOff x="7239000" y="3810000"/>
            <a:chExt cx="1676400" cy="1447800"/>
          </a:xfrm>
        </p:grpSpPr>
        <p:sp>
          <p:nvSpPr>
            <p:cNvPr id="17" name="Rectangle 149"/>
            <p:cNvSpPr>
              <a:spLocks noChangeArrowheads="1"/>
            </p:cNvSpPr>
            <p:nvPr/>
          </p:nvSpPr>
          <p:spPr bwMode="auto">
            <a:xfrm>
              <a:off x="7239000" y="3810000"/>
              <a:ext cx="1676400" cy="1447800"/>
            </a:xfrm>
            <a:prstGeom prst="rect">
              <a:avLst/>
            </a:prstGeom>
            <a:solidFill>
              <a:srgbClr val="C0C0C0">
                <a:alpha val="30000"/>
              </a:srgb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Line 156"/>
            <p:cNvSpPr>
              <a:spLocks noChangeShapeType="1"/>
            </p:cNvSpPr>
            <p:nvPr/>
          </p:nvSpPr>
          <p:spPr bwMode="auto">
            <a:xfrm>
              <a:off x="7988300" y="4915841"/>
              <a:ext cx="5461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Line 155"/>
            <p:cNvSpPr>
              <a:spLocks noChangeShapeType="1"/>
            </p:cNvSpPr>
            <p:nvPr/>
          </p:nvSpPr>
          <p:spPr bwMode="auto">
            <a:xfrm flipH="1">
              <a:off x="8132856" y="5103577"/>
              <a:ext cx="200772" cy="182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Text Box 151"/>
            <p:cNvSpPr txBox="1">
              <a:spLocks noChangeArrowheads="1"/>
            </p:cNvSpPr>
            <p:nvPr/>
          </p:nvSpPr>
          <p:spPr bwMode="auto">
            <a:xfrm>
              <a:off x="7315200" y="3962400"/>
              <a:ext cx="914400" cy="3238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pt-BR" sz="2000" b="1" dirty="0">
                  <a:cs typeface="Times New Roman" pitchFamily="18" charset="0"/>
                </a:rPr>
                <a:t>topo</a:t>
              </a:r>
              <a:endParaRPr lang="pt-BR" sz="2000" b="1" dirty="0"/>
            </a:p>
          </p:txBody>
        </p:sp>
        <p:cxnSp>
          <p:nvCxnSpPr>
            <p:cNvPr id="21" name="Conector de seta reta 20"/>
            <p:cNvCxnSpPr/>
            <p:nvPr/>
          </p:nvCxnSpPr>
          <p:spPr>
            <a:xfrm rot="5400000">
              <a:off x="7915598" y="4600253"/>
              <a:ext cx="629591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722313" y="1544638"/>
            <a:ext cx="7772400" cy="1362075"/>
          </a:xfrm>
        </p:spPr>
        <p:txBody>
          <a:bodyPr>
            <a:normAutofit fontScale="90000"/>
          </a:bodyPr>
          <a:lstStyle/>
          <a:p>
            <a:r>
              <a:rPr lang="pt-BR" cap="small" dirty="0">
                <a:solidFill>
                  <a:srgbClr val="FF0000"/>
                </a:solidFill>
              </a:rPr>
              <a:t>Implementação de Pilha Encadeada JAVA </a:t>
            </a:r>
            <a:br>
              <a:rPr lang="pt-BR" cap="small" dirty="0">
                <a:solidFill>
                  <a:srgbClr val="FF0000"/>
                </a:solidFill>
              </a:rPr>
            </a:br>
            <a:br>
              <a:rPr lang="pt-BR" dirty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Implementação com o projeto criado no Eclipse: </a:t>
            </a:r>
            <a:r>
              <a:rPr lang="pt-BR" dirty="0" err="1"/>
              <a:t>PilhaEncadeada</a:t>
            </a:r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3526971" y="6356350"/>
            <a:ext cx="2492828" cy="365125"/>
          </a:xfrm>
        </p:spPr>
        <p:txBody>
          <a:bodyPr/>
          <a:lstStyle/>
          <a:p>
            <a:r>
              <a:rPr lang="pt-BR" altLang="en-US" dirty="0"/>
              <a:t>Algoritmos</a:t>
            </a:r>
            <a:r>
              <a:rPr lang="pt-BR" dirty="0"/>
              <a:t> de Alta Performance-  - </a:t>
            </a:r>
            <a:r>
              <a:rPr lang="pt-BR" dirty="0" err="1"/>
              <a:t>Prof</a:t>
            </a:r>
            <a:r>
              <a:rPr lang="pt-BR" dirty="0"/>
              <a:t> Patrícia Magna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18</a:t>
            </a:fld>
            <a:endParaRPr lang="pt-B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Exercícios</a:t>
            </a:r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285198" cy="365125"/>
          </a:xfrm>
        </p:spPr>
        <p:txBody>
          <a:bodyPr/>
          <a:lstStyle/>
          <a:p>
            <a:r>
              <a:rPr lang="pt-BR" altLang="en-US" dirty="0"/>
              <a:t>Algoritmos de Alta Performance-  - </a:t>
            </a:r>
            <a:r>
              <a:rPr lang="pt-BR" altLang="en-US" dirty="0" err="1"/>
              <a:t>Prof</a:t>
            </a:r>
            <a:r>
              <a:rPr lang="pt-BR" altLang="en-US" dirty="0"/>
              <a:t> Patrícia Magna</a:t>
            </a:r>
            <a:endParaRPr lang="en-US" altLang="en-US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CA09B-543A-4A23-8F72-67CF88139CF6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45269" y="1328468"/>
            <a:ext cx="8674443" cy="4813540"/>
          </a:xfrm>
        </p:spPr>
        <p:txBody>
          <a:bodyPr>
            <a:normAutofit/>
          </a:bodyPr>
          <a:lstStyle/>
          <a:p>
            <a:pPr marL="571500" indent="-571500">
              <a:buClr>
                <a:srgbClr val="CC3300"/>
              </a:buClr>
              <a:buSzPct val="80000"/>
              <a:buFont typeface="Wingdings" pitchFamily="2" charset="2"/>
              <a:buAutoNum type="arabicPeriod"/>
            </a:pPr>
            <a:r>
              <a:rPr lang="pt-BR" sz="2800" dirty="0"/>
              <a:t>Implemente a classe para uma pilha que armazene dados do tipo </a:t>
            </a:r>
            <a:r>
              <a:rPr lang="pt-BR" sz="2800" dirty="0" err="1">
                <a:solidFill>
                  <a:srgbClr val="4444E6"/>
                </a:solidFill>
              </a:rPr>
              <a:t>caracter</a:t>
            </a:r>
            <a:r>
              <a:rPr lang="pt-BR" sz="2800" dirty="0"/>
              <a:t>.</a:t>
            </a:r>
          </a:p>
          <a:p>
            <a:pPr marL="571500" indent="-571500">
              <a:buClr>
                <a:srgbClr val="CC3300"/>
              </a:buClr>
              <a:buSzPct val="80000"/>
              <a:buFont typeface="Wingdings" pitchFamily="2" charset="2"/>
              <a:buAutoNum type="arabicPeriod"/>
            </a:pPr>
            <a:r>
              <a:rPr lang="pt-BR" sz="2800" dirty="0"/>
              <a:t>Elabore um programa que leia uma palavra em variável do tipo </a:t>
            </a:r>
            <a:r>
              <a:rPr lang="pt-BR" sz="2800" dirty="0" err="1"/>
              <a:t>String</a:t>
            </a:r>
            <a:r>
              <a:rPr lang="pt-BR" sz="2800" dirty="0"/>
              <a:t> e armazene em outra variável </a:t>
            </a:r>
            <a:r>
              <a:rPr lang="pt-BR" sz="2800" dirty="0" err="1"/>
              <a:t>String</a:t>
            </a:r>
            <a:r>
              <a:rPr lang="pt-BR" sz="2800" dirty="0"/>
              <a:t> a palavra invertida.</a:t>
            </a:r>
          </a:p>
          <a:p>
            <a:pPr marL="400050" lvl="1" indent="0">
              <a:buClr>
                <a:srgbClr val="CC3300"/>
              </a:buClr>
              <a:buSzPct val="80000"/>
              <a:buNone/>
            </a:pPr>
            <a:r>
              <a:rPr lang="pt-BR" sz="2400" dirty="0"/>
              <a:t> Por exemplo: “engenharia” =&gt; “</a:t>
            </a:r>
            <a:r>
              <a:rPr lang="pt-BR" sz="2400" dirty="0" err="1"/>
              <a:t>airahnegne</a:t>
            </a:r>
            <a:r>
              <a:rPr lang="pt-BR" sz="2400" dirty="0"/>
              <a:t>”</a:t>
            </a:r>
          </a:p>
          <a:p>
            <a:pPr marL="571500" indent="-571500">
              <a:buClr>
                <a:srgbClr val="CC3300"/>
              </a:buClr>
              <a:buSzPct val="80000"/>
              <a:buFont typeface="Wingdings" pitchFamily="2" charset="2"/>
              <a:buAutoNum type="arabicPeriod"/>
            </a:pPr>
            <a:r>
              <a:rPr lang="pt-BR" sz="2800" dirty="0"/>
              <a:t>Faça um programa que leia uma String e inverte cada palavra separada por espaço em branco.</a:t>
            </a:r>
          </a:p>
          <a:p>
            <a:pPr marL="971550" lvl="1" indent="-571500">
              <a:buClr>
                <a:srgbClr val="CC3300"/>
              </a:buClr>
              <a:buSzPct val="80000"/>
              <a:buNone/>
            </a:pPr>
            <a:r>
              <a:rPr lang="pt-BR" sz="2400" dirty="0"/>
              <a:t>   Por exemplo: “</a:t>
            </a:r>
            <a:r>
              <a:rPr lang="pt-BR" sz="2400" dirty="0" err="1"/>
              <a:t>Hello</a:t>
            </a:r>
            <a:r>
              <a:rPr lang="pt-BR" sz="2400" dirty="0"/>
              <a:t> world” =&gt; “</a:t>
            </a:r>
            <a:r>
              <a:rPr lang="pt-BR" sz="2400" dirty="0" err="1"/>
              <a:t>olleH</a:t>
            </a:r>
            <a:r>
              <a:rPr lang="pt-BR" sz="2400" dirty="0"/>
              <a:t> </a:t>
            </a:r>
            <a:r>
              <a:rPr lang="pt-BR" sz="2400" dirty="0" err="1"/>
              <a:t>dlrow</a:t>
            </a:r>
            <a:r>
              <a:rPr lang="pt-BR" sz="2400" dirty="0"/>
              <a:t>”</a:t>
            </a:r>
          </a:p>
          <a:p>
            <a:pPr marL="571500" indent="-571500">
              <a:buClr>
                <a:srgbClr val="CC3300"/>
              </a:buClr>
              <a:buSzPct val="80000"/>
              <a:buNone/>
            </a:pPr>
            <a:endParaRPr lang="en-US" sz="2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 Bibliográficas</a:t>
            </a: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285198" cy="365125"/>
          </a:xfrm>
        </p:spPr>
        <p:txBody>
          <a:bodyPr/>
          <a:lstStyle/>
          <a:p>
            <a:r>
              <a:rPr lang="pt-BR" altLang="en-US" dirty="0"/>
              <a:t>Algoritmos</a:t>
            </a:r>
            <a:r>
              <a:rPr lang="pt-BR" dirty="0"/>
              <a:t> de Alta Performance-  - </a:t>
            </a:r>
            <a:r>
              <a:rPr lang="pt-BR" dirty="0" err="1"/>
              <a:t>Prof</a:t>
            </a:r>
            <a:r>
              <a:rPr lang="pt-BR" dirty="0"/>
              <a:t> Patrícia Magna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20</a:t>
            </a:fld>
            <a:endParaRPr lang="pt-BR"/>
          </a:p>
        </p:txBody>
      </p:sp>
      <p:sp>
        <p:nvSpPr>
          <p:cNvPr id="6" name="Retângulo 5"/>
          <p:cNvSpPr/>
          <p:nvPr/>
        </p:nvSpPr>
        <p:spPr>
          <a:xfrm>
            <a:off x="469558" y="1155940"/>
            <a:ext cx="821724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pt-BR" sz="2000" dirty="0"/>
              <a:t>ASCÊNCIO, </a:t>
            </a:r>
            <a:r>
              <a:rPr lang="pt-BR" sz="2000" dirty="0" err="1"/>
              <a:t>A.F.</a:t>
            </a:r>
            <a:r>
              <a:rPr lang="pt-BR" sz="2000" dirty="0"/>
              <a:t>G; ARAUJO, </a:t>
            </a:r>
            <a:r>
              <a:rPr lang="pt-BR" sz="2000" dirty="0" err="1"/>
              <a:t>G.S.</a:t>
            </a:r>
            <a:r>
              <a:rPr lang="pt-BR" sz="2000" dirty="0"/>
              <a:t> </a:t>
            </a:r>
            <a:r>
              <a:rPr lang="pt-BR" sz="2000" b="1" dirty="0"/>
              <a:t>Estruturas de Dados: Algoritmos, Análise de Complexidade e Implementações em JAVA e C/C++. São Paulo, </a:t>
            </a:r>
            <a:r>
              <a:rPr lang="pt-BR" sz="2000" b="1" dirty="0" err="1"/>
              <a:t>Ed.</a:t>
            </a:r>
            <a:r>
              <a:rPr lang="pt-BR" sz="2000" b="1" dirty="0"/>
              <a:t>Pearson </a:t>
            </a:r>
            <a:r>
              <a:rPr lang="pt-BR" sz="2000" b="1" dirty="0" err="1"/>
              <a:t>Prentice</a:t>
            </a:r>
            <a:r>
              <a:rPr lang="pt-BR" sz="2000" b="1" dirty="0"/>
              <a:t> Hall, 2010.</a:t>
            </a:r>
          </a:p>
          <a:p>
            <a:pPr algn="just">
              <a:buFont typeface="Arial" pitchFamily="34" charset="0"/>
              <a:buChar char="•"/>
            </a:pPr>
            <a:r>
              <a:rPr lang="pt-BR" sz="2000" dirty="0"/>
              <a:t>PEREIRA, </a:t>
            </a:r>
            <a:r>
              <a:rPr lang="pt-BR" sz="2000" dirty="0" err="1"/>
              <a:t>S.L.</a:t>
            </a:r>
            <a:r>
              <a:rPr lang="pt-BR" sz="2000" dirty="0"/>
              <a:t>; </a:t>
            </a:r>
            <a:r>
              <a:rPr lang="pt-BR" sz="2000" b="1" dirty="0"/>
              <a:t>Estruturas de Dados Fundamentais: Conceitos e Aplicações. São Paulo, Ed. Érica, 1996.</a:t>
            </a:r>
          </a:p>
          <a:p>
            <a:pPr algn="just">
              <a:buFont typeface="Arial" pitchFamily="34" charset="0"/>
              <a:buChar char="•"/>
            </a:pPr>
            <a:r>
              <a:rPr lang="pt-BR" sz="2000" dirty="0"/>
              <a:t>TENEMBAUM, A.M </a:t>
            </a:r>
            <a:r>
              <a:rPr lang="pt-BR" sz="2000" dirty="0" err="1"/>
              <a:t>et</a:t>
            </a:r>
            <a:r>
              <a:rPr lang="pt-BR" sz="2000" dirty="0"/>
              <a:t> al.; </a:t>
            </a:r>
            <a:r>
              <a:rPr lang="pt-BR" sz="2000" b="1" dirty="0"/>
              <a:t>Estruturas de Dados usando C. </a:t>
            </a:r>
            <a:r>
              <a:rPr lang="pt-BR" sz="2000" b="1" dirty="0" err="1"/>
              <a:t>Makron</a:t>
            </a:r>
            <a:r>
              <a:rPr lang="pt-BR" sz="2000" b="1" dirty="0"/>
              <a:t> Books </a:t>
            </a:r>
            <a:r>
              <a:rPr lang="pt-BR" sz="2000" b="1" dirty="0" err="1"/>
              <a:t>Ltda</a:t>
            </a:r>
            <a:r>
              <a:rPr lang="pt-BR" sz="2000" b="1" dirty="0"/>
              <a:t>, 1995.</a:t>
            </a:r>
          </a:p>
          <a:p>
            <a:pPr algn="just">
              <a:buFont typeface="Arial" pitchFamily="34" charset="0"/>
              <a:buChar char="•"/>
            </a:pPr>
            <a:r>
              <a:rPr lang="pt-BR" sz="2000" dirty="0"/>
              <a:t>DEITEL, P; J.; </a:t>
            </a:r>
            <a:r>
              <a:rPr lang="pt-BR" sz="2000" dirty="0" err="1"/>
              <a:t>Deitel</a:t>
            </a:r>
            <a:r>
              <a:rPr lang="pt-BR" sz="2000" dirty="0"/>
              <a:t>, </a:t>
            </a:r>
            <a:r>
              <a:rPr lang="pt-BR" sz="2000" dirty="0" err="1"/>
              <a:t>H.M.</a:t>
            </a:r>
            <a:r>
              <a:rPr lang="pt-BR" sz="2000" dirty="0"/>
              <a:t>, </a:t>
            </a:r>
            <a:r>
              <a:rPr lang="pt-BR" sz="2000" b="1" dirty="0"/>
              <a:t>Java: como programar - 8ª edição, São Paulo, </a:t>
            </a:r>
            <a:r>
              <a:rPr lang="pt-BR" sz="2000" b="1" dirty="0" err="1"/>
              <a:t>Ed.</a:t>
            </a:r>
            <a:r>
              <a:rPr lang="pt-BR" sz="2000" b="1" dirty="0"/>
              <a:t>Pearson </a:t>
            </a:r>
            <a:r>
              <a:rPr lang="pt-BR" sz="2000" b="1" dirty="0" err="1"/>
              <a:t>Prentice</a:t>
            </a:r>
            <a:r>
              <a:rPr lang="pt-BR" sz="2000" b="1" dirty="0"/>
              <a:t> Hall, 2010.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2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26"/>
          <p:cNvSpPr>
            <a:spLocks noChangeArrowheads="1"/>
          </p:cNvSpPr>
          <p:nvPr/>
        </p:nvSpPr>
        <p:spPr bwMode="auto">
          <a:xfrm>
            <a:off x="1053372" y="3222882"/>
            <a:ext cx="7759752" cy="2247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pt-BR" sz="2000" dirty="0">
                <a:solidFill>
                  <a:schemeClr val="bg1"/>
                </a:solidFill>
                <a:latin typeface="Gotham-Bold"/>
                <a:cs typeface="Gotham-Bold"/>
              </a:rPr>
              <a:t>Copyright © 2023</a:t>
            </a:r>
          </a:p>
          <a:p>
            <a:pPr>
              <a:defRPr/>
            </a:pPr>
            <a:endParaRPr kumimoji="1" lang="pt-BR" sz="2000" dirty="0">
              <a:solidFill>
                <a:schemeClr val="bg1"/>
              </a:solidFill>
              <a:latin typeface="Gotham-Bold"/>
              <a:cs typeface="Gotham-Bold"/>
            </a:endParaRPr>
          </a:p>
          <a:p>
            <a:pPr>
              <a:defRPr/>
            </a:pPr>
            <a:r>
              <a:rPr kumimoji="1" lang="pt-BR" sz="2000" dirty="0" err="1">
                <a:solidFill>
                  <a:schemeClr val="bg1"/>
                </a:solidFill>
                <a:latin typeface="Gotham-Bold"/>
                <a:cs typeface="Gotham-Bold"/>
              </a:rPr>
              <a:t>Profa</a:t>
            </a:r>
            <a:r>
              <a:rPr kumimoji="1" lang="pt-BR" sz="2000" dirty="0">
                <a:solidFill>
                  <a:schemeClr val="bg1"/>
                </a:solidFill>
                <a:latin typeface="Gotham-Bold"/>
                <a:cs typeface="Gotham-Bold"/>
              </a:rPr>
              <a:t>; Patrícia Magna</a:t>
            </a:r>
          </a:p>
          <a:p>
            <a:pPr>
              <a:defRPr/>
            </a:pPr>
            <a:endParaRPr kumimoji="1" lang="pt-BR" sz="2000" dirty="0">
              <a:solidFill>
                <a:schemeClr val="bg1"/>
              </a:solidFill>
              <a:latin typeface="Gotham-Bold"/>
              <a:cs typeface="Gotham-Bold"/>
            </a:endParaRPr>
          </a:p>
          <a:p>
            <a:pPr>
              <a:defRPr/>
            </a:pPr>
            <a:r>
              <a:rPr kumimoji="1" lang="pt-BR" sz="2000" dirty="0">
                <a:solidFill>
                  <a:schemeClr val="bg1"/>
                </a:solidFill>
                <a:latin typeface="Gotham-Bold"/>
                <a:cs typeface="Gotham-Bold"/>
              </a:rPr>
              <a:t>Todos direitos reservados. Reprodução ou divulgação total ou parcial deste documento é expressamente proibido sem o consentimento formal, por escrito, dos professores.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4AAA4-6363-4581-962D-1ACCC2D600C5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59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efault Theme">
  <a:themeElements>
    <a:clrScheme name="Opulento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Escritório Clássico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TotalTime>1059</TotalTime>
  <Words>1080</Words>
  <Application>Microsoft Office PowerPoint</Application>
  <PresentationFormat>Apresentação na tela (4:3)</PresentationFormat>
  <Paragraphs>178</Paragraphs>
  <Slides>21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21</vt:i4>
      </vt:variant>
    </vt:vector>
  </HeadingPairs>
  <TitlesOfParts>
    <vt:vector size="30" baseType="lpstr">
      <vt:lpstr>Arial</vt:lpstr>
      <vt:lpstr>Calibri</vt:lpstr>
      <vt:lpstr>Courier New</vt:lpstr>
      <vt:lpstr>Gotham-Bold</vt:lpstr>
      <vt:lpstr>Wingdings</vt:lpstr>
      <vt:lpstr>Default Theme</vt:lpstr>
      <vt:lpstr>1_Personalizar design</vt:lpstr>
      <vt:lpstr>2_Personalizar design</vt:lpstr>
      <vt:lpstr>Office Theme</vt:lpstr>
      <vt:lpstr>Apresentação do PowerPoint</vt:lpstr>
      <vt:lpstr>Recordação: Definição de Pilha</vt:lpstr>
      <vt:lpstr>Como implementar o tipo de dado Pilha?</vt:lpstr>
      <vt:lpstr>Operações Auxiliares sobre Pilha</vt:lpstr>
      <vt:lpstr>Operações Básicas sobre Pilha</vt:lpstr>
      <vt:lpstr>Definição</vt:lpstr>
      <vt:lpstr>Definição do TipoPilha</vt:lpstr>
      <vt:lpstr>Definição do TipoPilha</vt:lpstr>
      <vt:lpstr>PilhaEncadeada: init</vt:lpstr>
      <vt:lpstr>PilhaEncadeada: isEmpty</vt:lpstr>
      <vt:lpstr>Pilha Encadeada: push</vt:lpstr>
      <vt:lpstr>Exemplo de Execução do push</vt:lpstr>
      <vt:lpstr>Exemplo de Execução do push</vt:lpstr>
      <vt:lpstr>PilhaEncadeada: pop</vt:lpstr>
      <vt:lpstr>PilhaEncadeada: pop</vt:lpstr>
      <vt:lpstr>Exemplo de Execução do pop</vt:lpstr>
      <vt:lpstr>Exemplo de Execução do POP</vt:lpstr>
      <vt:lpstr>Implementação de Pilha Encadeada JAVA   </vt:lpstr>
      <vt:lpstr>Exercícios</vt:lpstr>
      <vt:lpstr>Referências Bibliográficas</vt:lpstr>
      <vt:lpstr>Apresentação do PowerPoint</vt:lpstr>
    </vt:vector>
  </TitlesOfParts>
  <Company>FIAP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Juliana Reyes</dc:creator>
  <cp:lastModifiedBy>Patrícia Magna</cp:lastModifiedBy>
  <cp:revision>197</cp:revision>
  <dcterms:created xsi:type="dcterms:W3CDTF">2015-01-30T10:46:50Z</dcterms:created>
  <dcterms:modified xsi:type="dcterms:W3CDTF">2023-09-20T20:24:05Z</dcterms:modified>
</cp:coreProperties>
</file>