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4"/>
  </p:notesMasterIdLst>
  <p:sldIdLst>
    <p:sldId id="322" r:id="rId2"/>
    <p:sldId id="346" r:id="rId3"/>
    <p:sldId id="326" r:id="rId4"/>
    <p:sldId id="355" r:id="rId5"/>
    <p:sldId id="356" r:id="rId6"/>
    <p:sldId id="354" r:id="rId7"/>
    <p:sldId id="359" r:id="rId8"/>
    <p:sldId id="357" r:id="rId9"/>
    <p:sldId id="358" r:id="rId10"/>
    <p:sldId id="349" r:id="rId11"/>
    <p:sldId id="333" r:id="rId12"/>
    <p:sldId id="360" r:id="rId13"/>
    <p:sldId id="334" r:id="rId14"/>
    <p:sldId id="335" r:id="rId15"/>
    <p:sldId id="363" r:id="rId16"/>
    <p:sldId id="351" r:id="rId17"/>
    <p:sldId id="340" r:id="rId18"/>
    <p:sldId id="361" r:id="rId19"/>
    <p:sldId id="341" r:id="rId20"/>
    <p:sldId id="342" r:id="rId21"/>
    <p:sldId id="263" r:id="rId22"/>
    <p:sldId id="325" r:id="rId23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82AB8"/>
    <a:srgbClr val="EC1302"/>
    <a:srgbClr val="006600"/>
    <a:srgbClr val="FFC91D"/>
    <a:srgbClr val="0E9648"/>
    <a:srgbClr val="CC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Estilo Médio 4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58" d="100"/>
          <a:sy n="58" d="100"/>
        </p:scale>
        <p:origin x="168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ACA2255C-8CFF-4D1F-9362-97681C3AADAA}" type="datetimeFigureOut">
              <a:rPr lang="pt-BR"/>
              <a:pPr>
                <a:defRPr/>
              </a:pPr>
              <a:t>29/04/2025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F4219D76-E73E-4582-957E-640DA26C75A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360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E7CE94-48BB-4505-AE69-741BB73CE4BF}" type="slidenum">
              <a:rPr lang="pt-BR" smtClean="0"/>
              <a:pPr>
                <a:defRPr/>
              </a:pPr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090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43240" y="6357938"/>
            <a:ext cx="2643206" cy="363537"/>
          </a:xfrm>
        </p:spPr>
        <p:txBody>
          <a:bodyPr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10FC19D-3417-40C5-B677-EA271E2DB6D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1311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286116" y="6286500"/>
            <a:ext cx="2643206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A70AE2-C52A-487E-82EC-B4E2135152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5811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500430" y="6357938"/>
            <a:ext cx="2571768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01B60D-8F34-4FC3-9ECD-DD8C34184A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8481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214678" y="6356350"/>
            <a:ext cx="2357454" cy="501650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F9D7B0E-6DF5-42FE-9407-370595370C8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051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928926" y="6356350"/>
            <a:ext cx="264320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4E8A36-260A-44F0-8C15-F9F9C5DA95A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8197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72254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214678" y="6357938"/>
            <a:ext cx="2428892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657340-78B5-4426-9B2B-5CE25F8DC69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076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071802" y="6356350"/>
            <a:ext cx="2571755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F6CA55-B9A3-4C41-A473-693762DE17E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1632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643188" y="6356350"/>
            <a:ext cx="250031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7696E4-64A4-4C3D-A8E8-0811A33CBA0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2355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000364" y="6357938"/>
            <a:ext cx="2643206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658760-AADC-4109-A6AE-7E9B08F44EA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634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71A860-A07B-4DF7-99A9-4AEE24DC38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62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EEADA1-E5DE-4917-9030-651A831A033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44392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A9123-D83F-4E0F-9ED0-944EC780F8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32547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5E264D-F4D9-4AE5-A8E3-27EF1AD7CF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118638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Algoritmos de Alta Performance - Profa Patrícia Magna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3DA464-4495-4077-9091-A744F10609C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915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8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3651" y="455793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  <a:latin typeface="+mj-lt"/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928939" y="6286500"/>
            <a:ext cx="2507158" cy="571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8328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714625" y="6357938"/>
            <a:ext cx="3305175" cy="36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bg1">
                    <a:lumMod val="6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FFDCA17-8283-47AE-BAEA-029F589A471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82" r:id="rId12"/>
    <p:sldLayoutId id="2147483994" r:id="rId13"/>
    <p:sldLayoutId id="2147483995" r:id="rId14"/>
    <p:sldLayoutId id="2147483996" r:id="rId15"/>
    <p:sldLayoutId id="2147483997" r:id="rId1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82AB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-11651" y="2643182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00230" y="3214686"/>
            <a:ext cx="8143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b="1" dirty="0">
                <a:solidFill>
                  <a:srgbClr val="FFFF00"/>
                </a:solidFill>
                <a:latin typeface="Gotham-Bold"/>
                <a:cs typeface="Gotham-Bold"/>
              </a:rPr>
              <a:t>Strings</a:t>
            </a:r>
            <a:endParaRPr lang="pt-BR" sz="2800" b="1" dirty="0">
              <a:solidFill>
                <a:srgbClr val="FFFF00"/>
              </a:solidFill>
              <a:latin typeface="Gotham-Bold"/>
              <a:cs typeface="Gotham-Bold"/>
            </a:endParaRPr>
          </a:p>
          <a:p>
            <a:pPr>
              <a:lnSpc>
                <a:spcPct val="90000"/>
              </a:lnSpc>
            </a:pPr>
            <a:r>
              <a:rPr lang="pt-BR" sz="2800" b="1" dirty="0">
                <a:solidFill>
                  <a:srgbClr val="FFFF00"/>
                </a:solidFill>
                <a:latin typeface="Gotham-Bold"/>
                <a:cs typeface="Gotham-Bold"/>
              </a:rPr>
              <a:t>Armazenando texto em variáveis</a:t>
            </a:r>
            <a:endParaRPr lang="pt-BR" sz="3200" b="1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2976" y="4071942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538" y="4429132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sz="3600" dirty="0"/>
              <a:t>O que são strings?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São variáveis que armazenam “texto”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Exemplos de uso:</a:t>
            </a:r>
          </a:p>
          <a:p>
            <a:pPr lvl="1"/>
            <a:r>
              <a:rPr lang="pt-BR" sz="2000" dirty="0"/>
              <a:t>Mensagem que deve ser apresentada na tela de saída</a:t>
            </a:r>
          </a:p>
          <a:p>
            <a:pPr lvl="1"/>
            <a:r>
              <a:rPr lang="pt-BR" sz="2000" dirty="0"/>
              <a:t>Uma descrição de um produto em banco de dados</a:t>
            </a:r>
          </a:p>
          <a:p>
            <a:pPr lvl="1"/>
            <a:r>
              <a:rPr lang="pt-BR" sz="2000" dirty="0"/>
              <a:t>Nome no registro de um aluno</a:t>
            </a:r>
          </a:p>
          <a:p>
            <a:pPr lvl="1"/>
            <a:r>
              <a:rPr lang="pt-BR" sz="2000" dirty="0"/>
              <a:t> etc...</a:t>
            </a:r>
          </a:p>
          <a:p>
            <a:pPr lvl="1">
              <a:buNone/>
            </a:pPr>
            <a:endParaRPr lang="pt-BR" sz="2000" dirty="0"/>
          </a:p>
        </p:txBody>
      </p:sp>
      <p:sp>
        <p:nvSpPr>
          <p:cNvPr id="2" name="Espaço Reservado para Rodapé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pic>
        <p:nvPicPr>
          <p:cNvPr id="6" name="Picture 2" descr="Resultado de imagem para máquina de esvre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071546"/>
            <a:ext cx="3048021" cy="2286016"/>
          </a:xfrm>
          <a:prstGeom prst="rect">
            <a:avLst/>
          </a:prstGeom>
          <a:noFill/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500570"/>
            <a:ext cx="53340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pt-BR" sz="3200" dirty="0"/>
              <a:t>STRING: Tipo de Dado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28736"/>
            <a:ext cx="8229600" cy="2000264"/>
          </a:xfrm>
        </p:spPr>
        <p:txBody>
          <a:bodyPr rtlCol="0">
            <a:normAutofit lnSpcReduction="10000"/>
          </a:bodyPr>
          <a:lstStyle/>
          <a:p>
            <a:r>
              <a:rPr lang="pt-BR" sz="2000" dirty="0">
                <a:latin typeface="+mn-lt"/>
              </a:rPr>
              <a:t>As cadeias de caracteres em Java podem ser armazenadas em objetos da </a:t>
            </a:r>
            <a:r>
              <a:rPr lang="pt-BR" sz="2000" b="1" dirty="0">
                <a:latin typeface="+mn-lt"/>
              </a:rPr>
              <a:t>classe </a:t>
            </a:r>
            <a:r>
              <a:rPr lang="pt-BR" sz="2000" b="1" dirty="0" err="1">
                <a:latin typeface="+mn-lt"/>
              </a:rPr>
              <a:t>String</a:t>
            </a:r>
            <a:r>
              <a:rPr lang="pt-BR" sz="2000" b="1" dirty="0">
                <a:latin typeface="+mn-lt"/>
              </a:rPr>
              <a:t> </a:t>
            </a:r>
            <a:r>
              <a:rPr lang="pt-BR" sz="2000" dirty="0">
                <a:latin typeface="+mn-lt"/>
              </a:rPr>
              <a:t>e em objetos da </a:t>
            </a:r>
            <a:r>
              <a:rPr lang="pt-BR" sz="2000" b="1" dirty="0">
                <a:latin typeface="+mn-lt"/>
              </a:rPr>
              <a:t>classe </a:t>
            </a:r>
            <a:r>
              <a:rPr lang="pt-BR" sz="2000" b="1" dirty="0" err="1">
                <a:latin typeface="+mn-lt"/>
              </a:rPr>
              <a:t>StringBuffer</a:t>
            </a:r>
            <a:r>
              <a:rPr lang="pt-BR" sz="2000" dirty="0">
                <a:latin typeface="+mn-lt"/>
              </a:rPr>
              <a:t>. </a:t>
            </a:r>
          </a:p>
          <a:p>
            <a:r>
              <a:rPr lang="pt-BR" sz="2000" dirty="0">
                <a:latin typeface="+mn-lt"/>
              </a:rPr>
              <a:t>As cadeias de caracteres devem estar entre aspas ("") (por exemplo, "texto"), enquanto que os caracteres devem estar entre apóstrofos ('') (por exemplo, 'c').</a:t>
            </a:r>
          </a:p>
          <a:p>
            <a:r>
              <a:rPr lang="pt-BR" sz="2000" dirty="0"/>
              <a:t>Cada </a:t>
            </a:r>
            <a:r>
              <a:rPr lang="pt-BR" sz="2000" dirty="0" err="1"/>
              <a:t>caracter</a:t>
            </a:r>
            <a:r>
              <a:rPr lang="pt-BR" sz="2000" dirty="0"/>
              <a:t> é codificado em ASCII/UNICODE.</a:t>
            </a:r>
          </a:p>
          <a:p>
            <a:pPr lvl="1">
              <a:buNone/>
            </a:pPr>
            <a:endParaRPr lang="pt-BR" sz="1600" dirty="0">
              <a:latin typeface="+mn-lt"/>
            </a:endParaRP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532533"/>
            <a:ext cx="4830807" cy="303276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2355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4429132"/>
            <a:ext cx="3252787" cy="218069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178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2A01580-FA36-C938-C5F2-A252C438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923112" cy="8667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pt-BR" altLang="pt-BR" sz="3200" dirty="0"/>
              <a:t>Cadeias de Caracteres em Java</a:t>
            </a:r>
            <a:endParaRPr lang="pt-BR" sz="32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DAAB45-531E-37AD-F764-4166A74C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BD4C93-24B9-3673-0A9C-C2567B91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3E94589-0C89-8685-E948-5FCD99FA8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" y="1159342"/>
            <a:ext cx="8512175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Exemplos: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latin typeface="+mn-lt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char </a:t>
            </a: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letra</a:t>
            </a:r>
            <a:r>
              <a:rPr lang="pt-BR" altLang="pt-BR" sz="2000" dirty="0">
                <a:latin typeface="+mn-lt"/>
              </a:rPr>
              <a:t>;		// a variável letra poderá armazenar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			// um único caractere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latin typeface="+mn-lt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 err="1">
                <a:latin typeface="+mn-lt"/>
              </a:rPr>
              <a:t>String</a:t>
            </a:r>
            <a:r>
              <a:rPr lang="pt-BR" altLang="pt-BR" sz="2000" dirty="0">
                <a:latin typeface="+mn-lt"/>
              </a:rPr>
              <a:t> </a:t>
            </a: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nome</a:t>
            </a:r>
            <a:r>
              <a:rPr lang="pt-BR" altLang="pt-BR" sz="2000" dirty="0">
                <a:latin typeface="+mn-lt"/>
              </a:rPr>
              <a:t>;		// o objeto nome poderá armazenar					// uma cadeia de caracteres</a:t>
            </a:r>
          </a:p>
          <a:p>
            <a:pPr algn="just" eaLnBrk="1" hangingPunct="1">
              <a:buFontTx/>
              <a:buNone/>
            </a:pPr>
            <a:endParaRPr lang="pt-BR" altLang="pt-BR" sz="2000" dirty="0">
              <a:latin typeface="+mn-lt"/>
            </a:endParaRPr>
          </a:p>
          <a:p>
            <a:pPr algn="just" eaLnBrk="1" hangingPunct="1">
              <a:buFontTx/>
              <a:buNone/>
            </a:pPr>
            <a:r>
              <a:rPr lang="pt-BR" altLang="pt-BR" sz="2000" dirty="0" err="1">
                <a:latin typeface="+mn-lt"/>
              </a:rPr>
              <a:t>StringBuffer</a:t>
            </a:r>
            <a:r>
              <a:rPr lang="pt-BR" altLang="pt-BR" sz="2000" dirty="0">
                <a:latin typeface="+mn-lt"/>
              </a:rPr>
              <a:t> </a:t>
            </a:r>
            <a:r>
              <a:rPr lang="pt-BR" altLang="pt-BR" sz="2000" dirty="0">
                <a:solidFill>
                  <a:srgbClr val="FF0000"/>
                </a:solidFill>
                <a:latin typeface="+mn-lt"/>
              </a:rPr>
              <a:t>texto</a:t>
            </a:r>
            <a:r>
              <a:rPr lang="pt-BR" altLang="pt-BR" sz="2000" dirty="0">
                <a:latin typeface="+mn-lt"/>
              </a:rPr>
              <a:t>;	// o objeto texto poderá armazenar 					// uma cadeia de caracteres que,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			// inicialmente, tem tamanho 16,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			// mas é expansível de acordo com</a:t>
            </a:r>
          </a:p>
          <a:p>
            <a:pPr algn="just" eaLnBrk="1" hangingPunct="1">
              <a:buFontTx/>
              <a:buNone/>
            </a:pPr>
            <a:r>
              <a:rPr lang="pt-BR" altLang="pt-BR" sz="2000" dirty="0">
                <a:latin typeface="+mn-lt"/>
              </a:rPr>
              <a:t>			// a necessidade</a:t>
            </a:r>
          </a:p>
        </p:txBody>
      </p:sp>
    </p:spTree>
    <p:extLst>
      <p:ext uri="{BB962C8B-B14F-4D97-AF65-F5344CB8AC3E}">
        <p14:creationId xmlns:p14="http://schemas.microsoft.com/office/powerpoint/2010/main" val="171866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2A01580-FA36-C938-C5F2-A252C438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99654"/>
            <a:ext cx="6923112" cy="8667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pt-BR" altLang="pt-BR" sz="3200" dirty="0"/>
              <a:t>Cadeias de Caracteres em Java</a:t>
            </a:r>
            <a:endParaRPr lang="pt-BR" sz="32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DAAB45-531E-37AD-F764-4166A74CA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BD4C93-24B9-3673-0A9C-C2567B91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F1339DCE-58E7-4FD9-66C8-0E69CBEE3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" y="1772816"/>
            <a:ext cx="85121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 eaLnBrk="1" hangingPunct="1"/>
            <a:r>
              <a:rPr lang="pt-BR" altLang="pt-BR" sz="2000" dirty="0"/>
              <a:t>A manipulação de cadeias de caracteres na linguagem Java utiliza o pacote de classes </a:t>
            </a:r>
            <a:r>
              <a:rPr lang="pt-BR" altLang="pt-BR" sz="2000" dirty="0" err="1"/>
              <a:t>java.lang</a:t>
            </a:r>
            <a:r>
              <a:rPr lang="pt-BR" altLang="pt-BR" sz="2000" dirty="0"/>
              <a:t>. Este pacote contém funções básicas da linguagem Java e, por este motivo, dispensa o uso de import.</a:t>
            </a:r>
          </a:p>
        </p:txBody>
      </p:sp>
    </p:spTree>
    <p:extLst>
      <p:ext uri="{BB962C8B-B14F-4D97-AF65-F5344CB8AC3E}">
        <p14:creationId xmlns:p14="http://schemas.microsoft.com/office/powerpoint/2010/main" val="38261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6011E-6FDE-40D7-8DDA-56ED274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Iniciação de Cadeias de Caracteres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52EA6-0D7B-482C-98D2-A3DCA8F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CFACDD-251F-4A0C-B7D8-8EE0B4B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2D2A8AC-E915-46D4-B749-6E3FDDD4315D}"/>
              </a:ext>
            </a:extLst>
          </p:cNvPr>
          <p:cNvSpPr txBox="1">
            <a:spLocks/>
          </p:cNvSpPr>
          <p:nvPr/>
        </p:nvSpPr>
        <p:spPr bwMode="auto">
          <a:xfrm>
            <a:off x="609600" y="1670075"/>
            <a:ext cx="8229600" cy="1545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Seja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altLang="pt-BR" sz="2000" dirty="0"/>
              <a:t>Neste exemplo, o objeto </a:t>
            </a:r>
            <a:r>
              <a:rPr lang="pt-BR" altLang="pt-BR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  <a:r>
              <a:rPr lang="pt-BR" altLang="pt-BR" sz="2000" dirty="0"/>
              <a:t> foi instanciado e seu conteúdo será o conjunto de caracteres </a:t>
            </a:r>
            <a:r>
              <a:rPr lang="pt-BR" altLang="pt-BR" sz="2000" b="1" dirty="0">
                <a:solidFill>
                  <a:srgbClr val="082AB8"/>
                </a:solidFill>
              </a:rPr>
              <a:t>Ana Neri</a:t>
            </a:r>
            <a:endParaRPr lang="pt-BR" sz="2000" b="1" dirty="0">
              <a:solidFill>
                <a:srgbClr val="082AB8"/>
              </a:solidFill>
            </a:endParaRPr>
          </a:p>
          <a:p>
            <a:endParaRPr lang="pt-BR" sz="20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6487FA3-DCC4-4D30-0D7E-BB4EB59CFCD1}"/>
              </a:ext>
            </a:extLst>
          </p:cNvPr>
          <p:cNvSpPr txBox="1"/>
          <p:nvPr/>
        </p:nvSpPr>
        <p:spPr>
          <a:xfrm>
            <a:off x="1981200" y="20734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"Ana Neri"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865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6011E-6FDE-40D7-8DDA-56ED274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Iniciação de Cadeias de Caracteres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52EA6-0D7B-482C-98D2-A3DCA8F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CFACDD-251F-4A0C-B7D8-8EE0B4B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2D2A8AC-E915-46D4-B749-6E3FDDD4315D}"/>
              </a:ext>
            </a:extLst>
          </p:cNvPr>
          <p:cNvSpPr txBox="1">
            <a:spLocks/>
          </p:cNvSpPr>
          <p:nvPr/>
        </p:nvSpPr>
        <p:spPr bwMode="auto">
          <a:xfrm>
            <a:off x="632801" y="1817759"/>
            <a:ext cx="8229600" cy="1545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Seja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altLang="pt-BR" sz="2000" dirty="0"/>
              <a:t>Neste exemplo, o objeto </a:t>
            </a:r>
            <a:r>
              <a:rPr lang="pt-BR" altLang="pt-BR" sz="2000" dirty="0">
                <a:solidFill>
                  <a:srgbClr val="00B0F0"/>
                </a:solidFill>
              </a:rPr>
              <a:t>texto1</a:t>
            </a:r>
            <a:r>
              <a:rPr lang="pt-BR" altLang="pt-BR" sz="2000" dirty="0"/>
              <a:t> foi instanciado e seu conteúdo será o conjunto de contendo todos os caracteres da variável </a:t>
            </a:r>
            <a:r>
              <a:rPr lang="pt-BR" altLang="pt-BR" sz="2000" dirty="0">
                <a:solidFill>
                  <a:srgbClr val="00B0F0"/>
                </a:solidFill>
              </a:rPr>
              <a:t>texto:</a:t>
            </a:r>
          </a:p>
          <a:p>
            <a:pPr marL="0" indent="1163638">
              <a:buNone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texto1 = " computador“</a:t>
            </a:r>
            <a:endParaRPr lang="pt-BR" altLang="pt-BR" sz="2000" dirty="0"/>
          </a:p>
          <a:p>
            <a:r>
              <a:rPr lang="pt-BR" altLang="pt-BR" sz="2000" dirty="0"/>
              <a:t>Já o objeto </a:t>
            </a:r>
            <a:r>
              <a:rPr lang="pt-BR" altLang="pt-BR" sz="2000" dirty="0">
                <a:solidFill>
                  <a:srgbClr val="00B0F0"/>
                </a:solidFill>
              </a:rPr>
              <a:t>texto2</a:t>
            </a:r>
            <a:r>
              <a:rPr lang="pt-BR" altLang="pt-BR" sz="2000" dirty="0"/>
              <a:t> foi instanciado e seu conteúdo será o conjunto de caracteres da variável </a:t>
            </a:r>
            <a:r>
              <a:rPr lang="pt-BR" altLang="pt-BR" sz="2000" dirty="0">
                <a:solidFill>
                  <a:srgbClr val="00B0F0"/>
                </a:solidFill>
              </a:rPr>
              <a:t>texto</a:t>
            </a:r>
            <a:r>
              <a:rPr lang="pt-BR" altLang="pt-BR" sz="2000" dirty="0"/>
              <a:t>, a partir da 7</a:t>
            </a:r>
            <a:r>
              <a:rPr lang="pt-BR" altLang="pt-BR" sz="2000" u="sng" baseline="30000" dirty="0"/>
              <a:t>a</a:t>
            </a:r>
            <a:r>
              <a:rPr lang="pt-BR" altLang="pt-BR" sz="2000" dirty="0"/>
              <a:t> posição e com 3 caracteres, ou seja:</a:t>
            </a:r>
          </a:p>
          <a:p>
            <a:pPr marL="0" indent="1263650">
              <a:buNone/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/>
          </a:p>
        </p:txBody>
      </p:sp>
      <p:pic>
        <p:nvPicPr>
          <p:cNvPr id="7" name="Imagem 4">
            <a:extLst>
              <a:ext uri="{FF2B5EF4-FFF2-40B4-BE49-F238E27FC236}">
                <a16:creationId xmlns:a16="http://schemas.microsoft.com/office/drawing/2014/main" id="{93A0A471-C8AA-2DE0-4A8F-117B94C6A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5517232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EA5B03B-09D2-0DB7-D013-7E17E0689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327" y="2325734"/>
            <a:ext cx="7431872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Console" panose="020B0609040504020204" pitchFamily="49" charset="0"/>
              </a:rPr>
              <a:t>char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texto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[] = {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c'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'o'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'm'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'p'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'u'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't'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'a'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'd'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'o'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'r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Console" panose="020B0609040504020204" pitchFamily="49" charset="0"/>
              </a:rPr>
              <a:t>'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};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texto1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Console" panose="020B0609040504020204" pitchFamily="49" charset="0"/>
              </a:rPr>
              <a:t>new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texto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);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</a:b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texto2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=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Console" panose="020B0609040504020204" pitchFamily="49" charset="0"/>
              </a:rPr>
              <a:t>new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String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texto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Console" panose="020B0609040504020204" pitchFamily="49" charset="0"/>
              </a:rPr>
              <a:t>7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Console" panose="020B0609040504020204" pitchFamily="49" charset="0"/>
              </a:rPr>
              <a:t>3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Console" panose="020B0609040504020204" pitchFamily="49" charset="0"/>
              </a:rPr>
              <a:t>);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9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6011E-6FDE-40D7-8DDA-56ED2749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82" y="185514"/>
            <a:ext cx="6972320" cy="1007409"/>
          </a:xfrm>
        </p:spPr>
        <p:txBody>
          <a:bodyPr/>
          <a:lstStyle/>
          <a:p>
            <a:r>
              <a:rPr lang="pt-BR" sz="3200" dirty="0"/>
              <a:t>Lendo Cadeias de Caracteres do Teclado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52EA6-0D7B-482C-98D2-A3DCA8F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CFACDD-251F-4A0C-B7D8-8EE0B4B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2D2A8AC-E915-46D4-B749-6E3FDDD4315D}"/>
              </a:ext>
            </a:extLst>
          </p:cNvPr>
          <p:cNvSpPr txBox="1">
            <a:spLocks/>
          </p:cNvSpPr>
          <p:nvPr/>
        </p:nvSpPr>
        <p:spPr bwMode="auto">
          <a:xfrm>
            <a:off x="492919" y="1055661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/>
              <a:t>A iniciação de cadeias de caracteres por meio do teclado é feita através da classe Scanner.</a:t>
            </a:r>
          </a:p>
          <a:p>
            <a:r>
              <a:rPr lang="pt-BR" sz="2000" dirty="0"/>
              <a:t>Seja:</a:t>
            </a:r>
          </a:p>
          <a:p>
            <a:endParaRPr lang="pt-BR" sz="2000" dirty="0"/>
          </a:p>
          <a:p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1805C11-237A-56A7-A42D-1D76CAF724FD}"/>
              </a:ext>
            </a:extLst>
          </p:cNvPr>
          <p:cNvSpPr txBox="1"/>
          <p:nvPr/>
        </p:nvSpPr>
        <p:spPr>
          <a:xfrm>
            <a:off x="1511152" y="2025334"/>
            <a:ext cx="76328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8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cadeia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uma cadeia de caracteres: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cadeia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"Cadeia digitada: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cadeia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0A09056-3F3D-5B81-AED3-266483F6EA8B}"/>
              </a:ext>
            </a:extLst>
          </p:cNvPr>
          <p:cNvSpPr txBox="1"/>
          <p:nvPr/>
        </p:nvSpPr>
        <p:spPr>
          <a:xfrm>
            <a:off x="482182" y="3517082"/>
            <a:ext cx="77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Neste exemplo, o método </a:t>
            </a:r>
            <a:r>
              <a:rPr lang="pt-BR" sz="1800" dirty="0" err="1"/>
              <a:t>next</a:t>
            </a:r>
            <a:r>
              <a:rPr lang="pt-BR" sz="1800" dirty="0"/>
              <a:t>() consegue armazenar valores inseridos através do teclado.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8E3EB1B-0FE7-330A-DA12-AA1754FC8BA1}"/>
              </a:ext>
            </a:extLst>
          </p:cNvPr>
          <p:cNvSpPr txBox="1"/>
          <p:nvPr/>
        </p:nvSpPr>
        <p:spPr>
          <a:xfrm>
            <a:off x="636134" y="4271856"/>
            <a:ext cx="8484257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pt-BR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latin typeface="+mn-lt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latin typeface="+mn-lt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latin typeface="+mn-lt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latin typeface="+mn-lt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>
                <a:latin typeface="+mn-lt"/>
              </a:defRPr>
            </a:lvl9pPr>
          </a:lstStyle>
          <a:p>
            <a:r>
              <a:rPr lang="pt-BR" altLang="pt-BR" dirty="0"/>
              <a:t>No caso de uma cadeia de caracteres, este método consegue armazenar todos os caracteres digitados até a ocorrência do primeiro espaço em branco.</a:t>
            </a:r>
          </a:p>
          <a:p>
            <a:r>
              <a:rPr lang="pt-BR" altLang="pt-BR" dirty="0"/>
              <a:t>Por exemplo, se for digitado o nome &lt;Maria da Silva&gt;, o objeto cadeia armazenará apenas &lt;Maria&gt;, ou seja, os caracteres digitados após o espaço em branco ( ) serão perdidos.</a:t>
            </a:r>
          </a:p>
        </p:txBody>
      </p:sp>
    </p:spTree>
    <p:extLst>
      <p:ext uri="{BB962C8B-B14F-4D97-AF65-F5344CB8AC3E}">
        <p14:creationId xmlns:p14="http://schemas.microsoft.com/office/powerpoint/2010/main" val="62220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6011E-6FDE-40D7-8DDA-56ED2749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/>
              <a:t>Lendo Cadeias de Caracteres do Teclado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8952EA6-0D7B-482C-98D2-A3DCA8F3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CFACDD-251F-4A0C-B7D8-8EE0B4B2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D2D2A8AC-E915-46D4-B749-6E3FDDD4315D}"/>
              </a:ext>
            </a:extLst>
          </p:cNvPr>
          <p:cNvSpPr txBox="1">
            <a:spLocks/>
          </p:cNvSpPr>
          <p:nvPr/>
        </p:nvSpPr>
        <p:spPr bwMode="auto">
          <a:xfrm>
            <a:off x="609600" y="1670075"/>
            <a:ext cx="8229600" cy="74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Para ler </a:t>
            </a:r>
            <a:r>
              <a:rPr lang="pt-BR" sz="2400" dirty="0" err="1"/>
              <a:t>strings</a:t>
            </a:r>
            <a:r>
              <a:rPr lang="pt-BR" sz="2400" dirty="0"/>
              <a:t> que possam conter espaços em branco deve ser utilizado o método </a:t>
            </a:r>
            <a:r>
              <a:rPr lang="pt-BR" sz="2400" dirty="0" err="1"/>
              <a:t>nextLine</a:t>
            </a:r>
            <a:r>
              <a:rPr lang="pt-BR" sz="2400" dirty="0"/>
              <a:t>().</a:t>
            </a:r>
          </a:p>
          <a:p>
            <a:endParaRPr lang="pt-BR" sz="2000" dirty="0"/>
          </a:p>
          <a:p>
            <a:pPr marL="0" indent="185738" algn="l">
              <a:buNone/>
            </a:pP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20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20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20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185738" algn="l">
              <a:buNone/>
            </a:pPr>
            <a:r>
              <a:rPr lang="pt-B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6A3E3E"/>
                </a:solidFill>
                <a:latin typeface="Consolas" panose="020B0609020204030204" pitchFamily="49" charset="0"/>
              </a:rPr>
              <a:t>cadeia</a:t>
            </a:r>
            <a:r>
              <a:rPr lang="pt-BR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185738" algn="l">
              <a:buNone/>
            </a:pPr>
            <a:r>
              <a:rPr lang="pt-B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"Informe uma cadeia de caracteres: "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185738" algn="l">
              <a:buNone/>
            </a:pPr>
            <a:r>
              <a:rPr lang="pt-BR" sz="20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cadeia</a:t>
            </a:r>
            <a:r>
              <a:rPr lang="pt-B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pt-BR" sz="2000" dirty="0" err="1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.nextLine</a:t>
            </a:r>
            <a:r>
              <a:rPr lang="pt-B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185738" algn="l">
              <a:buNone/>
            </a:pPr>
            <a:r>
              <a:rPr lang="pt-BR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20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20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20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"Cadeia digitada: "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20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cadeia</a:t>
            </a:r>
            <a:r>
              <a:rPr lang="pt-BR" sz="20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2400" dirty="0"/>
          </a:p>
          <a:p>
            <a:pPr marL="0" indent="0">
              <a:buNone/>
            </a:pPr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6640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6591676" cy="796908"/>
          </a:xfrm>
        </p:spPr>
        <p:txBody>
          <a:bodyPr/>
          <a:lstStyle/>
          <a:p>
            <a:pPr algn="l" eaLnBrk="1" hangingPunct="1"/>
            <a:r>
              <a:rPr lang="pt-BR" sz="2400" dirty="0"/>
              <a:t>Como podemos tratar caracteres de uma </a:t>
            </a:r>
            <a:r>
              <a:rPr lang="pt-BR" sz="2400" dirty="0" err="1"/>
              <a:t>String</a:t>
            </a:r>
            <a:r>
              <a:rPr lang="pt-BR" sz="2400" dirty="0"/>
              <a:t>?</a:t>
            </a:r>
            <a:br>
              <a:rPr lang="pt-BR" sz="2400" dirty="0"/>
            </a:br>
            <a:endParaRPr lang="pt-BR" sz="2400" b="0" dirty="0"/>
          </a:p>
        </p:txBody>
      </p:sp>
      <p:sp>
        <p:nvSpPr>
          <p:cNvPr id="6" name="Retângulo 5"/>
          <p:cNvSpPr/>
          <p:nvPr/>
        </p:nvSpPr>
        <p:spPr>
          <a:xfrm>
            <a:off x="1115616" y="1214422"/>
            <a:ext cx="727280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nome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"Ana Neri"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letra0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pt-BR" sz="1800" b="1" dirty="0" err="1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nome</a:t>
            </a:r>
            <a:r>
              <a:rPr lang="pt-BR" sz="18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.charAt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(0);</a:t>
            </a:r>
          </a:p>
          <a:p>
            <a:pPr algn="l"/>
            <a:r>
              <a:rPr lang="pt-BR" sz="1800" b="1" dirty="0">
                <a:solidFill>
                  <a:srgbClr val="7F005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letra4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pt-BR" sz="1800" b="1" dirty="0" err="1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nome</a:t>
            </a:r>
            <a:r>
              <a:rPr lang="pt-BR" sz="1800" b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.charAt</a:t>
            </a:r>
            <a:r>
              <a:rPr lang="pt-BR" sz="18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(4);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letra0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letra4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pt-BR" b="1" i="1" dirty="0">
                <a:solidFill>
                  <a:srgbClr val="FF0000"/>
                </a:solidFill>
                <a:latin typeface="Consolas" panose="020B0609020204030204" pitchFamily="49" charset="0"/>
                <a:cs typeface="Consolas" pitchFamily="49" charset="0"/>
              </a:rPr>
              <a:t>/* Na tela de saída: AN */</a:t>
            </a:r>
            <a:endParaRPr lang="pt-BR" sz="1600" dirty="0">
              <a:solidFill>
                <a:srgbClr val="FF0000"/>
              </a:solidFill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8EAE5C3B-5574-F776-41E9-4B8822AD7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5435"/>
              </p:ext>
            </p:extLst>
          </p:nvPr>
        </p:nvGraphicFramePr>
        <p:xfrm>
          <a:off x="1259632" y="3734997"/>
          <a:ext cx="5418664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354868625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15565006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9166343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2936132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4992779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3667678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7026821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164806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8450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‘n’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‘a’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 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‘N’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‘e’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‘r’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‘i’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822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57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5218" y="321830"/>
            <a:ext cx="8064500" cy="1111250"/>
          </a:xfrm>
        </p:spPr>
        <p:txBody>
          <a:bodyPr>
            <a:normAutofit/>
          </a:bodyPr>
          <a:lstStyle/>
          <a:p>
            <a:pPr algn="l" eaLnBrk="1" hangingPunct="1"/>
            <a:r>
              <a:rPr lang="pt-BR" sz="2800" b="0" dirty="0" err="1"/>
              <a:t>Strings</a:t>
            </a:r>
            <a:r>
              <a:rPr lang="pt-BR" sz="2800" b="0" dirty="0"/>
              <a:t>: algumas manipulação especiais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785225" cy="4824437"/>
          </a:xfrm>
        </p:spPr>
        <p:txBody>
          <a:bodyPr rtlCol="0">
            <a:normAutofit/>
          </a:bodyPr>
          <a:lstStyle/>
          <a:p>
            <a:r>
              <a:rPr lang="pt-BR" sz="2800" b="1" dirty="0"/>
              <a:t>str1 = str2.concat(str3);</a:t>
            </a:r>
          </a:p>
          <a:p>
            <a:pPr lvl="1"/>
            <a:r>
              <a:rPr lang="pt-BR" sz="2400" dirty="0"/>
              <a:t>Método </a:t>
            </a:r>
            <a:r>
              <a:rPr lang="pt-BR" sz="2400" b="1" i="1" dirty="0"/>
              <a:t>concatena </a:t>
            </a:r>
            <a:r>
              <a:rPr lang="pt-BR" sz="2400" b="1" i="1" dirty="0" err="1"/>
              <a:t>strings</a:t>
            </a:r>
            <a:r>
              <a:rPr lang="pt-BR" sz="2400" b="1" i="1" dirty="0"/>
              <a:t> </a:t>
            </a:r>
          </a:p>
          <a:p>
            <a:pPr lvl="2"/>
            <a:r>
              <a:rPr lang="pt-BR" sz="2000" dirty="0"/>
              <a:t>Concatena ou faz a união entre conteúdos de 2 </a:t>
            </a:r>
            <a:r>
              <a:rPr lang="pt-BR" sz="2000" dirty="0" err="1"/>
              <a:t>strings</a:t>
            </a:r>
            <a:r>
              <a:rPr lang="pt-BR" sz="2000" dirty="0"/>
              <a:t> resultando em uma terceira</a:t>
            </a:r>
          </a:p>
          <a:p>
            <a:pPr lvl="1"/>
            <a:r>
              <a:rPr lang="pt-BR" sz="2400" dirty="0"/>
              <a:t>este método concatena a string str2 com a </a:t>
            </a:r>
            <a:r>
              <a:rPr lang="pt-BR" sz="2400" dirty="0" err="1"/>
              <a:t>string</a:t>
            </a:r>
            <a:r>
              <a:rPr lang="pt-BR" sz="2400" dirty="0"/>
              <a:t> str3, armazenando seu resultado na str1.</a:t>
            </a:r>
          </a:p>
          <a:p>
            <a:pPr lvl="1"/>
            <a:r>
              <a:rPr lang="pt-BR" sz="2400" dirty="0"/>
              <a:t>Exemplo: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179387" y="4329097"/>
            <a:ext cx="8929718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"Allan"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n3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 Turing"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20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n1</a:t>
            </a:r>
            <a:r>
              <a:rPr lang="pt-B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pt-BR" sz="20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n2</a:t>
            </a:r>
            <a:r>
              <a:rPr lang="pt-B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.concat(</a:t>
            </a:r>
            <a:r>
              <a:rPr lang="pt-BR" sz="20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n3</a:t>
            </a:r>
            <a:r>
              <a:rPr lang="pt-BR" sz="20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"n1: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algn="l"/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  <a:ea typeface="Times New Roman" pitchFamily="18" charset="0"/>
              </a:rPr>
              <a:t>        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  <a:ea typeface="Times New Roman" pitchFamily="18" charset="0"/>
              </a:rPr>
              <a:t>/* Na tela de saída: Allan Turing*/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303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65218" y="321830"/>
            <a:ext cx="8064500" cy="1111250"/>
          </a:xfrm>
        </p:spPr>
        <p:txBody>
          <a:bodyPr>
            <a:normAutofit/>
          </a:bodyPr>
          <a:lstStyle/>
          <a:p>
            <a:pPr algn="l" eaLnBrk="1" hangingPunct="1"/>
            <a:r>
              <a:rPr lang="pt-BR" sz="2800" b="0" dirty="0" err="1"/>
              <a:t>Strings</a:t>
            </a:r>
            <a:r>
              <a:rPr lang="pt-BR" sz="2800" b="0" dirty="0"/>
              <a:t>: algumas manipulação especiais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79388" y="1412875"/>
            <a:ext cx="8785225" cy="4824437"/>
          </a:xfrm>
        </p:spPr>
        <p:txBody>
          <a:bodyPr rtlCol="0">
            <a:normAutofit/>
          </a:bodyPr>
          <a:lstStyle/>
          <a:p>
            <a:r>
              <a:rPr lang="pt-BR" sz="2800" b="1" dirty="0"/>
              <a:t>Outra forma de concatenar 2 </a:t>
            </a:r>
            <a:r>
              <a:rPr lang="pt-BR" sz="2800" b="1" dirty="0" err="1"/>
              <a:t>Strings</a:t>
            </a:r>
            <a:endParaRPr lang="pt-BR" sz="2400" dirty="0"/>
          </a:p>
          <a:p>
            <a:pPr lvl="1"/>
            <a:r>
              <a:rPr lang="pt-BR" sz="2400" dirty="0"/>
              <a:t>Exemplo:</a:t>
            </a: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14282" y="2621523"/>
            <a:ext cx="7670086" cy="178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"Allan"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n3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 Turing"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2000" dirty="0">
                <a:highlight>
                  <a:srgbClr val="FFFF00"/>
                </a:highlight>
                <a:latin typeface="Consolas" panose="020B0609020204030204" pitchFamily="49" charset="0"/>
              </a:rPr>
              <a:t>n1 = n2 + n3;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"n1: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 algn="l"/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  <a:ea typeface="Times New Roman" pitchFamily="18" charset="0"/>
              </a:rPr>
              <a:t>         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  <a:ea typeface="Times New Roman" pitchFamily="18" charset="0"/>
              </a:rPr>
              <a:t>/* Na tela de saída: Allan Turing*/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ea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892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67345" y="1844824"/>
            <a:ext cx="8785225" cy="4230703"/>
          </a:xfrm>
        </p:spPr>
        <p:txBody>
          <a:bodyPr rtlCol="0">
            <a:normAutofit/>
          </a:bodyPr>
          <a:lstStyle/>
          <a:p>
            <a:r>
              <a:rPr lang="pt-BR" sz="2800" b="1" i="1" dirty="0" err="1"/>
              <a:t>str.length</a:t>
            </a:r>
            <a:r>
              <a:rPr lang="pt-BR" sz="2800" b="1" i="1" dirty="0"/>
              <a:t>()</a:t>
            </a:r>
          </a:p>
          <a:p>
            <a:pPr lvl="1"/>
            <a:r>
              <a:rPr lang="pt-BR" sz="2400" dirty="0"/>
              <a:t>Este método retorna o número de caracteres que </a:t>
            </a:r>
            <a:r>
              <a:rPr lang="pt-BR" sz="2400" dirty="0" err="1"/>
              <a:t>str</a:t>
            </a:r>
            <a:r>
              <a:rPr lang="pt-BR" sz="2400" dirty="0"/>
              <a:t> de fato tem.</a:t>
            </a:r>
            <a:endParaRPr lang="pt-BR" sz="2400" b="1" dirty="0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12838" y="3197587"/>
            <a:ext cx="8929718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"Allan"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n2</a:t>
            </a:r>
            <a:r>
              <a:rPr lang="pt-BR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.length());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/* Tela de saída: 5 */</a:t>
            </a:r>
            <a:endParaRPr lang="pt-BR" sz="1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n3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 Turing"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n3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"n1: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n1</a:t>
            </a:r>
            <a:r>
              <a:rPr lang="pt-BR" sz="1800" b="1" i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.length());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/* Tela de saída: 12 */</a:t>
            </a:r>
            <a:endParaRPr lang="en-US" sz="1600" b="1" dirty="0">
              <a:solidFill>
                <a:srgbClr val="FF0000"/>
              </a:solidFill>
              <a:latin typeface="Consolas" panose="020B0609020204030204" pitchFamily="49" charset="0"/>
              <a:ea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04561-B655-AE61-521C-99860A1F2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972300" cy="1143000"/>
          </a:xfrm>
        </p:spPr>
        <p:txBody>
          <a:bodyPr>
            <a:normAutofit/>
          </a:bodyPr>
          <a:lstStyle/>
          <a:p>
            <a:pPr algn="l" eaLnBrk="1" hangingPunct="1"/>
            <a:r>
              <a:rPr lang="pt-BR" sz="2800" b="0" dirty="0" err="1"/>
              <a:t>Strings</a:t>
            </a:r>
            <a:r>
              <a:rPr lang="pt-BR" sz="2800" b="0" dirty="0"/>
              <a:t>: algumas manipulação especiais</a:t>
            </a:r>
          </a:p>
        </p:txBody>
      </p:sp>
    </p:spTree>
    <p:extLst>
      <p:ext uri="{BB962C8B-B14F-4D97-AF65-F5344CB8AC3E}">
        <p14:creationId xmlns:p14="http://schemas.microsoft.com/office/powerpoint/2010/main" val="121395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817418" y="597911"/>
            <a:ext cx="6972300" cy="1143000"/>
          </a:xfrm>
        </p:spPr>
        <p:txBody>
          <a:bodyPr/>
          <a:lstStyle/>
          <a:p>
            <a:pPr algn="l"/>
            <a:r>
              <a:rPr lang="pt-BR" sz="4000" b="0" dirty="0"/>
              <a:t>Exercício 1 </a:t>
            </a:r>
            <a:br>
              <a:rPr lang="pt-BR" sz="4000" b="0" dirty="0"/>
            </a:br>
            <a:endParaRPr lang="pt-BR" sz="4000" b="0" dirty="0"/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>
          <a:xfrm>
            <a:off x="414104" y="1600200"/>
            <a:ext cx="8158395" cy="4525963"/>
          </a:xfrm>
        </p:spPr>
        <p:txBody>
          <a:bodyPr/>
          <a:lstStyle/>
          <a:p>
            <a:pPr>
              <a:buNone/>
            </a:pPr>
            <a:r>
              <a:rPr lang="pt-BR" sz="2400" dirty="0"/>
              <a:t>Elabore um programa que ao longo da execução armazene em uma variáveis do tipo string os seguintes conteúdos:</a:t>
            </a:r>
          </a:p>
          <a:p>
            <a:pPr lvl="1"/>
            <a:r>
              <a:rPr lang="pt-BR" sz="2000" dirty="0"/>
              <a:t>str1 = “linguagem”</a:t>
            </a:r>
          </a:p>
          <a:p>
            <a:pPr lvl="1"/>
            <a:r>
              <a:rPr lang="pt-BR" sz="2000" dirty="0"/>
              <a:t>str2 = “ JAVA”</a:t>
            </a:r>
          </a:p>
          <a:p>
            <a:pPr lvl="1"/>
            <a:r>
              <a:rPr lang="pt-BR" sz="2000" dirty="0"/>
              <a:t>str1 = “linguagem JAVA” (usando a método de concatenação)</a:t>
            </a:r>
          </a:p>
          <a:p>
            <a:pPr>
              <a:buNone/>
            </a:pPr>
            <a:r>
              <a:rPr lang="pt-BR" sz="2400" dirty="0"/>
              <a:t>	O programa deve apresentar o conteúdo final de str1  e a quantidade de caracteres nela armazenado.</a:t>
            </a:r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072550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12838" y="1417638"/>
            <a:ext cx="8785225" cy="1440160"/>
          </a:xfrm>
        </p:spPr>
        <p:txBody>
          <a:bodyPr rtlCol="0">
            <a:normAutofit/>
          </a:bodyPr>
          <a:lstStyle/>
          <a:p>
            <a:r>
              <a:rPr lang="pt-BR" sz="2400" b="1" i="1" dirty="0"/>
              <a:t>str1.equalsIgnoreCase(str2)</a:t>
            </a:r>
          </a:p>
          <a:p>
            <a:pPr lvl="1"/>
            <a:r>
              <a:rPr lang="pt-BR" sz="2000" dirty="0"/>
              <a:t>Este método compara str1 e str2, sem distinguir letras maiúsculas e minúsculas, retorna verdade se são iguais e falso caso contrário.</a:t>
            </a:r>
            <a:endParaRPr lang="pt-BR" sz="2000" b="1" dirty="0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212838" y="3212976"/>
            <a:ext cx="8929718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0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"Turing"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800" dirty="0" err="1">
                <a:solidFill>
                  <a:srgbClr val="2A00FF"/>
                </a:solidFill>
                <a:latin typeface="Consolas" panose="020B0609020204030204" pitchFamily="49" charset="0"/>
              </a:rPr>
              <a:t>turing</a:t>
            </a:r>
            <a:r>
              <a:rPr lang="pt-BR" sz="18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n1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. 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equalsIgnoreCase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n2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algn="l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8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Strings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iguais"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algn="l"/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else</a:t>
            </a:r>
            <a:endParaRPr lang="pt-BR" sz="1800" b="1" dirty="0">
              <a:solidFill>
                <a:srgbClr val="7F0055"/>
              </a:solidFill>
              <a:latin typeface="Consolas" panose="020B0609020204030204" pitchFamily="49" charset="0"/>
            </a:endParaRPr>
          </a:p>
          <a:p>
            <a:pPr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pt-BR" sz="18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Strings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diferentes"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/* Tela de saída: </a:t>
            </a:r>
            <a:r>
              <a:rPr lang="pt-BR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Strings</a:t>
            </a:r>
            <a:r>
              <a:rPr lang="pt-BR" b="1">
                <a:solidFill>
                  <a:srgbClr val="FF0000"/>
                </a:solidFill>
                <a:latin typeface="Consolas" panose="020B0609020204030204" pitchFamily="49" charset="0"/>
              </a:rPr>
              <a:t> iguais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*/</a:t>
            </a:r>
            <a:endParaRPr lang="pt-BR" sz="18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804561-B655-AE61-521C-99860A1F2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6972300" cy="1143000"/>
          </a:xfrm>
        </p:spPr>
        <p:txBody>
          <a:bodyPr>
            <a:normAutofit/>
          </a:bodyPr>
          <a:lstStyle/>
          <a:p>
            <a:pPr algn="l" eaLnBrk="1" hangingPunct="1"/>
            <a:r>
              <a:rPr lang="pt-BR" sz="2800" b="0" dirty="0" err="1"/>
              <a:t>Strings</a:t>
            </a:r>
            <a:r>
              <a:rPr lang="pt-BR" sz="2800" b="0" dirty="0"/>
              <a:t>: algumas manipulação especiais</a:t>
            </a:r>
          </a:p>
        </p:txBody>
      </p:sp>
    </p:spTree>
    <p:extLst>
      <p:ext uri="{BB962C8B-B14F-4D97-AF65-F5344CB8AC3E}">
        <p14:creationId xmlns:p14="http://schemas.microsoft.com/office/powerpoint/2010/main" val="143945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8"/>
          <p:cNvSpPr>
            <a:spLocks noGrp="1"/>
          </p:cNvSpPr>
          <p:nvPr>
            <p:ph idx="1"/>
          </p:nvPr>
        </p:nvSpPr>
        <p:spPr>
          <a:xfrm>
            <a:off x="357158" y="1142984"/>
            <a:ext cx="8229600" cy="4525963"/>
          </a:xfrm>
        </p:spPr>
        <p:txBody>
          <a:bodyPr/>
          <a:lstStyle/>
          <a:p>
            <a:pPr marL="179388" indent="358775">
              <a:buNone/>
            </a:pPr>
            <a:r>
              <a:rPr lang="pt-BR" sz="2400" dirty="0"/>
              <a:t>Suponha que se deseja armazenar os nomes dos convidados para uma festa em uma variável...</a:t>
            </a:r>
          </a:p>
          <a:p>
            <a:pPr>
              <a:buNone/>
            </a:pPr>
            <a:r>
              <a:rPr lang="pt-BR" sz="2400" dirty="0"/>
              <a:t>	Como armazenar mais de um nome em uma variável?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16</a:t>
            </a:fld>
            <a:endParaRPr lang="pt-BR" altLang="en-US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3438" y="2428868"/>
            <a:ext cx="435292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617754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0" dirty="0">
                <a:solidFill>
                  <a:srgbClr val="0000FF"/>
                </a:solidFill>
              </a:rPr>
              <a:t>Vetor de Strings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617" y="1166019"/>
            <a:ext cx="8473816" cy="966838"/>
          </a:xfrm>
        </p:spPr>
        <p:txBody>
          <a:bodyPr>
            <a:normAutofit/>
          </a:bodyPr>
          <a:lstStyle/>
          <a:p>
            <a:r>
              <a:rPr lang="pt-BR" sz="2400" dirty="0"/>
              <a:t>É possível armazenar strings como elementos de um vetor.</a:t>
            </a:r>
          </a:p>
          <a:p>
            <a:r>
              <a:rPr lang="pt-BR" sz="2400" dirty="0"/>
              <a:t>Exemplo, os nomes dos 4 convidados de </a:t>
            </a:r>
            <a:r>
              <a:rPr lang="pt-BR" sz="2400"/>
              <a:t>uma reunião: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8D3804-E73A-F1D4-918A-2F6E2CAB0994}"/>
              </a:ext>
            </a:extLst>
          </p:cNvPr>
          <p:cNvSpPr txBox="1"/>
          <p:nvPr/>
        </p:nvSpPr>
        <p:spPr>
          <a:xfrm>
            <a:off x="271991" y="2276872"/>
            <a:ext cx="887200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814388" algn="l"/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8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8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14388" algn="l"/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=4; </a:t>
            </a:r>
          </a:p>
          <a:p>
            <a:pPr indent="814388" algn="l"/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String[</a:t>
            </a:r>
            <a:r>
              <a:rPr lang="en-US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814388" algn="l"/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1263650"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"Qual o nome do convidado? 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263650" algn="l"/>
            <a:r>
              <a:rPr lang="pt-BR" sz="1800" dirty="0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8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814388"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814388" algn="l"/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"Lista de convidados"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14388" algn="l"/>
            <a:r>
              <a:rPr lang="pt-BR" sz="18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8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pt-BR" sz="18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pt-BR" sz="18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1263650"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8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8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8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8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indent="814388" algn="l"/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/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587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71991" y="230268"/>
            <a:ext cx="7108321" cy="9668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Se apenas se sabe que pode haver até 10 pessoas na reunião, mas nem todos vão comparecer...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8D3804-E73A-F1D4-918A-2F6E2CAB0994}"/>
              </a:ext>
            </a:extLst>
          </p:cNvPr>
          <p:cNvSpPr txBox="1"/>
          <p:nvPr/>
        </p:nvSpPr>
        <p:spPr>
          <a:xfrm>
            <a:off x="1" y="1510146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185738" algn="l"/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85738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=10; </a:t>
            </a:r>
          </a:p>
          <a:p>
            <a:pPr indent="185738" algn="l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String </a:t>
            </a:r>
            <a:r>
              <a:rPr lang="en-US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185738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18573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</a:p>
          <a:p>
            <a:pPr indent="185738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indent="620713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"Qual o nome do convidado?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0713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.nextLine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0713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indent="620713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"Deseja cadastrar mais 1 convidado? (</a:t>
            </a:r>
            <a:r>
              <a:rPr lang="pt-BR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S-sim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):"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0713" algn="l"/>
            <a:r>
              <a:rPr lang="en-US" sz="1600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resp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le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.nextLine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().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charAt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(0); </a:t>
            </a:r>
            <a:endParaRPr lang="pt-B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indent="18573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pt-B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'S'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||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resp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pt-BR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's'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8573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"Lista de convidados"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185738" algn="l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</a:t>
            </a:r>
          </a:p>
          <a:p>
            <a:pPr indent="18573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nomes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indent="185738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07CA02-3E86-CF48-FF25-D755950B3CEF}"/>
              </a:ext>
            </a:extLst>
          </p:cNvPr>
          <p:cNvSpPr txBox="1"/>
          <p:nvPr/>
        </p:nvSpPr>
        <p:spPr>
          <a:xfrm>
            <a:off x="5076056" y="89239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" name="Texto Explicativo: Linha 4">
            <a:extLst>
              <a:ext uri="{FF2B5EF4-FFF2-40B4-BE49-F238E27FC236}">
                <a16:creationId xmlns:a16="http://schemas.microsoft.com/office/drawing/2014/main" id="{F15D3CF6-02D3-2E06-B045-ADEE4AC4A71F}"/>
              </a:ext>
            </a:extLst>
          </p:cNvPr>
          <p:cNvSpPr/>
          <p:nvPr/>
        </p:nvSpPr>
        <p:spPr>
          <a:xfrm>
            <a:off x="6405989" y="1212334"/>
            <a:ext cx="2466020" cy="1902062"/>
          </a:xfrm>
          <a:prstGeom prst="borderCallout1">
            <a:avLst>
              <a:gd name="adj1" fmla="val 18750"/>
              <a:gd name="adj2" fmla="val -8333"/>
              <a:gd name="adj3" fmla="val 163425"/>
              <a:gd name="adj4" fmla="val -88584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forma de ler 1 </a:t>
            </a:r>
            <a:r>
              <a:rPr lang="pt-BR" dirty="0" err="1">
                <a:solidFill>
                  <a:schemeClr val="tx1"/>
                </a:solidFill>
              </a:rPr>
              <a:t>caracter</a:t>
            </a:r>
            <a:r>
              <a:rPr lang="pt-BR" dirty="0">
                <a:solidFill>
                  <a:schemeClr val="tx1"/>
                </a:solidFill>
              </a:rPr>
              <a:t> em JAVA: selecionando o </a:t>
            </a:r>
            <a:r>
              <a:rPr lang="pt-BR" dirty="0" err="1">
                <a:solidFill>
                  <a:schemeClr val="tx1"/>
                </a:solidFill>
              </a:rPr>
              <a:t>caracter</a:t>
            </a:r>
            <a:r>
              <a:rPr lang="pt-BR" dirty="0">
                <a:solidFill>
                  <a:schemeClr val="tx1"/>
                </a:solidFill>
              </a:rPr>
              <a:t> de índice 0 da </a:t>
            </a:r>
            <a:r>
              <a:rPr lang="pt-BR" dirty="0" err="1">
                <a:solidFill>
                  <a:schemeClr val="tx1"/>
                </a:solidFill>
              </a:rPr>
              <a:t>String</a:t>
            </a:r>
            <a:r>
              <a:rPr lang="pt-BR" dirty="0">
                <a:solidFill>
                  <a:schemeClr val="tx1"/>
                </a:solidFill>
              </a:rPr>
              <a:t> lida do teclado com o </a:t>
            </a:r>
            <a:r>
              <a:rPr lang="pt-BR" dirty="0" err="1">
                <a:solidFill>
                  <a:schemeClr val="tx1"/>
                </a:solidFill>
              </a:rPr>
              <a:t>nextLine</a:t>
            </a:r>
            <a:r>
              <a:rPr lang="pt-BR" dirty="0">
                <a:solidFill>
                  <a:schemeClr val="tx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2471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845127" y="634856"/>
            <a:ext cx="6972300" cy="1143000"/>
          </a:xfrm>
        </p:spPr>
        <p:txBody>
          <a:bodyPr/>
          <a:lstStyle/>
          <a:p>
            <a:pPr algn="l"/>
            <a:r>
              <a:rPr lang="pt-BR" sz="3600" b="0" dirty="0"/>
              <a:t>Exercício 2 </a:t>
            </a:r>
            <a:br>
              <a:rPr lang="pt-BR" sz="3600" b="0" dirty="0"/>
            </a:br>
            <a:endParaRPr lang="pt-BR" sz="3600" b="0" dirty="0"/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pt-BR" sz="2000" dirty="0"/>
              <a:t>Elabore um programa que leia do teclado a nota e o nome de cada aluno de uma classe com no máximo 50 alunos, armazenando em 2 vetores. </a:t>
            </a:r>
          </a:p>
          <a:p>
            <a:pPr>
              <a:buNone/>
            </a:pPr>
            <a:r>
              <a:rPr lang="pt-BR" sz="2000" dirty="0"/>
              <a:t>    O programa deve apresentar o nome e a nota do aluno  com maior nota da sala. </a:t>
            </a:r>
          </a:p>
          <a:p>
            <a:pPr marL="0" indent="0">
              <a:buNone/>
            </a:pP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705686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863600" y="436417"/>
            <a:ext cx="6972300" cy="997527"/>
          </a:xfrm>
        </p:spPr>
        <p:txBody>
          <a:bodyPr/>
          <a:lstStyle/>
          <a:p>
            <a:pPr algn="l"/>
            <a:r>
              <a:rPr lang="pt-BR" sz="3600" b="0" dirty="0"/>
              <a:t>Exercício 3</a:t>
            </a:r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/>
              <a:t>	Elabore um programa que leia do teclado os nomes dos alunos presentes em uma palestra (máximo 200). </a:t>
            </a:r>
          </a:p>
          <a:p>
            <a:pPr marL="0" indent="0">
              <a:buNone/>
            </a:pPr>
            <a:r>
              <a:rPr lang="pt-BR" sz="2000" dirty="0"/>
              <a:t>	Depois de cadastrar os nomes o programa deve permitir que seja procurado o nome de uma pessoa na lista de presentes na palestra.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12329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D8D1A53A-1714-771A-648C-AB28A274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6851104" cy="1143000"/>
          </a:xfrm>
        </p:spPr>
        <p:txBody>
          <a:bodyPr/>
          <a:lstStyle/>
          <a:p>
            <a:r>
              <a:rPr lang="pt-BR" sz="3200" dirty="0"/>
              <a:t>Muito mais sobre </a:t>
            </a:r>
            <a:r>
              <a:rPr lang="pt-BR" sz="3200" dirty="0" err="1"/>
              <a:t>Strings</a:t>
            </a:r>
            <a:r>
              <a:rPr lang="pt-BR" sz="3200" dirty="0"/>
              <a:t> em JAVA em: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3C0E2A9-FD9A-F7F7-3CC7-134C2314E33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547664" y="1417638"/>
            <a:ext cx="6696744" cy="4872038"/>
          </a:xfrm>
        </p:spPr>
        <p:txBody>
          <a:bodyPr/>
          <a:lstStyle/>
          <a:p>
            <a:pPr marL="0" indent="0" algn="ctr">
              <a:buNone/>
            </a:pP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Capítulo 16 </a:t>
            </a:r>
            <a:endParaRPr lang="pt-BR" sz="2000" dirty="0"/>
          </a:p>
          <a:p>
            <a:pPr marL="0" indent="0" algn="ctr">
              <a:buNone/>
            </a:pPr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DEITEL, P; J.; DEITEL, H.M., </a:t>
            </a:r>
            <a:r>
              <a:rPr lang="pt-BR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Java: como programar - 8ª edição </a:t>
            </a:r>
            <a:r>
              <a:rPr lang="pt-BR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pt-BR" sz="2000" i="1" dirty="0">
                <a:solidFill>
                  <a:srgbClr val="033BE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disponível</a:t>
            </a:r>
            <a:r>
              <a:rPr lang="pt-BR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000" i="1" dirty="0">
                <a:solidFill>
                  <a:srgbClr val="033BE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portal =&gt; biblioteca virtual</a:t>
            </a:r>
            <a:r>
              <a:rPr lang="pt-BR" sz="20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pt-BR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2025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: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2718</TotalTime>
  <Words>1716</Words>
  <Application>Microsoft Office PowerPoint</Application>
  <PresentationFormat>Apresentação na tela (4:3)</PresentationFormat>
  <Paragraphs>212</Paragraphs>
  <Slides>22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Consolas</vt:lpstr>
      <vt:lpstr>Gotham HTF</vt:lpstr>
      <vt:lpstr>Gotham-Bold</vt:lpstr>
      <vt:lpstr>Gotham-Book</vt:lpstr>
      <vt:lpstr>Lucida Console</vt:lpstr>
      <vt:lpstr>Wingdings</vt:lpstr>
      <vt:lpstr>Tema do Office</vt:lpstr>
      <vt:lpstr>Apresentação do PowerPoint</vt:lpstr>
      <vt:lpstr>O que são strings?</vt:lpstr>
      <vt:lpstr>STRING: Tipo de Dado</vt:lpstr>
      <vt:lpstr>Cadeias de Caracteres em Java</vt:lpstr>
      <vt:lpstr>Cadeias de Caracteres em Java</vt:lpstr>
      <vt:lpstr>Iniciação de Cadeias de Caracteres</vt:lpstr>
      <vt:lpstr>Iniciação de Cadeias de Caracteres</vt:lpstr>
      <vt:lpstr>Lendo Cadeias de Caracteres do Teclado</vt:lpstr>
      <vt:lpstr>Lendo Cadeias de Caracteres do Teclado</vt:lpstr>
      <vt:lpstr>Como podemos tratar caracteres de uma String? </vt:lpstr>
      <vt:lpstr>Strings: algumas manipulação especiais</vt:lpstr>
      <vt:lpstr>Strings: algumas manipulação especiais</vt:lpstr>
      <vt:lpstr>Strings: algumas manipulação especiais</vt:lpstr>
      <vt:lpstr>Exercício 1  </vt:lpstr>
      <vt:lpstr>Strings: algumas manipulação especiais</vt:lpstr>
      <vt:lpstr>Apresentação do PowerPoint</vt:lpstr>
      <vt:lpstr>Vetor de Strings</vt:lpstr>
      <vt:lpstr>Apresentação do PowerPoint</vt:lpstr>
      <vt:lpstr>Exercício 2  </vt:lpstr>
      <vt:lpstr>Exercício 3</vt:lpstr>
      <vt:lpstr>Muito mais sobre Strings em JAVA em: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Organização de Computadores</dc:title>
  <dc:creator>Patrícia Magna</dc:creator>
  <cp:lastModifiedBy>Patrícia Magna</cp:lastModifiedBy>
  <cp:revision>268</cp:revision>
  <dcterms:created xsi:type="dcterms:W3CDTF">2005-02-16T13:03:14Z</dcterms:created>
  <dcterms:modified xsi:type="dcterms:W3CDTF">2025-04-29T18:23:16Z</dcterms:modified>
</cp:coreProperties>
</file>