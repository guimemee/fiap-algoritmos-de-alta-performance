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29"/>
  </p:notesMasterIdLst>
  <p:handoutMasterIdLst>
    <p:handoutMasterId r:id="rId30"/>
  </p:handoutMasterIdLst>
  <p:sldIdLst>
    <p:sldId id="297" r:id="rId6"/>
    <p:sldId id="296" r:id="rId7"/>
    <p:sldId id="262" r:id="rId8"/>
    <p:sldId id="267" r:id="rId9"/>
    <p:sldId id="269" r:id="rId10"/>
    <p:sldId id="298" r:id="rId11"/>
    <p:sldId id="299" r:id="rId12"/>
    <p:sldId id="289" r:id="rId13"/>
    <p:sldId id="300" r:id="rId14"/>
    <p:sldId id="290" r:id="rId15"/>
    <p:sldId id="302" r:id="rId16"/>
    <p:sldId id="293" r:id="rId17"/>
    <p:sldId id="301" r:id="rId18"/>
    <p:sldId id="276" r:id="rId19"/>
    <p:sldId id="277" r:id="rId20"/>
    <p:sldId id="278" r:id="rId21"/>
    <p:sldId id="286" r:id="rId22"/>
    <p:sldId id="295" r:id="rId23"/>
    <p:sldId id="281" r:id="rId24"/>
    <p:sldId id="285" r:id="rId25"/>
    <p:sldId id="294" r:id="rId26"/>
    <p:sldId id="263" r:id="rId27"/>
    <p:sldId id="265" r:id="rId28"/>
  </p:sldIdLst>
  <p:sldSz cx="9144000" cy="6858000" type="screen4x3"/>
  <p:notesSz cx="7099300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133BF"/>
    <a:srgbClr val="009900"/>
    <a:srgbClr val="EBAFB5"/>
    <a:srgbClr val="8D5E2F"/>
    <a:srgbClr val="F9E8EA"/>
    <a:srgbClr val="020000"/>
    <a:srgbClr val="F6F6F6"/>
    <a:srgbClr val="F0265D"/>
    <a:srgbClr val="F4D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4" autoAdjust="0"/>
    <p:restoredTop sz="98062" autoAdjust="0"/>
  </p:normalViewPr>
  <p:slideViewPr>
    <p:cSldViewPr snapToGrid="0" snapToObjects="1">
      <p:cViewPr varScale="1">
        <p:scale>
          <a:sx n="66" d="100"/>
          <a:sy n="66" d="100"/>
        </p:scale>
        <p:origin x="154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701A63A9-F13B-46F1-A93F-27AA737FD7E7}" type="datetimeFigureOut">
              <a:rPr lang="pt-BR" smtClean="0"/>
              <a:pPr/>
              <a:t>26/04/2023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DF2F50FE-E718-42E3-9D8A-946F780C79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0F498697-E7EB-B84D-9726-13965ED94444}" type="datetimeFigureOut">
              <a:rPr lang="en-US" smtClean="0"/>
              <a:pPr/>
              <a:t>4/26/2023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2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02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66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01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CONTEÚDO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DO CURSO</a:t>
            </a: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400" b="1">
                <a:latin typeface="Garamond" pitchFamily="18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+mn-lt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+mn-lt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+mn-lt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+mn-lt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400" b="1">
                <a:latin typeface="Garamond" pitchFamily="18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62641" y="457200"/>
            <a:ext cx="6972320" cy="1143000"/>
          </a:xfrm>
        </p:spPr>
        <p:txBody>
          <a:bodyPr/>
          <a:lstStyle>
            <a:lvl1pPr>
              <a:defRPr>
                <a:solidFill>
                  <a:srgbClr val="FF0000"/>
                </a:solidFill>
                <a:latin typeface="+mj-lt"/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Data 3"/>
          <p:cNvSpPr>
            <a:spLocks noGrp="1"/>
          </p:cNvSpPr>
          <p:nvPr>
            <p:ph type="dt" sz="half" idx="1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Rodapé 4"/>
          <p:cNvSpPr>
            <a:spLocks noGrp="1"/>
          </p:cNvSpPr>
          <p:nvPr>
            <p:ph type="ftr" sz="quarter" idx="15"/>
          </p:nvPr>
        </p:nvSpPr>
        <p:spPr>
          <a:xfrm>
            <a:off x="2743200" y="6286500"/>
            <a:ext cx="3395133" cy="5715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 altLang="en-US"/>
              <a:t>Algoritmos de Alta Performance</a:t>
            </a:r>
          </a:p>
          <a:p>
            <a:pPr>
              <a:defRPr/>
            </a:pPr>
            <a:r>
              <a:rPr lang="pt-BR" altLang="en-US" sz="1400"/>
              <a:t>Profa Patrícia Magna</a:t>
            </a:r>
            <a:endParaRPr lang="pt-BR" altLang="en-US" sz="1400" dirty="0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6"/>
          </p:nvPr>
        </p:nvSpPr>
        <p:spPr>
          <a:xfrm>
            <a:off x="8720667" y="6173787"/>
            <a:ext cx="42333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D7B789-2478-4B84-ACAC-457A7E3D18C9}" type="slidenum">
              <a:rPr lang="pt-BR" altLang="en-US"/>
              <a:pPr>
                <a:defRPr/>
              </a:pPr>
              <a:t>‹nº›</a:t>
            </a:fld>
            <a:endParaRPr lang="pt-BR" altLang="en-US" dirty="0"/>
          </a:p>
        </p:txBody>
      </p:sp>
    </p:spTree>
    <p:extLst>
      <p:ext uri="{BB962C8B-B14F-4D97-AF65-F5344CB8AC3E}">
        <p14:creationId xmlns:p14="http://schemas.microsoft.com/office/powerpoint/2010/main" val="1031560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 sz="2800">
                <a:latin typeface="Garamond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6"/>
          <p:cNvPicPr>
            <a:picLocks noChangeAspect="1"/>
          </p:cNvPicPr>
          <p:nvPr userDrawn="1"/>
        </p:nvPicPr>
        <p:blipFill rotWithShape="1">
          <a:blip r:embed="rId3"/>
          <a:srcRect l="21776" r="21705"/>
          <a:stretch/>
        </p:blipFill>
        <p:spPr>
          <a:xfrm>
            <a:off x="-5825" y="2034073"/>
            <a:ext cx="9155651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4" name="TextBox 15"/>
          <p:cNvSpPr txBox="1"/>
          <p:nvPr userDrawn="1"/>
        </p:nvSpPr>
        <p:spPr>
          <a:xfrm>
            <a:off x="1006056" y="2770244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 err="1">
                <a:solidFill>
                  <a:srgbClr val="FFFF00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dirty="0">
                <a:solidFill>
                  <a:srgbClr val="FFFF00"/>
                </a:solidFill>
                <a:latin typeface="Gotham HTF" pitchFamily="2" charset="0"/>
                <a:cs typeface="Gotham-Bold"/>
              </a:rPr>
              <a:t> de </a:t>
            </a:r>
            <a:r>
              <a:rPr lang="en-US" sz="3200" b="1" dirty="0" err="1">
                <a:solidFill>
                  <a:srgbClr val="FFFF00"/>
                </a:solidFill>
                <a:latin typeface="Gotham HTF" pitchFamily="2" charset="0"/>
                <a:cs typeface="Gotham-Bold"/>
              </a:rPr>
              <a:t>Computação</a:t>
            </a:r>
            <a:endParaRPr lang="en-US" sz="3200" b="1" dirty="0">
              <a:solidFill>
                <a:srgbClr val="FFFF00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5" name="Rectangle 22"/>
          <p:cNvSpPr/>
          <p:nvPr userDrawn="1"/>
        </p:nvSpPr>
        <p:spPr>
          <a:xfrm flipH="1">
            <a:off x="759004" y="2895819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3" r:id="rId10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Garamond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694934" cy="1455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+mn-lt"/>
                <a:cs typeface="Gotham-Bold"/>
              </a:rPr>
              <a:t>Copyright © 2015  Prof. Leandro </a:t>
            </a:r>
            <a:r>
              <a:rPr kumimoji="1" lang="en-US" sz="2000" b="1" dirty="0" err="1">
                <a:solidFill>
                  <a:schemeClr val="bg1"/>
                </a:solidFill>
                <a:latin typeface="+mn-lt"/>
                <a:cs typeface="Gotham-Bold"/>
              </a:rPr>
              <a:t>Rubim</a:t>
            </a:r>
            <a:endParaRPr kumimoji="1" lang="en-US" sz="2000" b="1" dirty="0">
              <a:solidFill>
                <a:schemeClr val="bg1"/>
              </a:solidFill>
              <a:latin typeface="+mn-lt"/>
              <a:cs typeface="Gotham-Bold"/>
            </a:endParaRP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+mn-lt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+mn-lt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+mn-lt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+mn-lt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+mn-lt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+mn-lt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+mn-lt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+mn-lt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+mn-lt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+mn-lt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+mn-lt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+mn-lt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+mn-lt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+mn-lt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+mn-lt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+mn-lt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+mn-lt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+mn-lt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+mn-lt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+mn-lt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+mn-lt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+mn-lt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+mn-lt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+mn-lt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+mn-lt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+mn-lt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+mn-lt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+mn-lt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+mn-lt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+mn-lt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+mn-lt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0"/>
          <p:cNvSpPr txBox="1"/>
          <p:nvPr/>
        </p:nvSpPr>
        <p:spPr>
          <a:xfrm>
            <a:off x="1042704" y="3241964"/>
            <a:ext cx="7032517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200" b="1" dirty="0" err="1">
                <a:solidFill>
                  <a:schemeClr val="bg1"/>
                </a:solidFill>
                <a:latin typeface="Gotham-Book"/>
                <a:cs typeface="Gotham-Book"/>
              </a:rPr>
              <a:t>Estruturas</a:t>
            </a:r>
            <a:r>
              <a:rPr lang="en-US" sz="2200" b="1" dirty="0">
                <a:solidFill>
                  <a:schemeClr val="bg1"/>
                </a:solidFill>
                <a:latin typeface="Gotham-Book"/>
                <a:cs typeface="Gotham-Book"/>
              </a:rPr>
              <a:t> de Dados </a:t>
            </a:r>
            <a:r>
              <a:rPr lang="en-US" sz="2200" b="1" dirty="0" err="1">
                <a:solidFill>
                  <a:schemeClr val="bg1"/>
                </a:solidFill>
                <a:latin typeface="Gotham-Book"/>
                <a:cs typeface="Gotham-Book"/>
              </a:rPr>
              <a:t>Heterogêneas</a:t>
            </a:r>
            <a:r>
              <a:rPr lang="en-US" sz="2200" b="1" dirty="0">
                <a:solidFill>
                  <a:schemeClr val="bg1"/>
                </a:solidFill>
                <a:latin typeface="Gotham-Book"/>
                <a:cs typeface="Gotham-Book"/>
              </a:rPr>
              <a:t> – </a:t>
            </a:r>
            <a:r>
              <a:rPr lang="en-US" sz="2200" b="1" dirty="0" err="1">
                <a:solidFill>
                  <a:schemeClr val="bg1"/>
                </a:solidFill>
                <a:latin typeface="Gotham-Book"/>
                <a:cs typeface="Gotham-Book"/>
              </a:rPr>
              <a:t>struct</a:t>
            </a:r>
            <a:endParaRPr lang="en-US" sz="2200" b="1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90000"/>
              </a:lnSpc>
            </a:pPr>
            <a:endParaRPr lang="en-US" sz="2200" dirty="0">
              <a:solidFill>
                <a:srgbClr val="FFFFFF"/>
              </a:solidFill>
              <a:latin typeface="Gotham-Book"/>
              <a:cs typeface="Gotham-Book"/>
            </a:endParaRPr>
          </a:p>
          <a:p>
            <a:pPr>
              <a:lnSpc>
                <a:spcPct val="90000"/>
              </a:lnSpc>
            </a:pPr>
            <a:r>
              <a:rPr lang="en-US" sz="2200" dirty="0" err="1">
                <a:solidFill>
                  <a:srgbClr val="FFFFFF"/>
                </a:solidFill>
                <a:latin typeface="Gotham-Book"/>
                <a:cs typeface="Gotham-Book"/>
              </a:rPr>
              <a:t>Algoritmos</a:t>
            </a: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 de Alta Performance</a:t>
            </a:r>
          </a:p>
        </p:txBody>
      </p:sp>
      <p:sp>
        <p:nvSpPr>
          <p:cNvPr id="5" name="TextBox 21"/>
          <p:cNvSpPr txBox="1"/>
          <p:nvPr/>
        </p:nvSpPr>
        <p:spPr>
          <a:xfrm>
            <a:off x="1042704" y="4485205"/>
            <a:ext cx="686626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FFFFFF"/>
                </a:solidFill>
                <a:latin typeface="Gotham-Bold"/>
                <a:cs typeface="Gotham-Bold"/>
              </a:rPr>
              <a:t>Profa</a:t>
            </a: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: </a:t>
            </a:r>
            <a:r>
              <a:rPr lang="en-US" dirty="0" err="1">
                <a:solidFill>
                  <a:srgbClr val="FFFFFF"/>
                </a:solidFill>
                <a:latin typeface="Gotham-Bold"/>
                <a:cs typeface="Gotham-Bold"/>
              </a:rPr>
              <a:t>Patrícia</a:t>
            </a: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 Magna  - profpatricia.magna@fiap.com.br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rgbClr val="FFFFFF"/>
              </a:solidFill>
              <a:latin typeface="Gotham-Bold"/>
              <a:cs typeface="Gotham-Bold"/>
            </a:endParaRPr>
          </a:p>
        </p:txBody>
      </p:sp>
    </p:spTree>
    <p:extLst>
      <p:ext uri="{BB962C8B-B14F-4D97-AF65-F5344CB8AC3E}">
        <p14:creationId xmlns:p14="http://schemas.microsoft.com/office/powerpoint/2010/main" val="1418144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0" dirty="0">
                <a:latin typeface="+mn-lt"/>
              </a:rPr>
              <a:t>O que são Registros?</a:t>
            </a:r>
          </a:p>
        </p:txBody>
      </p:sp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862641" y="1600200"/>
            <a:ext cx="4722233" cy="4525963"/>
          </a:xfrm>
        </p:spPr>
        <p:txBody>
          <a:bodyPr/>
          <a:lstStyle/>
          <a:p>
            <a:r>
              <a:rPr lang="pt-BR" dirty="0"/>
              <a:t>Toda vez que nos cadastramos em algum curso, evento, serviço, </a:t>
            </a:r>
            <a:r>
              <a:rPr lang="pt-BR" dirty="0" err="1"/>
              <a:t>etc</a:t>
            </a:r>
            <a:r>
              <a:rPr lang="pt-BR" dirty="0"/>
              <a:t> preenchemos uma ficha.</a:t>
            </a:r>
          </a:p>
          <a:p>
            <a:r>
              <a:rPr lang="pt-BR" dirty="0"/>
              <a:t>Cada ficha cria-se um </a:t>
            </a:r>
            <a:r>
              <a:rPr lang="pt-BR" b="1" dirty="0"/>
              <a:t>registro</a:t>
            </a:r>
            <a:r>
              <a:rPr lang="pt-BR" dirty="0"/>
              <a:t> com nossos dados.</a:t>
            </a:r>
          </a:p>
          <a:p>
            <a:endParaRPr lang="pt-BR" dirty="0"/>
          </a:p>
          <a:p>
            <a:r>
              <a:rPr lang="pt-BR" dirty="0"/>
              <a:t>Como criar um registro em programação?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84874" y="1223889"/>
            <a:ext cx="3441597" cy="4170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dirty="0" err="1">
                <a:cs typeface="Gotham-Book"/>
              </a:rPr>
              <a:t>Estruturas</a:t>
            </a:r>
            <a:r>
              <a:rPr lang="en-US" sz="2800" dirty="0">
                <a:cs typeface="Gotham-Book"/>
              </a:rPr>
              <a:t> de Dados </a:t>
            </a:r>
            <a:r>
              <a:rPr lang="en-US" sz="2800" dirty="0" err="1">
                <a:cs typeface="Gotham-Book"/>
              </a:rPr>
              <a:t>Heterogêneas</a:t>
            </a:r>
            <a:r>
              <a:rPr lang="en-US" sz="2800" dirty="0">
                <a:cs typeface="Gotham-Book"/>
              </a:rPr>
              <a:t> - </a:t>
            </a:r>
            <a:r>
              <a:rPr lang="en-US" sz="2800" dirty="0" err="1">
                <a:cs typeface="Gotham-Book"/>
              </a:rPr>
              <a:t>Registros</a:t>
            </a:r>
            <a:endParaRPr lang="en-US" sz="2800" dirty="0">
              <a:cs typeface="Gotham-Book"/>
            </a:endParaRP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idx="1"/>
          </p:nvPr>
        </p:nvSpPr>
        <p:spPr>
          <a:xfrm>
            <a:off x="403918" y="1316730"/>
            <a:ext cx="7483472" cy="639762"/>
          </a:xfrm>
        </p:spPr>
        <p:txBody>
          <a:bodyPr>
            <a:normAutofit/>
          </a:bodyPr>
          <a:lstStyle/>
          <a:p>
            <a:r>
              <a:rPr lang="en-US" sz="3200" dirty="0" err="1">
                <a:solidFill>
                  <a:srgbClr val="0000FF"/>
                </a:solidFill>
                <a:cs typeface="Gotham-Book"/>
              </a:rPr>
              <a:t>Definições</a:t>
            </a:r>
            <a:endParaRPr lang="en-US" sz="3200" dirty="0">
              <a:solidFill>
                <a:srgbClr val="0000FF"/>
              </a:solidFill>
              <a:cs typeface="Gotham-Book"/>
            </a:endParaRPr>
          </a:p>
        </p:txBody>
      </p:sp>
      <p:sp>
        <p:nvSpPr>
          <p:cNvPr id="5" name="Espaço Reservado para Conteúdo 4"/>
          <p:cNvSpPr>
            <a:spLocks noGrp="1"/>
          </p:cNvSpPr>
          <p:nvPr>
            <p:ph sz="half" idx="2"/>
          </p:nvPr>
        </p:nvSpPr>
        <p:spPr>
          <a:xfrm>
            <a:off x="434386" y="1953897"/>
            <a:ext cx="8273515" cy="2262503"/>
          </a:xfrm>
        </p:spPr>
        <p:txBody>
          <a:bodyPr>
            <a:normAutofit/>
          </a:bodyPr>
          <a:lstStyle/>
          <a:p>
            <a:r>
              <a:rPr lang="pt-BR" sz="1800" dirty="0">
                <a:solidFill>
                  <a:srgbClr val="303030"/>
                </a:solidFill>
                <a:cs typeface="Gotham-Book"/>
              </a:rPr>
              <a:t>Uma estrutura de dados heterogênea é um conjunto de um ou mais dados, possivelmente de tipos diferentes, colocados juntos como uma única variável. </a:t>
            </a:r>
          </a:p>
          <a:p>
            <a:r>
              <a:rPr lang="pt-BR" sz="1800" dirty="0">
                <a:solidFill>
                  <a:srgbClr val="303030"/>
                </a:solidFill>
                <a:cs typeface="Gotham-Book"/>
              </a:rPr>
              <a:t>Em algoritmos, esse tipo de variável é chamado de </a:t>
            </a:r>
            <a:r>
              <a:rPr lang="pt-BR" sz="1800" b="1" dirty="0">
                <a:solidFill>
                  <a:srgbClr val="303030"/>
                </a:solidFill>
                <a:cs typeface="Gotham-Book"/>
              </a:rPr>
              <a:t>registro</a:t>
            </a:r>
            <a:r>
              <a:rPr lang="pt-BR" sz="1800" dirty="0">
                <a:solidFill>
                  <a:srgbClr val="303030"/>
                </a:solidFill>
                <a:cs typeface="Gotham-Book"/>
              </a:rPr>
              <a:t>. </a:t>
            </a:r>
          </a:p>
          <a:p>
            <a:r>
              <a:rPr lang="pt-BR" sz="1800" dirty="0">
                <a:solidFill>
                  <a:srgbClr val="303030"/>
                </a:solidFill>
                <a:cs typeface="Gotham-Book"/>
              </a:rPr>
              <a:t>Cada informação contida em uma estrutura é denominada de </a:t>
            </a:r>
            <a:r>
              <a:rPr lang="pt-BR" sz="1800" b="1" dirty="0">
                <a:solidFill>
                  <a:srgbClr val="303030"/>
                </a:solidFill>
                <a:cs typeface="Gotham-Book"/>
              </a:rPr>
              <a:t>campo</a:t>
            </a:r>
            <a:r>
              <a:rPr lang="pt-BR" sz="1800" dirty="0">
                <a:solidFill>
                  <a:srgbClr val="303030"/>
                </a:solidFill>
                <a:cs typeface="Gotham-Book"/>
              </a:rPr>
              <a:t> ou </a:t>
            </a:r>
            <a:r>
              <a:rPr lang="pt-BR" sz="1800" b="1" dirty="0">
                <a:solidFill>
                  <a:srgbClr val="303030"/>
                </a:solidFill>
                <a:cs typeface="Gotham-Book"/>
              </a:rPr>
              <a:t>membro</a:t>
            </a:r>
            <a:r>
              <a:rPr lang="pt-BR" sz="1800" dirty="0">
                <a:solidFill>
                  <a:srgbClr val="303030"/>
                </a:solidFill>
                <a:cs typeface="Gotham-Book"/>
              </a:rPr>
              <a:t>. </a:t>
            </a:r>
          </a:p>
          <a:p>
            <a:r>
              <a:rPr lang="pt-BR" sz="1800" dirty="0">
                <a:solidFill>
                  <a:srgbClr val="303030"/>
                </a:solidFill>
                <a:cs typeface="Gotham-Book"/>
              </a:rPr>
              <a:t>Por ser composta de informações que podem ser de vários tipos um registro é classificada como sendo uma estrutura de dados heterogênea. </a:t>
            </a:r>
          </a:p>
          <a:p>
            <a:endParaRPr lang="en-US" sz="1800" dirty="0">
              <a:solidFill>
                <a:srgbClr val="303030"/>
              </a:solidFill>
              <a:cs typeface="Gotham-Book"/>
            </a:endParaRPr>
          </a:p>
          <a:p>
            <a:pPr marL="0" indent="0">
              <a:buNone/>
            </a:pPr>
            <a:endParaRPr lang="pt-BR" sz="1800" dirty="0"/>
          </a:p>
        </p:txBody>
      </p:sp>
      <p:grpSp>
        <p:nvGrpSpPr>
          <p:cNvPr id="12" name="Grupo 11"/>
          <p:cNvGrpSpPr/>
          <p:nvPr/>
        </p:nvGrpSpPr>
        <p:grpSpPr>
          <a:xfrm>
            <a:off x="4625395" y="5229845"/>
            <a:ext cx="3774972" cy="1236097"/>
            <a:chOff x="4285816" y="4704130"/>
            <a:chExt cx="3774972" cy="1236097"/>
          </a:xfrm>
        </p:grpSpPr>
        <p:sp>
          <p:nvSpPr>
            <p:cNvPr id="6" name="Retângulo de cantos arredondados 5"/>
            <p:cNvSpPr/>
            <p:nvPr/>
          </p:nvSpPr>
          <p:spPr>
            <a:xfrm>
              <a:off x="4285816" y="5132927"/>
              <a:ext cx="3057525" cy="807300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/>
            </a:p>
          </p:txBody>
        </p:sp>
        <p:grpSp>
          <p:nvGrpSpPr>
            <p:cNvPr id="11" name="Grupo 10"/>
            <p:cNvGrpSpPr/>
            <p:nvPr/>
          </p:nvGrpSpPr>
          <p:grpSpPr>
            <a:xfrm>
              <a:off x="4285816" y="4704130"/>
              <a:ext cx="3774972" cy="1236097"/>
              <a:chOff x="4285816" y="4704130"/>
              <a:chExt cx="3774972" cy="1236097"/>
            </a:xfrm>
          </p:grpSpPr>
          <p:sp>
            <p:nvSpPr>
              <p:cNvPr id="7" name="Retângulo 6"/>
              <p:cNvSpPr/>
              <p:nvPr/>
            </p:nvSpPr>
            <p:spPr>
              <a:xfrm>
                <a:off x="4285816" y="5109230"/>
                <a:ext cx="3774972" cy="83099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pt-BR" sz="1200" b="1" dirty="0"/>
                  <a:t>Nome: </a:t>
                </a:r>
                <a:r>
                  <a:rPr lang="pt-BR" sz="1200" b="1" u="sng" dirty="0"/>
                  <a:t>			</a:t>
                </a:r>
                <a:endParaRPr lang="pt-BR" sz="1200" dirty="0"/>
              </a:p>
              <a:p>
                <a:r>
                  <a:rPr lang="pt-BR" sz="1200" b="1" dirty="0"/>
                  <a:t>RM:   </a:t>
                </a:r>
                <a:r>
                  <a:rPr lang="pt-BR" sz="1200" b="1" u="sng" dirty="0"/>
                  <a:t>			</a:t>
                </a:r>
                <a:endParaRPr lang="pt-BR" sz="1200" dirty="0"/>
              </a:p>
              <a:p>
                <a:r>
                  <a:rPr lang="pt-BR" sz="1200" b="1" dirty="0"/>
                  <a:t>Curso: </a:t>
                </a:r>
                <a:r>
                  <a:rPr lang="pt-BR" sz="1200" b="1" u="sng" dirty="0"/>
                  <a:t>			</a:t>
                </a:r>
                <a:endParaRPr lang="pt-BR" sz="1200" dirty="0"/>
              </a:p>
              <a:p>
                <a:r>
                  <a:rPr lang="pt-BR" sz="1200" b="1" dirty="0"/>
                  <a:t>Ano:</a:t>
                </a:r>
                <a:r>
                  <a:rPr lang="pt-BR" sz="1200" b="1" u="sng" dirty="0"/>
                  <a:t> 			</a:t>
                </a:r>
                <a:endParaRPr lang="pt-BR" sz="1200" dirty="0"/>
              </a:p>
            </p:txBody>
          </p:sp>
          <p:sp>
            <p:nvSpPr>
              <p:cNvPr id="8" name="CaixaDeTexto 7"/>
              <p:cNvSpPr txBox="1"/>
              <p:nvPr/>
            </p:nvSpPr>
            <p:spPr>
              <a:xfrm>
                <a:off x="4285816" y="4704130"/>
                <a:ext cx="37749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b="1" dirty="0">
                    <a:solidFill>
                      <a:srgbClr val="FF0000"/>
                    </a:solidFill>
                  </a:rPr>
                  <a:t>Exemplo registro de um aluno</a:t>
                </a:r>
              </a:p>
            </p:txBody>
          </p:sp>
        </p:grpSp>
      </p:grpSp>
      <p:pic>
        <p:nvPicPr>
          <p:cNvPr id="9" name="Picture 2" descr="Somos Todos Extraordinários, de R. J. Palácio | Resenha | Vai Lend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386" y="4369505"/>
            <a:ext cx="3711268" cy="172068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21320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dirty="0" err="1">
                <a:cs typeface="Gotham-Book"/>
              </a:rPr>
              <a:t>Estruturas</a:t>
            </a:r>
            <a:r>
              <a:rPr lang="en-US" sz="2800" dirty="0">
                <a:cs typeface="Gotham-Book"/>
              </a:rPr>
              <a:t> de Dados </a:t>
            </a:r>
            <a:r>
              <a:rPr lang="en-US" sz="2800" dirty="0" err="1">
                <a:cs typeface="Gotham-Book"/>
              </a:rPr>
              <a:t>Heterogêneas</a:t>
            </a:r>
            <a:r>
              <a:rPr lang="en-US" sz="2800" dirty="0">
                <a:cs typeface="Gotham-Book"/>
              </a:rPr>
              <a:t> - </a:t>
            </a:r>
            <a:r>
              <a:rPr lang="en-US" sz="2800" dirty="0" err="1">
                <a:cs typeface="Gotham-Book"/>
              </a:rPr>
              <a:t>Registros</a:t>
            </a:r>
            <a:endParaRPr lang="en-US" sz="2800" dirty="0">
              <a:cs typeface="Gotham-Book"/>
            </a:endParaRP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idx="1"/>
          </p:nvPr>
        </p:nvSpPr>
        <p:spPr>
          <a:xfrm>
            <a:off x="511629" y="1170170"/>
            <a:ext cx="7858648" cy="639762"/>
          </a:xfrm>
        </p:spPr>
        <p:txBody>
          <a:bodyPr>
            <a:normAutofit fontScale="85000" lnSpcReduction="10000"/>
          </a:bodyPr>
          <a:lstStyle/>
          <a:p>
            <a:r>
              <a:rPr lang="en-US" sz="3200" dirty="0" err="1">
                <a:solidFill>
                  <a:srgbClr val="0133BF"/>
                </a:solidFill>
                <a:cs typeface="Gotham-Book"/>
              </a:rPr>
              <a:t>Exemplo</a:t>
            </a:r>
            <a:r>
              <a:rPr lang="en-US" sz="3200" dirty="0">
                <a:solidFill>
                  <a:srgbClr val="0133BF"/>
                </a:solidFill>
                <a:cs typeface="Gotham-Book"/>
              </a:rPr>
              <a:t>: </a:t>
            </a:r>
            <a:r>
              <a:rPr lang="en-US" sz="3200" dirty="0" err="1">
                <a:solidFill>
                  <a:srgbClr val="0133BF"/>
                </a:solidFill>
                <a:cs typeface="Gotham-Book"/>
              </a:rPr>
              <a:t>registro</a:t>
            </a:r>
            <a:r>
              <a:rPr lang="en-US" sz="3200" dirty="0">
                <a:solidFill>
                  <a:srgbClr val="0133BF"/>
                </a:solidFill>
                <a:cs typeface="Gotham-Book"/>
              </a:rPr>
              <a:t> com </a:t>
            </a:r>
            <a:r>
              <a:rPr lang="en-US" sz="3200" dirty="0" err="1">
                <a:solidFill>
                  <a:srgbClr val="0133BF"/>
                </a:solidFill>
                <a:cs typeface="Gotham-Book"/>
              </a:rPr>
              <a:t>informações</a:t>
            </a:r>
            <a:r>
              <a:rPr lang="en-US" sz="3200" dirty="0">
                <a:solidFill>
                  <a:srgbClr val="0133BF"/>
                </a:solidFill>
                <a:cs typeface="Gotham-Book"/>
              </a:rPr>
              <a:t> de um </a:t>
            </a:r>
            <a:r>
              <a:rPr lang="en-US" sz="3200" dirty="0" err="1">
                <a:solidFill>
                  <a:srgbClr val="0133BF"/>
                </a:solidFill>
                <a:cs typeface="Gotham-Book"/>
              </a:rPr>
              <a:t>caderno</a:t>
            </a:r>
            <a:endParaRPr lang="en-US" sz="3200" dirty="0">
              <a:solidFill>
                <a:srgbClr val="0133BF"/>
              </a:solidFill>
              <a:cs typeface="Gotham-Book"/>
            </a:endParaRPr>
          </a:p>
        </p:txBody>
      </p:sp>
      <p:sp>
        <p:nvSpPr>
          <p:cNvPr id="5" name="Espaço Reservado para Conteúdo 4"/>
          <p:cNvSpPr>
            <a:spLocks noGrp="1"/>
          </p:cNvSpPr>
          <p:nvPr>
            <p:ph sz="half" idx="2"/>
          </p:nvPr>
        </p:nvSpPr>
        <p:spPr>
          <a:xfrm>
            <a:off x="511629" y="1786235"/>
            <a:ext cx="8196942" cy="4719387"/>
          </a:xfrm>
        </p:spPr>
        <p:txBody>
          <a:bodyPr>
            <a:normAutofit/>
          </a:bodyPr>
          <a:lstStyle/>
          <a:p>
            <a:r>
              <a:rPr lang="pt-BR" sz="1800" dirty="0"/>
              <a:t>Para uma papelaria seria necessário que o registro do caderno na loja possua os seguintes campos: </a:t>
            </a:r>
          </a:p>
          <a:p>
            <a:pPr lvl="1">
              <a:buNone/>
            </a:pPr>
            <a:endParaRPr lang="pt-BR" dirty="0">
              <a:solidFill>
                <a:srgbClr val="303030"/>
              </a:solidFill>
              <a:cs typeface="Gotham-Book"/>
            </a:endParaRPr>
          </a:p>
          <a:p>
            <a:pPr lvl="1">
              <a:buNone/>
            </a:pPr>
            <a:r>
              <a:rPr lang="pt-BR" b="1" dirty="0"/>
              <a:t>	Registro  </a:t>
            </a:r>
            <a:r>
              <a:rPr lang="pt-BR" b="1" dirty="0" err="1"/>
              <a:t>Caderno_Papelaria</a:t>
            </a:r>
            <a:endParaRPr lang="pt-BR" dirty="0">
              <a:solidFill>
                <a:srgbClr val="303030"/>
              </a:solidFill>
              <a:cs typeface="Gotham-Book"/>
            </a:endParaRPr>
          </a:p>
          <a:p>
            <a:pPr lvl="1">
              <a:buNone/>
            </a:pPr>
            <a:endParaRPr lang="pt-BR" dirty="0">
              <a:solidFill>
                <a:srgbClr val="303030"/>
              </a:solidFill>
              <a:cs typeface="Gotham-Book"/>
            </a:endParaRPr>
          </a:p>
          <a:p>
            <a:pPr lvl="1">
              <a:buNone/>
            </a:pPr>
            <a:endParaRPr lang="pt-BR" dirty="0">
              <a:solidFill>
                <a:srgbClr val="303030"/>
              </a:solidFill>
              <a:cs typeface="Gotham-Book"/>
            </a:endParaRPr>
          </a:p>
          <a:p>
            <a:r>
              <a:rPr lang="pt-BR" sz="1800" dirty="0"/>
              <a:t>Já para um estudante muito organizado o caderno deveria possuir os seguintes campos: </a:t>
            </a:r>
          </a:p>
          <a:p>
            <a:endParaRPr lang="pt-BR" sz="1800" dirty="0"/>
          </a:p>
          <a:p>
            <a:pPr>
              <a:buNone/>
            </a:pPr>
            <a:r>
              <a:rPr lang="pt-BR" b="1" dirty="0"/>
              <a:t>			Registro   </a:t>
            </a:r>
            <a:r>
              <a:rPr lang="pt-BR" b="1" dirty="0" err="1"/>
              <a:t>Caderno_Aluno</a:t>
            </a:r>
            <a:endParaRPr lang="pt-BR" b="1" dirty="0"/>
          </a:p>
          <a:p>
            <a:pPr>
              <a:buNone/>
            </a:pPr>
            <a:endParaRPr lang="pt-BR" sz="1800" dirty="0"/>
          </a:p>
        </p:txBody>
      </p:sp>
      <p:sp>
        <p:nvSpPr>
          <p:cNvPr id="2" name="CaixaDeTexto 1"/>
          <p:cNvSpPr txBox="1"/>
          <p:nvPr/>
        </p:nvSpPr>
        <p:spPr>
          <a:xfrm>
            <a:off x="1561514" y="5380672"/>
            <a:ext cx="5992837" cy="1200329"/>
          </a:xfrm>
          <a:prstGeom prst="rect">
            <a:avLst/>
          </a:prstGeom>
          <a:solidFill>
            <a:srgbClr val="FFC000">
              <a:alpha val="58000"/>
            </a:srgbClr>
          </a:solidFill>
        </p:spPr>
        <p:txBody>
          <a:bodyPr wrap="square" rtlCol="0">
            <a:spAutoFit/>
          </a:bodyPr>
          <a:lstStyle/>
          <a:p>
            <a:r>
              <a:rPr lang="pt-BR" b="1" dirty="0"/>
              <a:t>Portanto</a:t>
            </a:r>
            <a:r>
              <a:rPr lang="pt-BR" dirty="0"/>
              <a:t>:</a:t>
            </a:r>
          </a:p>
          <a:p>
            <a:r>
              <a:rPr lang="pt-BR" dirty="0"/>
              <a:t>Não há uma única definição de como cada objeto do mundo real deve ser modelado para ser usado na programação de uma aplicação.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4473879" y="4291736"/>
            <a:ext cx="3774972" cy="830997"/>
            <a:chOff x="4285816" y="5109230"/>
            <a:chExt cx="3774972" cy="830997"/>
          </a:xfrm>
        </p:grpSpPr>
        <p:sp>
          <p:nvSpPr>
            <p:cNvPr id="7" name="Retângulo de cantos arredondados 6"/>
            <p:cNvSpPr/>
            <p:nvPr/>
          </p:nvSpPr>
          <p:spPr>
            <a:xfrm>
              <a:off x="4285816" y="5132927"/>
              <a:ext cx="3057525" cy="807300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/>
            </a:p>
          </p:txBody>
        </p:sp>
        <p:sp>
          <p:nvSpPr>
            <p:cNvPr id="9" name="Retângulo 8"/>
            <p:cNvSpPr/>
            <p:nvPr/>
          </p:nvSpPr>
          <p:spPr>
            <a:xfrm>
              <a:off x="4285816" y="5109230"/>
              <a:ext cx="3774972" cy="83099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pt-BR" sz="1200" b="1" dirty="0"/>
                <a:t>Curso: </a:t>
              </a:r>
              <a:r>
                <a:rPr lang="pt-BR" sz="1200" b="1" u="sng" dirty="0"/>
                <a:t>			</a:t>
              </a:r>
              <a:endParaRPr lang="pt-BR" sz="1200" dirty="0"/>
            </a:p>
            <a:p>
              <a:r>
                <a:rPr lang="pt-BR" sz="1200" b="1" dirty="0"/>
                <a:t>Disciplina:   </a:t>
              </a:r>
              <a:r>
                <a:rPr lang="pt-BR" sz="1200" b="1" u="sng" dirty="0"/>
                <a:t>			</a:t>
              </a:r>
              <a:endParaRPr lang="pt-BR" sz="1200" dirty="0"/>
            </a:p>
            <a:p>
              <a:r>
                <a:rPr lang="pt-BR" sz="1200" b="1" dirty="0"/>
                <a:t>Professor: </a:t>
              </a:r>
              <a:r>
                <a:rPr lang="pt-BR" sz="1200" b="1" u="sng" dirty="0"/>
                <a:t>			</a:t>
              </a:r>
              <a:endParaRPr lang="pt-BR" sz="1200" dirty="0"/>
            </a:p>
            <a:p>
              <a:r>
                <a:rPr lang="pt-BR" sz="1200" b="1" dirty="0"/>
                <a:t>Ano:</a:t>
              </a:r>
              <a:r>
                <a:rPr lang="pt-BR" sz="1200" b="1" u="sng" dirty="0"/>
                <a:t> 			</a:t>
              </a:r>
              <a:endParaRPr lang="pt-BR" sz="1200" dirty="0"/>
            </a:p>
          </p:txBody>
        </p:sp>
      </p:grpSp>
      <p:grpSp>
        <p:nvGrpSpPr>
          <p:cNvPr id="11" name="Grupo 10"/>
          <p:cNvGrpSpPr/>
          <p:nvPr/>
        </p:nvGrpSpPr>
        <p:grpSpPr>
          <a:xfrm>
            <a:off x="4473879" y="2458246"/>
            <a:ext cx="3774972" cy="830997"/>
            <a:chOff x="4285816" y="5109230"/>
            <a:chExt cx="3774972" cy="830997"/>
          </a:xfrm>
        </p:grpSpPr>
        <p:sp>
          <p:nvSpPr>
            <p:cNvPr id="12" name="Retângulo de cantos arredondados 11"/>
            <p:cNvSpPr/>
            <p:nvPr/>
          </p:nvSpPr>
          <p:spPr>
            <a:xfrm>
              <a:off x="4285816" y="5132927"/>
              <a:ext cx="3057525" cy="807300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/>
            </a:p>
          </p:txBody>
        </p:sp>
        <p:sp>
          <p:nvSpPr>
            <p:cNvPr id="13" name="Retângulo 12"/>
            <p:cNvSpPr/>
            <p:nvPr/>
          </p:nvSpPr>
          <p:spPr>
            <a:xfrm>
              <a:off x="4285816" y="5109230"/>
              <a:ext cx="3774972" cy="83099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pt-BR" sz="1200" b="1" dirty="0"/>
                <a:t>Fabricante: </a:t>
              </a:r>
              <a:r>
                <a:rPr lang="pt-BR" sz="1200" b="1" u="sng" dirty="0"/>
                <a:t>			</a:t>
              </a:r>
              <a:endParaRPr lang="pt-BR" sz="1200" dirty="0"/>
            </a:p>
            <a:p>
              <a:r>
                <a:rPr lang="pt-BR" sz="1200" b="1" dirty="0"/>
                <a:t>Número de Folhas:   </a:t>
              </a:r>
              <a:r>
                <a:rPr lang="pt-BR" sz="1200" b="1" u="sng" dirty="0"/>
                <a:t>		</a:t>
              </a:r>
              <a:endParaRPr lang="pt-BR" sz="1200" dirty="0"/>
            </a:p>
            <a:p>
              <a:r>
                <a:rPr lang="pt-BR" sz="1200" b="1" dirty="0"/>
                <a:t>Tipo de Capa: </a:t>
              </a:r>
              <a:r>
                <a:rPr lang="pt-BR" sz="1200" b="1" u="sng" dirty="0"/>
                <a:t>			</a:t>
              </a:r>
              <a:endParaRPr lang="pt-BR" sz="1200" dirty="0"/>
            </a:p>
            <a:p>
              <a:r>
                <a:rPr lang="pt-BR" sz="1200" b="1" dirty="0"/>
                <a:t>Preço:</a:t>
              </a:r>
              <a:r>
                <a:rPr lang="pt-BR" sz="1200" b="1" u="sng" dirty="0"/>
                <a:t> 			</a:t>
              </a:r>
              <a:endParaRPr lang="pt-B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717506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620" y="1296519"/>
            <a:ext cx="7738679" cy="1112736"/>
          </a:xfrm>
        </p:spPr>
        <p:txBody>
          <a:bodyPr>
            <a:noAutofit/>
          </a:bodyPr>
          <a:lstStyle/>
          <a:p>
            <a:r>
              <a:rPr lang="pt-BR" b="0" dirty="0">
                <a:latin typeface="+mj-lt"/>
                <a:cs typeface="Gotham-Book"/>
              </a:rPr>
              <a:t>Registros em Java são representados por </a:t>
            </a:r>
            <a:r>
              <a:rPr lang="pt-BR" dirty="0">
                <a:solidFill>
                  <a:srgbClr val="FF0000"/>
                </a:solidFill>
                <a:latin typeface="+mj-lt"/>
                <a:cs typeface="Gotham-Book"/>
              </a:rPr>
              <a:t>classes</a:t>
            </a:r>
            <a:r>
              <a:rPr lang="pt-BR" b="0" dirty="0">
                <a:latin typeface="+mj-lt"/>
                <a:cs typeface="Gotham-Book"/>
              </a:rPr>
              <a:t> definidas pelo programador, nas quais os campos são chamados variáveis de instância ou </a:t>
            </a:r>
            <a:r>
              <a:rPr lang="pt-BR" dirty="0">
                <a:latin typeface="+mj-lt"/>
                <a:cs typeface="Gotham-Book"/>
              </a:rPr>
              <a:t>atributos</a:t>
            </a:r>
            <a:r>
              <a:rPr lang="pt-BR" b="0" dirty="0">
                <a:latin typeface="+mj-lt"/>
                <a:cs typeface="Gotham-Book"/>
              </a:rPr>
              <a:t>.</a:t>
            </a: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>
                <a:cs typeface="Gotham-Book"/>
              </a:rPr>
              <a:t>Registros</a:t>
            </a:r>
            <a:r>
              <a:rPr lang="en-US" sz="2400" dirty="0">
                <a:cs typeface="Gotham-Book"/>
              </a:rPr>
              <a:t> </a:t>
            </a:r>
            <a:r>
              <a:rPr lang="en-US" sz="2400" dirty="0" err="1">
                <a:cs typeface="Gotham-Book"/>
              </a:rPr>
              <a:t>em</a:t>
            </a:r>
            <a:r>
              <a:rPr lang="en-US" sz="2400" dirty="0">
                <a:cs typeface="Gotham-Book"/>
              </a:rPr>
              <a:t> JAVA</a:t>
            </a:r>
            <a:endParaRPr lang="pt-BR" sz="24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67A7639-369B-44B5-E44D-5FD1C5449731}"/>
              </a:ext>
            </a:extLst>
          </p:cNvPr>
          <p:cNvSpPr txBox="1"/>
          <p:nvPr/>
        </p:nvSpPr>
        <p:spPr>
          <a:xfrm>
            <a:off x="3332843" y="2551837"/>
            <a:ext cx="5417458" cy="17543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CadernoPapelaria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533400"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0000C0"/>
                </a:solidFill>
                <a:latin typeface="Consolas" panose="020B0609020204030204" pitchFamily="49" charset="0"/>
              </a:rPr>
              <a:t>fabricante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533400" algn="l"/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numFolhas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533400"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C0"/>
                </a:solidFill>
                <a:latin typeface="Consolas" panose="020B0609020204030204" pitchFamily="49" charset="0"/>
              </a:rPr>
              <a:t>tipoCapa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533400" algn="l"/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preco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033A0DD-DE82-2D8D-6F56-C693FCBBBF47}"/>
              </a:ext>
            </a:extLst>
          </p:cNvPr>
          <p:cNvSpPr txBox="1"/>
          <p:nvPr/>
        </p:nvSpPr>
        <p:spPr>
          <a:xfrm>
            <a:off x="776514" y="4571137"/>
            <a:ext cx="5281386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CadernoAluno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indent="444500"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0000C0"/>
                </a:solidFill>
                <a:latin typeface="Consolas" panose="020B0609020204030204" pitchFamily="49" charset="0"/>
              </a:rPr>
              <a:t>curso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800" dirty="0">
                <a:solidFill>
                  <a:srgbClr val="0000C0"/>
                </a:solidFill>
                <a:latin typeface="Consolas" panose="020B0609020204030204" pitchFamily="49" charset="0"/>
              </a:rPr>
              <a:t>disciplina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800" dirty="0">
                <a:solidFill>
                  <a:srgbClr val="0000C0"/>
                </a:solidFill>
                <a:latin typeface="Consolas" panose="020B0609020204030204" pitchFamily="49" charset="0"/>
              </a:rPr>
              <a:t>professor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44500" algn="l"/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>
                <a:solidFill>
                  <a:srgbClr val="0000C0"/>
                </a:solidFill>
                <a:latin typeface="Consolas" panose="020B0609020204030204" pitchFamily="49" charset="0"/>
              </a:rPr>
              <a:t>ano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09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CC68B-47B5-90D4-6E66-0DCE10968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1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8DE1A2-3B9F-73D3-1189-7D96AD5C1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379" y="1316730"/>
            <a:ext cx="7483472" cy="496994"/>
          </a:xfrm>
        </p:spPr>
        <p:txBody>
          <a:bodyPr/>
          <a:lstStyle/>
          <a:p>
            <a:r>
              <a:rPr lang="pt-BR" dirty="0">
                <a:latin typeface="+mn-lt"/>
              </a:rPr>
              <a:t>Cadastro de um registro de caderno de 1 aluno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69F4C56-76BF-C775-80B2-88FBB7D0954A}"/>
              </a:ext>
            </a:extLst>
          </p:cNvPr>
          <p:cNvSpPr txBox="1"/>
          <p:nvPr/>
        </p:nvSpPr>
        <p:spPr>
          <a:xfrm>
            <a:off x="381202" y="2126749"/>
            <a:ext cx="8597900" cy="45243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AplicacaoExemplo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algn="l"/>
            <a:endParaRPr lang="pt-BR" sz="1600" dirty="0">
              <a:latin typeface="Consolas" panose="020B0609020204030204" pitchFamily="49" charset="0"/>
            </a:endParaRPr>
          </a:p>
          <a:p>
            <a:pPr indent="355600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CadernoAluno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indent="723900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curso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disciplina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professor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723900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ano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355600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355600" algn="l"/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812800" algn="l"/>
            <a:r>
              <a:rPr lang="pt-BR" sz="16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CadernoAluno</a:t>
            </a:r>
            <a:r>
              <a:rPr lang="pt-BR" sz="16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caderno</a:t>
            </a:r>
            <a:r>
              <a:rPr lang="pt-BR" sz="16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pt-BR" sz="16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CadernoAluno</a:t>
            </a:r>
            <a:r>
              <a:rPr lang="pt-BR" sz="16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indent="812800" algn="l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caderno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curso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"Engenharia da </a:t>
            </a:r>
            <a:r>
              <a:rPr lang="pt-BR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Computacao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812800" algn="l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caderno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disciplina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"Algoritmos de Alta Performance"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812800" algn="l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caderno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professor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Patricia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 Magna"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812800" algn="l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caderno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ano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2023;</a:t>
            </a:r>
          </a:p>
          <a:p>
            <a:pPr indent="812800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"\t Curso: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caderno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curso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812800" algn="l"/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it-IT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it-IT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it-IT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"\t Disciplina: "</a:t>
            </a:r>
            <a:r>
              <a:rPr lang="it-IT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it-IT" sz="16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caderno</a:t>
            </a:r>
            <a:r>
              <a:rPr lang="it-IT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it-IT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disciplina</a:t>
            </a:r>
            <a:r>
              <a:rPr lang="it-IT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812800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"\t Professora: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caderno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professor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812800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"\t Ano: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pt-B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caderno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ano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355600" algn="l"/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o Explicativo: Linha com Ênfase 6">
            <a:extLst>
              <a:ext uri="{FF2B5EF4-FFF2-40B4-BE49-F238E27FC236}">
                <a16:creationId xmlns:a16="http://schemas.microsoft.com/office/drawing/2014/main" id="{49219115-3761-2F00-D621-4FF8734217FD}"/>
              </a:ext>
            </a:extLst>
          </p:cNvPr>
          <p:cNvSpPr/>
          <p:nvPr/>
        </p:nvSpPr>
        <p:spPr>
          <a:xfrm>
            <a:off x="6058102" y="2794000"/>
            <a:ext cx="2921000" cy="1028700"/>
          </a:xfrm>
          <a:prstGeom prst="accentCallout1">
            <a:avLst>
              <a:gd name="adj1" fmla="val 16281"/>
              <a:gd name="adj2" fmla="val -2246"/>
              <a:gd name="adj3" fmla="val 103858"/>
              <a:gd name="adj4" fmla="val -23550"/>
            </a:avLst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Devemos ler: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É instanciado o objeto caderno da classe </a:t>
            </a:r>
            <a:r>
              <a:rPr lang="pt-BR" dirty="0" err="1">
                <a:solidFill>
                  <a:schemeClr val="tx1"/>
                </a:solidFill>
              </a:rPr>
              <a:t>CadernoAluno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721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CC68B-47B5-90D4-6E66-0DCE1096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654" y="691213"/>
            <a:ext cx="7315197" cy="397308"/>
          </a:xfrm>
        </p:spPr>
        <p:txBody>
          <a:bodyPr/>
          <a:lstStyle/>
          <a:p>
            <a:r>
              <a:rPr lang="pt-BR" dirty="0"/>
              <a:t>Exemplo 2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8DE1A2-3B9F-73D3-1189-7D96AD5C1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378" y="981298"/>
            <a:ext cx="8023021" cy="1546002"/>
          </a:xfrm>
        </p:spPr>
        <p:txBody>
          <a:bodyPr>
            <a:noAutofit/>
          </a:bodyPr>
          <a:lstStyle/>
          <a:p>
            <a:r>
              <a:rPr lang="pt-BR" sz="1800" b="0" dirty="0">
                <a:latin typeface="+mn-lt"/>
              </a:rPr>
              <a:t>Definição do  registro </a:t>
            </a:r>
            <a:r>
              <a:rPr lang="pt-BR" sz="1800" dirty="0" err="1">
                <a:latin typeface="+mn-lt"/>
              </a:rPr>
              <a:t>CadernoPapelaria</a:t>
            </a:r>
            <a:r>
              <a:rPr lang="pt-BR" sz="1800" b="0" dirty="0">
                <a:latin typeface="+mn-lt"/>
              </a:rPr>
              <a:t> e seu uso na aplicação Papelaria, que será por 2 </a:t>
            </a:r>
            <a:r>
              <a:rPr lang="pt-BR" sz="1800" b="0" dirty="0"/>
              <a:t>motivos diferentes durante a execução da aplicação:</a:t>
            </a:r>
          </a:p>
          <a:p>
            <a:pPr marL="901700" lvl="1" indent="-457200">
              <a:buFont typeface="Arial" panose="020B0604020202020204" pitchFamily="34" charset="0"/>
              <a:buChar char="•"/>
            </a:pPr>
            <a:r>
              <a:rPr lang="pt-BR" sz="1800" b="0" dirty="0"/>
              <a:t>caderno a ser cadastrado na loja (</a:t>
            </a:r>
            <a:r>
              <a:rPr lang="pt-BR" sz="1800" dirty="0" err="1">
                <a:solidFill>
                  <a:srgbClr val="0000FF"/>
                </a:solidFill>
              </a:rPr>
              <a:t>cadernoCadastro</a:t>
            </a:r>
            <a:r>
              <a:rPr lang="pt-BR" sz="1800" b="0" dirty="0"/>
              <a:t>);</a:t>
            </a:r>
          </a:p>
          <a:p>
            <a:pPr marL="901700" lvl="1" indent="-444500">
              <a:buFont typeface="Arial" panose="020B0604020202020204" pitchFamily="34" charset="0"/>
              <a:buChar char="•"/>
            </a:pPr>
            <a:r>
              <a:rPr lang="pt-BR" sz="1800" b="0" dirty="0"/>
              <a:t>caderno que foi comercializado pela loja (</a:t>
            </a:r>
            <a:r>
              <a:rPr lang="pt-BR" sz="1800" dirty="0" err="1">
                <a:solidFill>
                  <a:srgbClr val="0000FF"/>
                </a:solidFill>
              </a:rPr>
              <a:t>cadernoVenda</a:t>
            </a:r>
            <a:r>
              <a:rPr lang="pt-BR" sz="1800" b="0" dirty="0"/>
              <a:t>).</a:t>
            </a:r>
            <a:endParaRPr lang="pt-BR" sz="1800" b="0" dirty="0">
              <a:latin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69F4C56-76BF-C775-80B2-88FBB7D0954A}"/>
              </a:ext>
            </a:extLst>
          </p:cNvPr>
          <p:cNvSpPr txBox="1"/>
          <p:nvPr/>
        </p:nvSpPr>
        <p:spPr>
          <a:xfrm>
            <a:off x="190499" y="2841059"/>
            <a:ext cx="8597900" cy="37856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Papelaria {</a:t>
            </a:r>
          </a:p>
          <a:p>
            <a:pPr algn="l"/>
            <a:endParaRPr lang="pt-BR" sz="1600" dirty="0">
              <a:latin typeface="Consolas" panose="020B0609020204030204" pitchFamily="49" charset="0"/>
            </a:endParaRPr>
          </a:p>
          <a:p>
            <a:pPr indent="266700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CadernoPapelaria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723900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fabricante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723900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numFolhas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723900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tipoCapa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723900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preco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266700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266700" algn="l"/>
            <a:endParaRPr lang="pt-BR" sz="1600" dirty="0">
              <a:latin typeface="Consolas" panose="020B0609020204030204" pitchFamily="49" charset="0"/>
            </a:endParaRPr>
          </a:p>
          <a:p>
            <a:pPr indent="266700" algn="l"/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723900" algn="l"/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fr-F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fr-F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fr-F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723900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CadernoPapelaria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cadernoCadastro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CadernoPapelaria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723900" algn="l"/>
            <a:endParaRPr lang="pt-BR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723900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CadernoPapelaria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cadernoVenda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CadernoPapelaria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723900" algn="l"/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endParaRPr lang="pt-BR" sz="1400" b="1" i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o Explicativo: Linha com Ênfase 6">
            <a:extLst>
              <a:ext uri="{FF2B5EF4-FFF2-40B4-BE49-F238E27FC236}">
                <a16:creationId xmlns:a16="http://schemas.microsoft.com/office/drawing/2014/main" id="{49219115-3761-2F00-D621-4FF8734217FD}"/>
              </a:ext>
            </a:extLst>
          </p:cNvPr>
          <p:cNvSpPr/>
          <p:nvPr/>
        </p:nvSpPr>
        <p:spPr>
          <a:xfrm>
            <a:off x="6070802" y="2817385"/>
            <a:ext cx="2921000" cy="1028700"/>
          </a:xfrm>
          <a:prstGeom prst="accentCallout1">
            <a:avLst>
              <a:gd name="adj1" fmla="val 61960"/>
              <a:gd name="adj2" fmla="val -72"/>
              <a:gd name="adj3" fmla="val 275463"/>
              <a:gd name="adj4" fmla="val -56159"/>
            </a:avLst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err="1">
                <a:solidFill>
                  <a:schemeClr val="tx1"/>
                </a:solidFill>
              </a:rPr>
              <a:t>CadernoCadastro</a:t>
            </a:r>
            <a:r>
              <a:rPr lang="pt-BR" sz="1600" dirty="0">
                <a:solidFill>
                  <a:schemeClr val="tx1"/>
                </a:solidFill>
              </a:rPr>
              <a:t> armazena todos os atributos do caderno cadastrado na papelaria</a:t>
            </a:r>
          </a:p>
        </p:txBody>
      </p:sp>
      <p:sp>
        <p:nvSpPr>
          <p:cNvPr id="4" name="Texto Explicativo: Linha com Ênfase 3">
            <a:extLst>
              <a:ext uri="{FF2B5EF4-FFF2-40B4-BE49-F238E27FC236}">
                <a16:creationId xmlns:a16="http://schemas.microsoft.com/office/drawing/2014/main" id="{7D2D23B9-B684-1745-3617-E4F1989DE3E3}"/>
              </a:ext>
            </a:extLst>
          </p:cNvPr>
          <p:cNvSpPr/>
          <p:nvPr/>
        </p:nvSpPr>
        <p:spPr>
          <a:xfrm>
            <a:off x="6058102" y="4127500"/>
            <a:ext cx="2921000" cy="1143000"/>
          </a:xfrm>
          <a:prstGeom prst="accentCallout1">
            <a:avLst>
              <a:gd name="adj1" fmla="val 61960"/>
              <a:gd name="adj2" fmla="val -72"/>
              <a:gd name="adj3" fmla="val 172129"/>
              <a:gd name="adj4" fmla="val -64420"/>
            </a:avLst>
          </a:prstGeom>
          <a:gradFill flip="none" rotWithShape="1">
            <a:gsLst>
              <a:gs pos="17000">
                <a:schemeClr val="accent3">
                  <a:lumMod val="7000"/>
                  <a:lumOff val="93000"/>
                  <a:alpha val="81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err="1">
                <a:solidFill>
                  <a:schemeClr val="tx1"/>
                </a:solidFill>
              </a:rPr>
              <a:t>CadernoVenda</a:t>
            </a:r>
            <a:r>
              <a:rPr lang="pt-BR" sz="1600" dirty="0">
                <a:solidFill>
                  <a:schemeClr val="tx1"/>
                </a:solidFill>
              </a:rPr>
              <a:t> armazena todos os atributos do caderno quando vendido na papelaria</a:t>
            </a:r>
          </a:p>
        </p:txBody>
      </p:sp>
    </p:spTree>
    <p:extLst>
      <p:ext uri="{BB962C8B-B14F-4D97-AF65-F5344CB8AC3E}">
        <p14:creationId xmlns:p14="http://schemas.microsoft.com/office/powerpoint/2010/main" val="3514330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914399" y="956644"/>
            <a:ext cx="7632701" cy="707056"/>
          </a:xfrm>
        </p:spPr>
        <p:txBody>
          <a:bodyPr>
            <a:normAutofit fontScale="90000"/>
          </a:bodyPr>
          <a:lstStyle/>
          <a:p>
            <a:r>
              <a:rPr lang="pt-BR" b="0" dirty="0">
                <a:latin typeface="+mn-lt"/>
              </a:rPr>
              <a:t>Objetos instanciados e espaços reservados na memória para seus atributos</a:t>
            </a:r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355319"/>
              </p:ext>
            </p:extLst>
          </p:nvPr>
        </p:nvGraphicFramePr>
        <p:xfrm>
          <a:off x="571499" y="1892300"/>
          <a:ext cx="6740480" cy="97536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2698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40">
                <a:tc rowSpan="4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b="1" dirty="0" err="1">
                          <a:solidFill>
                            <a:srgbClr val="C00000"/>
                          </a:solidFill>
                        </a:rPr>
                        <a:t>cadernoCadastro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fabricante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 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8EA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</a:rPr>
                        <a:t>número de folhas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 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8EA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tipo de capa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 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8EA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preço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 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8EA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147351"/>
              </p:ext>
            </p:extLst>
          </p:nvPr>
        </p:nvGraphicFramePr>
        <p:xfrm>
          <a:off x="571499" y="3873500"/>
          <a:ext cx="6740480" cy="97536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2698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40">
                <a:tc rowSpan="4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b="1" dirty="0" err="1">
                          <a:solidFill>
                            <a:srgbClr val="0000FF"/>
                          </a:solidFill>
                        </a:rPr>
                        <a:t>cadernoVenda</a:t>
                      </a:r>
                      <a:endParaRPr lang="pt-BR" sz="12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fabricante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 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alpha val="5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</a:rPr>
                        <a:t>número de folhas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 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alpha val="5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tipo de capa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 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alpha val="5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preço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 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alpha val="5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CC68B-47B5-90D4-6E66-0DCE10968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2 (continuação)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A3F0D51D-AE85-7171-0529-F6D01D720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3654" y="1108007"/>
            <a:ext cx="7483472" cy="639762"/>
          </a:xfrm>
        </p:spPr>
        <p:txBody>
          <a:bodyPr>
            <a:normAutofit/>
          </a:bodyPr>
          <a:lstStyle/>
          <a:p>
            <a:r>
              <a:rPr lang="pt-BR" dirty="0"/>
              <a:t>Cadastrando um caderno pedindo informações do teclado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69F4C56-76BF-C775-80B2-88FBB7D0954A}"/>
              </a:ext>
            </a:extLst>
          </p:cNvPr>
          <p:cNvSpPr txBox="1"/>
          <p:nvPr/>
        </p:nvSpPr>
        <p:spPr>
          <a:xfrm>
            <a:off x="356004" y="1774755"/>
            <a:ext cx="8597900" cy="35702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indent="355600" algn="l">
              <a:spcBef>
                <a:spcPts val="600"/>
              </a:spcBef>
            </a:pP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</a:p>
          <a:p>
            <a:pPr indent="355600" algn="l">
              <a:spcBef>
                <a:spcPts val="600"/>
              </a:spcBef>
            </a:pP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"Cadastrando um caderno na papelaria***"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355600" algn="l">
              <a:spcBef>
                <a:spcPts val="600"/>
              </a:spcBef>
            </a:pP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"\t Fabricante: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355600" algn="l">
              <a:spcBef>
                <a:spcPts val="600"/>
              </a:spcBef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cadernoCadastro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fabricante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.nextLine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355600" algn="l">
              <a:spcBef>
                <a:spcPts val="600"/>
              </a:spcBef>
            </a:pP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"\t Tipo de Capa (brochura ou espiral):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355600" algn="l">
              <a:spcBef>
                <a:spcPts val="600"/>
              </a:spcBef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cadernoCadastro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tipoCapa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.nextLine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355600" algn="l">
              <a:spcBef>
                <a:spcPts val="600"/>
              </a:spcBef>
            </a:pP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"\t Numero de folhas: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355600" algn="l">
              <a:spcBef>
                <a:spcPts val="600"/>
              </a:spcBef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cadernoCadastro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numFolhas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355600" algn="l">
              <a:spcBef>
                <a:spcPts val="600"/>
              </a:spcBef>
            </a:pP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"\t </a:t>
            </a:r>
            <a:r>
              <a:rPr lang="pt-B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Preco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: R$"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355600" algn="l">
              <a:spcBef>
                <a:spcPts val="600"/>
              </a:spcBef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cadernoCadastro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preco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355600" algn="l">
              <a:spcBef>
                <a:spcPts val="600"/>
              </a:spcBef>
            </a:pP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717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914399" y="762000"/>
            <a:ext cx="7779658" cy="707056"/>
          </a:xfrm>
        </p:spPr>
        <p:txBody>
          <a:bodyPr>
            <a:normAutofit fontScale="90000"/>
          </a:bodyPr>
          <a:lstStyle/>
          <a:p>
            <a:r>
              <a:rPr lang="pt-BR" b="0" dirty="0">
                <a:latin typeface="+mn-lt"/>
              </a:rPr>
              <a:t>Os atributos do </a:t>
            </a:r>
            <a:r>
              <a:rPr lang="pt-BR" sz="2700" dirty="0" err="1">
                <a:solidFill>
                  <a:srgbClr val="C00000"/>
                </a:solidFill>
                <a:latin typeface="+mn-lt"/>
                <a:ea typeface="+mn-ea"/>
                <a:cs typeface="+mn-cs"/>
              </a:rPr>
              <a:t>cadernoCadastro</a:t>
            </a:r>
            <a:r>
              <a:rPr lang="pt-BR" b="0" dirty="0">
                <a:latin typeface="+mn-lt"/>
              </a:rPr>
              <a:t> foram todos lidos do teclado</a:t>
            </a:r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567107"/>
              </p:ext>
            </p:extLst>
          </p:nvPr>
        </p:nvGraphicFramePr>
        <p:xfrm>
          <a:off x="571499" y="1892300"/>
          <a:ext cx="6740480" cy="97536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2698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40">
                <a:tc rowSpan="4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b="1" dirty="0" err="1">
                          <a:solidFill>
                            <a:srgbClr val="C00000"/>
                          </a:solidFill>
                        </a:rPr>
                        <a:t>cadernoCadastro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fabricante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rgbClr val="FF0000"/>
                          </a:solidFill>
                          <a:effectLst/>
                        </a:rPr>
                        <a:t>“ </a:t>
                      </a:r>
                      <a:r>
                        <a:rPr lang="pt-BR" sz="1600" dirty="0" err="1">
                          <a:solidFill>
                            <a:srgbClr val="FF0000"/>
                          </a:solidFill>
                          <a:effectLst/>
                        </a:rPr>
                        <a:t>Pioramentos</a:t>
                      </a:r>
                      <a:r>
                        <a:rPr lang="pt-BR" sz="1600" dirty="0">
                          <a:solidFill>
                            <a:srgbClr val="FF0000"/>
                          </a:solidFill>
                          <a:effectLst/>
                        </a:rPr>
                        <a:t>”</a:t>
                      </a:r>
                      <a:endParaRPr lang="pt-BR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8EA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</a:rPr>
                        <a:t>número de folhas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rgbClr val="FF0000"/>
                          </a:solidFill>
                          <a:effectLst/>
                        </a:rPr>
                        <a:t> 200</a:t>
                      </a:r>
                      <a:endParaRPr lang="pt-BR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8EA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tipo de capa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rgbClr val="FF0000"/>
                          </a:solidFill>
                          <a:effectLst/>
                        </a:rPr>
                        <a:t>“brochura”</a:t>
                      </a:r>
                      <a:endParaRPr lang="pt-BR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8EA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preço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rgbClr val="FF0000"/>
                          </a:solidFill>
                          <a:effectLst/>
                        </a:rPr>
                        <a:t>24.99</a:t>
                      </a:r>
                      <a:endParaRPr lang="pt-BR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8EA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783873"/>
              </p:ext>
            </p:extLst>
          </p:nvPr>
        </p:nvGraphicFramePr>
        <p:xfrm>
          <a:off x="571499" y="3873500"/>
          <a:ext cx="6740480" cy="97536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2698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40">
                <a:tc rowSpan="4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b="1" dirty="0" err="1">
                          <a:solidFill>
                            <a:srgbClr val="0000FF"/>
                          </a:solidFill>
                        </a:rPr>
                        <a:t>cadernoVenda</a:t>
                      </a:r>
                      <a:endParaRPr lang="pt-BR" sz="12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fabricante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 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alpha val="5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</a:rPr>
                        <a:t>número de folhas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 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alpha val="5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tipo de capa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 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alpha val="5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preço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 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alpha val="5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CC68B-47B5-90D4-6E66-0DCE10968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2 (continuação)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A3F0D51D-AE85-7171-0529-F6D01D720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0264" y="1108007"/>
            <a:ext cx="7483472" cy="639762"/>
          </a:xfrm>
        </p:spPr>
        <p:txBody>
          <a:bodyPr>
            <a:normAutofit/>
          </a:bodyPr>
          <a:lstStyle/>
          <a:p>
            <a:r>
              <a:rPr lang="pt-BR" dirty="0"/>
              <a:t>Depois simulando a venda do caderno cadastrado...</a:t>
            </a:r>
            <a:endParaRPr lang="pt-BR" sz="1700" dirty="0">
              <a:solidFill>
                <a:srgbClr val="0000C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69F4C56-76BF-C775-80B2-88FBB7D0954A}"/>
              </a:ext>
            </a:extLst>
          </p:cNvPr>
          <p:cNvSpPr txBox="1"/>
          <p:nvPr/>
        </p:nvSpPr>
        <p:spPr>
          <a:xfrm>
            <a:off x="546100" y="2351836"/>
            <a:ext cx="8597900" cy="127727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indent="355600" algn="l">
              <a:spcBef>
                <a:spcPts val="600"/>
              </a:spcBef>
            </a:pP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</a:p>
          <a:p>
            <a:pPr algn="l"/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/* Supondo que o caderno cadastrado seja vendido*/</a:t>
            </a:r>
          </a:p>
          <a:p>
            <a:pPr indent="355600" algn="l"/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cadernoVenda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cadernoCadastro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pt-BR" sz="1100" b="1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355600" algn="l">
              <a:spcBef>
                <a:spcPts val="600"/>
              </a:spcBef>
            </a:pP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351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914399" y="931244"/>
            <a:ext cx="7305575" cy="707056"/>
          </a:xfrm>
        </p:spPr>
        <p:txBody>
          <a:bodyPr>
            <a:normAutofit fontScale="90000"/>
          </a:bodyPr>
          <a:lstStyle/>
          <a:p>
            <a:r>
              <a:rPr lang="pt-BR" b="0" dirty="0">
                <a:latin typeface="+mn-lt"/>
              </a:rPr>
              <a:t>Objeto </a:t>
            </a:r>
            <a:r>
              <a:rPr lang="pt-BR" sz="2700" dirty="0" err="1">
                <a:solidFill>
                  <a:srgbClr val="C00000"/>
                </a:solidFill>
                <a:latin typeface="+mn-lt"/>
              </a:rPr>
              <a:t>cadernoCadastro</a:t>
            </a:r>
            <a:r>
              <a:rPr lang="pt-BR" sz="2700" dirty="0">
                <a:solidFill>
                  <a:srgbClr val="C00000"/>
                </a:solidFill>
              </a:rPr>
              <a:t> </a:t>
            </a:r>
            <a:r>
              <a:rPr lang="pt-BR" sz="2700" b="0" dirty="0">
                <a:latin typeface="+mn-lt"/>
              </a:rPr>
              <a:t>tem todos os seus campos copiados para a variável </a:t>
            </a:r>
            <a:r>
              <a:rPr lang="pt-BR" sz="2700" dirty="0" err="1">
                <a:solidFill>
                  <a:srgbClr val="0000FF"/>
                </a:solidFill>
                <a:latin typeface="+mn-lt"/>
              </a:rPr>
              <a:t>cadernoVenda</a:t>
            </a:r>
            <a:endParaRPr lang="pt-BR" sz="2700" dirty="0">
              <a:solidFill>
                <a:srgbClr val="0000FF"/>
              </a:solidFill>
              <a:latin typeface="+mn-lt"/>
            </a:endParaRPr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066904"/>
              </p:ext>
            </p:extLst>
          </p:nvPr>
        </p:nvGraphicFramePr>
        <p:xfrm>
          <a:off x="571499" y="2336800"/>
          <a:ext cx="6740480" cy="97536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2698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40">
                <a:tc rowSpan="4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b="1" dirty="0" err="1">
                          <a:solidFill>
                            <a:srgbClr val="C00000"/>
                          </a:solidFill>
                        </a:rPr>
                        <a:t>caderno_cadastro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fabricante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rgbClr val="FF0000"/>
                          </a:solidFill>
                          <a:effectLst/>
                        </a:rPr>
                        <a:t>“ </a:t>
                      </a:r>
                      <a:r>
                        <a:rPr lang="pt-BR" sz="1600" dirty="0" err="1">
                          <a:solidFill>
                            <a:srgbClr val="FF0000"/>
                          </a:solidFill>
                          <a:effectLst/>
                        </a:rPr>
                        <a:t>Pioramentos</a:t>
                      </a:r>
                      <a:r>
                        <a:rPr lang="pt-BR" sz="1600" dirty="0">
                          <a:solidFill>
                            <a:srgbClr val="FF0000"/>
                          </a:solidFill>
                          <a:effectLst/>
                        </a:rPr>
                        <a:t>”</a:t>
                      </a:r>
                      <a:endParaRPr lang="pt-BR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8EA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</a:rPr>
                        <a:t>número de folhas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rgbClr val="FF0000"/>
                          </a:solidFill>
                          <a:effectLst/>
                        </a:rPr>
                        <a:t> 200</a:t>
                      </a:r>
                      <a:endParaRPr lang="pt-BR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8EA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tipo de capa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rgbClr val="FF0000"/>
                          </a:solidFill>
                          <a:effectLst/>
                        </a:rPr>
                        <a:t> ”brochura”</a:t>
                      </a:r>
                      <a:endParaRPr lang="pt-BR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8EA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preço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rgbClr val="FF0000"/>
                          </a:solidFill>
                          <a:effectLst/>
                        </a:rPr>
                        <a:t>24.99</a:t>
                      </a:r>
                      <a:endParaRPr lang="pt-BR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8EA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885952"/>
              </p:ext>
            </p:extLst>
          </p:nvPr>
        </p:nvGraphicFramePr>
        <p:xfrm>
          <a:off x="571499" y="4216400"/>
          <a:ext cx="6740480" cy="97536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2698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40">
                <a:tc rowSpan="4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b="1" dirty="0" err="1">
                          <a:solidFill>
                            <a:srgbClr val="0000FF"/>
                          </a:solidFill>
                        </a:rPr>
                        <a:t>caderno_venda</a:t>
                      </a:r>
                      <a:endParaRPr lang="pt-BR" sz="12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fabricante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rgbClr val="0000FF"/>
                          </a:solidFill>
                          <a:effectLst/>
                        </a:rPr>
                        <a:t>“ </a:t>
                      </a:r>
                      <a:r>
                        <a:rPr lang="pt-BR" sz="1600" dirty="0" err="1">
                          <a:solidFill>
                            <a:srgbClr val="0000FF"/>
                          </a:solidFill>
                          <a:effectLst/>
                        </a:rPr>
                        <a:t>Pioramentos</a:t>
                      </a:r>
                      <a:r>
                        <a:rPr lang="pt-BR" sz="1600" dirty="0">
                          <a:solidFill>
                            <a:srgbClr val="0000FF"/>
                          </a:solidFill>
                          <a:effectLst/>
                        </a:rPr>
                        <a:t>”</a:t>
                      </a:r>
                      <a:endParaRPr lang="pt-BR" sz="12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alpha val="5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</a:rPr>
                        <a:t>número de folhas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rgbClr val="0000FF"/>
                          </a:solidFill>
                          <a:effectLst/>
                        </a:rPr>
                        <a:t> 200</a:t>
                      </a:r>
                      <a:endParaRPr lang="pt-BR" sz="12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alpha val="5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tipo de capa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rgbClr val="0000FF"/>
                          </a:solidFill>
                          <a:effectLst/>
                        </a:rPr>
                        <a:t> ”brochura”</a:t>
                      </a:r>
                      <a:endParaRPr lang="pt-BR" sz="12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alpha val="5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preço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rgbClr val="0000FF"/>
                          </a:solidFill>
                          <a:effectLst/>
                        </a:rPr>
                        <a:t>24.99</a:t>
                      </a:r>
                      <a:endParaRPr lang="pt-BR" sz="12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alpha val="5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CC68B-47B5-90D4-6E66-0DCE10968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2 (continuação)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A3F0D51D-AE85-7171-0529-F6D01D720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0264" y="1108007"/>
            <a:ext cx="7483472" cy="639762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Finalmente, são apresentados todos os atributos do caderno vendido </a:t>
            </a:r>
            <a:r>
              <a:rPr lang="pt-BR" sz="2200" dirty="0" err="1">
                <a:solidFill>
                  <a:srgbClr val="0000C0"/>
                </a:solidFill>
                <a:latin typeface="Consolas" panose="020B0609020204030204" pitchFamily="49" charset="0"/>
              </a:rPr>
              <a:t>cadernoVenda</a:t>
            </a:r>
            <a:endParaRPr lang="pt-BR" sz="1700" dirty="0">
              <a:solidFill>
                <a:srgbClr val="0000C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69F4C56-76BF-C775-80B2-88FBB7D0954A}"/>
              </a:ext>
            </a:extLst>
          </p:cNvPr>
          <p:cNvSpPr txBox="1"/>
          <p:nvPr/>
        </p:nvSpPr>
        <p:spPr>
          <a:xfrm>
            <a:off x="400957" y="2427898"/>
            <a:ext cx="8597900" cy="24468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indent="355600" algn="l">
              <a:spcBef>
                <a:spcPts val="600"/>
              </a:spcBef>
            </a:pP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</a:p>
          <a:p>
            <a:pPr indent="355600" algn="l">
              <a:spcBef>
                <a:spcPts val="600"/>
              </a:spcBef>
            </a:pP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"\t Fabricante: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cadernoVenda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fabricante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355600" algn="l">
              <a:spcBef>
                <a:spcPts val="600"/>
              </a:spcBef>
            </a:pP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"\t Numero de folhas: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cadernoVenda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numFolhas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355600" algn="l">
              <a:spcBef>
                <a:spcPts val="600"/>
              </a:spcBef>
            </a:pP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"\t Tipo de Capa: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cadernoVenda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tipoCapa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355600" algn="l">
              <a:spcBef>
                <a:spcPts val="600"/>
              </a:spcBef>
            </a:pP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"\t %s%.2f"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pt-B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Preco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 R$: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cadernoVenda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preco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355600" algn="l">
              <a:spcBef>
                <a:spcPts val="600"/>
              </a:spcBef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endParaRPr lang="pt-BR" sz="1600" dirty="0">
              <a:latin typeface="Consolas" panose="020B0609020204030204" pitchFamily="49" charset="0"/>
            </a:endParaRPr>
          </a:p>
          <a:p>
            <a:pPr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1" i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786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782137" y="1453356"/>
            <a:ext cx="7618230" cy="39512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>
                <a:latin typeface="+mn-lt"/>
              </a:rPr>
              <a:t>Para 1 cliente de um banco criar um registro em JAVA que contenha os seguintes dados do cliente: </a:t>
            </a:r>
          </a:p>
          <a:p>
            <a:pPr lvl="1"/>
            <a:r>
              <a:rPr lang="pt-BR" sz="1800" dirty="0">
                <a:latin typeface="+mn-lt"/>
              </a:rPr>
              <a:t>Nome (string)</a:t>
            </a:r>
          </a:p>
          <a:p>
            <a:pPr lvl="1"/>
            <a:r>
              <a:rPr lang="pt-BR" sz="1800" dirty="0">
                <a:latin typeface="+mn-lt"/>
              </a:rPr>
              <a:t>Endereço (string)</a:t>
            </a:r>
          </a:p>
          <a:p>
            <a:pPr lvl="1"/>
            <a:r>
              <a:rPr lang="pt-BR" sz="1800" dirty="0">
                <a:latin typeface="+mn-lt"/>
              </a:rPr>
              <a:t>CPF (string)</a:t>
            </a:r>
          </a:p>
          <a:p>
            <a:pPr lvl="1"/>
            <a:r>
              <a:rPr lang="pt-BR" sz="1800" dirty="0">
                <a:latin typeface="+mn-lt"/>
              </a:rPr>
              <a:t>Número da conta (inteiro)</a:t>
            </a:r>
          </a:p>
          <a:p>
            <a:pPr lvl="1"/>
            <a:r>
              <a:rPr lang="pt-BR" sz="1800" dirty="0">
                <a:latin typeface="+mn-lt"/>
              </a:rPr>
              <a:t>Ano de abertura da conta (inteiro)</a:t>
            </a:r>
          </a:p>
          <a:p>
            <a:pPr lvl="1"/>
            <a:r>
              <a:rPr lang="pt-BR" sz="1800" dirty="0">
                <a:latin typeface="+mn-lt"/>
              </a:rPr>
              <a:t>Saldo (real)</a:t>
            </a:r>
          </a:p>
          <a:p>
            <a:pPr>
              <a:buNone/>
            </a:pPr>
            <a:r>
              <a:rPr lang="pt-BR" sz="1800" dirty="0">
                <a:latin typeface="+mn-lt"/>
              </a:rPr>
              <a:t>	Cada campo deve ser lido do teclado e depois apresentado.</a:t>
            </a:r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000" dirty="0">
                <a:solidFill>
                  <a:srgbClr val="0133BF"/>
                </a:solidFill>
                <a:cs typeface="Gotham-Book"/>
              </a:rPr>
              <a:t>Exercício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pt-BR" sz="1800" dirty="0"/>
              <a:t>O uso de </a:t>
            </a:r>
            <a:r>
              <a:rPr lang="pt-BR" sz="1800" b="1" i="1" dirty="0"/>
              <a:t>registro</a:t>
            </a:r>
            <a:r>
              <a:rPr lang="pt-BR" sz="1800" dirty="0"/>
              <a:t> é realmente mais frequente quando podem ser armazenados vários registros de um determinado tipo objeto da vida cotidiana. </a:t>
            </a:r>
          </a:p>
          <a:p>
            <a:r>
              <a:rPr lang="pt-BR" sz="1800" dirty="0"/>
              <a:t>Assim, deve-se saber como usar </a:t>
            </a:r>
            <a:r>
              <a:rPr lang="pt-BR" sz="1800" i="1" dirty="0"/>
              <a:t>registros</a:t>
            </a:r>
            <a:r>
              <a:rPr lang="pt-BR" sz="1800" dirty="0"/>
              <a:t> como elementos de vetores ou matrizes.</a:t>
            </a:r>
          </a:p>
          <a:p>
            <a:endParaRPr lang="pt-BR" sz="1800" dirty="0"/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Gotham-Book"/>
              </a:rPr>
              <a:t>Vetores</a:t>
            </a:r>
            <a:r>
              <a:rPr lang="en-US" dirty="0">
                <a:cs typeface="Gotham-Book"/>
              </a:rPr>
              <a:t> de </a:t>
            </a:r>
            <a:r>
              <a:rPr lang="en-US" dirty="0" err="1">
                <a:cs typeface="Gotham-Book"/>
              </a:rPr>
              <a:t>Registros</a:t>
            </a:r>
            <a:endParaRPr lang="pt-BR" dirty="0"/>
          </a:p>
        </p:txBody>
      </p:sp>
      <p:sp>
        <p:nvSpPr>
          <p:cNvPr id="7" name="Espaço Reservado para Texto 2"/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pt-BR" sz="3200" dirty="0">
                <a:solidFill>
                  <a:srgbClr val="0133BF"/>
                </a:solidFill>
                <a:cs typeface="Gotham-Book"/>
              </a:rPr>
              <a:t>Motivação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915580" y="414068"/>
            <a:ext cx="6767920" cy="94890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20000"/>
              </a:spcBef>
            </a:pPr>
            <a:r>
              <a:rPr lang="pt-BR" sz="2800" dirty="0">
                <a:ea typeface="+mn-ea"/>
                <a:cs typeface="Gotham-Book"/>
              </a:rPr>
              <a:t>Registros como elementos de vetores </a:t>
            </a:r>
          </a:p>
        </p:txBody>
      </p:sp>
      <p:pic>
        <p:nvPicPr>
          <p:cNvPr id="13314" name="Picture 2" descr="Resultado de imagem para gaveta com fichas"/>
          <p:cNvPicPr>
            <a:picLocks noChangeAspect="1" noChangeArrowheads="1"/>
          </p:cNvPicPr>
          <p:nvPr/>
        </p:nvPicPr>
        <p:blipFill>
          <a:blip r:embed="rId2"/>
          <a:srcRect t="12443" b="14050"/>
          <a:stretch>
            <a:fillRect/>
          </a:stretch>
        </p:blipFill>
        <p:spPr bwMode="auto">
          <a:xfrm>
            <a:off x="3226579" y="2156604"/>
            <a:ext cx="2311579" cy="2553419"/>
          </a:xfrm>
          <a:prstGeom prst="rect">
            <a:avLst/>
          </a:prstGeom>
          <a:noFill/>
        </p:spPr>
      </p:pic>
      <p:cxnSp>
        <p:nvCxnSpPr>
          <p:cNvPr id="6" name="Conector de seta reta 5"/>
          <p:cNvCxnSpPr/>
          <p:nvPr/>
        </p:nvCxnSpPr>
        <p:spPr>
          <a:xfrm flipV="1">
            <a:off x="4554747" y="2320506"/>
            <a:ext cx="2655755" cy="905125"/>
          </a:xfrm>
          <a:prstGeom prst="straightConnector1">
            <a:avLst/>
          </a:prstGeom>
          <a:ln>
            <a:solidFill>
              <a:srgbClr val="0133B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6909758" y="1820174"/>
            <a:ext cx="1552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133BF"/>
                </a:solidFill>
              </a:rPr>
              <a:t>Vetor com Registros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143000" y="721026"/>
            <a:ext cx="6766560" cy="650573"/>
          </a:xfrm>
        </p:spPr>
        <p:txBody>
          <a:bodyPr>
            <a:noAutofit/>
          </a:bodyPr>
          <a:lstStyle/>
          <a:p>
            <a:r>
              <a:rPr lang="pt-BR" sz="2400" b="0" dirty="0">
                <a:latin typeface="+mn-lt"/>
              </a:rPr>
              <a:t>Um vetor com elementos </a:t>
            </a:r>
            <a:r>
              <a:rPr lang="pt-BR" b="0" dirty="0">
                <a:latin typeface="+mn-lt"/>
              </a:rPr>
              <a:t>de objetos da classe Aluno </a:t>
            </a:r>
            <a:r>
              <a:rPr lang="pt-BR" sz="2400" b="0" dirty="0">
                <a:latin typeface="+mn-lt"/>
              </a:rPr>
              <a:t>é similar a uma pasta com fichas de alunos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2776124" y="3035629"/>
            <a:ext cx="29624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 err="1"/>
              <a:t>Nome:PEDRO</a:t>
            </a:r>
            <a:r>
              <a:rPr lang="pt-BR" sz="1200" b="1" dirty="0"/>
              <a:t> </a:t>
            </a:r>
            <a:r>
              <a:rPr lang="pt-BR" sz="1200" b="1" u="sng" dirty="0"/>
              <a:t>			</a:t>
            </a:r>
            <a:endParaRPr lang="pt-BR" sz="1200" dirty="0"/>
          </a:p>
          <a:p>
            <a:r>
              <a:rPr lang="pt-BR" sz="1200" b="1" dirty="0"/>
              <a:t>RM:  7890 </a:t>
            </a:r>
            <a:r>
              <a:rPr lang="pt-BR" sz="1200" b="1" u="sng" dirty="0"/>
              <a:t>			</a:t>
            </a:r>
            <a:endParaRPr lang="pt-BR" sz="1200" dirty="0"/>
          </a:p>
          <a:p>
            <a:r>
              <a:rPr lang="pt-BR" sz="1200" b="1" dirty="0"/>
              <a:t>Curso: </a:t>
            </a:r>
            <a:r>
              <a:rPr lang="pt-BR" sz="1200" b="1" u="sng" dirty="0"/>
              <a:t>ENGENHARIA		</a:t>
            </a:r>
            <a:endParaRPr lang="pt-BR" sz="1200" dirty="0"/>
          </a:p>
          <a:p>
            <a:r>
              <a:rPr lang="pt-BR" sz="1200" b="1" dirty="0"/>
              <a:t>Ano:</a:t>
            </a:r>
            <a:r>
              <a:rPr lang="pt-BR" sz="1200" b="1" u="sng" dirty="0"/>
              <a:t> 2017			</a:t>
            </a:r>
            <a:endParaRPr lang="pt-BR" sz="1200" dirty="0"/>
          </a:p>
        </p:txBody>
      </p:sp>
      <p:sp>
        <p:nvSpPr>
          <p:cNvPr id="22" name="Retângulo 21"/>
          <p:cNvSpPr/>
          <p:nvPr/>
        </p:nvSpPr>
        <p:spPr>
          <a:xfrm>
            <a:off x="1889822" y="1858806"/>
            <a:ext cx="32264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/>
              <a:t>Nome: MARIA</a:t>
            </a:r>
            <a:r>
              <a:rPr lang="pt-BR" sz="1200" b="1" u="sng" dirty="0"/>
              <a:t>		</a:t>
            </a:r>
            <a:endParaRPr lang="pt-BR" sz="1200" dirty="0"/>
          </a:p>
          <a:p>
            <a:r>
              <a:rPr lang="pt-BR" sz="1200" b="1" dirty="0"/>
              <a:t>RM:   </a:t>
            </a:r>
            <a:r>
              <a:rPr lang="pt-BR" sz="1200" b="1" u="sng" dirty="0"/>
              <a:t>  4567	____________</a:t>
            </a:r>
          </a:p>
          <a:p>
            <a:r>
              <a:rPr lang="pt-BR" sz="1200" b="1" dirty="0"/>
              <a:t>Curso:  SI</a:t>
            </a:r>
            <a:r>
              <a:rPr lang="pt-BR" sz="1200" b="1" u="sng" dirty="0"/>
              <a:t>	______________</a:t>
            </a:r>
            <a:endParaRPr lang="pt-BR" sz="1200" dirty="0"/>
          </a:p>
          <a:p>
            <a:r>
              <a:rPr lang="pt-BR" sz="1200" b="1" dirty="0"/>
              <a:t>Ano:</a:t>
            </a:r>
            <a:r>
              <a:rPr lang="pt-BR" sz="1200" b="1" u="sng" dirty="0"/>
              <a:t> 2017			</a:t>
            </a:r>
            <a:endParaRPr lang="pt-BR" sz="1200" dirty="0"/>
          </a:p>
        </p:txBody>
      </p:sp>
      <p:sp>
        <p:nvSpPr>
          <p:cNvPr id="31" name="Forma livre 30"/>
          <p:cNvSpPr/>
          <p:nvPr/>
        </p:nvSpPr>
        <p:spPr>
          <a:xfrm>
            <a:off x="4753962" y="1743495"/>
            <a:ext cx="2099061" cy="3405352"/>
          </a:xfrm>
          <a:custGeom>
            <a:avLst/>
            <a:gdLst>
              <a:gd name="connsiteX0" fmla="*/ 49544 w 2099061"/>
              <a:gd name="connsiteY0" fmla="*/ 0 h 3405352"/>
              <a:gd name="connsiteX1" fmla="*/ 49544 w 2099061"/>
              <a:gd name="connsiteY1" fmla="*/ 0 h 3405352"/>
              <a:gd name="connsiteX2" fmla="*/ 2248 w 2099061"/>
              <a:gd name="connsiteY2" fmla="*/ 126124 h 3405352"/>
              <a:gd name="connsiteX3" fmla="*/ 33779 w 2099061"/>
              <a:gd name="connsiteY3" fmla="*/ 599090 h 3405352"/>
              <a:gd name="connsiteX4" fmla="*/ 65310 w 2099061"/>
              <a:gd name="connsiteY4" fmla="*/ 835572 h 3405352"/>
              <a:gd name="connsiteX5" fmla="*/ 96841 w 2099061"/>
              <a:gd name="connsiteY5" fmla="*/ 977462 h 3405352"/>
              <a:gd name="connsiteX6" fmla="*/ 81075 w 2099061"/>
              <a:gd name="connsiteY6" fmla="*/ 1056290 h 3405352"/>
              <a:gd name="connsiteX7" fmla="*/ 33779 w 2099061"/>
              <a:gd name="connsiteY7" fmla="*/ 1040524 h 3405352"/>
              <a:gd name="connsiteX8" fmla="*/ 2248 w 2099061"/>
              <a:gd name="connsiteY8" fmla="*/ 977462 h 3405352"/>
              <a:gd name="connsiteX9" fmla="*/ 2248 w 2099061"/>
              <a:gd name="connsiteY9" fmla="*/ 945931 h 3405352"/>
              <a:gd name="connsiteX10" fmla="*/ 2067530 w 2099061"/>
              <a:gd name="connsiteY10" fmla="*/ 3405352 h 3405352"/>
              <a:gd name="connsiteX11" fmla="*/ 2099061 w 2099061"/>
              <a:gd name="connsiteY11" fmla="*/ 2538248 h 3405352"/>
              <a:gd name="connsiteX12" fmla="*/ 49544 w 2099061"/>
              <a:gd name="connsiteY12" fmla="*/ 0 h 3405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99061" h="3405352">
                <a:moveTo>
                  <a:pt x="49544" y="0"/>
                </a:moveTo>
                <a:lnTo>
                  <a:pt x="49544" y="0"/>
                </a:lnTo>
                <a:cubicBezTo>
                  <a:pt x="33779" y="42041"/>
                  <a:pt x="5337" y="81330"/>
                  <a:pt x="2248" y="126124"/>
                </a:cubicBezTo>
                <a:cubicBezTo>
                  <a:pt x="-7745" y="271017"/>
                  <a:pt x="17881" y="448059"/>
                  <a:pt x="33779" y="599090"/>
                </a:cubicBezTo>
                <a:cubicBezTo>
                  <a:pt x="60954" y="857251"/>
                  <a:pt x="34750" y="667491"/>
                  <a:pt x="65310" y="835572"/>
                </a:cubicBezTo>
                <a:cubicBezTo>
                  <a:pt x="87508" y="957660"/>
                  <a:pt x="69042" y="894068"/>
                  <a:pt x="96841" y="977462"/>
                </a:cubicBezTo>
                <a:cubicBezTo>
                  <a:pt x="91586" y="1003738"/>
                  <a:pt x="100023" y="1037342"/>
                  <a:pt x="81075" y="1056290"/>
                </a:cubicBezTo>
                <a:cubicBezTo>
                  <a:pt x="69324" y="1068041"/>
                  <a:pt x="46756" y="1050905"/>
                  <a:pt x="33779" y="1040524"/>
                </a:cubicBezTo>
                <a:cubicBezTo>
                  <a:pt x="-667" y="1012967"/>
                  <a:pt x="2248" y="1005488"/>
                  <a:pt x="2248" y="977462"/>
                </a:cubicBezTo>
                <a:lnTo>
                  <a:pt x="2248" y="945931"/>
                </a:lnTo>
                <a:lnTo>
                  <a:pt x="2067530" y="3405352"/>
                </a:lnTo>
                <a:lnTo>
                  <a:pt x="2099061" y="2538248"/>
                </a:lnTo>
                <a:lnTo>
                  <a:pt x="49544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de cantos arredondados 22"/>
          <p:cNvSpPr/>
          <p:nvPr/>
        </p:nvSpPr>
        <p:spPr>
          <a:xfrm>
            <a:off x="1575642" y="1708073"/>
            <a:ext cx="3242720" cy="978654"/>
          </a:xfrm>
          <a:prstGeom prst="roundRect">
            <a:avLst/>
          </a:prstGeom>
          <a:solidFill>
            <a:schemeClr val="accent3">
              <a:lumMod val="60000"/>
              <a:lumOff val="40000"/>
              <a:alpha val="24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16" name="Retângulo de cantos arredondados 15"/>
          <p:cNvSpPr/>
          <p:nvPr/>
        </p:nvSpPr>
        <p:spPr>
          <a:xfrm>
            <a:off x="2720964" y="2989751"/>
            <a:ext cx="3082528" cy="978654"/>
          </a:xfrm>
          <a:prstGeom prst="roundRect">
            <a:avLst/>
          </a:prstGeom>
          <a:solidFill>
            <a:schemeClr val="tx2">
              <a:lumMod val="60000"/>
              <a:lumOff val="40000"/>
              <a:alpha val="35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Forma livre 29"/>
          <p:cNvSpPr/>
          <p:nvPr/>
        </p:nvSpPr>
        <p:spPr>
          <a:xfrm>
            <a:off x="1499822" y="1817324"/>
            <a:ext cx="2099061" cy="3405352"/>
          </a:xfrm>
          <a:custGeom>
            <a:avLst/>
            <a:gdLst>
              <a:gd name="connsiteX0" fmla="*/ 49544 w 2099061"/>
              <a:gd name="connsiteY0" fmla="*/ 0 h 3405352"/>
              <a:gd name="connsiteX1" fmla="*/ 49544 w 2099061"/>
              <a:gd name="connsiteY1" fmla="*/ 0 h 3405352"/>
              <a:gd name="connsiteX2" fmla="*/ 2248 w 2099061"/>
              <a:gd name="connsiteY2" fmla="*/ 126124 h 3405352"/>
              <a:gd name="connsiteX3" fmla="*/ 33779 w 2099061"/>
              <a:gd name="connsiteY3" fmla="*/ 599090 h 3405352"/>
              <a:gd name="connsiteX4" fmla="*/ 65310 w 2099061"/>
              <a:gd name="connsiteY4" fmla="*/ 835572 h 3405352"/>
              <a:gd name="connsiteX5" fmla="*/ 96841 w 2099061"/>
              <a:gd name="connsiteY5" fmla="*/ 977462 h 3405352"/>
              <a:gd name="connsiteX6" fmla="*/ 81075 w 2099061"/>
              <a:gd name="connsiteY6" fmla="*/ 1056290 h 3405352"/>
              <a:gd name="connsiteX7" fmla="*/ 33779 w 2099061"/>
              <a:gd name="connsiteY7" fmla="*/ 1040524 h 3405352"/>
              <a:gd name="connsiteX8" fmla="*/ 2248 w 2099061"/>
              <a:gd name="connsiteY8" fmla="*/ 977462 h 3405352"/>
              <a:gd name="connsiteX9" fmla="*/ 2248 w 2099061"/>
              <a:gd name="connsiteY9" fmla="*/ 945931 h 3405352"/>
              <a:gd name="connsiteX10" fmla="*/ 2067530 w 2099061"/>
              <a:gd name="connsiteY10" fmla="*/ 3405352 h 3405352"/>
              <a:gd name="connsiteX11" fmla="*/ 2099061 w 2099061"/>
              <a:gd name="connsiteY11" fmla="*/ 2538248 h 3405352"/>
              <a:gd name="connsiteX12" fmla="*/ 49544 w 2099061"/>
              <a:gd name="connsiteY12" fmla="*/ 0 h 3405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99061" h="3405352">
                <a:moveTo>
                  <a:pt x="49544" y="0"/>
                </a:moveTo>
                <a:lnTo>
                  <a:pt x="49544" y="0"/>
                </a:lnTo>
                <a:cubicBezTo>
                  <a:pt x="33779" y="42041"/>
                  <a:pt x="5337" y="81330"/>
                  <a:pt x="2248" y="126124"/>
                </a:cubicBezTo>
                <a:cubicBezTo>
                  <a:pt x="-7745" y="271017"/>
                  <a:pt x="17881" y="448059"/>
                  <a:pt x="33779" y="599090"/>
                </a:cubicBezTo>
                <a:cubicBezTo>
                  <a:pt x="60954" y="857251"/>
                  <a:pt x="34750" y="667491"/>
                  <a:pt x="65310" y="835572"/>
                </a:cubicBezTo>
                <a:cubicBezTo>
                  <a:pt x="87508" y="957660"/>
                  <a:pt x="69042" y="894068"/>
                  <a:pt x="96841" y="977462"/>
                </a:cubicBezTo>
                <a:cubicBezTo>
                  <a:pt x="91586" y="1003738"/>
                  <a:pt x="100023" y="1037342"/>
                  <a:pt x="81075" y="1056290"/>
                </a:cubicBezTo>
                <a:cubicBezTo>
                  <a:pt x="69324" y="1068041"/>
                  <a:pt x="46756" y="1050905"/>
                  <a:pt x="33779" y="1040524"/>
                </a:cubicBezTo>
                <a:cubicBezTo>
                  <a:pt x="-667" y="1012967"/>
                  <a:pt x="2248" y="1005488"/>
                  <a:pt x="2248" y="977462"/>
                </a:cubicBezTo>
                <a:lnTo>
                  <a:pt x="2248" y="945931"/>
                </a:lnTo>
                <a:lnTo>
                  <a:pt x="2067530" y="3405352"/>
                </a:lnTo>
                <a:lnTo>
                  <a:pt x="2099061" y="2538248"/>
                </a:lnTo>
                <a:lnTo>
                  <a:pt x="49544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Grupo 11"/>
          <p:cNvGrpSpPr/>
          <p:nvPr/>
        </p:nvGrpSpPr>
        <p:grpSpPr>
          <a:xfrm>
            <a:off x="3570053" y="4216071"/>
            <a:ext cx="4649921" cy="978654"/>
            <a:chOff x="3570053" y="4216071"/>
            <a:chExt cx="4649921" cy="978654"/>
          </a:xfrm>
        </p:grpSpPr>
        <p:sp>
          <p:nvSpPr>
            <p:cNvPr id="5" name="Retângulo 4"/>
            <p:cNvSpPr/>
            <p:nvPr/>
          </p:nvSpPr>
          <p:spPr>
            <a:xfrm>
              <a:off x="3711175" y="4244022"/>
              <a:ext cx="4508799" cy="830997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r>
                <a:rPr lang="pt-BR" sz="1200" b="1" dirty="0"/>
                <a:t>Nome: JOÃO</a:t>
              </a:r>
              <a:r>
                <a:rPr lang="pt-BR" sz="1200" b="1" u="sng" dirty="0"/>
                <a:t>			</a:t>
              </a:r>
              <a:endParaRPr lang="pt-BR" sz="1200" dirty="0"/>
            </a:p>
            <a:p>
              <a:r>
                <a:rPr lang="pt-BR" sz="1200" b="1" dirty="0"/>
                <a:t>RM:   </a:t>
              </a:r>
              <a:r>
                <a:rPr lang="pt-BR" sz="1200" b="1" u="sng" dirty="0"/>
                <a:t>  1234		</a:t>
              </a:r>
              <a:endParaRPr lang="pt-BR" sz="1200" dirty="0"/>
            </a:p>
            <a:p>
              <a:r>
                <a:rPr lang="pt-BR" sz="1200" b="1" dirty="0"/>
                <a:t>Curso: SI</a:t>
              </a:r>
              <a:r>
                <a:rPr lang="pt-BR" sz="1200" b="1" u="sng" dirty="0"/>
                <a:t>			</a:t>
              </a:r>
              <a:endParaRPr lang="pt-BR" sz="1200" dirty="0"/>
            </a:p>
            <a:p>
              <a:r>
                <a:rPr lang="pt-BR" sz="1200" b="1" dirty="0"/>
                <a:t>Ano:</a:t>
              </a:r>
              <a:r>
                <a:rPr lang="pt-BR" sz="1200" b="1" u="sng" dirty="0"/>
                <a:t> 2021			</a:t>
              </a:r>
              <a:endParaRPr lang="pt-BR" sz="1200" dirty="0"/>
            </a:p>
          </p:txBody>
        </p:sp>
        <p:sp>
          <p:nvSpPr>
            <p:cNvPr id="7" name="Retângulo de cantos arredondados 6"/>
            <p:cNvSpPr/>
            <p:nvPr/>
          </p:nvSpPr>
          <p:spPr>
            <a:xfrm>
              <a:off x="3570053" y="4216071"/>
              <a:ext cx="3282970" cy="978654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14" name="CaixaDeTexto 13"/>
          <p:cNvSpPr txBox="1"/>
          <p:nvPr/>
        </p:nvSpPr>
        <p:spPr>
          <a:xfrm>
            <a:off x="6606694" y="3866626"/>
            <a:ext cx="492657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0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5738603" y="2686727"/>
            <a:ext cx="492657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1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4623662" y="1417214"/>
            <a:ext cx="492657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2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606694" y="2317395"/>
            <a:ext cx="1575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    </a:t>
            </a:r>
            <a:r>
              <a:rPr lang="pt-BR" b="1" dirty="0"/>
              <a:t>alunos</a:t>
            </a:r>
          </a:p>
        </p:txBody>
      </p:sp>
    </p:spTree>
    <p:extLst>
      <p:ext uri="{BB962C8B-B14F-4D97-AF65-F5344CB8AC3E}">
        <p14:creationId xmlns:p14="http://schemas.microsoft.com/office/powerpoint/2010/main" val="251097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1" animBg="1"/>
      <p:bldP spid="15" grpId="0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822960" y="662853"/>
            <a:ext cx="7315197" cy="397308"/>
          </a:xfrm>
        </p:spPr>
        <p:txBody>
          <a:bodyPr/>
          <a:lstStyle/>
          <a:p>
            <a:r>
              <a:rPr lang="en-US" sz="2400" dirty="0">
                <a:solidFill>
                  <a:srgbClr val="0133BF"/>
                </a:solidFill>
                <a:cs typeface="Gotham-Book"/>
              </a:rPr>
              <a:t>Exemplo1</a:t>
            </a:r>
          </a:p>
        </p:txBody>
      </p:sp>
      <p:sp>
        <p:nvSpPr>
          <p:cNvPr id="4" name="Texto Explicativo 1 3"/>
          <p:cNvSpPr/>
          <p:nvPr/>
        </p:nvSpPr>
        <p:spPr>
          <a:xfrm>
            <a:off x="5559137" y="2373314"/>
            <a:ext cx="3568052" cy="544601"/>
          </a:xfrm>
          <a:prstGeom prst="borderCallout1">
            <a:avLst>
              <a:gd name="adj1" fmla="val 55015"/>
              <a:gd name="adj2" fmla="val -751"/>
              <a:gd name="adj3" fmla="val 139249"/>
              <a:gd name="adj4" fmla="val -46424"/>
            </a:avLst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Vetor </a:t>
            </a:r>
            <a:r>
              <a:rPr lang="pt-BR" b="1" dirty="0">
                <a:solidFill>
                  <a:schemeClr val="tx1"/>
                </a:solidFill>
              </a:rPr>
              <a:t>alunos</a:t>
            </a:r>
            <a:r>
              <a:rPr lang="pt-BR" dirty="0">
                <a:solidFill>
                  <a:schemeClr val="tx1"/>
                </a:solidFill>
              </a:rPr>
              <a:t> é composto por 3 elementos objetos da classe Aluno</a:t>
            </a:r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501" y="3244790"/>
            <a:ext cx="3983688" cy="2353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EBFBF26-1CA2-2940-5758-1788089B94B6}"/>
              </a:ext>
            </a:extLst>
          </p:cNvPr>
          <p:cNvSpPr txBox="1"/>
          <p:nvPr/>
        </p:nvSpPr>
        <p:spPr>
          <a:xfrm>
            <a:off x="347307" y="1060161"/>
            <a:ext cx="6500043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SalaAula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algn="l"/>
            <a:endParaRPr lang="pt-BR" sz="1400" dirty="0">
              <a:latin typeface="Consolas" panose="020B0609020204030204" pitchFamily="49" charset="0"/>
            </a:endParaRPr>
          </a:p>
          <a:p>
            <a:pPr indent="174625" algn="l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Aluno{</a:t>
            </a:r>
          </a:p>
          <a:p>
            <a:pPr indent="174625"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nome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curso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174625" algn="l"/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	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rm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b="1" dirty="0">
                <a:solidFill>
                  <a:srgbClr val="0000C0"/>
                </a:solidFill>
                <a:latin typeface="Consolas" panose="020B0609020204030204" pitchFamily="49" charset="0"/>
              </a:rPr>
              <a:t>ano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174625"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174625" algn="l"/>
            <a:endParaRPr lang="pt-BR" sz="1400" dirty="0">
              <a:latin typeface="Consolas" panose="020B0609020204030204" pitchFamily="49" charset="0"/>
            </a:endParaRPr>
          </a:p>
          <a:p>
            <a:pPr indent="174625" algn="l"/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1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536575" algn="l"/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fr-FR" sz="1400" dirty="0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fr-F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fr-FR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fr-F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536575"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Aluno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alunos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[] = </a:t>
            </a:r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Aluno[3];</a:t>
            </a:r>
          </a:p>
          <a:p>
            <a:pPr indent="536575" algn="l"/>
            <a:r>
              <a:rPr lang="nn-NO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=0; </a:t>
            </a:r>
            <a:r>
              <a:rPr lang="nn-NO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&lt;3; </a:t>
            </a:r>
            <a:r>
              <a:rPr lang="nn-NO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indent="900113" algn="l"/>
            <a:r>
              <a:rPr lang="pt-BR" sz="1400" dirty="0">
                <a:solidFill>
                  <a:srgbClr val="3F7F5F"/>
                </a:solidFill>
                <a:latin typeface="Consolas" panose="020B0609020204030204" pitchFamily="49" charset="0"/>
              </a:rPr>
              <a:t>// cria a "ficha com registro do aluno"</a:t>
            </a:r>
          </a:p>
          <a:p>
            <a:pPr indent="900113"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Aluno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aluno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Aluno();</a:t>
            </a:r>
          </a:p>
          <a:p>
            <a:pPr indent="900113" algn="l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"Nome do aluno: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900113" algn="l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aluno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nome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900113" algn="l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"Curso: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900113" algn="l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aluno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curso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900113" algn="l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"RM: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900113" algn="l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aluno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rm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900113" algn="l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"Ano de ingresso: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900113" algn="l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aluno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ano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900113" algn="l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900113" algn="l"/>
            <a:r>
              <a:rPr lang="pt-BR" sz="1400" dirty="0">
                <a:solidFill>
                  <a:srgbClr val="3F7F5F"/>
                </a:solidFill>
                <a:latin typeface="Consolas" panose="020B0609020204030204" pitchFamily="49" charset="0"/>
              </a:rPr>
              <a:t>// Armazena a "ficha" do aluno no vetor na posição i</a:t>
            </a:r>
          </a:p>
          <a:p>
            <a:pPr indent="900113" algn="l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alunos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aluno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900113"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536575"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1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380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r>
              <a:rPr lang="pt-BR" sz="2400" b="0" dirty="0">
                <a:solidFill>
                  <a:srgbClr val="0133BF"/>
                </a:solidFill>
                <a:latin typeface="+mj-lt"/>
              </a:rPr>
              <a:t>Exercício 2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621" y="1983253"/>
            <a:ext cx="7618230" cy="3951288"/>
          </a:xfrm>
        </p:spPr>
        <p:txBody>
          <a:bodyPr>
            <a:normAutofit/>
          </a:bodyPr>
          <a:lstStyle/>
          <a:p>
            <a:pPr lvl="0" algn="just">
              <a:buNone/>
            </a:pPr>
            <a:r>
              <a:rPr lang="pt-BR" dirty="0">
                <a:latin typeface="+mn-lt"/>
              </a:rPr>
              <a:t>	Um banco está informatizando seu controle de clientes e contas. </a:t>
            </a:r>
          </a:p>
          <a:p>
            <a:pPr lvl="0" algn="just">
              <a:buNone/>
            </a:pPr>
            <a:r>
              <a:rPr lang="pt-BR" dirty="0">
                <a:latin typeface="+mn-lt"/>
              </a:rPr>
              <a:t>	No primeiro momento o banco deseja guardar as informações de até 2000 clientes. Cada cliente tem os seguintes dados: nome, endereço, CPF, número da conta, ano de abertura da conta e saldo.  </a:t>
            </a:r>
          </a:p>
          <a:p>
            <a:pPr lvl="0" algn="just">
              <a:buNone/>
            </a:pPr>
            <a:r>
              <a:rPr lang="pt-BR" dirty="0">
                <a:latin typeface="+mn-lt"/>
              </a:rPr>
              <a:t>	Defina a estrutura de dados (registro) que agregue todas as informações de cada cliente e também uma variável do tipo vetor de registros para poder armazenar os registros dos clientes. Depois o programa deve:</a:t>
            </a:r>
          </a:p>
          <a:p>
            <a:pPr lvl="1"/>
            <a:r>
              <a:rPr lang="pt-BR" dirty="0">
                <a:latin typeface="+mn-lt"/>
              </a:rPr>
              <a:t>Encontre e apresente o número de clientes que abriram conta há mais de 10 anos.</a:t>
            </a:r>
          </a:p>
          <a:p>
            <a:pPr lvl="1"/>
            <a:r>
              <a:rPr lang="pt-BR" dirty="0">
                <a:latin typeface="+mn-lt"/>
              </a:rPr>
              <a:t>Encontrar e apresentar o número de clientes com saldo negativo e apresentar o número das contas que estão nesta situação; </a:t>
            </a:r>
          </a:p>
          <a:p>
            <a:pPr lvl="1"/>
            <a:r>
              <a:rPr lang="pt-BR" dirty="0">
                <a:solidFill>
                  <a:srgbClr val="0000FF"/>
                </a:solidFill>
                <a:latin typeface="+mn-lt"/>
              </a:rPr>
              <a:t>Desafio:Procurar as informações de um cliente buscando por CPF.</a:t>
            </a:r>
          </a:p>
          <a:p>
            <a:pPr>
              <a:buNone/>
            </a:pPr>
            <a:endParaRPr lang="pt-BR" dirty="0">
              <a:latin typeface="+mn-lt"/>
            </a:endParaRPr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Gotham-Book"/>
              </a:rPr>
              <a:t>Estruturas</a:t>
            </a:r>
            <a:r>
              <a:rPr lang="en-US" dirty="0">
                <a:cs typeface="Gotham-Book"/>
              </a:rPr>
              <a:t> de Dados </a:t>
            </a:r>
            <a:r>
              <a:rPr lang="en-US" dirty="0" err="1">
                <a:cs typeface="Gotham-Book"/>
              </a:rPr>
              <a:t>Heterogêneas</a:t>
            </a:r>
            <a:r>
              <a:rPr lang="en-US" dirty="0">
                <a:cs typeface="Gotham-Book"/>
              </a:rPr>
              <a:t> – </a:t>
            </a:r>
            <a:r>
              <a:rPr lang="en-US" dirty="0" err="1">
                <a:cs typeface="Gotham-Book"/>
              </a:rPr>
              <a:t>Vetor</a:t>
            </a:r>
            <a:r>
              <a:rPr lang="en-US" dirty="0">
                <a:cs typeface="Gotham-Book"/>
              </a:rPr>
              <a:t> de </a:t>
            </a:r>
            <a:r>
              <a:rPr lang="en-US" dirty="0" err="1">
                <a:cs typeface="Gotham-Book"/>
              </a:rPr>
              <a:t>Registros</a:t>
            </a:r>
            <a:endParaRPr lang="pt-B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74904" y="1316730"/>
            <a:ext cx="7483472" cy="63976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pt-BR" sz="2400" b="0" dirty="0">
                <a:solidFill>
                  <a:srgbClr val="0133BF"/>
                </a:solidFill>
                <a:latin typeface="+mj-lt"/>
              </a:rPr>
              <a:t>Exercício 3 </a:t>
            </a:r>
            <a:r>
              <a:rPr lang="pt-BR" sz="2400" b="0" dirty="0">
                <a:solidFill>
                  <a:srgbClr val="00B050"/>
                </a:solidFill>
                <a:latin typeface="+mj-lt"/>
              </a:rPr>
              <a:t>- extra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0" algn="just">
              <a:buNone/>
            </a:pPr>
            <a:r>
              <a:rPr lang="pt-BR" dirty="0"/>
              <a:t>      Elabore um programa que permita a entrada de nome, endereço e telefone de 5 pessoas. Depois do cadastramento das informações na agenda, o programa deve apresentar um menu com as seguintes opções para realização de consulta:</a:t>
            </a:r>
          </a:p>
          <a:p>
            <a:pPr lvl="1"/>
            <a:r>
              <a:rPr lang="pt-BR" dirty="0"/>
              <a:t>Procurar um contato usando o telefone;</a:t>
            </a:r>
          </a:p>
          <a:p>
            <a:pPr lvl="1"/>
            <a:r>
              <a:rPr lang="pt-BR" dirty="0"/>
              <a:t>Procurar um contato usando o nome.</a:t>
            </a:r>
          </a:p>
          <a:p>
            <a:pPr lvl="1"/>
            <a:r>
              <a:rPr lang="pt-BR" dirty="0"/>
              <a:t>A finalização da execução do programa deve também ser uma opção do menu.</a:t>
            </a:r>
          </a:p>
          <a:p>
            <a:pPr>
              <a:buNone/>
            </a:pPr>
            <a:endParaRPr lang="pt-BR" dirty="0"/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Gotham-Book"/>
              </a:rPr>
              <a:t>Estruturas</a:t>
            </a:r>
            <a:r>
              <a:rPr lang="en-US" dirty="0">
                <a:cs typeface="Gotham-Book"/>
              </a:rPr>
              <a:t> de Dados </a:t>
            </a:r>
            <a:r>
              <a:rPr lang="en-US" dirty="0" err="1">
                <a:cs typeface="Gotham-Book"/>
              </a:rPr>
              <a:t>Heterogêneas</a:t>
            </a:r>
            <a:r>
              <a:rPr lang="en-US" dirty="0">
                <a:cs typeface="Gotham-Book"/>
              </a:rPr>
              <a:t> – </a:t>
            </a:r>
            <a:r>
              <a:rPr lang="en-US" dirty="0" err="1">
                <a:cs typeface="Gotham-Book"/>
              </a:rPr>
              <a:t>Vetor</a:t>
            </a:r>
            <a:r>
              <a:rPr lang="en-US" dirty="0">
                <a:cs typeface="Gotham-Book"/>
              </a:rPr>
              <a:t> de </a:t>
            </a:r>
            <a:r>
              <a:rPr lang="en-US" dirty="0" err="1">
                <a:cs typeface="Gotham-Book"/>
              </a:rPr>
              <a:t>Registros</a:t>
            </a:r>
            <a:endParaRPr lang="pt-B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B050"/>
                </a:solidFill>
              </a:rPr>
              <a:t>Exercícios Resolvidos e Propostos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pt-BR" sz="2000" b="1" dirty="0">
                <a:solidFill>
                  <a:srgbClr val="014EBF"/>
                </a:solidFill>
              </a:rPr>
              <a:t>Livro Biblioteca Virtual (portal FIAP)</a:t>
            </a:r>
          </a:p>
          <a:p>
            <a:pPr fontAlgn="base"/>
            <a:r>
              <a:rPr lang="pt-BR" sz="2000" b="1" dirty="0"/>
              <a:t> </a:t>
            </a:r>
            <a:r>
              <a:rPr lang="pt-BR" sz="2000" dirty="0" err="1"/>
              <a:t>Ascencio</a:t>
            </a:r>
            <a:r>
              <a:rPr lang="pt-BR" sz="2000" dirty="0"/>
              <a:t>, Ana Fernanda Gomes; Campos, </a:t>
            </a:r>
            <a:r>
              <a:rPr lang="pt-BR" sz="2000" dirty="0" err="1"/>
              <a:t>Edilene</a:t>
            </a:r>
            <a:r>
              <a:rPr lang="pt-BR" sz="2000" dirty="0"/>
              <a:t> Aparecida Vene5ruchi  de Campos - </a:t>
            </a:r>
            <a:r>
              <a:rPr lang="pt-BR" sz="2000" b="1" dirty="0"/>
              <a:t>“</a:t>
            </a:r>
            <a:r>
              <a:rPr lang="pt-BR" sz="2000" i="1" dirty="0"/>
              <a:t>Fundamentos da Programação de Computadores: algoritmos, Pascal, C/C++ e Java” - </a:t>
            </a:r>
            <a:r>
              <a:rPr lang="pt-BR" sz="2000" b="1" i="1" dirty="0"/>
              <a:t>3ª edição </a:t>
            </a:r>
            <a:r>
              <a:rPr lang="pt-BR" sz="2000" i="1" dirty="0"/>
              <a:t>- </a:t>
            </a:r>
            <a:r>
              <a:rPr lang="pt-BR" sz="2000" dirty="0" err="1"/>
              <a:t>Ascencio</a:t>
            </a:r>
            <a:r>
              <a:rPr lang="pt-BR" sz="2000" dirty="0"/>
              <a:t>, Ana Fernanda Gomes; Campos, Edilene Aparecida </a:t>
            </a:r>
            <a:r>
              <a:rPr lang="pt-BR" sz="2000" dirty="0" err="1"/>
              <a:t>Veneruchi</a:t>
            </a:r>
            <a:r>
              <a:rPr lang="pt-BR" sz="2000" dirty="0"/>
              <a:t>  de Campos</a:t>
            </a:r>
          </a:p>
          <a:p>
            <a:pPr algn="ctr" fontAlgn="base">
              <a:buNone/>
            </a:pPr>
            <a:r>
              <a:rPr lang="pt-BR" sz="2000" b="1" dirty="0"/>
              <a:t>Capítulo 10</a:t>
            </a:r>
            <a:endParaRPr lang="pt-BR" sz="2000" dirty="0"/>
          </a:p>
          <a:p>
            <a:pPr marL="0" indent="0">
              <a:buNone/>
            </a:pPr>
            <a:endParaRPr lang="pt-BR" sz="200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pt-BR" altLang="en-US" dirty="0"/>
              <a:t>Algoritmos de Alta Performance</a:t>
            </a:r>
          </a:p>
          <a:p>
            <a:pPr>
              <a:defRPr/>
            </a:pPr>
            <a:r>
              <a:rPr lang="pt-BR" altLang="en-US" dirty="0"/>
              <a:t> </a:t>
            </a:r>
            <a:r>
              <a:rPr lang="pt-BR" altLang="en-US" dirty="0" err="1"/>
              <a:t>Profa</a:t>
            </a:r>
            <a:r>
              <a:rPr lang="pt-BR" altLang="en-US" dirty="0"/>
              <a:t> Patrícia Magna</a:t>
            </a:r>
          </a:p>
        </p:txBody>
      </p:sp>
    </p:spTree>
    <p:extLst>
      <p:ext uri="{BB962C8B-B14F-4D97-AF65-F5344CB8AC3E}">
        <p14:creationId xmlns:p14="http://schemas.microsoft.com/office/powerpoint/2010/main" val="3581060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pt-BR" sz="1600" dirty="0">
                <a:latin typeface="+mn-lt"/>
              </a:rPr>
              <a:t>DEITEL, P; J.; </a:t>
            </a:r>
            <a:r>
              <a:rPr lang="pt-BR" sz="1600" dirty="0" err="1">
                <a:latin typeface="+mn-lt"/>
              </a:rPr>
              <a:t>Deitel</a:t>
            </a:r>
            <a:r>
              <a:rPr lang="pt-BR" sz="1600" dirty="0">
                <a:latin typeface="+mn-lt"/>
              </a:rPr>
              <a:t>, H.M., </a:t>
            </a:r>
            <a:r>
              <a:rPr lang="pt-BR" sz="1600" b="1" dirty="0">
                <a:latin typeface="+mn-lt"/>
              </a:rPr>
              <a:t>Java: como programar </a:t>
            </a:r>
            <a:r>
              <a:rPr lang="pt-BR" sz="1600" dirty="0">
                <a:latin typeface="+mn-lt"/>
              </a:rPr>
              <a:t>- 8ª edição, São Paulo, </a:t>
            </a:r>
            <a:r>
              <a:rPr lang="pt-BR" sz="1600" dirty="0" err="1">
                <a:latin typeface="+mn-lt"/>
              </a:rPr>
              <a:t>Ed.Pearson</a:t>
            </a:r>
            <a:r>
              <a:rPr lang="pt-BR" sz="1600">
                <a:latin typeface="+mn-lt"/>
              </a:rPr>
              <a:t> Prentice Hall, 2010.</a:t>
            </a:r>
          </a:p>
          <a:p>
            <a:r>
              <a:rPr lang="pt-BR" altLang="pt-BR"/>
              <a:t>ZIVIANI</a:t>
            </a:r>
            <a:r>
              <a:rPr lang="pt-BR" altLang="pt-BR" dirty="0"/>
              <a:t>, </a:t>
            </a:r>
            <a:r>
              <a:rPr lang="pt-BR" altLang="pt-BR" dirty="0" err="1"/>
              <a:t>Nivio</a:t>
            </a:r>
            <a:r>
              <a:rPr lang="pt-BR" altLang="pt-BR" dirty="0"/>
              <a:t>. Projeto de algoritmos com implementações em Pascal e C. São Paulo: Pioneira,  2000.</a:t>
            </a:r>
          </a:p>
          <a:p>
            <a:pPr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726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222882"/>
            <a:ext cx="6694934" cy="144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2023  </a:t>
            </a:r>
            <a:r>
              <a:rPr kumimoji="1" lang="en-US" sz="2000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Profa</a:t>
            </a: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. </a:t>
            </a:r>
            <a:r>
              <a:rPr kumimoji="1" lang="en-US" sz="2000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Dra</a:t>
            </a: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. </a:t>
            </a:r>
            <a:r>
              <a:rPr kumimoji="1" lang="en-US" sz="2000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Patrícia</a:t>
            </a: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 Magna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2827</TotalTime>
  <Words>1766</Words>
  <Application>Microsoft Office PowerPoint</Application>
  <PresentationFormat>Apresentação na tela (4:3)</PresentationFormat>
  <Paragraphs>271</Paragraphs>
  <Slides>23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23</vt:i4>
      </vt:variant>
    </vt:vector>
  </HeadingPairs>
  <TitlesOfParts>
    <vt:vector size="38" baseType="lpstr">
      <vt:lpstr>Arial</vt:lpstr>
      <vt:lpstr>Calibri</vt:lpstr>
      <vt:lpstr>Consolas</vt:lpstr>
      <vt:lpstr>Garamond</vt:lpstr>
      <vt:lpstr>Gotham HTF</vt:lpstr>
      <vt:lpstr>Gotham HTF Book</vt:lpstr>
      <vt:lpstr>Gotham-Bold</vt:lpstr>
      <vt:lpstr>Gotham-Book</vt:lpstr>
      <vt:lpstr>Times New Roman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Apresentação do PowerPoint</vt:lpstr>
      <vt:lpstr>O que são Registros?</vt:lpstr>
      <vt:lpstr>Estruturas de Dados Heterogêneas - Registros</vt:lpstr>
      <vt:lpstr>Estruturas de Dados Heterogêneas - Registros</vt:lpstr>
      <vt:lpstr>Registros em JAVA</vt:lpstr>
      <vt:lpstr>Exemplo 1</vt:lpstr>
      <vt:lpstr>Exemplo 2</vt:lpstr>
      <vt:lpstr>Objetos instanciados e espaços reservados na memória para seus atributos</vt:lpstr>
      <vt:lpstr>Exemplo 2 (continuação)</vt:lpstr>
      <vt:lpstr>Os atributos do cadernoCadastro foram todos lidos do teclado</vt:lpstr>
      <vt:lpstr>Exemplo 2 (continuação)</vt:lpstr>
      <vt:lpstr>Objeto cadernoCadastro tem todos os seus campos copiados para a variável cadernoVenda</vt:lpstr>
      <vt:lpstr>Exemplo 2 (continuação)</vt:lpstr>
      <vt:lpstr>Exercício 1</vt:lpstr>
      <vt:lpstr>Vetores de Registros</vt:lpstr>
      <vt:lpstr>Registros como elementos de vetores </vt:lpstr>
      <vt:lpstr>Um vetor com elementos de objetos da classe Aluno é similar a uma pasta com fichas de alunos</vt:lpstr>
      <vt:lpstr>Exemplo1</vt:lpstr>
      <vt:lpstr>Estruturas de Dados Heterogêneas – Vetor de Registros</vt:lpstr>
      <vt:lpstr>Estruturas de Dados Heterogêneas – Vetor de Registros</vt:lpstr>
      <vt:lpstr>Exercícios Resolvidos e Propostos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Patrícia Magna</cp:lastModifiedBy>
  <cp:revision>296</cp:revision>
  <dcterms:created xsi:type="dcterms:W3CDTF">2015-01-30T10:46:50Z</dcterms:created>
  <dcterms:modified xsi:type="dcterms:W3CDTF">2023-04-26T19:59:25Z</dcterms:modified>
</cp:coreProperties>
</file>