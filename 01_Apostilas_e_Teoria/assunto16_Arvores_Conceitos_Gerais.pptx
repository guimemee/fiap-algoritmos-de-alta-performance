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24"/>
  </p:notesMasterIdLst>
  <p:sldIdLst>
    <p:sldId id="267" r:id="rId5"/>
    <p:sldId id="309" r:id="rId6"/>
    <p:sldId id="347" r:id="rId7"/>
    <p:sldId id="348" r:id="rId8"/>
    <p:sldId id="350" r:id="rId9"/>
    <p:sldId id="346" r:id="rId10"/>
    <p:sldId id="331" r:id="rId11"/>
    <p:sldId id="345" r:id="rId12"/>
    <p:sldId id="332" r:id="rId13"/>
    <p:sldId id="333" r:id="rId14"/>
    <p:sldId id="334" r:id="rId15"/>
    <p:sldId id="335" r:id="rId16"/>
    <p:sldId id="336" r:id="rId17"/>
    <p:sldId id="351" r:id="rId18"/>
    <p:sldId id="337" r:id="rId19"/>
    <p:sldId id="338" r:id="rId20"/>
    <p:sldId id="343" r:id="rId21"/>
    <p:sldId id="330" r:id="rId22"/>
    <p:sldId id="265" r:id="rId2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8000"/>
    <a:srgbClr val="303030"/>
    <a:srgbClr val="F1350F"/>
    <a:srgbClr val="020000"/>
    <a:srgbClr val="5035F5"/>
    <a:srgbClr val="4639F1"/>
    <a:srgbClr val="F0265D"/>
    <a:srgbClr val="EBAFB5"/>
    <a:srgbClr val="F4D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49" autoAdjust="0"/>
  </p:normalViewPr>
  <p:slideViewPr>
    <p:cSldViewPr snapToGrid="0" snapToObjects="1">
      <p:cViewPr varScale="1">
        <p:scale>
          <a:sx n="59" d="100"/>
          <a:sy n="59" d="100"/>
        </p:scale>
        <p:origin x="16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F433-E505-43D0-A355-A4900B7C703E}" type="datetime1">
              <a:rPr lang="pt-BR" smtClean="0"/>
              <a:pPr/>
              <a:t>18/10/2023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C4D8-43A0-406C-8406-2E28D1B12599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0DD8A-A47F-4272-AA36-27F414FDF381}" type="datetime1">
              <a:rPr lang="pt-BR" smtClean="0"/>
              <a:pPr/>
              <a:t>18/10/2023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39673-392D-4043-9DD2-9A15498AC87D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FD59-06AB-4A7F-8705-8D702EBBE43D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E3D4-742A-44AE-94F1-E5239448E66E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95F1A-296A-487D-9BE3-4285331F5C4C}" type="datetime1">
              <a:rPr lang="pt-BR" smtClean="0"/>
              <a:pPr/>
              <a:t>18/10/2023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600A4-8631-47E8-9909-3848F5EE1E9E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0039-CD00-46A1-B98F-63D4EEA3C55D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9387-8FD1-461C-B0B9-B3E55EF76EFC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D88BA-A347-4952-A930-8BA3ECD308FD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51DD3-B65F-4BDC-8708-C23730D636CA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522A8-99EA-4DB2-B1AA-7CEA6C5584C9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035EF-8DFB-436D-91B9-E69FB75BDB88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A9A32-FFF1-496F-9878-1A2F05A222B4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3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3293781"/>
            <a:ext cx="813211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Conceitos Gerais sobre Árvores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2" y="3857840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Gotham-Bold"/>
              </a:rPr>
              <a:t>Algoritmos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Definição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181100"/>
            <a:ext cx="7760043" cy="4525963"/>
          </a:xfrm>
        </p:spPr>
        <p:txBody>
          <a:bodyPr>
            <a:normAutofit/>
          </a:bodyPr>
          <a:lstStyle/>
          <a:p>
            <a:r>
              <a:rPr lang="pt-BR" sz="2800" dirty="0"/>
              <a:t>Árvores são estruturas de dados bidimensionais que são usadas para armazenar dados, de forma a permitir a busca e recuperação de informação mais eficiente do que em listas lineares. </a:t>
            </a:r>
          </a:p>
          <a:p>
            <a:pPr>
              <a:buNone/>
            </a:pPr>
            <a:endParaRPr lang="pt-BR" sz="28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</a:t>
            </a:fld>
            <a:endParaRPr lang="pt-BR"/>
          </a:p>
        </p:txBody>
      </p:sp>
      <p:grpSp>
        <p:nvGrpSpPr>
          <p:cNvPr id="5" name="Grupo 4"/>
          <p:cNvGrpSpPr/>
          <p:nvPr/>
        </p:nvGrpSpPr>
        <p:grpSpPr>
          <a:xfrm>
            <a:off x="2175641" y="3247697"/>
            <a:ext cx="4855780" cy="3473778"/>
            <a:chOff x="1007010" y="1422400"/>
            <a:chExt cx="5410200" cy="4477280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535690" y="1422400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 dirty="0">
                  <a:solidFill>
                    <a:srgbClr val="00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712688" y="3042829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3576120" y="3042829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C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5535112" y="3042829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D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5535112" y="4933330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535980" y="5000848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007010" y="5021947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4006143" y="2300133"/>
              <a:ext cx="0" cy="746917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>
              <a:off x="2158638" y="2300133"/>
              <a:ext cx="1840154" cy="746917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4006143" y="2300133"/>
              <a:ext cx="1999422" cy="742697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 flipH="1">
              <a:off x="1477462" y="3920562"/>
              <a:ext cx="705678" cy="1080286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2183140" y="3920562"/>
              <a:ext cx="823291" cy="1080286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6005564" y="3920562"/>
              <a:ext cx="0" cy="1012768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Aplicação de Árvore: </a:t>
            </a:r>
            <a:r>
              <a:rPr lang="pt-BR" b="1" i="1" dirty="0"/>
              <a:t>machine </a:t>
            </a:r>
            <a:r>
              <a:rPr lang="pt-BR" b="1" i="1" dirty="0" err="1"/>
              <a:t>learning</a:t>
            </a:r>
            <a:endParaRPr lang="pt-BR" b="1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8644" y="3650210"/>
            <a:ext cx="6426712" cy="293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aixaDeTexto 4"/>
          <p:cNvSpPr txBox="1"/>
          <p:nvPr/>
        </p:nvSpPr>
        <p:spPr>
          <a:xfrm>
            <a:off x="1653902" y="940821"/>
            <a:ext cx="5966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8000"/>
                </a:solidFill>
                <a:latin typeface="+mj-lt"/>
              </a:rPr>
              <a:t>Árvores de Decisão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5E43BA-1E78-44C3-8CD4-E2870906F94E}"/>
              </a:ext>
            </a:extLst>
          </p:cNvPr>
          <p:cNvSpPr txBox="1"/>
          <p:nvPr/>
        </p:nvSpPr>
        <p:spPr>
          <a:xfrm>
            <a:off x="469557" y="1533146"/>
            <a:ext cx="84013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000A8"/>
                </a:solidFill>
                <a:effectLst/>
                <a:latin typeface="Verdana" panose="020B0604030504040204" pitchFamily="34" charset="0"/>
              </a:rPr>
              <a:t>As Árvores de Decisão são um dos modelos mais práticos e mais usados em inferência indutiva. Este método representa funções como árvores de decisão. Estas árvores são treinadas de acordo com um conjunto de treino (exemplos previamente classificados) e posteriormente, outros exemplos são classificados de acordo com essa mesma árvore. </a:t>
            </a:r>
            <a:endParaRPr lang="pt-BR" dirty="0">
              <a:solidFill>
                <a:srgbClr val="0000A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2052" name="Picture 4" descr="https://i1.wp.com/www.analyticsvidhya.com/wp-content/uploads/2015/08/IkBzK.png?resize=579%2C4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4113" y="1320362"/>
            <a:ext cx="5514975" cy="4057650"/>
          </a:xfrm>
          <a:prstGeom prst="rect">
            <a:avLst/>
          </a:prstGeom>
          <a:noFill/>
        </p:spPr>
      </p:pic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69557" y="6356350"/>
            <a:ext cx="7176719" cy="365125"/>
          </a:xfrm>
        </p:spPr>
        <p:txBody>
          <a:bodyPr/>
          <a:lstStyle/>
          <a:p>
            <a:r>
              <a:rPr lang="pt-BR" dirty="0"/>
              <a:t>https://www.vooo.pro/insights/fundamentos-dos-algoritmos-de-machine-learning-com-codigo-python-e-r/</a:t>
            </a: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/>
          <a:lstStyle/>
          <a:p>
            <a:r>
              <a:rPr lang="pt-BR" b="1" dirty="0"/>
              <a:t>Aplicação de Árvore: </a:t>
            </a:r>
            <a:r>
              <a:rPr lang="pt-BR" b="1" i="1" dirty="0"/>
              <a:t>machine </a:t>
            </a:r>
            <a:r>
              <a:rPr lang="pt-BR" b="1" i="1" dirty="0" err="1"/>
              <a:t>learning</a:t>
            </a:r>
            <a:endParaRPr lang="pt-BR" b="1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69557" y="6356350"/>
            <a:ext cx="7176719" cy="365125"/>
          </a:xfrm>
        </p:spPr>
        <p:txBody>
          <a:bodyPr/>
          <a:lstStyle/>
          <a:p>
            <a:r>
              <a:rPr lang="pt-BR" dirty="0"/>
              <a:t>https://www.vooo.pro/insights/fundamentos-dos-algoritmos-de-machine-learning-com-codigo-python-e-r/</a:t>
            </a: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/>
          <a:lstStyle/>
          <a:p>
            <a:r>
              <a:rPr lang="pt-BR" b="1" dirty="0"/>
              <a:t>Aplicação de Árvore: </a:t>
            </a:r>
            <a:r>
              <a:rPr lang="pt-BR" b="1" i="1" dirty="0"/>
              <a:t>Busca Binária</a:t>
            </a:r>
          </a:p>
        </p:txBody>
      </p:sp>
      <p:pic>
        <p:nvPicPr>
          <p:cNvPr id="8" name="Picture 2" descr="Imagem relaciona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0575" y="1601307"/>
            <a:ext cx="5218444" cy="3144114"/>
          </a:xfrm>
          <a:prstGeom prst="rect">
            <a:avLst/>
          </a:prstGeom>
          <a:noFill/>
        </p:spPr>
      </p:pic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895226" y="5624523"/>
          <a:ext cx="75937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62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Como utilizar Árvores na computação?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181100"/>
            <a:ext cx="7760043" cy="4525963"/>
          </a:xfrm>
        </p:spPr>
        <p:txBody>
          <a:bodyPr>
            <a:normAutofit/>
          </a:bodyPr>
          <a:lstStyle/>
          <a:p>
            <a:r>
              <a:rPr lang="pt-BR" sz="2800" dirty="0"/>
              <a:t>Inicialmente, precisamos convencionar termos usados para manipular o tipo de dado ÁRVORES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6</a:t>
            </a:fld>
            <a:endParaRPr lang="pt-BR"/>
          </a:p>
        </p:txBody>
      </p:sp>
      <p:grpSp>
        <p:nvGrpSpPr>
          <p:cNvPr id="2" name="Grupo 4"/>
          <p:cNvGrpSpPr/>
          <p:nvPr/>
        </p:nvGrpSpPr>
        <p:grpSpPr>
          <a:xfrm>
            <a:off x="2017300" y="2233285"/>
            <a:ext cx="4855780" cy="3473778"/>
            <a:chOff x="1007010" y="1422400"/>
            <a:chExt cx="5410200" cy="4477280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535690" y="1422400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 dirty="0">
                  <a:solidFill>
                    <a:srgbClr val="00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712688" y="3042829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3576120" y="3042829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C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5535112" y="3042829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D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5535112" y="4933330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535980" y="5000848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007010" y="5021947"/>
              <a:ext cx="882098" cy="877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4006143" y="2300133"/>
              <a:ext cx="0" cy="746917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>
              <a:off x="2158638" y="2300133"/>
              <a:ext cx="1840154" cy="746917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4006143" y="2300133"/>
              <a:ext cx="1999422" cy="742697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 flipH="1">
              <a:off x="1477462" y="3920562"/>
              <a:ext cx="705678" cy="1080286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2183140" y="3920562"/>
              <a:ext cx="823291" cy="1080286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6005564" y="3920562"/>
              <a:ext cx="0" cy="1012768"/>
            </a:xfrm>
            <a:prstGeom prst="line">
              <a:avLst/>
            </a:prstGeom>
            <a:noFill/>
            <a:ln w="28575">
              <a:solidFill>
                <a:srgbClr val="30303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600" dirty="0"/>
              <a:t>Árvores - Definição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003300"/>
            <a:ext cx="8229600" cy="477996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Conjunto </a:t>
            </a:r>
            <a:r>
              <a:rPr lang="pt-BR" dirty="0">
                <a:solidFill>
                  <a:srgbClr val="0066FF"/>
                </a:solidFill>
              </a:rPr>
              <a:t>finito e não vazio</a:t>
            </a:r>
            <a:r>
              <a:rPr lang="pt-BR" dirty="0"/>
              <a:t> de elementos, no qual um elemento é chamado de </a:t>
            </a:r>
            <a:r>
              <a:rPr lang="pt-BR" dirty="0">
                <a:solidFill>
                  <a:srgbClr val="0066FF"/>
                </a:solidFill>
              </a:rPr>
              <a:t>RAIZ</a:t>
            </a:r>
            <a:r>
              <a:rPr lang="pt-BR" dirty="0"/>
              <a:t> e os elementos restantes são </a:t>
            </a:r>
            <a:r>
              <a:rPr lang="pt-BR" dirty="0" err="1"/>
              <a:t>particionados</a:t>
            </a:r>
            <a:r>
              <a:rPr lang="pt-BR" dirty="0"/>
              <a:t> em m&gt;=0 subconjuntos disjuntos, </a:t>
            </a:r>
            <a:r>
              <a:rPr lang="pt-BR" dirty="0">
                <a:solidFill>
                  <a:srgbClr val="0066FF"/>
                </a:solidFill>
              </a:rPr>
              <a:t>cada um dos quais sendo uma árvore em si mesmo.</a:t>
            </a:r>
          </a:p>
          <a:p>
            <a:endParaRPr lang="pt-BR" dirty="0">
              <a:solidFill>
                <a:srgbClr val="0066FF"/>
              </a:solidFill>
            </a:endParaRPr>
          </a:p>
          <a:p>
            <a:r>
              <a:rPr lang="pt-BR" dirty="0"/>
              <a:t>Cada elemento numa árvore é chamado </a:t>
            </a:r>
            <a:r>
              <a:rPr lang="pt-BR" dirty="0">
                <a:solidFill>
                  <a:srgbClr val="0066FF"/>
                </a:solidFill>
              </a:rPr>
              <a:t>NÓ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Um nó sem sub-árvores chama-se </a:t>
            </a:r>
            <a:r>
              <a:rPr lang="pt-BR" dirty="0">
                <a:solidFill>
                  <a:srgbClr val="0066FF"/>
                </a:solidFill>
              </a:rPr>
              <a:t>FOLHA</a:t>
            </a:r>
            <a:r>
              <a:rPr lang="pt-BR" dirty="0"/>
              <a:t>.</a:t>
            </a:r>
          </a:p>
          <a:p>
            <a:pPr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19791" y="462513"/>
            <a:ext cx="6858000" cy="574632"/>
          </a:xfrm>
        </p:spPr>
        <p:txBody>
          <a:bodyPr>
            <a:normAutofit fontScale="90000"/>
          </a:bodyPr>
          <a:lstStyle/>
          <a:p>
            <a:r>
              <a:rPr lang="pt-BR" sz="3600" dirty="0">
                <a:solidFill>
                  <a:srgbClr val="FF0000"/>
                </a:solidFill>
              </a:rPr>
              <a:t>Exemplo Árvore</a:t>
            </a:r>
          </a:p>
        </p:txBody>
      </p:sp>
      <p:sp>
        <p:nvSpPr>
          <p:cNvPr id="33" name="Espaço Reservado para Número de Slid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4102" name="Oval 6"/>
          <p:cNvSpPr>
            <a:spLocks noChangeArrowheads="1"/>
          </p:cNvSpPr>
          <p:nvPr/>
        </p:nvSpPr>
        <p:spPr bwMode="auto">
          <a:xfrm>
            <a:off x="3535690" y="1422400"/>
            <a:ext cx="882098" cy="8777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A</a:t>
            </a:r>
          </a:p>
        </p:txBody>
      </p:sp>
      <p:sp>
        <p:nvSpPr>
          <p:cNvPr id="4103" name="Oval 7"/>
          <p:cNvSpPr>
            <a:spLocks noChangeArrowheads="1"/>
          </p:cNvSpPr>
          <p:nvPr/>
        </p:nvSpPr>
        <p:spPr bwMode="auto">
          <a:xfrm>
            <a:off x="1712688" y="3042829"/>
            <a:ext cx="882098" cy="8777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>
                <a:solidFill>
                  <a:srgbClr val="000000"/>
                </a:solidFill>
                <a:latin typeface="Arial Narrow" pitchFamily="34" charset="0"/>
              </a:rPr>
              <a:t>B</a:t>
            </a:r>
          </a:p>
        </p:txBody>
      </p:sp>
      <p:sp>
        <p:nvSpPr>
          <p:cNvPr id="4104" name="Oval 8"/>
          <p:cNvSpPr>
            <a:spLocks noChangeArrowheads="1"/>
          </p:cNvSpPr>
          <p:nvPr/>
        </p:nvSpPr>
        <p:spPr bwMode="auto">
          <a:xfrm>
            <a:off x="3576120" y="3042829"/>
            <a:ext cx="882098" cy="8777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>
                <a:solidFill>
                  <a:srgbClr val="000000"/>
                </a:solidFill>
                <a:latin typeface="Arial Narrow" pitchFamily="34" charset="0"/>
              </a:rPr>
              <a:t>C</a:t>
            </a:r>
          </a:p>
        </p:txBody>
      </p:sp>
      <p:sp>
        <p:nvSpPr>
          <p:cNvPr id="4105" name="Oval 9"/>
          <p:cNvSpPr>
            <a:spLocks noChangeArrowheads="1"/>
          </p:cNvSpPr>
          <p:nvPr/>
        </p:nvSpPr>
        <p:spPr bwMode="auto">
          <a:xfrm>
            <a:off x="5535112" y="3042829"/>
            <a:ext cx="882098" cy="8777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>
                <a:solidFill>
                  <a:srgbClr val="000000"/>
                </a:solidFill>
                <a:latin typeface="Arial Narrow" pitchFamily="34" charset="0"/>
              </a:rPr>
              <a:t>D</a:t>
            </a:r>
          </a:p>
        </p:txBody>
      </p:sp>
      <p:sp>
        <p:nvSpPr>
          <p:cNvPr id="4106" name="Oval 10"/>
          <p:cNvSpPr>
            <a:spLocks noChangeArrowheads="1"/>
          </p:cNvSpPr>
          <p:nvPr/>
        </p:nvSpPr>
        <p:spPr bwMode="auto">
          <a:xfrm>
            <a:off x="5535112" y="4933330"/>
            <a:ext cx="882098" cy="8777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>
                <a:solidFill>
                  <a:srgbClr val="000000"/>
                </a:solidFill>
                <a:latin typeface="Arial Narrow" pitchFamily="34" charset="0"/>
              </a:rPr>
              <a:t>G</a:t>
            </a:r>
          </a:p>
        </p:txBody>
      </p:sp>
      <p:sp>
        <p:nvSpPr>
          <p:cNvPr id="4107" name="Oval 11"/>
          <p:cNvSpPr>
            <a:spLocks noChangeArrowheads="1"/>
          </p:cNvSpPr>
          <p:nvPr/>
        </p:nvSpPr>
        <p:spPr bwMode="auto">
          <a:xfrm>
            <a:off x="2535980" y="5000848"/>
            <a:ext cx="882098" cy="8777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>
                <a:solidFill>
                  <a:srgbClr val="000000"/>
                </a:solidFill>
                <a:latin typeface="Arial Narrow" pitchFamily="34" charset="0"/>
              </a:rPr>
              <a:t>F</a:t>
            </a:r>
          </a:p>
        </p:txBody>
      </p:sp>
      <p:sp>
        <p:nvSpPr>
          <p:cNvPr id="4108" name="Oval 12"/>
          <p:cNvSpPr>
            <a:spLocks noChangeArrowheads="1"/>
          </p:cNvSpPr>
          <p:nvPr/>
        </p:nvSpPr>
        <p:spPr bwMode="auto">
          <a:xfrm>
            <a:off x="1007010" y="5021947"/>
            <a:ext cx="882098" cy="87773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>
                <a:solidFill>
                  <a:srgbClr val="000000"/>
                </a:solidFill>
                <a:latin typeface="Arial Narrow" pitchFamily="34" charset="0"/>
              </a:rPr>
              <a:t>E</a:t>
            </a:r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4006143" y="2300133"/>
            <a:ext cx="0" cy="746917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110" name="Line 14"/>
          <p:cNvSpPr>
            <a:spLocks noChangeShapeType="1"/>
          </p:cNvSpPr>
          <p:nvPr/>
        </p:nvSpPr>
        <p:spPr bwMode="auto">
          <a:xfrm flipH="1">
            <a:off x="2158638" y="2300133"/>
            <a:ext cx="1840154" cy="746917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112" name="Line 16"/>
          <p:cNvSpPr>
            <a:spLocks noChangeShapeType="1"/>
          </p:cNvSpPr>
          <p:nvPr/>
        </p:nvSpPr>
        <p:spPr bwMode="auto">
          <a:xfrm>
            <a:off x="4006143" y="2300133"/>
            <a:ext cx="1999422" cy="742697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113" name="Line 17"/>
          <p:cNvSpPr>
            <a:spLocks noChangeShapeType="1"/>
          </p:cNvSpPr>
          <p:nvPr/>
        </p:nvSpPr>
        <p:spPr bwMode="auto">
          <a:xfrm flipH="1">
            <a:off x="1477462" y="3920562"/>
            <a:ext cx="705678" cy="1080286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114" name="Line 18"/>
          <p:cNvSpPr>
            <a:spLocks noChangeShapeType="1"/>
          </p:cNvSpPr>
          <p:nvPr/>
        </p:nvSpPr>
        <p:spPr bwMode="auto">
          <a:xfrm>
            <a:off x="2183140" y="3920562"/>
            <a:ext cx="823291" cy="1080286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115" name="Line 19"/>
          <p:cNvSpPr>
            <a:spLocks noChangeShapeType="1"/>
          </p:cNvSpPr>
          <p:nvPr/>
        </p:nvSpPr>
        <p:spPr bwMode="auto">
          <a:xfrm>
            <a:off x="6005564" y="3920562"/>
            <a:ext cx="0" cy="1012768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grpSp>
        <p:nvGrpSpPr>
          <p:cNvPr id="2" name="Group 120"/>
          <p:cNvGrpSpPr>
            <a:grpSpLocks/>
          </p:cNvGrpSpPr>
          <p:nvPr/>
        </p:nvGrpSpPr>
        <p:grpSpPr bwMode="auto">
          <a:xfrm flipV="1">
            <a:off x="7437818" y="1614333"/>
            <a:ext cx="1469699" cy="2658122"/>
            <a:chOff x="192" y="1392"/>
            <a:chExt cx="2041" cy="2304"/>
          </a:xfrm>
        </p:grpSpPr>
        <p:sp>
          <p:nvSpPr>
            <p:cNvPr id="35" name="Freeform 121"/>
            <p:cNvSpPr>
              <a:spLocks/>
            </p:cNvSpPr>
            <p:nvPr/>
          </p:nvSpPr>
          <p:spPr bwMode="auto">
            <a:xfrm>
              <a:off x="558" y="2204"/>
              <a:ext cx="1390" cy="1492"/>
            </a:xfrm>
            <a:custGeom>
              <a:avLst/>
              <a:gdLst/>
              <a:ahLst/>
              <a:cxnLst>
                <a:cxn ang="0">
                  <a:pos x="130" y="1492"/>
                </a:cxn>
                <a:cxn ang="0">
                  <a:pos x="0" y="1273"/>
                </a:cxn>
                <a:cxn ang="0">
                  <a:pos x="153" y="1371"/>
                </a:cxn>
                <a:cxn ang="0">
                  <a:pos x="130" y="1205"/>
                </a:cxn>
                <a:cxn ang="0">
                  <a:pos x="218" y="1302"/>
                </a:cxn>
                <a:cxn ang="0">
                  <a:pos x="180" y="1102"/>
                </a:cxn>
                <a:cxn ang="0">
                  <a:pos x="384" y="1321"/>
                </a:cxn>
                <a:cxn ang="0">
                  <a:pos x="338" y="1071"/>
                </a:cxn>
                <a:cxn ang="0">
                  <a:pos x="491" y="1283"/>
                </a:cxn>
                <a:cxn ang="0">
                  <a:pos x="468" y="946"/>
                </a:cxn>
                <a:cxn ang="0">
                  <a:pos x="569" y="1273"/>
                </a:cxn>
                <a:cxn ang="0">
                  <a:pos x="578" y="535"/>
                </a:cxn>
                <a:cxn ang="0">
                  <a:pos x="315" y="278"/>
                </a:cxn>
                <a:cxn ang="0">
                  <a:pos x="315" y="278"/>
                </a:cxn>
                <a:cxn ang="0">
                  <a:pos x="325" y="215"/>
                </a:cxn>
                <a:cxn ang="0">
                  <a:pos x="333" y="198"/>
                </a:cxn>
                <a:cxn ang="0">
                  <a:pos x="579" y="410"/>
                </a:cxn>
                <a:cxn ang="0">
                  <a:pos x="614" y="8"/>
                </a:cxn>
                <a:cxn ang="0">
                  <a:pos x="616" y="9"/>
                </a:cxn>
                <a:cxn ang="0">
                  <a:pos x="623" y="11"/>
                </a:cxn>
                <a:cxn ang="0">
                  <a:pos x="633" y="15"/>
                </a:cxn>
                <a:cxn ang="0">
                  <a:pos x="648" y="19"/>
                </a:cxn>
                <a:cxn ang="0">
                  <a:pos x="668" y="20"/>
                </a:cxn>
                <a:cxn ang="0">
                  <a:pos x="691" y="18"/>
                </a:cxn>
                <a:cxn ang="0">
                  <a:pos x="721" y="11"/>
                </a:cxn>
                <a:cxn ang="0">
                  <a:pos x="755" y="0"/>
                </a:cxn>
                <a:cxn ang="0">
                  <a:pos x="771" y="268"/>
                </a:cxn>
                <a:cxn ang="0">
                  <a:pos x="998" y="115"/>
                </a:cxn>
                <a:cxn ang="0">
                  <a:pos x="1008" y="174"/>
                </a:cxn>
                <a:cxn ang="0">
                  <a:pos x="769" y="371"/>
                </a:cxn>
                <a:cxn ang="0">
                  <a:pos x="769" y="1033"/>
                </a:cxn>
                <a:cxn ang="0">
                  <a:pos x="814" y="1325"/>
                </a:cxn>
                <a:cxn ang="0">
                  <a:pos x="925" y="865"/>
                </a:cxn>
                <a:cxn ang="0">
                  <a:pos x="918" y="1290"/>
                </a:cxn>
                <a:cxn ang="0">
                  <a:pos x="1056" y="812"/>
                </a:cxn>
                <a:cxn ang="0">
                  <a:pos x="1021" y="1325"/>
                </a:cxn>
                <a:cxn ang="0">
                  <a:pos x="1140" y="1102"/>
                </a:cxn>
                <a:cxn ang="0">
                  <a:pos x="1136" y="1360"/>
                </a:cxn>
                <a:cxn ang="0">
                  <a:pos x="1258" y="1186"/>
                </a:cxn>
                <a:cxn ang="0">
                  <a:pos x="1261" y="1311"/>
                </a:cxn>
                <a:cxn ang="0">
                  <a:pos x="1390" y="1242"/>
                </a:cxn>
                <a:cxn ang="0">
                  <a:pos x="1230" y="1477"/>
                </a:cxn>
                <a:cxn ang="0">
                  <a:pos x="130" y="1492"/>
                </a:cxn>
              </a:cxnLst>
              <a:rect l="0" t="0" r="r" b="b"/>
              <a:pathLst>
                <a:path w="1390" h="1492">
                  <a:moveTo>
                    <a:pt x="130" y="1492"/>
                  </a:moveTo>
                  <a:lnTo>
                    <a:pt x="0" y="1273"/>
                  </a:lnTo>
                  <a:lnTo>
                    <a:pt x="153" y="1371"/>
                  </a:lnTo>
                  <a:lnTo>
                    <a:pt x="130" y="1205"/>
                  </a:lnTo>
                  <a:lnTo>
                    <a:pt x="218" y="1302"/>
                  </a:lnTo>
                  <a:lnTo>
                    <a:pt x="180" y="1102"/>
                  </a:lnTo>
                  <a:lnTo>
                    <a:pt x="384" y="1321"/>
                  </a:lnTo>
                  <a:lnTo>
                    <a:pt x="338" y="1071"/>
                  </a:lnTo>
                  <a:lnTo>
                    <a:pt x="491" y="1283"/>
                  </a:lnTo>
                  <a:lnTo>
                    <a:pt x="468" y="946"/>
                  </a:lnTo>
                  <a:lnTo>
                    <a:pt x="569" y="1273"/>
                  </a:lnTo>
                  <a:lnTo>
                    <a:pt x="578" y="535"/>
                  </a:lnTo>
                  <a:lnTo>
                    <a:pt x="315" y="278"/>
                  </a:lnTo>
                  <a:lnTo>
                    <a:pt x="315" y="278"/>
                  </a:lnTo>
                  <a:lnTo>
                    <a:pt x="325" y="215"/>
                  </a:lnTo>
                  <a:lnTo>
                    <a:pt x="333" y="198"/>
                  </a:lnTo>
                  <a:lnTo>
                    <a:pt x="579" y="410"/>
                  </a:lnTo>
                  <a:lnTo>
                    <a:pt x="614" y="8"/>
                  </a:lnTo>
                  <a:lnTo>
                    <a:pt x="616" y="9"/>
                  </a:lnTo>
                  <a:lnTo>
                    <a:pt x="623" y="11"/>
                  </a:lnTo>
                  <a:lnTo>
                    <a:pt x="633" y="15"/>
                  </a:lnTo>
                  <a:lnTo>
                    <a:pt x="648" y="19"/>
                  </a:lnTo>
                  <a:lnTo>
                    <a:pt x="668" y="20"/>
                  </a:lnTo>
                  <a:lnTo>
                    <a:pt x="691" y="18"/>
                  </a:lnTo>
                  <a:lnTo>
                    <a:pt x="721" y="11"/>
                  </a:lnTo>
                  <a:lnTo>
                    <a:pt x="755" y="0"/>
                  </a:lnTo>
                  <a:lnTo>
                    <a:pt x="771" y="268"/>
                  </a:lnTo>
                  <a:lnTo>
                    <a:pt x="998" y="115"/>
                  </a:lnTo>
                  <a:lnTo>
                    <a:pt x="1008" y="174"/>
                  </a:lnTo>
                  <a:lnTo>
                    <a:pt x="769" y="371"/>
                  </a:lnTo>
                  <a:lnTo>
                    <a:pt x="769" y="1033"/>
                  </a:lnTo>
                  <a:lnTo>
                    <a:pt x="814" y="1325"/>
                  </a:lnTo>
                  <a:lnTo>
                    <a:pt x="925" y="865"/>
                  </a:lnTo>
                  <a:lnTo>
                    <a:pt x="918" y="1290"/>
                  </a:lnTo>
                  <a:lnTo>
                    <a:pt x="1056" y="812"/>
                  </a:lnTo>
                  <a:lnTo>
                    <a:pt x="1021" y="1325"/>
                  </a:lnTo>
                  <a:lnTo>
                    <a:pt x="1140" y="1102"/>
                  </a:lnTo>
                  <a:lnTo>
                    <a:pt x="1136" y="1360"/>
                  </a:lnTo>
                  <a:lnTo>
                    <a:pt x="1258" y="1186"/>
                  </a:lnTo>
                  <a:lnTo>
                    <a:pt x="1261" y="1311"/>
                  </a:lnTo>
                  <a:lnTo>
                    <a:pt x="1390" y="1242"/>
                  </a:lnTo>
                  <a:lnTo>
                    <a:pt x="1230" y="1477"/>
                  </a:lnTo>
                  <a:lnTo>
                    <a:pt x="130" y="149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122"/>
            <p:cNvSpPr>
              <a:spLocks/>
            </p:cNvSpPr>
            <p:nvPr/>
          </p:nvSpPr>
          <p:spPr bwMode="auto">
            <a:xfrm>
              <a:off x="1072" y="3390"/>
              <a:ext cx="46" cy="260"/>
            </a:xfrm>
            <a:custGeom>
              <a:avLst/>
              <a:gdLst/>
              <a:ahLst/>
              <a:cxnLst>
                <a:cxn ang="0">
                  <a:pos x="41" y="245"/>
                </a:cxn>
                <a:cxn ang="0">
                  <a:pos x="0" y="0"/>
                </a:cxn>
                <a:cxn ang="0">
                  <a:pos x="0" y="166"/>
                </a:cxn>
                <a:cxn ang="0">
                  <a:pos x="19" y="260"/>
                </a:cxn>
                <a:cxn ang="0">
                  <a:pos x="46" y="260"/>
                </a:cxn>
                <a:cxn ang="0">
                  <a:pos x="41" y="245"/>
                </a:cxn>
              </a:cxnLst>
              <a:rect l="0" t="0" r="r" b="b"/>
              <a:pathLst>
                <a:path w="46" h="260">
                  <a:moveTo>
                    <a:pt x="41" y="245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9" y="260"/>
                  </a:lnTo>
                  <a:lnTo>
                    <a:pt x="46" y="260"/>
                  </a:lnTo>
                  <a:lnTo>
                    <a:pt x="41" y="2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123"/>
            <p:cNvSpPr>
              <a:spLocks/>
            </p:cNvSpPr>
            <p:nvPr/>
          </p:nvSpPr>
          <p:spPr bwMode="auto">
            <a:xfrm>
              <a:off x="632" y="3381"/>
              <a:ext cx="431" cy="286"/>
            </a:xfrm>
            <a:custGeom>
              <a:avLst/>
              <a:gdLst/>
              <a:ahLst/>
              <a:cxnLst>
                <a:cxn ang="0">
                  <a:pos x="431" y="273"/>
                </a:cxn>
                <a:cxn ang="0">
                  <a:pos x="315" y="28"/>
                </a:cxn>
                <a:cxn ang="0">
                  <a:pos x="356" y="264"/>
                </a:cxn>
                <a:cxn ang="0">
                  <a:pos x="250" y="129"/>
                </a:cxn>
                <a:cxn ang="0">
                  <a:pos x="144" y="0"/>
                </a:cxn>
                <a:cxn ang="0">
                  <a:pos x="190" y="254"/>
                </a:cxn>
                <a:cxn ang="0">
                  <a:pos x="92" y="125"/>
                </a:cxn>
                <a:cxn ang="0">
                  <a:pos x="106" y="254"/>
                </a:cxn>
                <a:cxn ang="0">
                  <a:pos x="0" y="190"/>
                </a:cxn>
                <a:cxn ang="0">
                  <a:pos x="79" y="286"/>
                </a:cxn>
                <a:cxn ang="0">
                  <a:pos x="431" y="273"/>
                </a:cxn>
              </a:cxnLst>
              <a:rect l="0" t="0" r="r" b="b"/>
              <a:pathLst>
                <a:path w="431" h="286">
                  <a:moveTo>
                    <a:pt x="431" y="273"/>
                  </a:moveTo>
                  <a:lnTo>
                    <a:pt x="315" y="28"/>
                  </a:lnTo>
                  <a:lnTo>
                    <a:pt x="356" y="264"/>
                  </a:lnTo>
                  <a:lnTo>
                    <a:pt x="250" y="129"/>
                  </a:lnTo>
                  <a:lnTo>
                    <a:pt x="144" y="0"/>
                  </a:lnTo>
                  <a:lnTo>
                    <a:pt x="190" y="254"/>
                  </a:lnTo>
                  <a:lnTo>
                    <a:pt x="92" y="125"/>
                  </a:lnTo>
                  <a:lnTo>
                    <a:pt x="106" y="254"/>
                  </a:lnTo>
                  <a:lnTo>
                    <a:pt x="0" y="190"/>
                  </a:lnTo>
                  <a:lnTo>
                    <a:pt x="79" y="286"/>
                  </a:lnTo>
                  <a:lnTo>
                    <a:pt x="431" y="2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124"/>
            <p:cNvSpPr>
              <a:spLocks/>
            </p:cNvSpPr>
            <p:nvPr/>
          </p:nvSpPr>
          <p:spPr bwMode="auto">
            <a:xfrm>
              <a:off x="1386" y="3242"/>
              <a:ext cx="190" cy="412"/>
            </a:xfrm>
            <a:custGeom>
              <a:avLst/>
              <a:gdLst/>
              <a:ahLst/>
              <a:cxnLst>
                <a:cxn ang="0">
                  <a:pos x="0" y="412"/>
                </a:cxn>
                <a:cxn ang="0">
                  <a:pos x="0" y="352"/>
                </a:cxn>
                <a:cxn ang="0">
                  <a:pos x="60" y="112"/>
                </a:cxn>
                <a:cxn ang="0">
                  <a:pos x="78" y="375"/>
                </a:cxn>
                <a:cxn ang="0">
                  <a:pos x="190" y="0"/>
                </a:cxn>
                <a:cxn ang="0">
                  <a:pos x="152" y="412"/>
                </a:cxn>
                <a:cxn ang="0">
                  <a:pos x="0" y="412"/>
                </a:cxn>
              </a:cxnLst>
              <a:rect l="0" t="0" r="r" b="b"/>
              <a:pathLst>
                <a:path w="190" h="412">
                  <a:moveTo>
                    <a:pt x="0" y="412"/>
                  </a:moveTo>
                  <a:lnTo>
                    <a:pt x="0" y="352"/>
                  </a:lnTo>
                  <a:lnTo>
                    <a:pt x="60" y="112"/>
                  </a:lnTo>
                  <a:lnTo>
                    <a:pt x="78" y="375"/>
                  </a:lnTo>
                  <a:lnTo>
                    <a:pt x="190" y="0"/>
                  </a:lnTo>
                  <a:lnTo>
                    <a:pt x="152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125"/>
            <p:cNvSpPr>
              <a:spLocks/>
            </p:cNvSpPr>
            <p:nvPr/>
          </p:nvSpPr>
          <p:spPr bwMode="auto">
            <a:xfrm>
              <a:off x="1562" y="3446"/>
              <a:ext cx="106" cy="208"/>
            </a:xfrm>
            <a:custGeom>
              <a:avLst/>
              <a:gdLst/>
              <a:ahLst/>
              <a:cxnLst>
                <a:cxn ang="0">
                  <a:pos x="0" y="208"/>
                </a:cxn>
                <a:cxn ang="0">
                  <a:pos x="101" y="0"/>
                </a:cxn>
                <a:cxn ang="0">
                  <a:pos x="106" y="204"/>
                </a:cxn>
                <a:cxn ang="0">
                  <a:pos x="0" y="208"/>
                </a:cxn>
              </a:cxnLst>
              <a:rect l="0" t="0" r="r" b="b"/>
              <a:pathLst>
                <a:path w="106" h="208">
                  <a:moveTo>
                    <a:pt x="0" y="208"/>
                  </a:moveTo>
                  <a:lnTo>
                    <a:pt x="101" y="0"/>
                  </a:lnTo>
                  <a:lnTo>
                    <a:pt x="106" y="204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126"/>
            <p:cNvSpPr>
              <a:spLocks/>
            </p:cNvSpPr>
            <p:nvPr/>
          </p:nvSpPr>
          <p:spPr bwMode="auto">
            <a:xfrm>
              <a:off x="1691" y="3496"/>
              <a:ext cx="97" cy="154"/>
            </a:xfrm>
            <a:custGeom>
              <a:avLst/>
              <a:gdLst/>
              <a:ahLst/>
              <a:cxnLst>
                <a:cxn ang="0">
                  <a:pos x="0" y="154"/>
                </a:cxn>
                <a:cxn ang="0">
                  <a:pos x="97" y="0"/>
                </a:cxn>
                <a:cxn ang="0">
                  <a:pos x="78" y="149"/>
                </a:cxn>
                <a:cxn ang="0">
                  <a:pos x="0" y="154"/>
                </a:cxn>
              </a:cxnLst>
              <a:rect l="0" t="0" r="r" b="b"/>
              <a:pathLst>
                <a:path w="97" h="154">
                  <a:moveTo>
                    <a:pt x="0" y="154"/>
                  </a:moveTo>
                  <a:lnTo>
                    <a:pt x="97" y="0"/>
                  </a:lnTo>
                  <a:lnTo>
                    <a:pt x="78" y="149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127"/>
            <p:cNvSpPr>
              <a:spLocks/>
            </p:cNvSpPr>
            <p:nvPr/>
          </p:nvSpPr>
          <p:spPr bwMode="auto">
            <a:xfrm>
              <a:off x="1798" y="3525"/>
              <a:ext cx="64" cy="96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8" y="41"/>
                </a:cxn>
                <a:cxn ang="0">
                  <a:pos x="64" y="0"/>
                </a:cxn>
                <a:cxn ang="0">
                  <a:pos x="50" y="36"/>
                </a:cxn>
                <a:cxn ang="0">
                  <a:pos x="0" y="96"/>
                </a:cxn>
              </a:cxnLst>
              <a:rect l="0" t="0" r="r" b="b"/>
              <a:pathLst>
                <a:path w="64" h="96">
                  <a:moveTo>
                    <a:pt x="0" y="96"/>
                  </a:moveTo>
                  <a:lnTo>
                    <a:pt x="18" y="41"/>
                  </a:lnTo>
                  <a:lnTo>
                    <a:pt x="64" y="0"/>
                  </a:lnTo>
                  <a:lnTo>
                    <a:pt x="50" y="3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128"/>
            <p:cNvSpPr>
              <a:spLocks/>
            </p:cNvSpPr>
            <p:nvPr/>
          </p:nvSpPr>
          <p:spPr bwMode="auto">
            <a:xfrm>
              <a:off x="1132" y="2294"/>
              <a:ext cx="71" cy="1360"/>
            </a:xfrm>
            <a:custGeom>
              <a:avLst/>
              <a:gdLst/>
              <a:ahLst/>
              <a:cxnLst>
                <a:cxn ang="0">
                  <a:pos x="0" y="1360"/>
                </a:cxn>
                <a:cxn ang="0">
                  <a:pos x="51" y="0"/>
                </a:cxn>
                <a:cxn ang="0">
                  <a:pos x="52" y="3"/>
                </a:cxn>
                <a:cxn ang="0">
                  <a:pos x="56" y="5"/>
                </a:cxn>
                <a:cxn ang="0">
                  <a:pos x="62" y="6"/>
                </a:cxn>
                <a:cxn ang="0">
                  <a:pos x="71" y="1"/>
                </a:cxn>
                <a:cxn ang="0">
                  <a:pos x="64" y="1360"/>
                </a:cxn>
                <a:cxn ang="0">
                  <a:pos x="0" y="1360"/>
                </a:cxn>
              </a:cxnLst>
              <a:rect l="0" t="0" r="r" b="b"/>
              <a:pathLst>
                <a:path w="71" h="1360">
                  <a:moveTo>
                    <a:pt x="0" y="1360"/>
                  </a:moveTo>
                  <a:lnTo>
                    <a:pt x="51" y="0"/>
                  </a:lnTo>
                  <a:lnTo>
                    <a:pt x="52" y="3"/>
                  </a:lnTo>
                  <a:lnTo>
                    <a:pt x="56" y="5"/>
                  </a:lnTo>
                  <a:lnTo>
                    <a:pt x="62" y="6"/>
                  </a:lnTo>
                  <a:lnTo>
                    <a:pt x="71" y="1"/>
                  </a:lnTo>
                  <a:lnTo>
                    <a:pt x="64" y="1360"/>
                  </a:lnTo>
                  <a:lnTo>
                    <a:pt x="0" y="136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129"/>
            <p:cNvSpPr>
              <a:spLocks/>
            </p:cNvSpPr>
            <p:nvPr/>
          </p:nvSpPr>
          <p:spPr bwMode="auto">
            <a:xfrm>
              <a:off x="1214" y="2258"/>
              <a:ext cx="55" cy="1392"/>
            </a:xfrm>
            <a:custGeom>
              <a:avLst/>
              <a:gdLst/>
              <a:ahLst/>
              <a:cxnLst>
                <a:cxn ang="0">
                  <a:pos x="0" y="1392"/>
                </a:cxn>
                <a:cxn ang="0">
                  <a:pos x="23" y="4"/>
                </a:cxn>
                <a:cxn ang="0">
                  <a:pos x="24" y="5"/>
                </a:cxn>
                <a:cxn ang="0">
                  <a:pos x="30" y="7"/>
                </a:cxn>
                <a:cxn ang="0">
                  <a:pos x="39" y="6"/>
                </a:cxn>
                <a:cxn ang="0">
                  <a:pos x="52" y="0"/>
                </a:cxn>
                <a:cxn ang="0">
                  <a:pos x="55" y="1392"/>
                </a:cxn>
                <a:cxn ang="0">
                  <a:pos x="0" y="1392"/>
                </a:cxn>
              </a:cxnLst>
              <a:rect l="0" t="0" r="r" b="b"/>
              <a:pathLst>
                <a:path w="55" h="1392">
                  <a:moveTo>
                    <a:pt x="0" y="1392"/>
                  </a:moveTo>
                  <a:lnTo>
                    <a:pt x="23" y="4"/>
                  </a:lnTo>
                  <a:lnTo>
                    <a:pt x="24" y="5"/>
                  </a:lnTo>
                  <a:lnTo>
                    <a:pt x="30" y="7"/>
                  </a:lnTo>
                  <a:lnTo>
                    <a:pt x="39" y="6"/>
                  </a:lnTo>
                  <a:lnTo>
                    <a:pt x="52" y="0"/>
                  </a:lnTo>
                  <a:lnTo>
                    <a:pt x="55" y="1392"/>
                  </a:lnTo>
                  <a:lnTo>
                    <a:pt x="0" y="139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130"/>
            <p:cNvSpPr>
              <a:spLocks/>
            </p:cNvSpPr>
            <p:nvPr/>
          </p:nvSpPr>
          <p:spPr bwMode="auto">
            <a:xfrm>
              <a:off x="1283" y="2225"/>
              <a:ext cx="51" cy="1420"/>
            </a:xfrm>
            <a:custGeom>
              <a:avLst/>
              <a:gdLst/>
              <a:ahLst/>
              <a:cxnLst>
                <a:cxn ang="0">
                  <a:pos x="10" y="1420"/>
                </a:cxn>
                <a:cxn ang="0">
                  <a:pos x="0" y="14"/>
                </a:cxn>
                <a:cxn ang="0">
                  <a:pos x="19" y="0"/>
                </a:cxn>
                <a:cxn ang="0">
                  <a:pos x="29" y="1081"/>
                </a:cxn>
                <a:cxn ang="0">
                  <a:pos x="51" y="1415"/>
                </a:cxn>
                <a:cxn ang="0">
                  <a:pos x="10" y="1420"/>
                </a:cxn>
              </a:cxnLst>
              <a:rect l="0" t="0" r="r" b="b"/>
              <a:pathLst>
                <a:path w="51" h="1420">
                  <a:moveTo>
                    <a:pt x="10" y="1420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29" y="1081"/>
                  </a:lnTo>
                  <a:lnTo>
                    <a:pt x="51" y="1415"/>
                  </a:lnTo>
                  <a:lnTo>
                    <a:pt x="10" y="142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131"/>
            <p:cNvSpPr>
              <a:spLocks/>
            </p:cNvSpPr>
            <p:nvPr/>
          </p:nvSpPr>
          <p:spPr bwMode="auto">
            <a:xfrm>
              <a:off x="1334" y="2350"/>
              <a:ext cx="204" cy="190"/>
            </a:xfrm>
            <a:custGeom>
              <a:avLst/>
              <a:gdLst/>
              <a:ahLst/>
              <a:cxnLst>
                <a:cxn ang="0">
                  <a:pos x="5" y="153"/>
                </a:cxn>
                <a:cxn ang="0">
                  <a:pos x="204" y="0"/>
                </a:cxn>
                <a:cxn ang="0">
                  <a:pos x="204" y="14"/>
                </a:cxn>
                <a:cxn ang="0">
                  <a:pos x="0" y="190"/>
                </a:cxn>
                <a:cxn ang="0">
                  <a:pos x="5" y="153"/>
                </a:cxn>
              </a:cxnLst>
              <a:rect l="0" t="0" r="r" b="b"/>
              <a:pathLst>
                <a:path w="204" h="190">
                  <a:moveTo>
                    <a:pt x="5" y="153"/>
                  </a:moveTo>
                  <a:lnTo>
                    <a:pt x="204" y="0"/>
                  </a:lnTo>
                  <a:lnTo>
                    <a:pt x="204" y="14"/>
                  </a:lnTo>
                  <a:lnTo>
                    <a:pt x="0" y="190"/>
                  </a:lnTo>
                  <a:lnTo>
                    <a:pt x="5" y="15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132"/>
            <p:cNvSpPr>
              <a:spLocks/>
            </p:cNvSpPr>
            <p:nvPr/>
          </p:nvSpPr>
          <p:spPr bwMode="auto">
            <a:xfrm>
              <a:off x="896" y="2438"/>
              <a:ext cx="236" cy="255"/>
            </a:xfrm>
            <a:custGeom>
              <a:avLst/>
              <a:gdLst/>
              <a:ahLst/>
              <a:cxnLst>
                <a:cxn ang="0">
                  <a:pos x="236" y="255"/>
                </a:cxn>
                <a:cxn ang="0">
                  <a:pos x="231" y="198"/>
                </a:cxn>
                <a:cxn ang="0">
                  <a:pos x="10" y="0"/>
                </a:cxn>
                <a:cxn ang="0">
                  <a:pos x="0" y="41"/>
                </a:cxn>
                <a:cxn ang="0">
                  <a:pos x="236" y="255"/>
                </a:cxn>
              </a:cxnLst>
              <a:rect l="0" t="0" r="r" b="b"/>
              <a:pathLst>
                <a:path w="236" h="255">
                  <a:moveTo>
                    <a:pt x="236" y="255"/>
                  </a:moveTo>
                  <a:lnTo>
                    <a:pt x="231" y="198"/>
                  </a:lnTo>
                  <a:lnTo>
                    <a:pt x="10" y="0"/>
                  </a:lnTo>
                  <a:lnTo>
                    <a:pt x="0" y="41"/>
                  </a:lnTo>
                  <a:lnTo>
                    <a:pt x="236" y="2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133"/>
            <p:cNvSpPr>
              <a:spLocks/>
            </p:cNvSpPr>
            <p:nvPr/>
          </p:nvSpPr>
          <p:spPr bwMode="auto">
            <a:xfrm>
              <a:off x="192" y="2275"/>
              <a:ext cx="691" cy="554"/>
            </a:xfrm>
            <a:custGeom>
              <a:avLst/>
              <a:gdLst/>
              <a:ahLst/>
              <a:cxnLst>
                <a:cxn ang="0">
                  <a:pos x="662" y="404"/>
                </a:cxn>
                <a:cxn ang="0">
                  <a:pos x="651" y="415"/>
                </a:cxn>
                <a:cxn ang="0">
                  <a:pos x="621" y="443"/>
                </a:cxn>
                <a:cxn ang="0">
                  <a:pos x="574" y="476"/>
                </a:cxn>
                <a:cxn ang="0">
                  <a:pos x="514" y="505"/>
                </a:cxn>
                <a:cxn ang="0">
                  <a:pos x="339" y="550"/>
                </a:cxn>
                <a:cxn ang="0">
                  <a:pos x="346" y="520"/>
                </a:cxn>
                <a:cxn ang="0">
                  <a:pos x="359" y="474"/>
                </a:cxn>
                <a:cxn ang="0">
                  <a:pos x="370" y="420"/>
                </a:cxn>
                <a:cxn ang="0">
                  <a:pos x="376" y="389"/>
                </a:cxn>
                <a:cxn ang="0">
                  <a:pos x="381" y="354"/>
                </a:cxn>
                <a:cxn ang="0">
                  <a:pos x="394" y="305"/>
                </a:cxn>
                <a:cxn ang="0">
                  <a:pos x="414" y="262"/>
                </a:cxn>
                <a:cxn ang="0">
                  <a:pos x="422" y="250"/>
                </a:cxn>
                <a:cxn ang="0">
                  <a:pos x="387" y="254"/>
                </a:cxn>
                <a:cxn ang="0">
                  <a:pos x="332" y="262"/>
                </a:cxn>
                <a:cxn ang="0">
                  <a:pos x="271" y="265"/>
                </a:cxn>
                <a:cxn ang="0">
                  <a:pos x="239" y="267"/>
                </a:cxn>
                <a:cxn ang="0">
                  <a:pos x="206" y="268"/>
                </a:cxn>
                <a:cxn ang="0">
                  <a:pos x="151" y="263"/>
                </a:cxn>
                <a:cxn ang="0">
                  <a:pos x="90" y="244"/>
                </a:cxn>
                <a:cxn ang="0">
                  <a:pos x="59" y="227"/>
                </a:cxn>
                <a:cxn ang="0">
                  <a:pos x="46" y="218"/>
                </a:cxn>
                <a:cxn ang="0">
                  <a:pos x="29" y="199"/>
                </a:cxn>
                <a:cxn ang="0">
                  <a:pos x="9" y="168"/>
                </a:cxn>
                <a:cxn ang="0">
                  <a:pos x="5" y="145"/>
                </a:cxn>
                <a:cxn ang="0">
                  <a:pos x="37" y="128"/>
                </a:cxn>
                <a:cxn ang="0">
                  <a:pos x="89" y="100"/>
                </a:cxn>
                <a:cxn ang="0">
                  <a:pos x="142" y="70"/>
                </a:cxn>
                <a:cxn ang="0">
                  <a:pos x="172" y="55"/>
                </a:cxn>
                <a:cxn ang="0">
                  <a:pos x="206" y="40"/>
                </a:cxn>
                <a:cxn ang="0">
                  <a:pos x="260" y="19"/>
                </a:cxn>
                <a:cxn ang="0">
                  <a:pos x="320" y="4"/>
                </a:cxn>
                <a:cxn ang="0">
                  <a:pos x="354" y="2"/>
                </a:cxn>
                <a:cxn ang="0">
                  <a:pos x="395" y="0"/>
                </a:cxn>
                <a:cxn ang="0">
                  <a:pos x="457" y="2"/>
                </a:cxn>
                <a:cxn ang="0">
                  <a:pos x="519" y="10"/>
                </a:cxn>
                <a:cxn ang="0">
                  <a:pos x="546" y="22"/>
                </a:cxn>
                <a:cxn ang="0">
                  <a:pos x="570" y="40"/>
                </a:cxn>
                <a:cxn ang="0">
                  <a:pos x="606" y="74"/>
                </a:cxn>
                <a:cxn ang="0">
                  <a:pos x="641" y="118"/>
                </a:cxn>
                <a:cxn ang="0">
                  <a:pos x="691" y="144"/>
                </a:cxn>
              </a:cxnLst>
              <a:rect l="0" t="0" r="r" b="b"/>
              <a:pathLst>
                <a:path w="691" h="554">
                  <a:moveTo>
                    <a:pt x="671" y="190"/>
                  </a:moveTo>
                  <a:lnTo>
                    <a:pt x="662" y="404"/>
                  </a:lnTo>
                  <a:lnTo>
                    <a:pt x="660" y="406"/>
                  </a:lnTo>
                  <a:lnTo>
                    <a:pt x="651" y="415"/>
                  </a:lnTo>
                  <a:lnTo>
                    <a:pt x="639" y="428"/>
                  </a:lnTo>
                  <a:lnTo>
                    <a:pt x="621" y="443"/>
                  </a:lnTo>
                  <a:lnTo>
                    <a:pt x="599" y="459"/>
                  </a:lnTo>
                  <a:lnTo>
                    <a:pt x="574" y="476"/>
                  </a:lnTo>
                  <a:lnTo>
                    <a:pt x="545" y="491"/>
                  </a:lnTo>
                  <a:lnTo>
                    <a:pt x="514" y="505"/>
                  </a:lnTo>
                  <a:lnTo>
                    <a:pt x="337" y="554"/>
                  </a:lnTo>
                  <a:lnTo>
                    <a:pt x="339" y="550"/>
                  </a:lnTo>
                  <a:lnTo>
                    <a:pt x="342" y="538"/>
                  </a:lnTo>
                  <a:lnTo>
                    <a:pt x="346" y="520"/>
                  </a:lnTo>
                  <a:lnTo>
                    <a:pt x="352" y="499"/>
                  </a:lnTo>
                  <a:lnTo>
                    <a:pt x="359" y="474"/>
                  </a:lnTo>
                  <a:lnTo>
                    <a:pt x="365" y="446"/>
                  </a:lnTo>
                  <a:lnTo>
                    <a:pt x="370" y="420"/>
                  </a:lnTo>
                  <a:lnTo>
                    <a:pt x="375" y="394"/>
                  </a:lnTo>
                  <a:lnTo>
                    <a:pt x="376" y="389"/>
                  </a:lnTo>
                  <a:lnTo>
                    <a:pt x="377" y="375"/>
                  </a:lnTo>
                  <a:lnTo>
                    <a:pt x="381" y="354"/>
                  </a:lnTo>
                  <a:lnTo>
                    <a:pt x="386" y="330"/>
                  </a:lnTo>
                  <a:lnTo>
                    <a:pt x="394" y="305"/>
                  </a:lnTo>
                  <a:lnTo>
                    <a:pt x="402" y="281"/>
                  </a:lnTo>
                  <a:lnTo>
                    <a:pt x="414" y="262"/>
                  </a:lnTo>
                  <a:lnTo>
                    <a:pt x="427" y="249"/>
                  </a:lnTo>
                  <a:lnTo>
                    <a:pt x="422" y="250"/>
                  </a:lnTo>
                  <a:lnTo>
                    <a:pt x="409" y="252"/>
                  </a:lnTo>
                  <a:lnTo>
                    <a:pt x="387" y="254"/>
                  </a:lnTo>
                  <a:lnTo>
                    <a:pt x="361" y="258"/>
                  </a:lnTo>
                  <a:lnTo>
                    <a:pt x="332" y="262"/>
                  </a:lnTo>
                  <a:lnTo>
                    <a:pt x="301" y="264"/>
                  </a:lnTo>
                  <a:lnTo>
                    <a:pt x="271" y="265"/>
                  </a:lnTo>
                  <a:lnTo>
                    <a:pt x="244" y="267"/>
                  </a:lnTo>
                  <a:lnTo>
                    <a:pt x="239" y="267"/>
                  </a:lnTo>
                  <a:lnTo>
                    <a:pt x="226" y="268"/>
                  </a:lnTo>
                  <a:lnTo>
                    <a:pt x="206" y="268"/>
                  </a:lnTo>
                  <a:lnTo>
                    <a:pt x="180" y="267"/>
                  </a:lnTo>
                  <a:lnTo>
                    <a:pt x="151" y="263"/>
                  </a:lnTo>
                  <a:lnTo>
                    <a:pt x="121" y="257"/>
                  </a:lnTo>
                  <a:lnTo>
                    <a:pt x="90" y="244"/>
                  </a:lnTo>
                  <a:lnTo>
                    <a:pt x="60" y="228"/>
                  </a:lnTo>
                  <a:lnTo>
                    <a:pt x="59" y="227"/>
                  </a:lnTo>
                  <a:lnTo>
                    <a:pt x="54" y="224"/>
                  </a:lnTo>
                  <a:lnTo>
                    <a:pt x="46" y="218"/>
                  </a:lnTo>
                  <a:lnTo>
                    <a:pt x="37" y="210"/>
                  </a:lnTo>
                  <a:lnTo>
                    <a:pt x="29" y="199"/>
                  </a:lnTo>
                  <a:lnTo>
                    <a:pt x="19" y="185"/>
                  </a:lnTo>
                  <a:lnTo>
                    <a:pt x="9" y="168"/>
                  </a:lnTo>
                  <a:lnTo>
                    <a:pt x="0" y="148"/>
                  </a:lnTo>
                  <a:lnTo>
                    <a:pt x="5" y="145"/>
                  </a:lnTo>
                  <a:lnTo>
                    <a:pt x="17" y="138"/>
                  </a:lnTo>
                  <a:lnTo>
                    <a:pt x="37" y="128"/>
                  </a:lnTo>
                  <a:lnTo>
                    <a:pt x="61" y="114"/>
                  </a:lnTo>
                  <a:lnTo>
                    <a:pt x="89" y="100"/>
                  </a:lnTo>
                  <a:lnTo>
                    <a:pt x="116" y="85"/>
                  </a:lnTo>
                  <a:lnTo>
                    <a:pt x="142" y="70"/>
                  </a:lnTo>
                  <a:lnTo>
                    <a:pt x="167" y="58"/>
                  </a:lnTo>
                  <a:lnTo>
                    <a:pt x="172" y="55"/>
                  </a:lnTo>
                  <a:lnTo>
                    <a:pt x="186" y="49"/>
                  </a:lnTo>
                  <a:lnTo>
                    <a:pt x="206" y="40"/>
                  </a:lnTo>
                  <a:lnTo>
                    <a:pt x="231" y="29"/>
                  </a:lnTo>
                  <a:lnTo>
                    <a:pt x="260" y="19"/>
                  </a:lnTo>
                  <a:lnTo>
                    <a:pt x="290" y="10"/>
                  </a:lnTo>
                  <a:lnTo>
                    <a:pt x="320" y="4"/>
                  </a:lnTo>
                  <a:lnTo>
                    <a:pt x="347" y="2"/>
                  </a:lnTo>
                  <a:lnTo>
                    <a:pt x="354" y="2"/>
                  </a:lnTo>
                  <a:lnTo>
                    <a:pt x="370" y="0"/>
                  </a:lnTo>
                  <a:lnTo>
                    <a:pt x="395" y="0"/>
                  </a:lnTo>
                  <a:lnTo>
                    <a:pt x="425" y="0"/>
                  </a:lnTo>
                  <a:lnTo>
                    <a:pt x="457" y="2"/>
                  </a:lnTo>
                  <a:lnTo>
                    <a:pt x="490" y="5"/>
                  </a:lnTo>
                  <a:lnTo>
                    <a:pt x="519" y="10"/>
                  </a:lnTo>
                  <a:lnTo>
                    <a:pt x="542" y="19"/>
                  </a:lnTo>
                  <a:lnTo>
                    <a:pt x="546" y="22"/>
                  </a:lnTo>
                  <a:lnTo>
                    <a:pt x="556" y="29"/>
                  </a:lnTo>
                  <a:lnTo>
                    <a:pt x="570" y="40"/>
                  </a:lnTo>
                  <a:lnTo>
                    <a:pt x="587" y="55"/>
                  </a:lnTo>
                  <a:lnTo>
                    <a:pt x="606" y="74"/>
                  </a:lnTo>
                  <a:lnTo>
                    <a:pt x="624" y="94"/>
                  </a:lnTo>
                  <a:lnTo>
                    <a:pt x="641" y="118"/>
                  </a:lnTo>
                  <a:lnTo>
                    <a:pt x="654" y="142"/>
                  </a:lnTo>
                  <a:lnTo>
                    <a:pt x="691" y="144"/>
                  </a:lnTo>
                  <a:lnTo>
                    <a:pt x="671" y="19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134"/>
            <p:cNvSpPr>
              <a:spLocks/>
            </p:cNvSpPr>
            <p:nvPr/>
          </p:nvSpPr>
          <p:spPr bwMode="auto">
            <a:xfrm>
              <a:off x="756" y="2083"/>
              <a:ext cx="193" cy="295"/>
            </a:xfrm>
            <a:custGeom>
              <a:avLst/>
              <a:gdLst/>
              <a:ahLst/>
              <a:cxnLst>
                <a:cxn ang="0">
                  <a:pos x="113" y="295"/>
                </a:cxn>
                <a:cxn ang="0">
                  <a:pos x="110" y="292"/>
                </a:cxn>
                <a:cxn ang="0">
                  <a:pos x="98" y="284"/>
                </a:cxn>
                <a:cxn ang="0">
                  <a:pos x="83" y="271"/>
                </a:cxn>
                <a:cxn ang="0">
                  <a:pos x="66" y="256"/>
                </a:cxn>
                <a:cxn ang="0">
                  <a:pos x="47" y="237"/>
                </a:cxn>
                <a:cxn ang="0">
                  <a:pos x="30" y="219"/>
                </a:cxn>
                <a:cxn ang="0">
                  <a:pos x="17" y="199"/>
                </a:cxn>
                <a:cxn ang="0">
                  <a:pos x="10" y="180"/>
                </a:cxn>
                <a:cxn ang="0">
                  <a:pos x="7" y="167"/>
                </a:cxn>
                <a:cxn ang="0">
                  <a:pos x="1" y="136"/>
                </a:cxn>
                <a:cxn ang="0">
                  <a:pos x="0" y="96"/>
                </a:cxn>
                <a:cxn ang="0">
                  <a:pos x="6" y="59"/>
                </a:cxn>
                <a:cxn ang="0">
                  <a:pos x="41" y="0"/>
                </a:cxn>
                <a:cxn ang="0">
                  <a:pos x="193" y="115"/>
                </a:cxn>
                <a:cxn ang="0">
                  <a:pos x="113" y="295"/>
                </a:cxn>
              </a:cxnLst>
              <a:rect l="0" t="0" r="r" b="b"/>
              <a:pathLst>
                <a:path w="193" h="295">
                  <a:moveTo>
                    <a:pt x="113" y="295"/>
                  </a:moveTo>
                  <a:lnTo>
                    <a:pt x="110" y="292"/>
                  </a:lnTo>
                  <a:lnTo>
                    <a:pt x="98" y="284"/>
                  </a:lnTo>
                  <a:lnTo>
                    <a:pt x="83" y="271"/>
                  </a:lnTo>
                  <a:lnTo>
                    <a:pt x="66" y="256"/>
                  </a:lnTo>
                  <a:lnTo>
                    <a:pt x="47" y="237"/>
                  </a:lnTo>
                  <a:lnTo>
                    <a:pt x="30" y="219"/>
                  </a:lnTo>
                  <a:lnTo>
                    <a:pt x="17" y="199"/>
                  </a:lnTo>
                  <a:lnTo>
                    <a:pt x="10" y="180"/>
                  </a:lnTo>
                  <a:lnTo>
                    <a:pt x="7" y="167"/>
                  </a:lnTo>
                  <a:lnTo>
                    <a:pt x="1" y="136"/>
                  </a:lnTo>
                  <a:lnTo>
                    <a:pt x="0" y="96"/>
                  </a:lnTo>
                  <a:lnTo>
                    <a:pt x="6" y="59"/>
                  </a:lnTo>
                  <a:lnTo>
                    <a:pt x="41" y="0"/>
                  </a:lnTo>
                  <a:lnTo>
                    <a:pt x="193" y="115"/>
                  </a:lnTo>
                  <a:lnTo>
                    <a:pt x="113" y="29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135"/>
            <p:cNvSpPr>
              <a:spLocks/>
            </p:cNvSpPr>
            <p:nvPr/>
          </p:nvSpPr>
          <p:spPr bwMode="auto">
            <a:xfrm>
              <a:off x="413" y="1904"/>
              <a:ext cx="304" cy="349"/>
            </a:xfrm>
            <a:custGeom>
              <a:avLst/>
              <a:gdLst/>
              <a:ahLst/>
              <a:cxnLst>
                <a:cxn ang="0">
                  <a:pos x="304" y="349"/>
                </a:cxn>
                <a:cxn ang="0">
                  <a:pos x="304" y="341"/>
                </a:cxn>
                <a:cxn ang="0">
                  <a:pos x="301" y="321"/>
                </a:cxn>
                <a:cxn ang="0">
                  <a:pos x="298" y="291"/>
                </a:cxn>
                <a:cxn ang="0">
                  <a:pos x="291" y="254"/>
                </a:cxn>
                <a:cxn ang="0">
                  <a:pos x="281" y="213"/>
                </a:cxn>
                <a:cxn ang="0">
                  <a:pos x="269" y="171"/>
                </a:cxn>
                <a:cxn ang="0">
                  <a:pos x="250" y="133"/>
                </a:cxn>
                <a:cxn ang="0">
                  <a:pos x="228" y="99"/>
                </a:cxn>
                <a:cxn ang="0">
                  <a:pos x="226" y="98"/>
                </a:cxn>
                <a:cxn ang="0">
                  <a:pos x="224" y="91"/>
                </a:cxn>
                <a:cxn ang="0">
                  <a:pos x="218" y="84"/>
                </a:cxn>
                <a:cxn ang="0">
                  <a:pos x="210" y="74"/>
                </a:cxn>
                <a:cxn ang="0">
                  <a:pos x="200" y="63"/>
                </a:cxn>
                <a:cxn ang="0">
                  <a:pos x="186" y="52"/>
                </a:cxn>
                <a:cxn ang="0">
                  <a:pos x="170" y="39"/>
                </a:cxn>
                <a:cxn ang="0">
                  <a:pos x="151" y="27"/>
                </a:cxn>
                <a:cxn ang="0">
                  <a:pos x="148" y="25"/>
                </a:cxn>
                <a:cxn ang="0">
                  <a:pos x="136" y="22"/>
                </a:cxn>
                <a:cxn ang="0">
                  <a:pos x="119" y="17"/>
                </a:cxn>
                <a:cxn ang="0">
                  <a:pos x="99" y="10"/>
                </a:cxn>
                <a:cxn ang="0">
                  <a:pos x="75" y="5"/>
                </a:cxn>
                <a:cxn ang="0">
                  <a:pos x="50" y="2"/>
                </a:cxn>
                <a:cxn ang="0">
                  <a:pos x="25" y="0"/>
                </a:cxn>
                <a:cxn ang="0">
                  <a:pos x="1" y="2"/>
                </a:cxn>
                <a:cxn ang="0">
                  <a:pos x="0" y="18"/>
                </a:cxn>
                <a:cxn ang="0">
                  <a:pos x="0" y="57"/>
                </a:cxn>
                <a:cxn ang="0">
                  <a:pos x="5" y="104"/>
                </a:cxn>
                <a:cxn ang="0">
                  <a:pos x="19" y="148"/>
                </a:cxn>
                <a:cxn ang="0">
                  <a:pos x="20" y="150"/>
                </a:cxn>
                <a:cxn ang="0">
                  <a:pos x="24" y="158"/>
                </a:cxn>
                <a:cxn ang="0">
                  <a:pos x="30" y="169"/>
                </a:cxn>
                <a:cxn ang="0">
                  <a:pos x="39" y="184"/>
                </a:cxn>
                <a:cxn ang="0">
                  <a:pos x="53" y="200"/>
                </a:cxn>
                <a:cxn ang="0">
                  <a:pos x="69" y="219"/>
                </a:cxn>
                <a:cxn ang="0">
                  <a:pos x="90" y="239"/>
                </a:cxn>
                <a:cxn ang="0">
                  <a:pos x="116" y="259"/>
                </a:cxn>
                <a:cxn ang="0">
                  <a:pos x="120" y="261"/>
                </a:cxn>
                <a:cxn ang="0">
                  <a:pos x="133" y="268"/>
                </a:cxn>
                <a:cxn ang="0">
                  <a:pos x="151" y="278"/>
                </a:cxn>
                <a:cxn ang="0">
                  <a:pos x="175" y="290"/>
                </a:cxn>
                <a:cxn ang="0">
                  <a:pos x="204" y="305"/>
                </a:cxn>
                <a:cxn ang="0">
                  <a:pos x="235" y="320"/>
                </a:cxn>
                <a:cxn ang="0">
                  <a:pos x="269" y="335"/>
                </a:cxn>
                <a:cxn ang="0">
                  <a:pos x="304" y="349"/>
                </a:cxn>
              </a:cxnLst>
              <a:rect l="0" t="0" r="r" b="b"/>
              <a:pathLst>
                <a:path w="304" h="349">
                  <a:moveTo>
                    <a:pt x="304" y="349"/>
                  </a:moveTo>
                  <a:lnTo>
                    <a:pt x="304" y="341"/>
                  </a:lnTo>
                  <a:lnTo>
                    <a:pt x="301" y="321"/>
                  </a:lnTo>
                  <a:lnTo>
                    <a:pt x="298" y="291"/>
                  </a:lnTo>
                  <a:lnTo>
                    <a:pt x="291" y="254"/>
                  </a:lnTo>
                  <a:lnTo>
                    <a:pt x="281" y="213"/>
                  </a:lnTo>
                  <a:lnTo>
                    <a:pt x="269" y="171"/>
                  </a:lnTo>
                  <a:lnTo>
                    <a:pt x="250" y="133"/>
                  </a:lnTo>
                  <a:lnTo>
                    <a:pt x="228" y="99"/>
                  </a:lnTo>
                  <a:lnTo>
                    <a:pt x="226" y="98"/>
                  </a:lnTo>
                  <a:lnTo>
                    <a:pt x="224" y="91"/>
                  </a:lnTo>
                  <a:lnTo>
                    <a:pt x="218" y="84"/>
                  </a:lnTo>
                  <a:lnTo>
                    <a:pt x="210" y="74"/>
                  </a:lnTo>
                  <a:lnTo>
                    <a:pt x="200" y="63"/>
                  </a:lnTo>
                  <a:lnTo>
                    <a:pt x="186" y="52"/>
                  </a:lnTo>
                  <a:lnTo>
                    <a:pt x="170" y="39"/>
                  </a:lnTo>
                  <a:lnTo>
                    <a:pt x="151" y="27"/>
                  </a:lnTo>
                  <a:lnTo>
                    <a:pt x="148" y="25"/>
                  </a:lnTo>
                  <a:lnTo>
                    <a:pt x="136" y="22"/>
                  </a:lnTo>
                  <a:lnTo>
                    <a:pt x="119" y="17"/>
                  </a:lnTo>
                  <a:lnTo>
                    <a:pt x="99" y="10"/>
                  </a:lnTo>
                  <a:lnTo>
                    <a:pt x="75" y="5"/>
                  </a:lnTo>
                  <a:lnTo>
                    <a:pt x="50" y="2"/>
                  </a:lnTo>
                  <a:lnTo>
                    <a:pt x="25" y="0"/>
                  </a:lnTo>
                  <a:lnTo>
                    <a:pt x="1" y="2"/>
                  </a:lnTo>
                  <a:lnTo>
                    <a:pt x="0" y="18"/>
                  </a:lnTo>
                  <a:lnTo>
                    <a:pt x="0" y="57"/>
                  </a:lnTo>
                  <a:lnTo>
                    <a:pt x="5" y="104"/>
                  </a:lnTo>
                  <a:lnTo>
                    <a:pt x="19" y="148"/>
                  </a:lnTo>
                  <a:lnTo>
                    <a:pt x="20" y="150"/>
                  </a:lnTo>
                  <a:lnTo>
                    <a:pt x="24" y="158"/>
                  </a:lnTo>
                  <a:lnTo>
                    <a:pt x="30" y="169"/>
                  </a:lnTo>
                  <a:lnTo>
                    <a:pt x="39" y="184"/>
                  </a:lnTo>
                  <a:lnTo>
                    <a:pt x="53" y="200"/>
                  </a:lnTo>
                  <a:lnTo>
                    <a:pt x="69" y="219"/>
                  </a:lnTo>
                  <a:lnTo>
                    <a:pt x="90" y="239"/>
                  </a:lnTo>
                  <a:lnTo>
                    <a:pt x="116" y="259"/>
                  </a:lnTo>
                  <a:lnTo>
                    <a:pt x="120" y="261"/>
                  </a:lnTo>
                  <a:lnTo>
                    <a:pt x="133" y="268"/>
                  </a:lnTo>
                  <a:lnTo>
                    <a:pt x="151" y="278"/>
                  </a:lnTo>
                  <a:lnTo>
                    <a:pt x="175" y="290"/>
                  </a:lnTo>
                  <a:lnTo>
                    <a:pt x="204" y="305"/>
                  </a:lnTo>
                  <a:lnTo>
                    <a:pt x="235" y="320"/>
                  </a:lnTo>
                  <a:lnTo>
                    <a:pt x="269" y="335"/>
                  </a:lnTo>
                  <a:lnTo>
                    <a:pt x="304" y="3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136"/>
            <p:cNvSpPr>
              <a:spLocks/>
            </p:cNvSpPr>
            <p:nvPr/>
          </p:nvSpPr>
          <p:spPr bwMode="auto">
            <a:xfrm>
              <a:off x="196" y="2280"/>
              <a:ext cx="663" cy="545"/>
            </a:xfrm>
            <a:custGeom>
              <a:avLst/>
              <a:gdLst/>
              <a:ahLst/>
              <a:cxnLst>
                <a:cxn ang="0">
                  <a:pos x="570" y="45"/>
                </a:cxn>
                <a:cxn ang="0">
                  <a:pos x="563" y="39"/>
                </a:cxn>
                <a:cxn ang="0">
                  <a:pos x="547" y="25"/>
                </a:cxn>
                <a:cxn ang="0">
                  <a:pos x="521" y="10"/>
                </a:cxn>
                <a:cxn ang="0">
                  <a:pos x="490" y="0"/>
                </a:cxn>
                <a:cxn ang="0">
                  <a:pos x="483" y="0"/>
                </a:cxn>
                <a:cxn ang="0">
                  <a:pos x="466" y="0"/>
                </a:cxn>
                <a:cxn ang="0">
                  <a:pos x="441" y="0"/>
                </a:cxn>
                <a:cxn ang="0">
                  <a:pos x="410" y="0"/>
                </a:cxn>
                <a:cxn ang="0">
                  <a:pos x="376" y="2"/>
                </a:cxn>
                <a:cxn ang="0">
                  <a:pos x="341" y="4"/>
                </a:cxn>
                <a:cxn ang="0">
                  <a:pos x="308" y="9"/>
                </a:cxn>
                <a:cxn ang="0">
                  <a:pos x="281" y="14"/>
                </a:cxn>
                <a:cxn ang="0">
                  <a:pos x="265" y="20"/>
                </a:cxn>
                <a:cxn ang="0">
                  <a:pos x="223" y="35"/>
                </a:cxn>
                <a:cxn ang="0">
                  <a:pos x="171" y="55"/>
                </a:cxn>
                <a:cxn ang="0">
                  <a:pos x="121" y="77"/>
                </a:cxn>
                <a:cxn ang="0">
                  <a:pos x="106" y="84"/>
                </a:cxn>
                <a:cxn ang="0">
                  <a:pos x="71" y="102"/>
                </a:cxn>
                <a:cxn ang="0">
                  <a:pos x="30" y="125"/>
                </a:cxn>
                <a:cxn ang="0">
                  <a:pos x="0" y="147"/>
                </a:cxn>
                <a:cxn ang="0">
                  <a:pos x="0" y="152"/>
                </a:cxn>
                <a:cxn ang="0">
                  <a:pos x="3" y="167"/>
                </a:cxn>
                <a:cxn ang="0">
                  <a:pos x="15" y="188"/>
                </a:cxn>
                <a:cxn ang="0">
                  <a:pos x="38" y="213"/>
                </a:cxn>
                <a:cxn ang="0">
                  <a:pos x="50" y="220"/>
                </a:cxn>
                <a:cxn ang="0">
                  <a:pos x="81" y="238"/>
                </a:cxn>
                <a:cxn ang="0">
                  <a:pos x="125" y="255"/>
                </a:cxn>
                <a:cxn ang="0">
                  <a:pos x="173" y="264"/>
                </a:cxn>
                <a:cxn ang="0">
                  <a:pos x="180" y="264"/>
                </a:cxn>
                <a:cxn ang="0">
                  <a:pos x="196" y="264"/>
                </a:cxn>
                <a:cxn ang="0">
                  <a:pos x="222" y="263"/>
                </a:cxn>
                <a:cxn ang="0">
                  <a:pos x="256" y="260"/>
                </a:cxn>
                <a:cxn ang="0">
                  <a:pos x="295" y="258"/>
                </a:cxn>
                <a:cxn ang="0">
                  <a:pos x="338" y="253"/>
                </a:cxn>
                <a:cxn ang="0">
                  <a:pos x="383" y="245"/>
                </a:cxn>
                <a:cxn ang="0">
                  <a:pos x="431" y="237"/>
                </a:cxn>
                <a:cxn ang="0">
                  <a:pos x="426" y="243"/>
                </a:cxn>
                <a:cxn ang="0">
                  <a:pos x="413" y="264"/>
                </a:cxn>
                <a:cxn ang="0">
                  <a:pos x="395" y="306"/>
                </a:cxn>
                <a:cxn ang="0">
                  <a:pos x="375" y="375"/>
                </a:cxn>
                <a:cxn ang="0">
                  <a:pos x="441" y="514"/>
                </a:cxn>
                <a:cxn ang="0">
                  <a:pos x="455" y="510"/>
                </a:cxn>
                <a:cxn ang="0">
                  <a:pos x="491" y="498"/>
                </a:cxn>
                <a:cxn ang="0">
                  <a:pos x="536" y="480"/>
                </a:cxn>
                <a:cxn ang="0">
                  <a:pos x="580" y="459"/>
                </a:cxn>
                <a:cxn ang="0">
                  <a:pos x="663" y="195"/>
                </a:cxn>
                <a:cxn ang="0">
                  <a:pos x="658" y="174"/>
                </a:cxn>
                <a:cxn ang="0">
                  <a:pos x="650" y="133"/>
                </a:cxn>
              </a:cxnLst>
              <a:rect l="0" t="0" r="r" b="b"/>
              <a:pathLst>
                <a:path w="663" h="545">
                  <a:moveTo>
                    <a:pt x="650" y="133"/>
                  </a:moveTo>
                  <a:lnTo>
                    <a:pt x="570" y="45"/>
                  </a:lnTo>
                  <a:lnTo>
                    <a:pt x="568" y="44"/>
                  </a:lnTo>
                  <a:lnTo>
                    <a:pt x="563" y="39"/>
                  </a:lnTo>
                  <a:lnTo>
                    <a:pt x="556" y="33"/>
                  </a:lnTo>
                  <a:lnTo>
                    <a:pt x="547" y="25"/>
                  </a:lnTo>
                  <a:lnTo>
                    <a:pt x="535" y="18"/>
                  </a:lnTo>
                  <a:lnTo>
                    <a:pt x="521" y="10"/>
                  </a:lnTo>
                  <a:lnTo>
                    <a:pt x="506" y="4"/>
                  </a:lnTo>
                  <a:lnTo>
                    <a:pt x="490" y="0"/>
                  </a:lnTo>
                  <a:lnTo>
                    <a:pt x="488" y="0"/>
                  </a:lnTo>
                  <a:lnTo>
                    <a:pt x="483" y="0"/>
                  </a:lnTo>
                  <a:lnTo>
                    <a:pt x="476" y="0"/>
                  </a:lnTo>
                  <a:lnTo>
                    <a:pt x="466" y="0"/>
                  </a:lnTo>
                  <a:lnTo>
                    <a:pt x="455" y="0"/>
                  </a:lnTo>
                  <a:lnTo>
                    <a:pt x="441" y="0"/>
                  </a:lnTo>
                  <a:lnTo>
                    <a:pt x="426" y="0"/>
                  </a:lnTo>
                  <a:lnTo>
                    <a:pt x="410" y="0"/>
                  </a:lnTo>
                  <a:lnTo>
                    <a:pt x="393" y="2"/>
                  </a:lnTo>
                  <a:lnTo>
                    <a:pt x="376" y="2"/>
                  </a:lnTo>
                  <a:lnTo>
                    <a:pt x="358" y="3"/>
                  </a:lnTo>
                  <a:lnTo>
                    <a:pt x="341" y="4"/>
                  </a:lnTo>
                  <a:lnTo>
                    <a:pt x="325" y="7"/>
                  </a:lnTo>
                  <a:lnTo>
                    <a:pt x="308" y="9"/>
                  </a:lnTo>
                  <a:lnTo>
                    <a:pt x="295" y="12"/>
                  </a:lnTo>
                  <a:lnTo>
                    <a:pt x="281" y="14"/>
                  </a:lnTo>
                  <a:lnTo>
                    <a:pt x="276" y="15"/>
                  </a:lnTo>
                  <a:lnTo>
                    <a:pt x="265" y="20"/>
                  </a:lnTo>
                  <a:lnTo>
                    <a:pt x="246" y="27"/>
                  </a:lnTo>
                  <a:lnTo>
                    <a:pt x="223" y="35"/>
                  </a:lnTo>
                  <a:lnTo>
                    <a:pt x="198" y="45"/>
                  </a:lnTo>
                  <a:lnTo>
                    <a:pt x="171" y="55"/>
                  </a:lnTo>
                  <a:lnTo>
                    <a:pt x="145" y="67"/>
                  </a:lnTo>
                  <a:lnTo>
                    <a:pt x="121" y="77"/>
                  </a:lnTo>
                  <a:lnTo>
                    <a:pt x="117" y="79"/>
                  </a:lnTo>
                  <a:lnTo>
                    <a:pt x="106" y="84"/>
                  </a:lnTo>
                  <a:lnTo>
                    <a:pt x="90" y="92"/>
                  </a:lnTo>
                  <a:lnTo>
                    <a:pt x="71" y="102"/>
                  </a:lnTo>
                  <a:lnTo>
                    <a:pt x="50" y="113"/>
                  </a:lnTo>
                  <a:lnTo>
                    <a:pt x="30" y="125"/>
                  </a:lnTo>
                  <a:lnTo>
                    <a:pt x="12" y="137"/>
                  </a:lnTo>
                  <a:lnTo>
                    <a:pt x="0" y="147"/>
                  </a:lnTo>
                  <a:lnTo>
                    <a:pt x="0" y="148"/>
                  </a:lnTo>
                  <a:lnTo>
                    <a:pt x="0" y="152"/>
                  </a:lnTo>
                  <a:lnTo>
                    <a:pt x="1" y="158"/>
                  </a:lnTo>
                  <a:lnTo>
                    <a:pt x="3" y="167"/>
                  </a:lnTo>
                  <a:lnTo>
                    <a:pt x="7" y="177"/>
                  </a:lnTo>
                  <a:lnTo>
                    <a:pt x="15" y="188"/>
                  </a:lnTo>
                  <a:lnTo>
                    <a:pt x="25" y="200"/>
                  </a:lnTo>
                  <a:lnTo>
                    <a:pt x="38" y="213"/>
                  </a:lnTo>
                  <a:lnTo>
                    <a:pt x="41" y="215"/>
                  </a:lnTo>
                  <a:lnTo>
                    <a:pt x="50" y="220"/>
                  </a:lnTo>
                  <a:lnTo>
                    <a:pt x="63" y="228"/>
                  </a:lnTo>
                  <a:lnTo>
                    <a:pt x="81" y="238"/>
                  </a:lnTo>
                  <a:lnTo>
                    <a:pt x="102" y="247"/>
                  </a:lnTo>
                  <a:lnTo>
                    <a:pt x="125" y="255"/>
                  </a:lnTo>
                  <a:lnTo>
                    <a:pt x="148" y="262"/>
                  </a:lnTo>
                  <a:lnTo>
                    <a:pt x="173" y="264"/>
                  </a:lnTo>
                  <a:lnTo>
                    <a:pt x="175" y="264"/>
                  </a:lnTo>
                  <a:lnTo>
                    <a:pt x="180" y="264"/>
                  </a:lnTo>
                  <a:lnTo>
                    <a:pt x="186" y="264"/>
                  </a:lnTo>
                  <a:lnTo>
                    <a:pt x="196" y="264"/>
                  </a:lnTo>
                  <a:lnTo>
                    <a:pt x="208" y="263"/>
                  </a:lnTo>
                  <a:lnTo>
                    <a:pt x="222" y="263"/>
                  </a:lnTo>
                  <a:lnTo>
                    <a:pt x="237" y="262"/>
                  </a:lnTo>
                  <a:lnTo>
                    <a:pt x="256" y="260"/>
                  </a:lnTo>
                  <a:lnTo>
                    <a:pt x="275" y="259"/>
                  </a:lnTo>
                  <a:lnTo>
                    <a:pt x="295" y="258"/>
                  </a:lnTo>
                  <a:lnTo>
                    <a:pt x="316" y="255"/>
                  </a:lnTo>
                  <a:lnTo>
                    <a:pt x="338" y="253"/>
                  </a:lnTo>
                  <a:lnTo>
                    <a:pt x="361" y="249"/>
                  </a:lnTo>
                  <a:lnTo>
                    <a:pt x="383" y="245"/>
                  </a:lnTo>
                  <a:lnTo>
                    <a:pt x="407" y="242"/>
                  </a:lnTo>
                  <a:lnTo>
                    <a:pt x="431" y="237"/>
                  </a:lnTo>
                  <a:lnTo>
                    <a:pt x="430" y="238"/>
                  </a:lnTo>
                  <a:lnTo>
                    <a:pt x="426" y="243"/>
                  </a:lnTo>
                  <a:lnTo>
                    <a:pt x="421" y="252"/>
                  </a:lnTo>
                  <a:lnTo>
                    <a:pt x="413" y="264"/>
                  </a:lnTo>
                  <a:lnTo>
                    <a:pt x="405" y="283"/>
                  </a:lnTo>
                  <a:lnTo>
                    <a:pt x="395" y="306"/>
                  </a:lnTo>
                  <a:lnTo>
                    <a:pt x="385" y="338"/>
                  </a:lnTo>
                  <a:lnTo>
                    <a:pt x="375" y="375"/>
                  </a:lnTo>
                  <a:lnTo>
                    <a:pt x="333" y="545"/>
                  </a:lnTo>
                  <a:lnTo>
                    <a:pt x="441" y="514"/>
                  </a:lnTo>
                  <a:lnTo>
                    <a:pt x="445" y="513"/>
                  </a:lnTo>
                  <a:lnTo>
                    <a:pt x="455" y="510"/>
                  </a:lnTo>
                  <a:lnTo>
                    <a:pt x="471" y="505"/>
                  </a:lnTo>
                  <a:lnTo>
                    <a:pt x="491" y="498"/>
                  </a:lnTo>
                  <a:lnTo>
                    <a:pt x="512" y="490"/>
                  </a:lnTo>
                  <a:lnTo>
                    <a:pt x="536" y="480"/>
                  </a:lnTo>
                  <a:lnTo>
                    <a:pt x="558" y="470"/>
                  </a:lnTo>
                  <a:lnTo>
                    <a:pt x="580" y="459"/>
                  </a:lnTo>
                  <a:lnTo>
                    <a:pt x="660" y="406"/>
                  </a:lnTo>
                  <a:lnTo>
                    <a:pt x="663" y="195"/>
                  </a:lnTo>
                  <a:lnTo>
                    <a:pt x="662" y="189"/>
                  </a:lnTo>
                  <a:lnTo>
                    <a:pt x="658" y="174"/>
                  </a:lnTo>
                  <a:lnTo>
                    <a:pt x="655" y="154"/>
                  </a:lnTo>
                  <a:lnTo>
                    <a:pt x="650" y="13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137"/>
            <p:cNvSpPr>
              <a:spLocks/>
            </p:cNvSpPr>
            <p:nvPr/>
          </p:nvSpPr>
          <p:spPr bwMode="auto">
            <a:xfrm>
              <a:off x="661" y="2468"/>
              <a:ext cx="136" cy="45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136" y="0"/>
                </a:cxn>
                <a:cxn ang="0">
                  <a:pos x="105" y="45"/>
                </a:cxn>
                <a:cxn ang="0">
                  <a:pos x="0" y="42"/>
                </a:cxn>
              </a:cxnLst>
              <a:rect l="0" t="0" r="r" b="b"/>
              <a:pathLst>
                <a:path w="136" h="45">
                  <a:moveTo>
                    <a:pt x="0" y="42"/>
                  </a:moveTo>
                  <a:lnTo>
                    <a:pt x="136" y="0"/>
                  </a:lnTo>
                  <a:lnTo>
                    <a:pt x="105" y="45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Freeform 138"/>
            <p:cNvSpPr>
              <a:spLocks/>
            </p:cNvSpPr>
            <p:nvPr/>
          </p:nvSpPr>
          <p:spPr bwMode="auto">
            <a:xfrm>
              <a:off x="789" y="2482"/>
              <a:ext cx="49" cy="156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32" y="0"/>
                </a:cxn>
                <a:cxn ang="0">
                  <a:pos x="49" y="156"/>
                </a:cxn>
                <a:cxn ang="0">
                  <a:pos x="48" y="152"/>
                </a:cxn>
                <a:cxn ang="0">
                  <a:pos x="45" y="141"/>
                </a:cxn>
                <a:cxn ang="0">
                  <a:pos x="40" y="124"/>
                </a:cxn>
                <a:cxn ang="0">
                  <a:pos x="34" y="106"/>
                </a:cxn>
                <a:cxn ang="0">
                  <a:pos x="27" y="86"/>
                </a:cxn>
                <a:cxn ang="0">
                  <a:pos x="19" y="68"/>
                </a:cxn>
                <a:cxn ang="0">
                  <a:pos x="9" y="53"/>
                </a:cxn>
                <a:cxn ang="0">
                  <a:pos x="0" y="45"/>
                </a:cxn>
              </a:cxnLst>
              <a:rect l="0" t="0" r="r" b="b"/>
              <a:pathLst>
                <a:path w="49" h="156">
                  <a:moveTo>
                    <a:pt x="0" y="45"/>
                  </a:moveTo>
                  <a:lnTo>
                    <a:pt x="32" y="0"/>
                  </a:lnTo>
                  <a:lnTo>
                    <a:pt x="49" y="156"/>
                  </a:lnTo>
                  <a:lnTo>
                    <a:pt x="48" y="152"/>
                  </a:lnTo>
                  <a:lnTo>
                    <a:pt x="45" y="141"/>
                  </a:lnTo>
                  <a:lnTo>
                    <a:pt x="40" y="124"/>
                  </a:lnTo>
                  <a:lnTo>
                    <a:pt x="34" y="106"/>
                  </a:lnTo>
                  <a:lnTo>
                    <a:pt x="27" y="86"/>
                  </a:lnTo>
                  <a:lnTo>
                    <a:pt x="19" y="68"/>
                  </a:lnTo>
                  <a:lnTo>
                    <a:pt x="9" y="53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139"/>
            <p:cNvSpPr>
              <a:spLocks/>
            </p:cNvSpPr>
            <p:nvPr/>
          </p:nvSpPr>
          <p:spPr bwMode="auto">
            <a:xfrm>
              <a:off x="699" y="2544"/>
              <a:ext cx="104" cy="18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104" y="132"/>
                </a:cxn>
                <a:cxn ang="0">
                  <a:pos x="32" y="181"/>
                </a:cxn>
                <a:cxn ang="0">
                  <a:pos x="0" y="62"/>
                </a:cxn>
                <a:cxn ang="0">
                  <a:pos x="67" y="0"/>
                </a:cxn>
              </a:cxnLst>
              <a:rect l="0" t="0" r="r" b="b"/>
              <a:pathLst>
                <a:path w="104" h="181">
                  <a:moveTo>
                    <a:pt x="67" y="0"/>
                  </a:moveTo>
                  <a:lnTo>
                    <a:pt x="104" y="132"/>
                  </a:lnTo>
                  <a:lnTo>
                    <a:pt x="32" y="181"/>
                  </a:lnTo>
                  <a:lnTo>
                    <a:pt x="0" y="62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140"/>
            <p:cNvSpPr>
              <a:spLocks/>
            </p:cNvSpPr>
            <p:nvPr/>
          </p:nvSpPr>
          <p:spPr bwMode="auto">
            <a:xfrm>
              <a:off x="602" y="2544"/>
              <a:ext cx="115" cy="74"/>
            </a:xfrm>
            <a:custGeom>
              <a:avLst/>
              <a:gdLst/>
              <a:ahLst/>
              <a:cxnLst>
                <a:cxn ang="0">
                  <a:pos x="115" y="4"/>
                </a:cxn>
                <a:cxn ang="0">
                  <a:pos x="39" y="0"/>
                </a:cxn>
                <a:cxn ang="0">
                  <a:pos x="37" y="2"/>
                </a:cxn>
                <a:cxn ang="0">
                  <a:pos x="32" y="7"/>
                </a:cxn>
                <a:cxn ang="0">
                  <a:pos x="26" y="16"/>
                </a:cxn>
                <a:cxn ang="0">
                  <a:pos x="20" y="26"/>
                </a:cxn>
                <a:cxn ang="0">
                  <a:pos x="12" y="37"/>
                </a:cxn>
                <a:cxn ang="0">
                  <a:pos x="6" y="50"/>
                </a:cxn>
                <a:cxn ang="0">
                  <a:pos x="1" y="62"/>
                </a:cxn>
                <a:cxn ang="0">
                  <a:pos x="0" y="74"/>
                </a:cxn>
                <a:cxn ang="0">
                  <a:pos x="84" y="52"/>
                </a:cxn>
                <a:cxn ang="0">
                  <a:pos x="115" y="4"/>
                </a:cxn>
              </a:cxnLst>
              <a:rect l="0" t="0" r="r" b="b"/>
              <a:pathLst>
                <a:path w="115" h="74">
                  <a:moveTo>
                    <a:pt x="115" y="4"/>
                  </a:moveTo>
                  <a:lnTo>
                    <a:pt x="39" y="0"/>
                  </a:lnTo>
                  <a:lnTo>
                    <a:pt x="37" y="2"/>
                  </a:lnTo>
                  <a:lnTo>
                    <a:pt x="32" y="7"/>
                  </a:lnTo>
                  <a:lnTo>
                    <a:pt x="26" y="16"/>
                  </a:lnTo>
                  <a:lnTo>
                    <a:pt x="20" y="26"/>
                  </a:lnTo>
                  <a:lnTo>
                    <a:pt x="12" y="37"/>
                  </a:lnTo>
                  <a:lnTo>
                    <a:pt x="6" y="50"/>
                  </a:lnTo>
                  <a:lnTo>
                    <a:pt x="1" y="62"/>
                  </a:lnTo>
                  <a:lnTo>
                    <a:pt x="0" y="74"/>
                  </a:lnTo>
                  <a:lnTo>
                    <a:pt x="84" y="52"/>
                  </a:lnTo>
                  <a:lnTo>
                    <a:pt x="115" y="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141"/>
            <p:cNvSpPr>
              <a:spLocks/>
            </p:cNvSpPr>
            <p:nvPr/>
          </p:nvSpPr>
          <p:spPr bwMode="auto">
            <a:xfrm>
              <a:off x="574" y="2635"/>
              <a:ext cx="77" cy="110"/>
            </a:xfrm>
            <a:custGeom>
              <a:avLst/>
              <a:gdLst/>
              <a:ahLst/>
              <a:cxnLst>
                <a:cxn ang="0">
                  <a:pos x="24" y="10"/>
                </a:cxn>
                <a:cxn ang="0">
                  <a:pos x="77" y="0"/>
                </a:cxn>
                <a:cxn ang="0">
                  <a:pos x="0" y="110"/>
                </a:cxn>
                <a:cxn ang="0">
                  <a:pos x="24" y="10"/>
                </a:cxn>
              </a:cxnLst>
              <a:rect l="0" t="0" r="r" b="b"/>
              <a:pathLst>
                <a:path w="77" h="110">
                  <a:moveTo>
                    <a:pt x="24" y="10"/>
                  </a:moveTo>
                  <a:lnTo>
                    <a:pt x="77" y="0"/>
                  </a:lnTo>
                  <a:lnTo>
                    <a:pt x="0" y="110"/>
                  </a:lnTo>
                  <a:lnTo>
                    <a:pt x="24" y="1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142"/>
            <p:cNvSpPr>
              <a:spLocks/>
            </p:cNvSpPr>
            <p:nvPr/>
          </p:nvSpPr>
          <p:spPr bwMode="auto">
            <a:xfrm>
              <a:off x="571" y="2731"/>
              <a:ext cx="56" cy="53"/>
            </a:xfrm>
            <a:custGeom>
              <a:avLst/>
              <a:gdLst/>
              <a:ahLst/>
              <a:cxnLst>
                <a:cxn ang="0">
                  <a:pos x="0" y="53"/>
                </a:cxn>
                <a:cxn ang="0">
                  <a:pos x="38" y="0"/>
                </a:cxn>
                <a:cxn ang="0">
                  <a:pos x="56" y="39"/>
                </a:cxn>
                <a:cxn ang="0">
                  <a:pos x="0" y="53"/>
                </a:cxn>
              </a:cxnLst>
              <a:rect l="0" t="0" r="r" b="b"/>
              <a:pathLst>
                <a:path w="56" h="53">
                  <a:moveTo>
                    <a:pt x="0" y="53"/>
                  </a:moveTo>
                  <a:lnTo>
                    <a:pt x="38" y="0"/>
                  </a:lnTo>
                  <a:lnTo>
                    <a:pt x="56" y="39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143"/>
            <p:cNvSpPr>
              <a:spLocks/>
            </p:cNvSpPr>
            <p:nvPr/>
          </p:nvSpPr>
          <p:spPr bwMode="auto">
            <a:xfrm>
              <a:off x="633" y="2645"/>
              <a:ext cx="63" cy="115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39" y="0"/>
                </a:cxn>
                <a:cxn ang="0">
                  <a:pos x="63" y="100"/>
                </a:cxn>
                <a:cxn ang="0">
                  <a:pos x="18" y="115"/>
                </a:cxn>
                <a:cxn ang="0">
                  <a:pos x="0" y="55"/>
                </a:cxn>
              </a:cxnLst>
              <a:rect l="0" t="0" r="r" b="b"/>
              <a:pathLst>
                <a:path w="63" h="115">
                  <a:moveTo>
                    <a:pt x="0" y="55"/>
                  </a:moveTo>
                  <a:lnTo>
                    <a:pt x="39" y="0"/>
                  </a:lnTo>
                  <a:lnTo>
                    <a:pt x="63" y="100"/>
                  </a:lnTo>
                  <a:lnTo>
                    <a:pt x="18" y="1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144"/>
            <p:cNvSpPr>
              <a:spLocks/>
            </p:cNvSpPr>
            <p:nvPr/>
          </p:nvSpPr>
          <p:spPr bwMode="auto">
            <a:xfrm>
              <a:off x="629" y="2417"/>
              <a:ext cx="170" cy="65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170" y="0"/>
                </a:cxn>
                <a:cxn ang="0">
                  <a:pos x="167" y="2"/>
                </a:cxn>
                <a:cxn ang="0">
                  <a:pos x="157" y="8"/>
                </a:cxn>
                <a:cxn ang="0">
                  <a:pos x="139" y="17"/>
                </a:cxn>
                <a:cxn ang="0">
                  <a:pos x="118" y="28"/>
                </a:cxn>
                <a:cxn ang="0">
                  <a:pos x="93" y="40"/>
                </a:cxn>
                <a:cxn ang="0">
                  <a:pos x="64" y="50"/>
                </a:cxn>
                <a:cxn ang="0">
                  <a:pos x="33" y="58"/>
                </a:cxn>
                <a:cxn ang="0">
                  <a:pos x="0" y="65"/>
                </a:cxn>
                <a:cxn ang="0">
                  <a:pos x="25" y="0"/>
                </a:cxn>
              </a:cxnLst>
              <a:rect l="0" t="0" r="r" b="b"/>
              <a:pathLst>
                <a:path w="170" h="65">
                  <a:moveTo>
                    <a:pt x="25" y="0"/>
                  </a:moveTo>
                  <a:lnTo>
                    <a:pt x="170" y="0"/>
                  </a:lnTo>
                  <a:lnTo>
                    <a:pt x="167" y="2"/>
                  </a:lnTo>
                  <a:lnTo>
                    <a:pt x="157" y="8"/>
                  </a:lnTo>
                  <a:lnTo>
                    <a:pt x="139" y="17"/>
                  </a:lnTo>
                  <a:lnTo>
                    <a:pt x="118" y="28"/>
                  </a:lnTo>
                  <a:lnTo>
                    <a:pt x="93" y="40"/>
                  </a:lnTo>
                  <a:lnTo>
                    <a:pt x="64" y="50"/>
                  </a:lnTo>
                  <a:lnTo>
                    <a:pt x="33" y="58"/>
                  </a:lnTo>
                  <a:lnTo>
                    <a:pt x="0" y="65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145"/>
            <p:cNvSpPr>
              <a:spLocks/>
            </p:cNvSpPr>
            <p:nvPr/>
          </p:nvSpPr>
          <p:spPr bwMode="auto">
            <a:xfrm>
              <a:off x="418" y="2417"/>
              <a:ext cx="209" cy="10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149" y="78"/>
                </a:cxn>
                <a:cxn ang="0">
                  <a:pos x="145" y="80"/>
                </a:cxn>
                <a:cxn ang="0">
                  <a:pos x="136" y="82"/>
                </a:cxn>
                <a:cxn ang="0">
                  <a:pos x="121" y="86"/>
                </a:cxn>
                <a:cxn ang="0">
                  <a:pos x="101" y="91"/>
                </a:cxn>
                <a:cxn ang="0">
                  <a:pos x="79" y="95"/>
                </a:cxn>
                <a:cxn ang="0">
                  <a:pos x="54" y="98"/>
                </a:cxn>
                <a:cxn ang="0">
                  <a:pos x="28" y="100"/>
                </a:cxn>
                <a:cxn ang="0">
                  <a:pos x="0" y="100"/>
                </a:cxn>
                <a:cxn ang="0">
                  <a:pos x="84" y="0"/>
                </a:cxn>
                <a:cxn ang="0">
                  <a:pos x="209" y="0"/>
                </a:cxn>
              </a:cxnLst>
              <a:rect l="0" t="0" r="r" b="b"/>
              <a:pathLst>
                <a:path w="209" h="100">
                  <a:moveTo>
                    <a:pt x="209" y="0"/>
                  </a:moveTo>
                  <a:lnTo>
                    <a:pt x="149" y="78"/>
                  </a:lnTo>
                  <a:lnTo>
                    <a:pt x="145" y="80"/>
                  </a:lnTo>
                  <a:lnTo>
                    <a:pt x="136" y="82"/>
                  </a:lnTo>
                  <a:lnTo>
                    <a:pt x="121" y="86"/>
                  </a:lnTo>
                  <a:lnTo>
                    <a:pt x="101" y="91"/>
                  </a:lnTo>
                  <a:lnTo>
                    <a:pt x="79" y="95"/>
                  </a:lnTo>
                  <a:lnTo>
                    <a:pt x="54" y="98"/>
                  </a:lnTo>
                  <a:lnTo>
                    <a:pt x="28" y="100"/>
                  </a:lnTo>
                  <a:lnTo>
                    <a:pt x="0" y="100"/>
                  </a:lnTo>
                  <a:lnTo>
                    <a:pt x="84" y="0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46"/>
            <p:cNvSpPr>
              <a:spLocks/>
            </p:cNvSpPr>
            <p:nvPr/>
          </p:nvSpPr>
          <p:spPr bwMode="auto">
            <a:xfrm>
              <a:off x="317" y="2433"/>
              <a:ext cx="115" cy="84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70" y="80"/>
                </a:cxn>
                <a:cxn ang="0">
                  <a:pos x="67" y="81"/>
                </a:cxn>
                <a:cxn ang="0">
                  <a:pos x="62" y="82"/>
                </a:cxn>
                <a:cxn ang="0">
                  <a:pos x="54" y="84"/>
                </a:cxn>
                <a:cxn ang="0">
                  <a:pos x="42" y="84"/>
                </a:cxn>
                <a:cxn ang="0">
                  <a:pos x="31" y="82"/>
                </a:cxn>
                <a:cxn ang="0">
                  <a:pos x="20" y="79"/>
                </a:cxn>
                <a:cxn ang="0">
                  <a:pos x="9" y="71"/>
                </a:cxn>
                <a:cxn ang="0">
                  <a:pos x="0" y="60"/>
                </a:cxn>
                <a:cxn ang="0">
                  <a:pos x="1" y="57"/>
                </a:cxn>
                <a:cxn ang="0">
                  <a:pos x="2" y="52"/>
                </a:cxn>
                <a:cxn ang="0">
                  <a:pos x="6" y="45"/>
                </a:cxn>
                <a:cxn ang="0">
                  <a:pos x="10" y="36"/>
                </a:cxn>
                <a:cxn ang="0">
                  <a:pos x="16" y="26"/>
                </a:cxn>
                <a:cxn ang="0">
                  <a:pos x="24" y="17"/>
                </a:cxn>
                <a:cxn ang="0">
                  <a:pos x="32" y="10"/>
                </a:cxn>
                <a:cxn ang="0">
                  <a:pos x="42" y="4"/>
                </a:cxn>
                <a:cxn ang="0">
                  <a:pos x="115" y="0"/>
                </a:cxn>
              </a:cxnLst>
              <a:rect l="0" t="0" r="r" b="b"/>
              <a:pathLst>
                <a:path w="115" h="84">
                  <a:moveTo>
                    <a:pt x="115" y="0"/>
                  </a:moveTo>
                  <a:lnTo>
                    <a:pt x="70" y="80"/>
                  </a:lnTo>
                  <a:lnTo>
                    <a:pt x="67" y="81"/>
                  </a:lnTo>
                  <a:lnTo>
                    <a:pt x="62" y="82"/>
                  </a:lnTo>
                  <a:lnTo>
                    <a:pt x="54" y="84"/>
                  </a:lnTo>
                  <a:lnTo>
                    <a:pt x="42" y="84"/>
                  </a:lnTo>
                  <a:lnTo>
                    <a:pt x="31" y="82"/>
                  </a:lnTo>
                  <a:lnTo>
                    <a:pt x="20" y="79"/>
                  </a:lnTo>
                  <a:lnTo>
                    <a:pt x="9" y="71"/>
                  </a:lnTo>
                  <a:lnTo>
                    <a:pt x="0" y="60"/>
                  </a:lnTo>
                  <a:lnTo>
                    <a:pt x="1" y="57"/>
                  </a:lnTo>
                  <a:lnTo>
                    <a:pt x="2" y="52"/>
                  </a:lnTo>
                  <a:lnTo>
                    <a:pt x="6" y="45"/>
                  </a:lnTo>
                  <a:lnTo>
                    <a:pt x="10" y="36"/>
                  </a:lnTo>
                  <a:lnTo>
                    <a:pt x="16" y="26"/>
                  </a:lnTo>
                  <a:lnTo>
                    <a:pt x="24" y="17"/>
                  </a:lnTo>
                  <a:lnTo>
                    <a:pt x="32" y="10"/>
                  </a:lnTo>
                  <a:lnTo>
                    <a:pt x="42" y="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47"/>
            <p:cNvSpPr>
              <a:spLocks/>
            </p:cNvSpPr>
            <p:nvPr/>
          </p:nvSpPr>
          <p:spPr bwMode="auto">
            <a:xfrm>
              <a:off x="244" y="2433"/>
              <a:ext cx="59" cy="56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0" y="15"/>
                </a:cxn>
                <a:cxn ang="0">
                  <a:pos x="2" y="16"/>
                </a:cxn>
                <a:cxn ang="0">
                  <a:pos x="3" y="20"/>
                </a:cxn>
                <a:cxn ang="0">
                  <a:pos x="7" y="25"/>
                </a:cxn>
                <a:cxn ang="0">
                  <a:pos x="10" y="31"/>
                </a:cxn>
                <a:cxn ang="0">
                  <a:pos x="15" y="39"/>
                </a:cxn>
                <a:cxn ang="0">
                  <a:pos x="23" y="45"/>
                </a:cxn>
                <a:cxn ang="0">
                  <a:pos x="30" y="51"/>
                </a:cxn>
                <a:cxn ang="0">
                  <a:pos x="39" y="56"/>
                </a:cxn>
                <a:cxn ang="0">
                  <a:pos x="43" y="55"/>
                </a:cxn>
                <a:cxn ang="0">
                  <a:pos x="49" y="47"/>
                </a:cxn>
                <a:cxn ang="0">
                  <a:pos x="57" y="31"/>
                </a:cxn>
                <a:cxn ang="0">
                  <a:pos x="59" y="0"/>
                </a:cxn>
              </a:cxnLst>
              <a:rect l="0" t="0" r="r" b="b"/>
              <a:pathLst>
                <a:path w="59" h="56">
                  <a:moveTo>
                    <a:pt x="59" y="0"/>
                  </a:moveTo>
                  <a:lnTo>
                    <a:pt x="0" y="15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7" y="25"/>
                  </a:lnTo>
                  <a:lnTo>
                    <a:pt x="10" y="31"/>
                  </a:lnTo>
                  <a:lnTo>
                    <a:pt x="15" y="39"/>
                  </a:lnTo>
                  <a:lnTo>
                    <a:pt x="23" y="45"/>
                  </a:lnTo>
                  <a:lnTo>
                    <a:pt x="30" y="51"/>
                  </a:lnTo>
                  <a:lnTo>
                    <a:pt x="39" y="56"/>
                  </a:lnTo>
                  <a:lnTo>
                    <a:pt x="43" y="55"/>
                  </a:lnTo>
                  <a:lnTo>
                    <a:pt x="49" y="47"/>
                  </a:lnTo>
                  <a:lnTo>
                    <a:pt x="57" y="31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48"/>
            <p:cNvSpPr>
              <a:spLocks/>
            </p:cNvSpPr>
            <p:nvPr/>
          </p:nvSpPr>
          <p:spPr bwMode="auto">
            <a:xfrm>
              <a:off x="252" y="2388"/>
              <a:ext cx="55" cy="2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51" y="0"/>
                </a:cxn>
                <a:cxn ang="0">
                  <a:pos x="55" y="14"/>
                </a:cxn>
                <a:cxn ang="0">
                  <a:pos x="0" y="21"/>
                </a:cxn>
              </a:cxnLst>
              <a:rect l="0" t="0" r="r" b="b"/>
              <a:pathLst>
                <a:path w="55" h="21">
                  <a:moveTo>
                    <a:pt x="0" y="21"/>
                  </a:moveTo>
                  <a:lnTo>
                    <a:pt x="51" y="0"/>
                  </a:lnTo>
                  <a:lnTo>
                    <a:pt x="55" y="14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49"/>
            <p:cNvSpPr>
              <a:spLocks/>
            </p:cNvSpPr>
            <p:nvPr/>
          </p:nvSpPr>
          <p:spPr bwMode="auto">
            <a:xfrm>
              <a:off x="348" y="2343"/>
              <a:ext cx="105" cy="52"/>
            </a:xfrm>
            <a:custGeom>
              <a:avLst/>
              <a:gdLst/>
              <a:ahLst/>
              <a:cxnLst>
                <a:cxn ang="0">
                  <a:pos x="0" y="52"/>
                </a:cxn>
                <a:cxn ang="0">
                  <a:pos x="0" y="25"/>
                </a:cxn>
                <a:cxn ang="0">
                  <a:pos x="1" y="25"/>
                </a:cxn>
                <a:cxn ang="0">
                  <a:pos x="6" y="22"/>
                </a:cxn>
                <a:cxn ang="0">
                  <a:pos x="14" y="20"/>
                </a:cxn>
                <a:cxn ang="0">
                  <a:pos x="23" y="16"/>
                </a:cxn>
                <a:cxn ang="0">
                  <a:pos x="33" y="12"/>
                </a:cxn>
                <a:cxn ang="0">
                  <a:pos x="43" y="9"/>
                </a:cxn>
                <a:cxn ang="0">
                  <a:pos x="53" y="4"/>
                </a:cxn>
                <a:cxn ang="0">
                  <a:pos x="63" y="0"/>
                </a:cxn>
                <a:cxn ang="0">
                  <a:pos x="105" y="52"/>
                </a:cxn>
                <a:cxn ang="0">
                  <a:pos x="0" y="52"/>
                </a:cxn>
              </a:cxnLst>
              <a:rect l="0" t="0" r="r" b="b"/>
              <a:pathLst>
                <a:path w="105" h="52">
                  <a:moveTo>
                    <a:pt x="0" y="52"/>
                  </a:moveTo>
                  <a:lnTo>
                    <a:pt x="0" y="25"/>
                  </a:lnTo>
                  <a:lnTo>
                    <a:pt x="1" y="25"/>
                  </a:lnTo>
                  <a:lnTo>
                    <a:pt x="6" y="22"/>
                  </a:lnTo>
                  <a:lnTo>
                    <a:pt x="14" y="20"/>
                  </a:lnTo>
                  <a:lnTo>
                    <a:pt x="23" y="16"/>
                  </a:lnTo>
                  <a:lnTo>
                    <a:pt x="33" y="12"/>
                  </a:lnTo>
                  <a:lnTo>
                    <a:pt x="43" y="9"/>
                  </a:lnTo>
                  <a:lnTo>
                    <a:pt x="53" y="4"/>
                  </a:lnTo>
                  <a:lnTo>
                    <a:pt x="63" y="0"/>
                  </a:lnTo>
                  <a:lnTo>
                    <a:pt x="105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50"/>
            <p:cNvSpPr>
              <a:spLocks/>
            </p:cNvSpPr>
            <p:nvPr/>
          </p:nvSpPr>
          <p:spPr bwMode="auto">
            <a:xfrm>
              <a:off x="442" y="2308"/>
              <a:ext cx="187" cy="84"/>
            </a:xfrm>
            <a:custGeom>
              <a:avLst/>
              <a:gdLst/>
              <a:ahLst/>
              <a:cxnLst>
                <a:cxn ang="0">
                  <a:pos x="74" y="80"/>
                </a:cxn>
                <a:cxn ang="0">
                  <a:pos x="0" y="29"/>
                </a:cxn>
                <a:cxn ang="0">
                  <a:pos x="1" y="27"/>
                </a:cxn>
                <a:cxn ang="0">
                  <a:pos x="7" y="25"/>
                </a:cxn>
                <a:cxn ang="0">
                  <a:pos x="15" y="21"/>
                </a:cxn>
                <a:cxn ang="0">
                  <a:pos x="27" y="16"/>
                </a:cxn>
                <a:cxn ang="0">
                  <a:pos x="41" y="11"/>
                </a:cxn>
                <a:cxn ang="0">
                  <a:pos x="59" y="6"/>
                </a:cxn>
                <a:cxn ang="0">
                  <a:pos x="79" y="2"/>
                </a:cxn>
                <a:cxn ang="0">
                  <a:pos x="101" y="0"/>
                </a:cxn>
                <a:cxn ang="0">
                  <a:pos x="187" y="84"/>
                </a:cxn>
                <a:cxn ang="0">
                  <a:pos x="74" y="80"/>
                </a:cxn>
              </a:cxnLst>
              <a:rect l="0" t="0" r="r" b="b"/>
              <a:pathLst>
                <a:path w="187" h="84">
                  <a:moveTo>
                    <a:pt x="74" y="80"/>
                  </a:moveTo>
                  <a:lnTo>
                    <a:pt x="0" y="29"/>
                  </a:lnTo>
                  <a:lnTo>
                    <a:pt x="1" y="27"/>
                  </a:lnTo>
                  <a:lnTo>
                    <a:pt x="7" y="25"/>
                  </a:lnTo>
                  <a:lnTo>
                    <a:pt x="15" y="21"/>
                  </a:lnTo>
                  <a:lnTo>
                    <a:pt x="27" y="16"/>
                  </a:lnTo>
                  <a:lnTo>
                    <a:pt x="41" y="11"/>
                  </a:lnTo>
                  <a:lnTo>
                    <a:pt x="59" y="6"/>
                  </a:lnTo>
                  <a:lnTo>
                    <a:pt x="79" y="2"/>
                  </a:lnTo>
                  <a:lnTo>
                    <a:pt x="101" y="0"/>
                  </a:lnTo>
                  <a:lnTo>
                    <a:pt x="187" y="84"/>
                  </a:lnTo>
                  <a:lnTo>
                    <a:pt x="74" y="8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51"/>
            <p:cNvSpPr>
              <a:spLocks/>
            </p:cNvSpPr>
            <p:nvPr/>
          </p:nvSpPr>
          <p:spPr bwMode="auto">
            <a:xfrm>
              <a:off x="598" y="2303"/>
              <a:ext cx="185" cy="8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11" y="1"/>
                </a:cxn>
                <a:cxn ang="0">
                  <a:pos x="23" y="1"/>
                </a:cxn>
                <a:cxn ang="0">
                  <a:pos x="38" y="0"/>
                </a:cxn>
                <a:cxn ang="0">
                  <a:pos x="55" y="1"/>
                </a:cxn>
                <a:cxn ang="0">
                  <a:pos x="73" y="2"/>
                </a:cxn>
                <a:cxn ang="0">
                  <a:pos x="89" y="5"/>
                </a:cxn>
                <a:cxn ang="0">
                  <a:pos x="105" y="9"/>
                </a:cxn>
                <a:cxn ang="0">
                  <a:pos x="108" y="10"/>
                </a:cxn>
                <a:cxn ang="0">
                  <a:pos x="113" y="12"/>
                </a:cxn>
                <a:cxn ang="0">
                  <a:pos x="123" y="17"/>
                </a:cxn>
                <a:cxn ang="0">
                  <a:pos x="134" y="25"/>
                </a:cxn>
                <a:cxn ang="0">
                  <a:pos x="146" y="36"/>
                </a:cxn>
                <a:cxn ang="0">
                  <a:pos x="159" y="50"/>
                </a:cxn>
                <a:cxn ang="0">
                  <a:pos x="173" y="67"/>
                </a:cxn>
                <a:cxn ang="0">
                  <a:pos x="185" y="89"/>
                </a:cxn>
                <a:cxn ang="0">
                  <a:pos x="80" y="89"/>
                </a:cxn>
                <a:cxn ang="0">
                  <a:pos x="0" y="2"/>
                </a:cxn>
              </a:cxnLst>
              <a:rect l="0" t="0" r="r" b="b"/>
              <a:pathLst>
                <a:path w="185" h="89">
                  <a:moveTo>
                    <a:pt x="0" y="2"/>
                  </a:moveTo>
                  <a:lnTo>
                    <a:pt x="3" y="2"/>
                  </a:lnTo>
                  <a:lnTo>
                    <a:pt x="11" y="1"/>
                  </a:lnTo>
                  <a:lnTo>
                    <a:pt x="23" y="1"/>
                  </a:lnTo>
                  <a:lnTo>
                    <a:pt x="38" y="0"/>
                  </a:lnTo>
                  <a:lnTo>
                    <a:pt x="55" y="1"/>
                  </a:lnTo>
                  <a:lnTo>
                    <a:pt x="73" y="2"/>
                  </a:lnTo>
                  <a:lnTo>
                    <a:pt x="89" y="5"/>
                  </a:lnTo>
                  <a:lnTo>
                    <a:pt x="105" y="9"/>
                  </a:lnTo>
                  <a:lnTo>
                    <a:pt x="108" y="10"/>
                  </a:lnTo>
                  <a:lnTo>
                    <a:pt x="113" y="12"/>
                  </a:lnTo>
                  <a:lnTo>
                    <a:pt x="123" y="17"/>
                  </a:lnTo>
                  <a:lnTo>
                    <a:pt x="134" y="25"/>
                  </a:lnTo>
                  <a:lnTo>
                    <a:pt x="146" y="36"/>
                  </a:lnTo>
                  <a:lnTo>
                    <a:pt x="159" y="50"/>
                  </a:lnTo>
                  <a:lnTo>
                    <a:pt x="173" y="67"/>
                  </a:lnTo>
                  <a:lnTo>
                    <a:pt x="185" y="89"/>
                  </a:lnTo>
                  <a:lnTo>
                    <a:pt x="80" y="8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52"/>
            <p:cNvSpPr>
              <a:spLocks/>
            </p:cNvSpPr>
            <p:nvPr/>
          </p:nvSpPr>
          <p:spPr bwMode="auto">
            <a:xfrm>
              <a:off x="536" y="2132"/>
              <a:ext cx="150" cy="80"/>
            </a:xfrm>
            <a:custGeom>
              <a:avLst/>
              <a:gdLst/>
              <a:ahLst/>
              <a:cxnLst>
                <a:cxn ang="0">
                  <a:pos x="150" y="80"/>
                </a:cxn>
                <a:cxn ang="0">
                  <a:pos x="148" y="77"/>
                </a:cxn>
                <a:cxn ang="0">
                  <a:pos x="145" y="72"/>
                </a:cxn>
                <a:cxn ang="0">
                  <a:pos x="138" y="65"/>
                </a:cxn>
                <a:cxn ang="0">
                  <a:pos x="130" y="53"/>
                </a:cxn>
                <a:cxn ang="0">
                  <a:pos x="120" y="41"/>
                </a:cxn>
                <a:cxn ang="0">
                  <a:pos x="108" y="28"/>
                </a:cxn>
                <a:cxn ang="0">
                  <a:pos x="96" y="13"/>
                </a:cxn>
                <a:cxn ang="0">
                  <a:pos x="83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12" y="7"/>
                </a:cxn>
                <a:cxn ang="0">
                  <a:pos x="27" y="17"/>
                </a:cxn>
                <a:cxn ang="0">
                  <a:pos x="46" y="28"/>
                </a:cxn>
                <a:cxn ang="0">
                  <a:pos x="68" y="41"/>
                </a:cxn>
                <a:cxn ang="0">
                  <a:pos x="95" y="53"/>
                </a:cxn>
                <a:cxn ang="0">
                  <a:pos x="121" y="67"/>
                </a:cxn>
                <a:cxn ang="0">
                  <a:pos x="150" y="80"/>
                </a:cxn>
              </a:cxnLst>
              <a:rect l="0" t="0" r="r" b="b"/>
              <a:pathLst>
                <a:path w="150" h="80">
                  <a:moveTo>
                    <a:pt x="150" y="80"/>
                  </a:moveTo>
                  <a:lnTo>
                    <a:pt x="148" y="77"/>
                  </a:lnTo>
                  <a:lnTo>
                    <a:pt x="145" y="72"/>
                  </a:lnTo>
                  <a:lnTo>
                    <a:pt x="138" y="65"/>
                  </a:lnTo>
                  <a:lnTo>
                    <a:pt x="130" y="53"/>
                  </a:lnTo>
                  <a:lnTo>
                    <a:pt x="120" y="41"/>
                  </a:lnTo>
                  <a:lnTo>
                    <a:pt x="108" y="28"/>
                  </a:lnTo>
                  <a:lnTo>
                    <a:pt x="96" y="13"/>
                  </a:lnTo>
                  <a:lnTo>
                    <a:pt x="83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12" y="7"/>
                  </a:lnTo>
                  <a:lnTo>
                    <a:pt x="27" y="17"/>
                  </a:lnTo>
                  <a:lnTo>
                    <a:pt x="46" y="28"/>
                  </a:lnTo>
                  <a:lnTo>
                    <a:pt x="68" y="41"/>
                  </a:lnTo>
                  <a:lnTo>
                    <a:pt x="95" y="53"/>
                  </a:lnTo>
                  <a:lnTo>
                    <a:pt x="121" y="67"/>
                  </a:lnTo>
                  <a:lnTo>
                    <a:pt x="150" y="8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53"/>
            <p:cNvSpPr>
              <a:spLocks/>
            </p:cNvSpPr>
            <p:nvPr/>
          </p:nvSpPr>
          <p:spPr bwMode="auto">
            <a:xfrm>
              <a:off x="463" y="2058"/>
              <a:ext cx="133" cy="39"/>
            </a:xfrm>
            <a:custGeom>
              <a:avLst/>
              <a:gdLst/>
              <a:ahLst/>
              <a:cxnLst>
                <a:cxn ang="0">
                  <a:pos x="133" y="39"/>
                </a:cxn>
                <a:cxn ang="0">
                  <a:pos x="104" y="0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8" y="10"/>
                </a:cxn>
                <a:cxn ang="0">
                  <a:pos x="18" y="20"/>
                </a:cxn>
                <a:cxn ang="0">
                  <a:pos x="35" y="35"/>
                </a:cxn>
                <a:cxn ang="0">
                  <a:pos x="133" y="39"/>
                </a:cxn>
              </a:cxnLst>
              <a:rect l="0" t="0" r="r" b="b"/>
              <a:pathLst>
                <a:path w="133" h="39">
                  <a:moveTo>
                    <a:pt x="133" y="39"/>
                  </a:moveTo>
                  <a:lnTo>
                    <a:pt x="104" y="0"/>
                  </a:lnTo>
                  <a:lnTo>
                    <a:pt x="0" y="4"/>
                  </a:lnTo>
                  <a:lnTo>
                    <a:pt x="1" y="5"/>
                  </a:lnTo>
                  <a:lnTo>
                    <a:pt x="8" y="10"/>
                  </a:lnTo>
                  <a:lnTo>
                    <a:pt x="18" y="20"/>
                  </a:lnTo>
                  <a:lnTo>
                    <a:pt x="35" y="35"/>
                  </a:lnTo>
                  <a:lnTo>
                    <a:pt x="133" y="3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54"/>
            <p:cNvSpPr>
              <a:spLocks/>
            </p:cNvSpPr>
            <p:nvPr/>
          </p:nvSpPr>
          <p:spPr bwMode="auto">
            <a:xfrm>
              <a:off x="441" y="1999"/>
              <a:ext cx="106" cy="31"/>
            </a:xfrm>
            <a:custGeom>
              <a:avLst/>
              <a:gdLst/>
              <a:ahLst/>
              <a:cxnLst>
                <a:cxn ang="0">
                  <a:pos x="106" y="31"/>
                </a:cxn>
                <a:cxn ang="0">
                  <a:pos x="77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15"/>
                </a:cxn>
                <a:cxn ang="0">
                  <a:pos x="12" y="28"/>
                </a:cxn>
                <a:cxn ang="0">
                  <a:pos x="106" y="31"/>
                </a:cxn>
              </a:cxnLst>
              <a:rect l="0" t="0" r="r" b="b"/>
              <a:pathLst>
                <a:path w="106" h="31">
                  <a:moveTo>
                    <a:pt x="106" y="31"/>
                  </a:moveTo>
                  <a:lnTo>
                    <a:pt x="77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6"/>
                  </a:lnTo>
                  <a:lnTo>
                    <a:pt x="3" y="15"/>
                  </a:lnTo>
                  <a:lnTo>
                    <a:pt x="12" y="28"/>
                  </a:lnTo>
                  <a:lnTo>
                    <a:pt x="106" y="3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155"/>
            <p:cNvSpPr>
              <a:spLocks/>
            </p:cNvSpPr>
            <p:nvPr/>
          </p:nvSpPr>
          <p:spPr bwMode="auto">
            <a:xfrm>
              <a:off x="494" y="1927"/>
              <a:ext cx="90" cy="90"/>
            </a:xfrm>
            <a:custGeom>
              <a:avLst/>
              <a:gdLst/>
              <a:ahLst/>
              <a:cxnLst>
                <a:cxn ang="0">
                  <a:pos x="18" y="24"/>
                </a:cxn>
                <a:cxn ang="0">
                  <a:pos x="0" y="0"/>
                </a:cxn>
                <a:cxn ang="0">
                  <a:pos x="59" y="27"/>
                </a:cxn>
                <a:cxn ang="0">
                  <a:pos x="64" y="32"/>
                </a:cxn>
                <a:cxn ang="0">
                  <a:pos x="75" y="45"/>
                </a:cxn>
                <a:cxn ang="0">
                  <a:pos x="85" y="65"/>
                </a:cxn>
                <a:cxn ang="0">
                  <a:pos x="90" y="90"/>
                </a:cxn>
                <a:cxn ang="0">
                  <a:pos x="18" y="24"/>
                </a:cxn>
              </a:cxnLst>
              <a:rect l="0" t="0" r="r" b="b"/>
              <a:pathLst>
                <a:path w="90" h="90">
                  <a:moveTo>
                    <a:pt x="18" y="24"/>
                  </a:moveTo>
                  <a:lnTo>
                    <a:pt x="0" y="0"/>
                  </a:lnTo>
                  <a:lnTo>
                    <a:pt x="59" y="27"/>
                  </a:lnTo>
                  <a:lnTo>
                    <a:pt x="64" y="32"/>
                  </a:lnTo>
                  <a:lnTo>
                    <a:pt x="75" y="45"/>
                  </a:lnTo>
                  <a:lnTo>
                    <a:pt x="85" y="65"/>
                  </a:lnTo>
                  <a:lnTo>
                    <a:pt x="90" y="90"/>
                  </a:lnTo>
                  <a:lnTo>
                    <a:pt x="18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156"/>
            <p:cNvSpPr>
              <a:spLocks/>
            </p:cNvSpPr>
            <p:nvPr/>
          </p:nvSpPr>
          <p:spPr bwMode="auto">
            <a:xfrm>
              <a:off x="592" y="2010"/>
              <a:ext cx="59" cy="94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14" y="0"/>
                </a:cxn>
                <a:cxn ang="0">
                  <a:pos x="15" y="2"/>
                </a:cxn>
                <a:cxn ang="0">
                  <a:pos x="19" y="3"/>
                </a:cxn>
                <a:cxn ang="0">
                  <a:pos x="24" y="8"/>
                </a:cxn>
                <a:cxn ang="0">
                  <a:pos x="30" y="13"/>
                </a:cxn>
                <a:cxn ang="0">
                  <a:pos x="36" y="22"/>
                </a:cxn>
                <a:cxn ang="0">
                  <a:pos x="44" y="33"/>
                </a:cxn>
                <a:cxn ang="0">
                  <a:pos x="51" y="47"/>
                </a:cxn>
                <a:cxn ang="0">
                  <a:pos x="59" y="63"/>
                </a:cxn>
                <a:cxn ang="0">
                  <a:pos x="49" y="94"/>
                </a:cxn>
                <a:cxn ang="0">
                  <a:pos x="47" y="92"/>
                </a:cxn>
                <a:cxn ang="0">
                  <a:pos x="44" y="85"/>
                </a:cxn>
                <a:cxn ang="0">
                  <a:pos x="37" y="77"/>
                </a:cxn>
                <a:cxn ang="0">
                  <a:pos x="31" y="67"/>
                </a:cxn>
                <a:cxn ang="0">
                  <a:pos x="22" y="55"/>
                </a:cxn>
                <a:cxn ang="0">
                  <a:pos x="15" y="44"/>
                </a:cxn>
                <a:cxn ang="0">
                  <a:pos x="7" y="34"/>
                </a:cxn>
                <a:cxn ang="0">
                  <a:pos x="0" y="28"/>
                </a:cxn>
              </a:cxnLst>
              <a:rect l="0" t="0" r="r" b="b"/>
              <a:pathLst>
                <a:path w="59" h="94">
                  <a:moveTo>
                    <a:pt x="0" y="28"/>
                  </a:moveTo>
                  <a:lnTo>
                    <a:pt x="14" y="0"/>
                  </a:lnTo>
                  <a:lnTo>
                    <a:pt x="15" y="2"/>
                  </a:lnTo>
                  <a:lnTo>
                    <a:pt x="19" y="3"/>
                  </a:lnTo>
                  <a:lnTo>
                    <a:pt x="24" y="8"/>
                  </a:lnTo>
                  <a:lnTo>
                    <a:pt x="30" y="13"/>
                  </a:lnTo>
                  <a:lnTo>
                    <a:pt x="36" y="22"/>
                  </a:lnTo>
                  <a:lnTo>
                    <a:pt x="44" y="33"/>
                  </a:lnTo>
                  <a:lnTo>
                    <a:pt x="51" y="47"/>
                  </a:lnTo>
                  <a:lnTo>
                    <a:pt x="59" y="63"/>
                  </a:lnTo>
                  <a:lnTo>
                    <a:pt x="49" y="94"/>
                  </a:lnTo>
                  <a:lnTo>
                    <a:pt x="47" y="92"/>
                  </a:lnTo>
                  <a:lnTo>
                    <a:pt x="44" y="85"/>
                  </a:lnTo>
                  <a:lnTo>
                    <a:pt x="37" y="77"/>
                  </a:lnTo>
                  <a:lnTo>
                    <a:pt x="31" y="67"/>
                  </a:lnTo>
                  <a:lnTo>
                    <a:pt x="22" y="55"/>
                  </a:lnTo>
                  <a:lnTo>
                    <a:pt x="15" y="44"/>
                  </a:lnTo>
                  <a:lnTo>
                    <a:pt x="7" y="34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Freeform 157"/>
            <p:cNvSpPr>
              <a:spLocks/>
            </p:cNvSpPr>
            <p:nvPr/>
          </p:nvSpPr>
          <p:spPr bwMode="auto">
            <a:xfrm>
              <a:off x="661" y="2100"/>
              <a:ext cx="28" cy="69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7" y="0"/>
                </a:cxn>
                <a:cxn ang="0">
                  <a:pos x="28" y="69"/>
                </a:cxn>
                <a:cxn ang="0">
                  <a:pos x="0" y="24"/>
                </a:cxn>
              </a:cxnLst>
              <a:rect l="0" t="0" r="r" b="b"/>
              <a:pathLst>
                <a:path w="28" h="69">
                  <a:moveTo>
                    <a:pt x="0" y="24"/>
                  </a:moveTo>
                  <a:lnTo>
                    <a:pt x="7" y="0"/>
                  </a:lnTo>
                  <a:lnTo>
                    <a:pt x="28" y="69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158"/>
            <p:cNvSpPr>
              <a:spLocks/>
            </p:cNvSpPr>
            <p:nvPr/>
          </p:nvSpPr>
          <p:spPr bwMode="auto">
            <a:xfrm>
              <a:off x="789" y="2120"/>
              <a:ext cx="39" cy="7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8" y="5"/>
                </a:cxn>
                <a:cxn ang="0">
                  <a:pos x="25" y="22"/>
                </a:cxn>
                <a:cxn ang="0">
                  <a:pos x="34" y="47"/>
                </a:cxn>
                <a:cxn ang="0">
                  <a:pos x="39" y="78"/>
                </a:cxn>
                <a:cxn ang="0">
                  <a:pos x="0" y="70"/>
                </a:cxn>
                <a:cxn ang="0">
                  <a:pos x="0" y="63"/>
                </a:cxn>
                <a:cxn ang="0">
                  <a:pos x="0" y="44"/>
                </a:cxn>
                <a:cxn ang="0">
                  <a:pos x="4" y="22"/>
                </a:cxn>
                <a:cxn ang="0">
                  <a:pos x="14" y="0"/>
                </a:cxn>
              </a:cxnLst>
              <a:rect l="0" t="0" r="r" b="b"/>
              <a:pathLst>
                <a:path w="39" h="78">
                  <a:moveTo>
                    <a:pt x="14" y="0"/>
                  </a:moveTo>
                  <a:lnTo>
                    <a:pt x="18" y="5"/>
                  </a:lnTo>
                  <a:lnTo>
                    <a:pt x="25" y="22"/>
                  </a:lnTo>
                  <a:lnTo>
                    <a:pt x="34" y="47"/>
                  </a:lnTo>
                  <a:lnTo>
                    <a:pt x="39" y="78"/>
                  </a:lnTo>
                  <a:lnTo>
                    <a:pt x="0" y="70"/>
                  </a:lnTo>
                  <a:lnTo>
                    <a:pt x="0" y="63"/>
                  </a:lnTo>
                  <a:lnTo>
                    <a:pt x="0" y="44"/>
                  </a:lnTo>
                  <a:lnTo>
                    <a:pt x="4" y="2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159"/>
            <p:cNvSpPr>
              <a:spLocks/>
            </p:cNvSpPr>
            <p:nvPr/>
          </p:nvSpPr>
          <p:spPr bwMode="auto">
            <a:xfrm>
              <a:off x="786" y="2214"/>
              <a:ext cx="60" cy="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8" y="18"/>
                </a:cxn>
                <a:cxn ang="0">
                  <a:pos x="60" y="98"/>
                </a:cxn>
                <a:cxn ang="0">
                  <a:pos x="58" y="98"/>
                </a:cxn>
                <a:cxn ang="0">
                  <a:pos x="53" y="95"/>
                </a:cxn>
                <a:cxn ang="0">
                  <a:pos x="47" y="90"/>
                </a:cxn>
                <a:cxn ang="0">
                  <a:pos x="40" y="81"/>
                </a:cxn>
                <a:cxn ang="0">
                  <a:pos x="30" y="69"/>
                </a:cxn>
                <a:cxn ang="0">
                  <a:pos x="20" y="53"/>
                </a:cxn>
                <a:cxn ang="0">
                  <a:pos x="10" y="29"/>
                </a:cxn>
                <a:cxn ang="0">
                  <a:pos x="0" y="0"/>
                </a:cxn>
              </a:cxnLst>
              <a:rect l="0" t="0" r="r" b="b"/>
              <a:pathLst>
                <a:path w="60" h="98">
                  <a:moveTo>
                    <a:pt x="0" y="0"/>
                  </a:moveTo>
                  <a:lnTo>
                    <a:pt x="48" y="18"/>
                  </a:lnTo>
                  <a:lnTo>
                    <a:pt x="60" y="98"/>
                  </a:lnTo>
                  <a:lnTo>
                    <a:pt x="58" y="98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0" y="81"/>
                  </a:lnTo>
                  <a:lnTo>
                    <a:pt x="30" y="69"/>
                  </a:lnTo>
                  <a:lnTo>
                    <a:pt x="20" y="53"/>
                  </a:lnTo>
                  <a:lnTo>
                    <a:pt x="10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160"/>
            <p:cNvSpPr>
              <a:spLocks/>
            </p:cNvSpPr>
            <p:nvPr/>
          </p:nvSpPr>
          <p:spPr bwMode="auto">
            <a:xfrm>
              <a:off x="873" y="2198"/>
              <a:ext cx="55" cy="121"/>
            </a:xfrm>
            <a:custGeom>
              <a:avLst/>
              <a:gdLst/>
              <a:ahLst/>
              <a:cxnLst>
                <a:cxn ang="0">
                  <a:pos x="0" y="121"/>
                </a:cxn>
                <a:cxn ang="0">
                  <a:pos x="0" y="34"/>
                </a:cxn>
                <a:cxn ang="0">
                  <a:pos x="55" y="0"/>
                </a:cxn>
                <a:cxn ang="0">
                  <a:pos x="53" y="4"/>
                </a:cxn>
                <a:cxn ang="0">
                  <a:pos x="46" y="15"/>
                </a:cxn>
                <a:cxn ang="0">
                  <a:pos x="38" y="30"/>
                </a:cxn>
                <a:cxn ang="0">
                  <a:pos x="28" y="49"/>
                </a:cxn>
                <a:cxn ang="0">
                  <a:pos x="18" y="69"/>
                </a:cxn>
                <a:cxn ang="0">
                  <a:pos x="9" y="89"/>
                </a:cxn>
                <a:cxn ang="0">
                  <a:pos x="3" y="107"/>
                </a:cxn>
                <a:cxn ang="0">
                  <a:pos x="0" y="121"/>
                </a:cxn>
              </a:cxnLst>
              <a:rect l="0" t="0" r="r" b="b"/>
              <a:pathLst>
                <a:path w="55" h="121">
                  <a:moveTo>
                    <a:pt x="0" y="121"/>
                  </a:moveTo>
                  <a:lnTo>
                    <a:pt x="0" y="34"/>
                  </a:lnTo>
                  <a:lnTo>
                    <a:pt x="55" y="0"/>
                  </a:lnTo>
                  <a:lnTo>
                    <a:pt x="53" y="4"/>
                  </a:lnTo>
                  <a:lnTo>
                    <a:pt x="46" y="15"/>
                  </a:lnTo>
                  <a:lnTo>
                    <a:pt x="38" y="30"/>
                  </a:lnTo>
                  <a:lnTo>
                    <a:pt x="28" y="49"/>
                  </a:lnTo>
                  <a:lnTo>
                    <a:pt x="18" y="69"/>
                  </a:lnTo>
                  <a:lnTo>
                    <a:pt x="9" y="89"/>
                  </a:lnTo>
                  <a:lnTo>
                    <a:pt x="3" y="107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161"/>
            <p:cNvSpPr>
              <a:spLocks/>
            </p:cNvSpPr>
            <p:nvPr/>
          </p:nvSpPr>
          <p:spPr bwMode="auto">
            <a:xfrm>
              <a:off x="842" y="2135"/>
              <a:ext cx="55" cy="73"/>
            </a:xfrm>
            <a:custGeom>
              <a:avLst/>
              <a:gdLst/>
              <a:ahLst/>
              <a:cxnLst>
                <a:cxn ang="0">
                  <a:pos x="20" y="73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7" y="5"/>
                </a:cxn>
                <a:cxn ang="0">
                  <a:pos x="15" y="10"/>
                </a:cxn>
                <a:cxn ang="0">
                  <a:pos x="24" y="18"/>
                </a:cxn>
                <a:cxn ang="0">
                  <a:pos x="34" y="25"/>
                </a:cxn>
                <a:cxn ang="0">
                  <a:pos x="42" y="33"/>
                </a:cxn>
                <a:cxn ang="0">
                  <a:pos x="50" y="39"/>
                </a:cxn>
                <a:cxn ang="0">
                  <a:pos x="55" y="45"/>
                </a:cxn>
                <a:cxn ang="0">
                  <a:pos x="20" y="73"/>
                </a:cxn>
              </a:cxnLst>
              <a:rect l="0" t="0" r="r" b="b"/>
              <a:pathLst>
                <a:path w="55" h="73">
                  <a:moveTo>
                    <a:pt x="20" y="73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7" y="5"/>
                  </a:lnTo>
                  <a:lnTo>
                    <a:pt x="15" y="10"/>
                  </a:lnTo>
                  <a:lnTo>
                    <a:pt x="24" y="18"/>
                  </a:lnTo>
                  <a:lnTo>
                    <a:pt x="34" y="25"/>
                  </a:lnTo>
                  <a:lnTo>
                    <a:pt x="42" y="33"/>
                  </a:lnTo>
                  <a:lnTo>
                    <a:pt x="50" y="39"/>
                  </a:lnTo>
                  <a:lnTo>
                    <a:pt x="55" y="45"/>
                  </a:lnTo>
                  <a:lnTo>
                    <a:pt x="20" y="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162"/>
            <p:cNvSpPr>
              <a:spLocks/>
            </p:cNvSpPr>
            <p:nvPr/>
          </p:nvSpPr>
          <p:spPr bwMode="auto">
            <a:xfrm>
              <a:off x="433" y="1933"/>
              <a:ext cx="65" cy="49"/>
            </a:xfrm>
            <a:custGeom>
              <a:avLst/>
              <a:gdLst/>
              <a:ahLst/>
              <a:cxnLst>
                <a:cxn ang="0">
                  <a:pos x="65" y="42"/>
                </a:cxn>
                <a:cxn ang="0">
                  <a:pos x="64" y="41"/>
                </a:cxn>
                <a:cxn ang="0">
                  <a:pos x="60" y="37"/>
                </a:cxn>
                <a:cxn ang="0">
                  <a:pos x="55" y="33"/>
                </a:cxn>
                <a:cxn ang="0">
                  <a:pos x="48" y="25"/>
                </a:cxn>
                <a:cxn ang="0">
                  <a:pos x="39" y="19"/>
                </a:cxn>
                <a:cxn ang="0">
                  <a:pos x="30" y="11"/>
                </a:cxn>
                <a:cxn ang="0">
                  <a:pos x="20" y="5"/>
                </a:cxn>
                <a:cxn ang="0">
                  <a:pos x="9" y="0"/>
                </a:cxn>
                <a:cxn ang="0">
                  <a:pos x="6" y="5"/>
                </a:cxn>
                <a:cxn ang="0">
                  <a:pos x="3" y="16"/>
                </a:cxn>
                <a:cxn ang="0">
                  <a:pos x="0" y="33"/>
                </a:cxn>
                <a:cxn ang="0">
                  <a:pos x="6" y="49"/>
                </a:cxn>
                <a:cxn ang="0">
                  <a:pos x="65" y="42"/>
                </a:cxn>
              </a:cxnLst>
              <a:rect l="0" t="0" r="r" b="b"/>
              <a:pathLst>
                <a:path w="65" h="49">
                  <a:moveTo>
                    <a:pt x="65" y="42"/>
                  </a:moveTo>
                  <a:lnTo>
                    <a:pt x="64" y="41"/>
                  </a:lnTo>
                  <a:lnTo>
                    <a:pt x="60" y="37"/>
                  </a:lnTo>
                  <a:lnTo>
                    <a:pt x="55" y="33"/>
                  </a:lnTo>
                  <a:lnTo>
                    <a:pt x="48" y="25"/>
                  </a:lnTo>
                  <a:lnTo>
                    <a:pt x="39" y="19"/>
                  </a:lnTo>
                  <a:lnTo>
                    <a:pt x="30" y="11"/>
                  </a:lnTo>
                  <a:lnTo>
                    <a:pt x="20" y="5"/>
                  </a:lnTo>
                  <a:lnTo>
                    <a:pt x="9" y="0"/>
                  </a:lnTo>
                  <a:lnTo>
                    <a:pt x="6" y="5"/>
                  </a:lnTo>
                  <a:lnTo>
                    <a:pt x="3" y="16"/>
                  </a:lnTo>
                  <a:lnTo>
                    <a:pt x="0" y="33"/>
                  </a:lnTo>
                  <a:lnTo>
                    <a:pt x="6" y="49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163"/>
            <p:cNvSpPr>
              <a:spLocks/>
            </p:cNvSpPr>
            <p:nvPr/>
          </p:nvSpPr>
          <p:spPr bwMode="auto">
            <a:xfrm>
              <a:off x="789" y="1486"/>
              <a:ext cx="1020" cy="694"/>
            </a:xfrm>
            <a:custGeom>
              <a:avLst/>
              <a:gdLst/>
              <a:ahLst/>
              <a:cxnLst>
                <a:cxn ang="0">
                  <a:pos x="474" y="677"/>
                </a:cxn>
                <a:cxn ang="0">
                  <a:pos x="514" y="688"/>
                </a:cxn>
                <a:cxn ang="0">
                  <a:pos x="569" y="694"/>
                </a:cxn>
                <a:cxn ang="0">
                  <a:pos x="603" y="689"/>
                </a:cxn>
                <a:cxn ang="0">
                  <a:pos x="682" y="671"/>
                </a:cxn>
                <a:cxn ang="0">
                  <a:pos x="747" y="643"/>
                </a:cxn>
                <a:cxn ang="0">
                  <a:pos x="794" y="606"/>
                </a:cxn>
                <a:cxn ang="0">
                  <a:pos x="868" y="529"/>
                </a:cxn>
                <a:cxn ang="0">
                  <a:pos x="1015" y="226"/>
                </a:cxn>
                <a:cxn ang="0">
                  <a:pos x="953" y="230"/>
                </a:cxn>
                <a:cxn ang="0">
                  <a:pos x="857" y="245"/>
                </a:cxn>
                <a:cxn ang="0">
                  <a:pos x="810" y="257"/>
                </a:cxn>
                <a:cxn ang="0">
                  <a:pos x="749" y="280"/>
                </a:cxn>
                <a:cxn ang="0">
                  <a:pos x="677" y="322"/>
                </a:cxn>
                <a:cxn ang="0">
                  <a:pos x="658" y="338"/>
                </a:cxn>
                <a:cxn ang="0">
                  <a:pos x="622" y="372"/>
                </a:cxn>
                <a:cxn ang="0">
                  <a:pos x="602" y="378"/>
                </a:cxn>
                <a:cxn ang="0">
                  <a:pos x="579" y="228"/>
                </a:cxn>
                <a:cxn ang="0">
                  <a:pos x="568" y="181"/>
                </a:cxn>
                <a:cxn ang="0">
                  <a:pos x="525" y="75"/>
                </a:cxn>
                <a:cxn ang="0">
                  <a:pos x="473" y="2"/>
                </a:cxn>
                <a:cxn ang="0">
                  <a:pos x="443" y="30"/>
                </a:cxn>
                <a:cxn ang="0">
                  <a:pos x="403" y="88"/>
                </a:cxn>
                <a:cxn ang="0">
                  <a:pos x="385" y="135"/>
                </a:cxn>
                <a:cxn ang="0">
                  <a:pos x="358" y="211"/>
                </a:cxn>
                <a:cxn ang="0">
                  <a:pos x="338" y="291"/>
                </a:cxn>
                <a:cxn ang="0">
                  <a:pos x="325" y="350"/>
                </a:cxn>
                <a:cxn ang="0">
                  <a:pos x="312" y="378"/>
                </a:cxn>
                <a:cxn ang="0">
                  <a:pos x="292" y="338"/>
                </a:cxn>
                <a:cxn ang="0">
                  <a:pos x="260" y="287"/>
                </a:cxn>
                <a:cxn ang="0">
                  <a:pos x="237" y="263"/>
                </a:cxn>
                <a:cxn ang="0">
                  <a:pos x="183" y="220"/>
                </a:cxn>
                <a:cxn ang="0">
                  <a:pos x="119" y="183"/>
                </a:cxn>
                <a:cxn ang="0">
                  <a:pos x="0" y="300"/>
                </a:cxn>
                <a:cxn ang="0">
                  <a:pos x="8" y="367"/>
                </a:cxn>
                <a:cxn ang="0">
                  <a:pos x="32" y="466"/>
                </a:cxn>
                <a:cxn ang="0">
                  <a:pos x="58" y="514"/>
                </a:cxn>
                <a:cxn ang="0">
                  <a:pos x="117" y="588"/>
                </a:cxn>
                <a:cxn ang="0">
                  <a:pos x="205" y="659"/>
                </a:cxn>
                <a:cxn ang="0">
                  <a:pos x="217" y="662"/>
                </a:cxn>
                <a:cxn ang="0">
                  <a:pos x="247" y="667"/>
                </a:cxn>
                <a:cxn ang="0">
                  <a:pos x="289" y="673"/>
                </a:cxn>
                <a:cxn ang="0">
                  <a:pos x="338" y="676"/>
                </a:cxn>
                <a:cxn ang="0">
                  <a:pos x="389" y="672"/>
                </a:cxn>
                <a:cxn ang="0">
                  <a:pos x="410" y="667"/>
                </a:cxn>
                <a:cxn ang="0">
                  <a:pos x="432" y="664"/>
                </a:cxn>
                <a:cxn ang="0">
                  <a:pos x="464" y="673"/>
                </a:cxn>
              </a:cxnLst>
              <a:rect l="0" t="0" r="r" b="b"/>
              <a:pathLst>
                <a:path w="1020" h="694">
                  <a:moveTo>
                    <a:pt x="464" y="673"/>
                  </a:moveTo>
                  <a:lnTo>
                    <a:pt x="467" y="674"/>
                  </a:lnTo>
                  <a:lnTo>
                    <a:pt x="474" y="677"/>
                  </a:lnTo>
                  <a:lnTo>
                    <a:pt x="484" y="681"/>
                  </a:lnTo>
                  <a:lnTo>
                    <a:pt x="498" y="684"/>
                  </a:lnTo>
                  <a:lnTo>
                    <a:pt x="514" y="688"/>
                  </a:lnTo>
                  <a:lnTo>
                    <a:pt x="532" y="692"/>
                  </a:lnTo>
                  <a:lnTo>
                    <a:pt x="550" y="694"/>
                  </a:lnTo>
                  <a:lnTo>
                    <a:pt x="569" y="694"/>
                  </a:lnTo>
                  <a:lnTo>
                    <a:pt x="573" y="694"/>
                  </a:lnTo>
                  <a:lnTo>
                    <a:pt x="585" y="693"/>
                  </a:lnTo>
                  <a:lnTo>
                    <a:pt x="603" y="689"/>
                  </a:lnTo>
                  <a:lnTo>
                    <a:pt x="627" y="686"/>
                  </a:lnTo>
                  <a:lnTo>
                    <a:pt x="653" y="679"/>
                  </a:lnTo>
                  <a:lnTo>
                    <a:pt x="682" y="671"/>
                  </a:lnTo>
                  <a:lnTo>
                    <a:pt x="713" y="659"/>
                  </a:lnTo>
                  <a:lnTo>
                    <a:pt x="743" y="646"/>
                  </a:lnTo>
                  <a:lnTo>
                    <a:pt x="747" y="643"/>
                  </a:lnTo>
                  <a:lnTo>
                    <a:pt x="758" y="636"/>
                  </a:lnTo>
                  <a:lnTo>
                    <a:pt x="773" y="623"/>
                  </a:lnTo>
                  <a:lnTo>
                    <a:pt x="794" y="606"/>
                  </a:lnTo>
                  <a:lnTo>
                    <a:pt x="817" y="584"/>
                  </a:lnTo>
                  <a:lnTo>
                    <a:pt x="842" y="558"/>
                  </a:lnTo>
                  <a:lnTo>
                    <a:pt x="868" y="529"/>
                  </a:lnTo>
                  <a:lnTo>
                    <a:pt x="892" y="496"/>
                  </a:lnTo>
                  <a:lnTo>
                    <a:pt x="1020" y="226"/>
                  </a:lnTo>
                  <a:lnTo>
                    <a:pt x="1015" y="226"/>
                  </a:lnTo>
                  <a:lnTo>
                    <a:pt x="1002" y="227"/>
                  </a:lnTo>
                  <a:lnTo>
                    <a:pt x="980" y="228"/>
                  </a:lnTo>
                  <a:lnTo>
                    <a:pt x="953" y="230"/>
                  </a:lnTo>
                  <a:lnTo>
                    <a:pt x="922" y="233"/>
                  </a:lnTo>
                  <a:lnTo>
                    <a:pt x="889" y="238"/>
                  </a:lnTo>
                  <a:lnTo>
                    <a:pt x="857" y="245"/>
                  </a:lnTo>
                  <a:lnTo>
                    <a:pt x="825" y="253"/>
                  </a:lnTo>
                  <a:lnTo>
                    <a:pt x="822" y="255"/>
                  </a:lnTo>
                  <a:lnTo>
                    <a:pt x="810" y="257"/>
                  </a:lnTo>
                  <a:lnTo>
                    <a:pt x="794" y="262"/>
                  </a:lnTo>
                  <a:lnTo>
                    <a:pt x="773" y="270"/>
                  </a:lnTo>
                  <a:lnTo>
                    <a:pt x="749" y="280"/>
                  </a:lnTo>
                  <a:lnTo>
                    <a:pt x="724" y="291"/>
                  </a:lnTo>
                  <a:lnTo>
                    <a:pt x="700" y="306"/>
                  </a:lnTo>
                  <a:lnTo>
                    <a:pt x="677" y="322"/>
                  </a:lnTo>
                  <a:lnTo>
                    <a:pt x="674" y="325"/>
                  </a:lnTo>
                  <a:lnTo>
                    <a:pt x="668" y="330"/>
                  </a:lnTo>
                  <a:lnTo>
                    <a:pt x="658" y="338"/>
                  </a:lnTo>
                  <a:lnTo>
                    <a:pt x="647" y="350"/>
                  </a:lnTo>
                  <a:lnTo>
                    <a:pt x="634" y="361"/>
                  </a:lnTo>
                  <a:lnTo>
                    <a:pt x="622" y="372"/>
                  </a:lnTo>
                  <a:lnTo>
                    <a:pt x="612" y="383"/>
                  </a:lnTo>
                  <a:lnTo>
                    <a:pt x="603" y="392"/>
                  </a:lnTo>
                  <a:lnTo>
                    <a:pt x="602" y="378"/>
                  </a:lnTo>
                  <a:lnTo>
                    <a:pt x="598" y="340"/>
                  </a:lnTo>
                  <a:lnTo>
                    <a:pt x="590" y="287"/>
                  </a:lnTo>
                  <a:lnTo>
                    <a:pt x="579" y="228"/>
                  </a:lnTo>
                  <a:lnTo>
                    <a:pt x="578" y="222"/>
                  </a:lnTo>
                  <a:lnTo>
                    <a:pt x="574" y="206"/>
                  </a:lnTo>
                  <a:lnTo>
                    <a:pt x="568" y="181"/>
                  </a:lnTo>
                  <a:lnTo>
                    <a:pt x="558" y="150"/>
                  </a:lnTo>
                  <a:lnTo>
                    <a:pt x="543" y="113"/>
                  </a:lnTo>
                  <a:lnTo>
                    <a:pt x="525" y="75"/>
                  </a:lnTo>
                  <a:lnTo>
                    <a:pt x="503" y="36"/>
                  </a:lnTo>
                  <a:lnTo>
                    <a:pt x="475" y="0"/>
                  </a:lnTo>
                  <a:lnTo>
                    <a:pt x="473" y="2"/>
                  </a:lnTo>
                  <a:lnTo>
                    <a:pt x="465" y="7"/>
                  </a:lnTo>
                  <a:lnTo>
                    <a:pt x="455" y="17"/>
                  </a:lnTo>
                  <a:lnTo>
                    <a:pt x="443" y="30"/>
                  </a:lnTo>
                  <a:lnTo>
                    <a:pt x="429" y="46"/>
                  </a:lnTo>
                  <a:lnTo>
                    <a:pt x="415" y="66"/>
                  </a:lnTo>
                  <a:lnTo>
                    <a:pt x="403" y="88"/>
                  </a:lnTo>
                  <a:lnTo>
                    <a:pt x="393" y="115"/>
                  </a:lnTo>
                  <a:lnTo>
                    <a:pt x="390" y="120"/>
                  </a:lnTo>
                  <a:lnTo>
                    <a:pt x="385" y="135"/>
                  </a:lnTo>
                  <a:lnTo>
                    <a:pt x="377" y="156"/>
                  </a:lnTo>
                  <a:lnTo>
                    <a:pt x="368" y="182"/>
                  </a:lnTo>
                  <a:lnTo>
                    <a:pt x="358" y="211"/>
                  </a:lnTo>
                  <a:lnTo>
                    <a:pt x="349" y="240"/>
                  </a:lnTo>
                  <a:lnTo>
                    <a:pt x="342" y="267"/>
                  </a:lnTo>
                  <a:lnTo>
                    <a:pt x="338" y="291"/>
                  </a:lnTo>
                  <a:lnTo>
                    <a:pt x="335" y="300"/>
                  </a:lnTo>
                  <a:lnTo>
                    <a:pt x="330" y="322"/>
                  </a:lnTo>
                  <a:lnTo>
                    <a:pt x="325" y="350"/>
                  </a:lnTo>
                  <a:lnTo>
                    <a:pt x="323" y="375"/>
                  </a:lnTo>
                  <a:lnTo>
                    <a:pt x="313" y="382"/>
                  </a:lnTo>
                  <a:lnTo>
                    <a:pt x="312" y="378"/>
                  </a:lnTo>
                  <a:lnTo>
                    <a:pt x="307" y="370"/>
                  </a:lnTo>
                  <a:lnTo>
                    <a:pt x="299" y="356"/>
                  </a:lnTo>
                  <a:lnTo>
                    <a:pt x="292" y="338"/>
                  </a:lnTo>
                  <a:lnTo>
                    <a:pt x="282" y="321"/>
                  </a:lnTo>
                  <a:lnTo>
                    <a:pt x="270" y="303"/>
                  </a:lnTo>
                  <a:lnTo>
                    <a:pt x="260" y="287"/>
                  </a:lnTo>
                  <a:lnTo>
                    <a:pt x="250" y="275"/>
                  </a:lnTo>
                  <a:lnTo>
                    <a:pt x="247" y="271"/>
                  </a:lnTo>
                  <a:lnTo>
                    <a:pt x="237" y="263"/>
                  </a:lnTo>
                  <a:lnTo>
                    <a:pt x="223" y="251"/>
                  </a:lnTo>
                  <a:lnTo>
                    <a:pt x="204" y="236"/>
                  </a:lnTo>
                  <a:lnTo>
                    <a:pt x="183" y="220"/>
                  </a:lnTo>
                  <a:lnTo>
                    <a:pt x="162" y="205"/>
                  </a:lnTo>
                  <a:lnTo>
                    <a:pt x="139" y="192"/>
                  </a:lnTo>
                  <a:lnTo>
                    <a:pt x="119" y="183"/>
                  </a:lnTo>
                  <a:lnTo>
                    <a:pt x="10" y="160"/>
                  </a:lnTo>
                  <a:lnTo>
                    <a:pt x="0" y="295"/>
                  </a:lnTo>
                  <a:lnTo>
                    <a:pt x="0" y="300"/>
                  </a:lnTo>
                  <a:lnTo>
                    <a:pt x="2" y="316"/>
                  </a:lnTo>
                  <a:lnTo>
                    <a:pt x="4" y="338"/>
                  </a:lnTo>
                  <a:lnTo>
                    <a:pt x="8" y="367"/>
                  </a:lnTo>
                  <a:lnTo>
                    <a:pt x="13" y="398"/>
                  </a:lnTo>
                  <a:lnTo>
                    <a:pt x="20" y="432"/>
                  </a:lnTo>
                  <a:lnTo>
                    <a:pt x="32" y="466"/>
                  </a:lnTo>
                  <a:lnTo>
                    <a:pt x="45" y="496"/>
                  </a:lnTo>
                  <a:lnTo>
                    <a:pt x="49" y="501"/>
                  </a:lnTo>
                  <a:lnTo>
                    <a:pt x="58" y="514"/>
                  </a:lnTo>
                  <a:lnTo>
                    <a:pt x="73" y="536"/>
                  </a:lnTo>
                  <a:lnTo>
                    <a:pt x="93" y="561"/>
                  </a:lnTo>
                  <a:lnTo>
                    <a:pt x="117" y="588"/>
                  </a:lnTo>
                  <a:lnTo>
                    <a:pt x="144" y="614"/>
                  </a:lnTo>
                  <a:lnTo>
                    <a:pt x="174" y="639"/>
                  </a:lnTo>
                  <a:lnTo>
                    <a:pt x="205" y="659"/>
                  </a:lnTo>
                  <a:lnTo>
                    <a:pt x="207" y="659"/>
                  </a:lnTo>
                  <a:lnTo>
                    <a:pt x="210" y="661"/>
                  </a:lnTo>
                  <a:lnTo>
                    <a:pt x="217" y="662"/>
                  </a:lnTo>
                  <a:lnTo>
                    <a:pt x="224" y="663"/>
                  </a:lnTo>
                  <a:lnTo>
                    <a:pt x="234" y="666"/>
                  </a:lnTo>
                  <a:lnTo>
                    <a:pt x="247" y="667"/>
                  </a:lnTo>
                  <a:lnTo>
                    <a:pt x="259" y="669"/>
                  </a:lnTo>
                  <a:lnTo>
                    <a:pt x="274" y="671"/>
                  </a:lnTo>
                  <a:lnTo>
                    <a:pt x="289" y="673"/>
                  </a:lnTo>
                  <a:lnTo>
                    <a:pt x="304" y="674"/>
                  </a:lnTo>
                  <a:lnTo>
                    <a:pt x="322" y="674"/>
                  </a:lnTo>
                  <a:lnTo>
                    <a:pt x="338" y="676"/>
                  </a:lnTo>
                  <a:lnTo>
                    <a:pt x="355" y="674"/>
                  </a:lnTo>
                  <a:lnTo>
                    <a:pt x="373" y="674"/>
                  </a:lnTo>
                  <a:lnTo>
                    <a:pt x="389" y="672"/>
                  </a:lnTo>
                  <a:lnTo>
                    <a:pt x="405" y="669"/>
                  </a:lnTo>
                  <a:lnTo>
                    <a:pt x="407" y="669"/>
                  </a:lnTo>
                  <a:lnTo>
                    <a:pt x="410" y="667"/>
                  </a:lnTo>
                  <a:lnTo>
                    <a:pt x="415" y="666"/>
                  </a:lnTo>
                  <a:lnTo>
                    <a:pt x="423" y="664"/>
                  </a:lnTo>
                  <a:lnTo>
                    <a:pt x="432" y="664"/>
                  </a:lnTo>
                  <a:lnTo>
                    <a:pt x="442" y="666"/>
                  </a:lnTo>
                  <a:lnTo>
                    <a:pt x="453" y="668"/>
                  </a:lnTo>
                  <a:lnTo>
                    <a:pt x="464" y="6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164"/>
            <p:cNvSpPr>
              <a:spLocks/>
            </p:cNvSpPr>
            <p:nvPr/>
          </p:nvSpPr>
          <p:spPr bwMode="auto">
            <a:xfrm>
              <a:off x="868" y="1392"/>
              <a:ext cx="241" cy="330"/>
            </a:xfrm>
            <a:custGeom>
              <a:avLst/>
              <a:gdLst/>
              <a:ahLst/>
              <a:cxnLst>
                <a:cxn ang="0">
                  <a:pos x="241" y="330"/>
                </a:cxn>
                <a:cxn ang="0">
                  <a:pos x="238" y="209"/>
                </a:cxn>
                <a:cxn ang="0">
                  <a:pos x="238" y="205"/>
                </a:cxn>
                <a:cxn ang="0">
                  <a:pos x="236" y="194"/>
                </a:cxn>
                <a:cxn ang="0">
                  <a:pos x="234" y="179"/>
                </a:cxn>
                <a:cxn ang="0">
                  <a:pos x="230" y="159"/>
                </a:cxn>
                <a:cxn ang="0">
                  <a:pos x="225" y="137"/>
                </a:cxn>
                <a:cxn ang="0">
                  <a:pos x="218" y="114"/>
                </a:cxn>
                <a:cxn ang="0">
                  <a:pos x="206" y="92"/>
                </a:cxn>
                <a:cxn ang="0">
                  <a:pos x="193" y="72"/>
                </a:cxn>
                <a:cxn ang="0">
                  <a:pos x="191" y="70"/>
                </a:cxn>
                <a:cxn ang="0">
                  <a:pos x="185" y="65"/>
                </a:cxn>
                <a:cxn ang="0">
                  <a:pos x="176" y="57"/>
                </a:cxn>
                <a:cxn ang="0">
                  <a:pos x="165" y="47"/>
                </a:cxn>
                <a:cxn ang="0">
                  <a:pos x="149" y="37"/>
                </a:cxn>
                <a:cxn ang="0">
                  <a:pos x="131" y="27"/>
                </a:cxn>
                <a:cxn ang="0">
                  <a:pos x="109" y="17"/>
                </a:cxn>
                <a:cxn ang="0">
                  <a:pos x="85" y="10"/>
                </a:cxn>
                <a:cxn ang="0">
                  <a:pos x="9" y="0"/>
                </a:cxn>
                <a:cxn ang="0">
                  <a:pos x="1" y="97"/>
                </a:cxn>
                <a:cxn ang="0">
                  <a:pos x="0" y="109"/>
                </a:cxn>
                <a:cxn ang="0">
                  <a:pos x="1" y="136"/>
                </a:cxn>
                <a:cxn ang="0">
                  <a:pos x="8" y="171"/>
                </a:cxn>
                <a:cxn ang="0">
                  <a:pos x="23" y="205"/>
                </a:cxn>
                <a:cxn ang="0">
                  <a:pos x="25" y="206"/>
                </a:cxn>
                <a:cxn ang="0">
                  <a:pos x="30" y="211"/>
                </a:cxn>
                <a:cxn ang="0">
                  <a:pos x="39" y="219"/>
                </a:cxn>
                <a:cxn ang="0">
                  <a:pos x="51" y="229"/>
                </a:cxn>
                <a:cxn ang="0">
                  <a:pos x="66" y="240"/>
                </a:cxn>
                <a:cxn ang="0">
                  <a:pos x="84" y="252"/>
                </a:cxn>
                <a:cxn ang="0">
                  <a:pos x="104" y="265"/>
                </a:cxn>
                <a:cxn ang="0">
                  <a:pos x="126" y="277"/>
                </a:cxn>
                <a:cxn ang="0">
                  <a:pos x="129" y="279"/>
                </a:cxn>
                <a:cxn ang="0">
                  <a:pos x="138" y="282"/>
                </a:cxn>
                <a:cxn ang="0">
                  <a:pos x="150" y="289"/>
                </a:cxn>
                <a:cxn ang="0">
                  <a:pos x="165" y="296"/>
                </a:cxn>
                <a:cxn ang="0">
                  <a:pos x="184" y="304"/>
                </a:cxn>
                <a:cxn ang="0">
                  <a:pos x="203" y="312"/>
                </a:cxn>
                <a:cxn ang="0">
                  <a:pos x="223" y="321"/>
                </a:cxn>
                <a:cxn ang="0">
                  <a:pos x="241" y="330"/>
                </a:cxn>
              </a:cxnLst>
              <a:rect l="0" t="0" r="r" b="b"/>
              <a:pathLst>
                <a:path w="241" h="330">
                  <a:moveTo>
                    <a:pt x="241" y="330"/>
                  </a:moveTo>
                  <a:lnTo>
                    <a:pt x="238" y="209"/>
                  </a:lnTo>
                  <a:lnTo>
                    <a:pt x="238" y="205"/>
                  </a:lnTo>
                  <a:lnTo>
                    <a:pt x="236" y="194"/>
                  </a:lnTo>
                  <a:lnTo>
                    <a:pt x="234" y="179"/>
                  </a:lnTo>
                  <a:lnTo>
                    <a:pt x="230" y="159"/>
                  </a:lnTo>
                  <a:lnTo>
                    <a:pt x="225" y="137"/>
                  </a:lnTo>
                  <a:lnTo>
                    <a:pt x="218" y="114"/>
                  </a:lnTo>
                  <a:lnTo>
                    <a:pt x="206" y="92"/>
                  </a:lnTo>
                  <a:lnTo>
                    <a:pt x="193" y="72"/>
                  </a:lnTo>
                  <a:lnTo>
                    <a:pt x="191" y="70"/>
                  </a:lnTo>
                  <a:lnTo>
                    <a:pt x="185" y="65"/>
                  </a:lnTo>
                  <a:lnTo>
                    <a:pt x="176" y="57"/>
                  </a:lnTo>
                  <a:lnTo>
                    <a:pt x="165" y="47"/>
                  </a:lnTo>
                  <a:lnTo>
                    <a:pt x="149" y="37"/>
                  </a:lnTo>
                  <a:lnTo>
                    <a:pt x="131" y="27"/>
                  </a:lnTo>
                  <a:lnTo>
                    <a:pt x="109" y="17"/>
                  </a:lnTo>
                  <a:lnTo>
                    <a:pt x="85" y="10"/>
                  </a:lnTo>
                  <a:lnTo>
                    <a:pt x="9" y="0"/>
                  </a:lnTo>
                  <a:lnTo>
                    <a:pt x="1" y="97"/>
                  </a:lnTo>
                  <a:lnTo>
                    <a:pt x="0" y="109"/>
                  </a:lnTo>
                  <a:lnTo>
                    <a:pt x="1" y="136"/>
                  </a:lnTo>
                  <a:lnTo>
                    <a:pt x="8" y="171"/>
                  </a:lnTo>
                  <a:lnTo>
                    <a:pt x="23" y="205"/>
                  </a:lnTo>
                  <a:lnTo>
                    <a:pt x="25" y="206"/>
                  </a:lnTo>
                  <a:lnTo>
                    <a:pt x="30" y="211"/>
                  </a:lnTo>
                  <a:lnTo>
                    <a:pt x="39" y="219"/>
                  </a:lnTo>
                  <a:lnTo>
                    <a:pt x="51" y="229"/>
                  </a:lnTo>
                  <a:lnTo>
                    <a:pt x="66" y="240"/>
                  </a:lnTo>
                  <a:lnTo>
                    <a:pt x="84" y="252"/>
                  </a:lnTo>
                  <a:lnTo>
                    <a:pt x="104" y="265"/>
                  </a:lnTo>
                  <a:lnTo>
                    <a:pt x="126" y="277"/>
                  </a:lnTo>
                  <a:lnTo>
                    <a:pt x="129" y="279"/>
                  </a:lnTo>
                  <a:lnTo>
                    <a:pt x="138" y="282"/>
                  </a:lnTo>
                  <a:lnTo>
                    <a:pt x="150" y="289"/>
                  </a:lnTo>
                  <a:lnTo>
                    <a:pt x="165" y="296"/>
                  </a:lnTo>
                  <a:lnTo>
                    <a:pt x="184" y="304"/>
                  </a:lnTo>
                  <a:lnTo>
                    <a:pt x="203" y="312"/>
                  </a:lnTo>
                  <a:lnTo>
                    <a:pt x="223" y="321"/>
                  </a:lnTo>
                  <a:lnTo>
                    <a:pt x="241" y="33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165"/>
            <p:cNvSpPr>
              <a:spLocks/>
            </p:cNvSpPr>
            <p:nvPr/>
          </p:nvSpPr>
          <p:spPr bwMode="auto">
            <a:xfrm>
              <a:off x="1399" y="1407"/>
              <a:ext cx="243" cy="329"/>
            </a:xfrm>
            <a:custGeom>
              <a:avLst/>
              <a:gdLst/>
              <a:ahLst/>
              <a:cxnLst>
                <a:cxn ang="0">
                  <a:pos x="4" y="329"/>
                </a:cxn>
                <a:cxn ang="0">
                  <a:pos x="8" y="329"/>
                </a:cxn>
                <a:cxn ang="0">
                  <a:pos x="19" y="327"/>
                </a:cxn>
                <a:cxn ang="0">
                  <a:pos x="34" y="326"/>
                </a:cxn>
                <a:cxn ang="0">
                  <a:pos x="54" y="324"/>
                </a:cxn>
                <a:cxn ang="0">
                  <a:pos x="75" y="319"/>
                </a:cxn>
                <a:cxn ang="0">
                  <a:pos x="97" y="311"/>
                </a:cxn>
                <a:cxn ang="0">
                  <a:pos x="117" y="301"/>
                </a:cxn>
                <a:cxn ang="0">
                  <a:pos x="133" y="287"/>
                </a:cxn>
                <a:cxn ang="0">
                  <a:pos x="135" y="285"/>
                </a:cxn>
                <a:cxn ang="0">
                  <a:pos x="140" y="277"/>
                </a:cxn>
                <a:cxn ang="0">
                  <a:pos x="149" y="266"/>
                </a:cxn>
                <a:cxn ang="0">
                  <a:pos x="159" y="250"/>
                </a:cxn>
                <a:cxn ang="0">
                  <a:pos x="170" y="231"/>
                </a:cxn>
                <a:cxn ang="0">
                  <a:pos x="182" y="210"/>
                </a:cxn>
                <a:cxn ang="0">
                  <a:pos x="193" y="185"/>
                </a:cxn>
                <a:cxn ang="0">
                  <a:pos x="202" y="159"/>
                </a:cxn>
                <a:cxn ang="0">
                  <a:pos x="203" y="154"/>
                </a:cxn>
                <a:cxn ang="0">
                  <a:pos x="208" y="139"/>
                </a:cxn>
                <a:cxn ang="0">
                  <a:pos x="214" y="119"/>
                </a:cxn>
                <a:cxn ang="0">
                  <a:pos x="223" y="94"/>
                </a:cxn>
                <a:cxn ang="0">
                  <a:pos x="230" y="67"/>
                </a:cxn>
                <a:cxn ang="0">
                  <a:pos x="237" y="41"/>
                </a:cxn>
                <a:cxn ang="0">
                  <a:pos x="242" y="19"/>
                </a:cxn>
                <a:cxn ang="0">
                  <a:pos x="243" y="2"/>
                </a:cxn>
                <a:cxn ang="0">
                  <a:pos x="240" y="2"/>
                </a:cxn>
                <a:cxn ang="0">
                  <a:pos x="233" y="1"/>
                </a:cxn>
                <a:cxn ang="0">
                  <a:pos x="220" y="0"/>
                </a:cxn>
                <a:cxn ang="0">
                  <a:pos x="205" y="0"/>
                </a:cxn>
                <a:cxn ang="0">
                  <a:pos x="189" y="0"/>
                </a:cxn>
                <a:cxn ang="0">
                  <a:pos x="170" y="2"/>
                </a:cxn>
                <a:cxn ang="0">
                  <a:pos x="152" y="6"/>
                </a:cxn>
                <a:cxn ang="0">
                  <a:pos x="133" y="12"/>
                </a:cxn>
                <a:cxn ang="0">
                  <a:pos x="129" y="14"/>
                </a:cxn>
                <a:cxn ang="0">
                  <a:pos x="122" y="19"/>
                </a:cxn>
                <a:cxn ang="0">
                  <a:pos x="108" y="26"/>
                </a:cxn>
                <a:cxn ang="0">
                  <a:pos x="94" y="35"/>
                </a:cxn>
                <a:cxn ang="0">
                  <a:pos x="78" y="46"/>
                </a:cxn>
                <a:cxn ang="0">
                  <a:pos x="62" y="60"/>
                </a:cxn>
                <a:cxn ang="0">
                  <a:pos x="49" y="74"/>
                </a:cxn>
                <a:cxn ang="0">
                  <a:pos x="39" y="89"/>
                </a:cxn>
                <a:cxn ang="0">
                  <a:pos x="38" y="91"/>
                </a:cxn>
                <a:cxn ang="0">
                  <a:pos x="33" y="100"/>
                </a:cxn>
                <a:cxn ang="0">
                  <a:pos x="25" y="112"/>
                </a:cxn>
                <a:cxn ang="0">
                  <a:pos x="18" y="130"/>
                </a:cxn>
                <a:cxn ang="0">
                  <a:pos x="10" y="151"/>
                </a:cxn>
                <a:cxn ang="0">
                  <a:pos x="5" y="177"/>
                </a:cxn>
                <a:cxn ang="0">
                  <a:pos x="0" y="206"/>
                </a:cxn>
                <a:cxn ang="0">
                  <a:pos x="0" y="239"/>
                </a:cxn>
                <a:cxn ang="0">
                  <a:pos x="4" y="329"/>
                </a:cxn>
              </a:cxnLst>
              <a:rect l="0" t="0" r="r" b="b"/>
              <a:pathLst>
                <a:path w="243" h="329">
                  <a:moveTo>
                    <a:pt x="4" y="329"/>
                  </a:moveTo>
                  <a:lnTo>
                    <a:pt x="8" y="329"/>
                  </a:lnTo>
                  <a:lnTo>
                    <a:pt x="19" y="327"/>
                  </a:lnTo>
                  <a:lnTo>
                    <a:pt x="34" y="326"/>
                  </a:lnTo>
                  <a:lnTo>
                    <a:pt x="54" y="324"/>
                  </a:lnTo>
                  <a:lnTo>
                    <a:pt x="75" y="319"/>
                  </a:lnTo>
                  <a:lnTo>
                    <a:pt x="97" y="311"/>
                  </a:lnTo>
                  <a:lnTo>
                    <a:pt x="117" y="301"/>
                  </a:lnTo>
                  <a:lnTo>
                    <a:pt x="133" y="287"/>
                  </a:lnTo>
                  <a:lnTo>
                    <a:pt x="135" y="285"/>
                  </a:lnTo>
                  <a:lnTo>
                    <a:pt x="140" y="277"/>
                  </a:lnTo>
                  <a:lnTo>
                    <a:pt x="149" y="266"/>
                  </a:lnTo>
                  <a:lnTo>
                    <a:pt x="159" y="250"/>
                  </a:lnTo>
                  <a:lnTo>
                    <a:pt x="170" y="231"/>
                  </a:lnTo>
                  <a:lnTo>
                    <a:pt x="182" y="210"/>
                  </a:lnTo>
                  <a:lnTo>
                    <a:pt x="193" y="185"/>
                  </a:lnTo>
                  <a:lnTo>
                    <a:pt x="202" y="159"/>
                  </a:lnTo>
                  <a:lnTo>
                    <a:pt x="203" y="154"/>
                  </a:lnTo>
                  <a:lnTo>
                    <a:pt x="208" y="139"/>
                  </a:lnTo>
                  <a:lnTo>
                    <a:pt x="214" y="119"/>
                  </a:lnTo>
                  <a:lnTo>
                    <a:pt x="223" y="94"/>
                  </a:lnTo>
                  <a:lnTo>
                    <a:pt x="230" y="67"/>
                  </a:lnTo>
                  <a:lnTo>
                    <a:pt x="237" y="41"/>
                  </a:lnTo>
                  <a:lnTo>
                    <a:pt x="242" y="19"/>
                  </a:lnTo>
                  <a:lnTo>
                    <a:pt x="243" y="2"/>
                  </a:lnTo>
                  <a:lnTo>
                    <a:pt x="240" y="2"/>
                  </a:lnTo>
                  <a:lnTo>
                    <a:pt x="233" y="1"/>
                  </a:lnTo>
                  <a:lnTo>
                    <a:pt x="220" y="0"/>
                  </a:lnTo>
                  <a:lnTo>
                    <a:pt x="205" y="0"/>
                  </a:lnTo>
                  <a:lnTo>
                    <a:pt x="189" y="0"/>
                  </a:lnTo>
                  <a:lnTo>
                    <a:pt x="170" y="2"/>
                  </a:lnTo>
                  <a:lnTo>
                    <a:pt x="152" y="6"/>
                  </a:lnTo>
                  <a:lnTo>
                    <a:pt x="133" y="12"/>
                  </a:lnTo>
                  <a:lnTo>
                    <a:pt x="129" y="14"/>
                  </a:lnTo>
                  <a:lnTo>
                    <a:pt x="122" y="19"/>
                  </a:lnTo>
                  <a:lnTo>
                    <a:pt x="108" y="26"/>
                  </a:lnTo>
                  <a:lnTo>
                    <a:pt x="94" y="35"/>
                  </a:lnTo>
                  <a:lnTo>
                    <a:pt x="78" y="46"/>
                  </a:lnTo>
                  <a:lnTo>
                    <a:pt x="62" y="60"/>
                  </a:lnTo>
                  <a:lnTo>
                    <a:pt x="49" y="74"/>
                  </a:lnTo>
                  <a:lnTo>
                    <a:pt x="39" y="89"/>
                  </a:lnTo>
                  <a:lnTo>
                    <a:pt x="38" y="91"/>
                  </a:lnTo>
                  <a:lnTo>
                    <a:pt x="33" y="100"/>
                  </a:lnTo>
                  <a:lnTo>
                    <a:pt x="25" y="112"/>
                  </a:lnTo>
                  <a:lnTo>
                    <a:pt x="18" y="130"/>
                  </a:lnTo>
                  <a:lnTo>
                    <a:pt x="10" y="151"/>
                  </a:lnTo>
                  <a:lnTo>
                    <a:pt x="5" y="177"/>
                  </a:lnTo>
                  <a:lnTo>
                    <a:pt x="0" y="206"/>
                  </a:lnTo>
                  <a:lnTo>
                    <a:pt x="0" y="239"/>
                  </a:lnTo>
                  <a:lnTo>
                    <a:pt x="4" y="32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166"/>
            <p:cNvSpPr>
              <a:spLocks/>
            </p:cNvSpPr>
            <p:nvPr/>
          </p:nvSpPr>
          <p:spPr bwMode="auto">
            <a:xfrm>
              <a:off x="984" y="2055"/>
              <a:ext cx="167" cy="77"/>
            </a:xfrm>
            <a:custGeom>
              <a:avLst/>
              <a:gdLst/>
              <a:ahLst/>
              <a:cxnLst>
                <a:cxn ang="0">
                  <a:pos x="167" y="73"/>
                </a:cxn>
                <a:cxn ang="0">
                  <a:pos x="87" y="0"/>
                </a:cxn>
                <a:cxn ang="0">
                  <a:pos x="85" y="2"/>
                </a:cxn>
                <a:cxn ang="0">
                  <a:pos x="80" y="7"/>
                </a:cxn>
                <a:cxn ang="0">
                  <a:pos x="74" y="13"/>
                </a:cxn>
                <a:cxn ang="0">
                  <a:pos x="64" y="20"/>
                </a:cxn>
                <a:cxn ang="0">
                  <a:pos x="52" y="29"/>
                </a:cxn>
                <a:cxn ang="0">
                  <a:pos x="37" y="37"/>
                </a:cxn>
                <a:cxn ang="0">
                  <a:pos x="20" y="44"/>
                </a:cxn>
                <a:cxn ang="0">
                  <a:pos x="0" y="49"/>
                </a:cxn>
                <a:cxn ang="0">
                  <a:pos x="0" y="50"/>
                </a:cxn>
                <a:cxn ang="0">
                  <a:pos x="3" y="52"/>
                </a:cxn>
                <a:cxn ang="0">
                  <a:pos x="7" y="54"/>
                </a:cxn>
                <a:cxn ang="0">
                  <a:pos x="14" y="58"/>
                </a:cxn>
                <a:cxn ang="0">
                  <a:pos x="23" y="62"/>
                </a:cxn>
                <a:cxn ang="0">
                  <a:pos x="37" y="65"/>
                </a:cxn>
                <a:cxn ang="0">
                  <a:pos x="54" y="69"/>
                </a:cxn>
                <a:cxn ang="0">
                  <a:pos x="77" y="73"/>
                </a:cxn>
                <a:cxn ang="0">
                  <a:pos x="79" y="73"/>
                </a:cxn>
                <a:cxn ang="0">
                  <a:pos x="87" y="74"/>
                </a:cxn>
                <a:cxn ang="0">
                  <a:pos x="97" y="75"/>
                </a:cxn>
                <a:cxn ang="0">
                  <a:pos x="110" y="75"/>
                </a:cxn>
                <a:cxn ang="0">
                  <a:pos x="124" y="77"/>
                </a:cxn>
                <a:cxn ang="0">
                  <a:pos x="139" y="77"/>
                </a:cxn>
                <a:cxn ang="0">
                  <a:pos x="154" y="75"/>
                </a:cxn>
                <a:cxn ang="0">
                  <a:pos x="167" y="73"/>
                </a:cxn>
              </a:cxnLst>
              <a:rect l="0" t="0" r="r" b="b"/>
              <a:pathLst>
                <a:path w="167" h="77">
                  <a:moveTo>
                    <a:pt x="167" y="73"/>
                  </a:moveTo>
                  <a:lnTo>
                    <a:pt x="87" y="0"/>
                  </a:lnTo>
                  <a:lnTo>
                    <a:pt x="85" y="2"/>
                  </a:lnTo>
                  <a:lnTo>
                    <a:pt x="80" y="7"/>
                  </a:lnTo>
                  <a:lnTo>
                    <a:pt x="74" y="13"/>
                  </a:lnTo>
                  <a:lnTo>
                    <a:pt x="64" y="20"/>
                  </a:lnTo>
                  <a:lnTo>
                    <a:pt x="52" y="29"/>
                  </a:lnTo>
                  <a:lnTo>
                    <a:pt x="37" y="37"/>
                  </a:lnTo>
                  <a:lnTo>
                    <a:pt x="20" y="44"/>
                  </a:lnTo>
                  <a:lnTo>
                    <a:pt x="0" y="49"/>
                  </a:lnTo>
                  <a:lnTo>
                    <a:pt x="0" y="50"/>
                  </a:lnTo>
                  <a:lnTo>
                    <a:pt x="3" y="52"/>
                  </a:lnTo>
                  <a:lnTo>
                    <a:pt x="7" y="54"/>
                  </a:lnTo>
                  <a:lnTo>
                    <a:pt x="14" y="58"/>
                  </a:lnTo>
                  <a:lnTo>
                    <a:pt x="23" y="62"/>
                  </a:lnTo>
                  <a:lnTo>
                    <a:pt x="37" y="65"/>
                  </a:lnTo>
                  <a:lnTo>
                    <a:pt x="54" y="69"/>
                  </a:lnTo>
                  <a:lnTo>
                    <a:pt x="77" y="73"/>
                  </a:lnTo>
                  <a:lnTo>
                    <a:pt x="79" y="73"/>
                  </a:lnTo>
                  <a:lnTo>
                    <a:pt x="87" y="74"/>
                  </a:lnTo>
                  <a:lnTo>
                    <a:pt x="97" y="75"/>
                  </a:lnTo>
                  <a:lnTo>
                    <a:pt x="110" y="75"/>
                  </a:lnTo>
                  <a:lnTo>
                    <a:pt x="124" y="77"/>
                  </a:lnTo>
                  <a:lnTo>
                    <a:pt x="139" y="77"/>
                  </a:lnTo>
                  <a:lnTo>
                    <a:pt x="154" y="75"/>
                  </a:lnTo>
                  <a:lnTo>
                    <a:pt x="167" y="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Freeform 167"/>
            <p:cNvSpPr>
              <a:spLocks/>
            </p:cNvSpPr>
            <p:nvPr/>
          </p:nvSpPr>
          <p:spPr bwMode="auto">
            <a:xfrm>
              <a:off x="862" y="1979"/>
              <a:ext cx="181" cy="96"/>
            </a:xfrm>
            <a:custGeom>
              <a:avLst/>
              <a:gdLst/>
              <a:ahLst/>
              <a:cxnLst>
                <a:cxn ang="0">
                  <a:pos x="181" y="63"/>
                </a:cxn>
                <a:cxn ang="0">
                  <a:pos x="94" y="96"/>
                </a:cxn>
                <a:cxn ang="0">
                  <a:pos x="91" y="95"/>
                </a:cxn>
                <a:cxn ang="0">
                  <a:pos x="85" y="90"/>
                </a:cxn>
                <a:cxn ang="0">
                  <a:pos x="75" y="83"/>
                </a:cxn>
                <a:cxn ang="0">
                  <a:pos x="62" y="73"/>
                </a:cxn>
                <a:cxn ang="0">
                  <a:pos x="49" y="59"/>
                </a:cxn>
                <a:cxn ang="0">
                  <a:pos x="32" y="43"/>
                </a:cxn>
                <a:cxn ang="0">
                  <a:pos x="16" y="23"/>
                </a:cxn>
                <a:cxn ang="0">
                  <a:pos x="0" y="0"/>
                </a:cxn>
                <a:cxn ang="0">
                  <a:pos x="160" y="16"/>
                </a:cxn>
                <a:cxn ang="0">
                  <a:pos x="181" y="63"/>
                </a:cxn>
              </a:cxnLst>
              <a:rect l="0" t="0" r="r" b="b"/>
              <a:pathLst>
                <a:path w="181" h="96">
                  <a:moveTo>
                    <a:pt x="181" y="63"/>
                  </a:moveTo>
                  <a:lnTo>
                    <a:pt x="94" y="96"/>
                  </a:lnTo>
                  <a:lnTo>
                    <a:pt x="91" y="95"/>
                  </a:lnTo>
                  <a:lnTo>
                    <a:pt x="85" y="90"/>
                  </a:lnTo>
                  <a:lnTo>
                    <a:pt x="75" y="83"/>
                  </a:lnTo>
                  <a:lnTo>
                    <a:pt x="62" y="73"/>
                  </a:lnTo>
                  <a:lnTo>
                    <a:pt x="49" y="59"/>
                  </a:lnTo>
                  <a:lnTo>
                    <a:pt x="32" y="43"/>
                  </a:lnTo>
                  <a:lnTo>
                    <a:pt x="16" y="23"/>
                  </a:lnTo>
                  <a:lnTo>
                    <a:pt x="0" y="0"/>
                  </a:lnTo>
                  <a:lnTo>
                    <a:pt x="160" y="16"/>
                  </a:lnTo>
                  <a:lnTo>
                    <a:pt x="181" y="6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2" name="Freeform 168"/>
            <p:cNvSpPr>
              <a:spLocks/>
            </p:cNvSpPr>
            <p:nvPr/>
          </p:nvSpPr>
          <p:spPr bwMode="auto">
            <a:xfrm>
              <a:off x="833" y="1861"/>
              <a:ext cx="158" cy="101"/>
            </a:xfrm>
            <a:custGeom>
              <a:avLst/>
              <a:gdLst/>
              <a:ahLst/>
              <a:cxnLst>
                <a:cxn ang="0">
                  <a:pos x="158" y="101"/>
                </a:cxn>
                <a:cxn ang="0">
                  <a:pos x="89" y="13"/>
                </a:cxn>
                <a:cxn ang="0">
                  <a:pos x="1" y="0"/>
                </a:cxn>
                <a:cxn ang="0">
                  <a:pos x="0" y="7"/>
                </a:cxn>
                <a:cxn ang="0">
                  <a:pos x="0" y="26"/>
                </a:cxn>
                <a:cxn ang="0">
                  <a:pos x="5" y="52"/>
                </a:cxn>
                <a:cxn ang="0">
                  <a:pos x="19" y="83"/>
                </a:cxn>
                <a:cxn ang="0">
                  <a:pos x="158" y="101"/>
                </a:cxn>
              </a:cxnLst>
              <a:rect l="0" t="0" r="r" b="b"/>
              <a:pathLst>
                <a:path w="158" h="101">
                  <a:moveTo>
                    <a:pt x="158" y="101"/>
                  </a:moveTo>
                  <a:lnTo>
                    <a:pt x="89" y="13"/>
                  </a:lnTo>
                  <a:lnTo>
                    <a:pt x="1" y="0"/>
                  </a:lnTo>
                  <a:lnTo>
                    <a:pt x="0" y="7"/>
                  </a:lnTo>
                  <a:lnTo>
                    <a:pt x="0" y="26"/>
                  </a:lnTo>
                  <a:lnTo>
                    <a:pt x="5" y="52"/>
                  </a:lnTo>
                  <a:lnTo>
                    <a:pt x="19" y="83"/>
                  </a:lnTo>
                  <a:lnTo>
                    <a:pt x="158" y="10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" name="Freeform 169"/>
            <p:cNvSpPr>
              <a:spLocks/>
            </p:cNvSpPr>
            <p:nvPr/>
          </p:nvSpPr>
          <p:spPr bwMode="auto">
            <a:xfrm>
              <a:off x="818" y="1726"/>
              <a:ext cx="75" cy="103"/>
            </a:xfrm>
            <a:custGeom>
              <a:avLst/>
              <a:gdLst/>
              <a:ahLst/>
              <a:cxnLst>
                <a:cxn ang="0">
                  <a:pos x="75" y="103"/>
                </a:cxn>
                <a:cxn ang="0">
                  <a:pos x="10" y="0"/>
                </a:cxn>
                <a:cxn ang="0">
                  <a:pos x="8" y="8"/>
                </a:cxn>
                <a:cxn ang="0">
                  <a:pos x="3" y="28"/>
                </a:cxn>
                <a:cxn ang="0">
                  <a:pos x="0" y="57"/>
                </a:cxn>
                <a:cxn ang="0">
                  <a:pos x="3" y="86"/>
                </a:cxn>
                <a:cxn ang="0">
                  <a:pos x="4" y="87"/>
                </a:cxn>
                <a:cxn ang="0">
                  <a:pos x="6" y="90"/>
                </a:cxn>
                <a:cxn ang="0">
                  <a:pos x="11" y="92"/>
                </a:cxn>
                <a:cxn ang="0">
                  <a:pos x="19" y="96"/>
                </a:cxn>
                <a:cxn ang="0">
                  <a:pos x="28" y="100"/>
                </a:cxn>
                <a:cxn ang="0">
                  <a:pos x="40" y="102"/>
                </a:cxn>
                <a:cxn ang="0">
                  <a:pos x="56" y="103"/>
                </a:cxn>
                <a:cxn ang="0">
                  <a:pos x="75" y="103"/>
                </a:cxn>
              </a:cxnLst>
              <a:rect l="0" t="0" r="r" b="b"/>
              <a:pathLst>
                <a:path w="75" h="103">
                  <a:moveTo>
                    <a:pt x="75" y="103"/>
                  </a:moveTo>
                  <a:lnTo>
                    <a:pt x="10" y="0"/>
                  </a:lnTo>
                  <a:lnTo>
                    <a:pt x="8" y="8"/>
                  </a:lnTo>
                  <a:lnTo>
                    <a:pt x="3" y="28"/>
                  </a:lnTo>
                  <a:lnTo>
                    <a:pt x="0" y="57"/>
                  </a:lnTo>
                  <a:lnTo>
                    <a:pt x="3" y="86"/>
                  </a:lnTo>
                  <a:lnTo>
                    <a:pt x="4" y="87"/>
                  </a:lnTo>
                  <a:lnTo>
                    <a:pt x="6" y="90"/>
                  </a:lnTo>
                  <a:lnTo>
                    <a:pt x="11" y="92"/>
                  </a:lnTo>
                  <a:lnTo>
                    <a:pt x="19" y="96"/>
                  </a:lnTo>
                  <a:lnTo>
                    <a:pt x="28" y="100"/>
                  </a:lnTo>
                  <a:lnTo>
                    <a:pt x="40" y="102"/>
                  </a:lnTo>
                  <a:lnTo>
                    <a:pt x="56" y="103"/>
                  </a:lnTo>
                  <a:lnTo>
                    <a:pt x="75" y="10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" name="Freeform 170"/>
            <p:cNvSpPr>
              <a:spLocks/>
            </p:cNvSpPr>
            <p:nvPr/>
          </p:nvSpPr>
          <p:spPr bwMode="auto">
            <a:xfrm>
              <a:off x="828" y="1669"/>
              <a:ext cx="121" cy="170"/>
            </a:xfrm>
            <a:custGeom>
              <a:avLst/>
              <a:gdLst/>
              <a:ahLst/>
              <a:cxnLst>
                <a:cxn ang="0">
                  <a:pos x="114" y="17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15" y="5"/>
                </a:cxn>
                <a:cxn ang="0">
                  <a:pos x="31" y="12"/>
                </a:cxn>
                <a:cxn ang="0">
                  <a:pos x="51" y="19"/>
                </a:cxn>
                <a:cxn ang="0">
                  <a:pos x="73" y="28"/>
                </a:cxn>
                <a:cxn ang="0">
                  <a:pos x="91" y="38"/>
                </a:cxn>
                <a:cxn ang="0">
                  <a:pos x="109" y="49"/>
                </a:cxn>
                <a:cxn ang="0">
                  <a:pos x="121" y="60"/>
                </a:cxn>
                <a:cxn ang="0">
                  <a:pos x="121" y="69"/>
                </a:cxn>
                <a:cxn ang="0">
                  <a:pos x="120" y="92"/>
                </a:cxn>
                <a:cxn ang="0">
                  <a:pos x="118" y="127"/>
                </a:cxn>
                <a:cxn ang="0">
                  <a:pos x="114" y="170"/>
                </a:cxn>
              </a:cxnLst>
              <a:rect l="0" t="0" r="r" b="b"/>
              <a:pathLst>
                <a:path w="121" h="170">
                  <a:moveTo>
                    <a:pt x="114" y="17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15" y="5"/>
                  </a:lnTo>
                  <a:lnTo>
                    <a:pt x="31" y="12"/>
                  </a:lnTo>
                  <a:lnTo>
                    <a:pt x="51" y="19"/>
                  </a:lnTo>
                  <a:lnTo>
                    <a:pt x="73" y="28"/>
                  </a:lnTo>
                  <a:lnTo>
                    <a:pt x="91" y="38"/>
                  </a:lnTo>
                  <a:lnTo>
                    <a:pt x="109" y="49"/>
                  </a:lnTo>
                  <a:lnTo>
                    <a:pt x="121" y="60"/>
                  </a:lnTo>
                  <a:lnTo>
                    <a:pt x="121" y="69"/>
                  </a:lnTo>
                  <a:lnTo>
                    <a:pt x="120" y="92"/>
                  </a:lnTo>
                  <a:lnTo>
                    <a:pt x="118" y="127"/>
                  </a:lnTo>
                  <a:lnTo>
                    <a:pt x="114" y="17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" name="Freeform 171"/>
            <p:cNvSpPr>
              <a:spLocks/>
            </p:cNvSpPr>
            <p:nvPr/>
          </p:nvSpPr>
          <p:spPr bwMode="auto">
            <a:xfrm>
              <a:off x="967" y="1753"/>
              <a:ext cx="82" cy="198"/>
            </a:xfrm>
            <a:custGeom>
              <a:avLst/>
              <a:gdLst/>
              <a:ahLst/>
              <a:cxnLst>
                <a:cxn ang="0">
                  <a:pos x="0" y="129"/>
                </a:cxn>
                <a:cxn ang="0">
                  <a:pos x="17" y="0"/>
                </a:cxn>
                <a:cxn ang="0">
                  <a:pos x="19" y="1"/>
                </a:cxn>
                <a:cxn ang="0">
                  <a:pos x="24" y="4"/>
                </a:cxn>
                <a:cxn ang="0">
                  <a:pos x="31" y="10"/>
                </a:cxn>
                <a:cxn ang="0">
                  <a:pos x="40" y="18"/>
                </a:cxn>
                <a:cxn ang="0">
                  <a:pos x="50" y="28"/>
                </a:cxn>
                <a:cxn ang="0">
                  <a:pos x="61" y="40"/>
                </a:cxn>
                <a:cxn ang="0">
                  <a:pos x="71" y="55"/>
                </a:cxn>
                <a:cxn ang="0">
                  <a:pos x="82" y="73"/>
                </a:cxn>
                <a:cxn ang="0">
                  <a:pos x="51" y="198"/>
                </a:cxn>
                <a:cxn ang="0">
                  <a:pos x="0" y="129"/>
                </a:cxn>
              </a:cxnLst>
              <a:rect l="0" t="0" r="r" b="b"/>
              <a:pathLst>
                <a:path w="82" h="198">
                  <a:moveTo>
                    <a:pt x="0" y="129"/>
                  </a:moveTo>
                  <a:lnTo>
                    <a:pt x="17" y="0"/>
                  </a:lnTo>
                  <a:lnTo>
                    <a:pt x="19" y="1"/>
                  </a:lnTo>
                  <a:lnTo>
                    <a:pt x="24" y="4"/>
                  </a:lnTo>
                  <a:lnTo>
                    <a:pt x="31" y="10"/>
                  </a:lnTo>
                  <a:lnTo>
                    <a:pt x="40" y="18"/>
                  </a:lnTo>
                  <a:lnTo>
                    <a:pt x="50" y="28"/>
                  </a:lnTo>
                  <a:lnTo>
                    <a:pt x="61" y="40"/>
                  </a:lnTo>
                  <a:lnTo>
                    <a:pt x="71" y="55"/>
                  </a:lnTo>
                  <a:lnTo>
                    <a:pt x="82" y="73"/>
                  </a:lnTo>
                  <a:lnTo>
                    <a:pt x="51" y="198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" name="Freeform 172"/>
            <p:cNvSpPr>
              <a:spLocks/>
            </p:cNvSpPr>
            <p:nvPr/>
          </p:nvSpPr>
          <p:spPr bwMode="auto">
            <a:xfrm>
              <a:off x="1049" y="1878"/>
              <a:ext cx="125" cy="222"/>
            </a:xfrm>
            <a:custGeom>
              <a:avLst/>
              <a:gdLst/>
              <a:ahLst/>
              <a:cxnLst>
                <a:cxn ang="0">
                  <a:pos x="0" y="104"/>
                </a:cxn>
                <a:cxn ang="0">
                  <a:pos x="22" y="0"/>
                </a:cxn>
                <a:cxn ang="0">
                  <a:pos x="25" y="5"/>
                </a:cxn>
                <a:cxn ang="0">
                  <a:pos x="33" y="20"/>
                </a:cxn>
                <a:cxn ang="0">
                  <a:pos x="47" y="43"/>
                </a:cxn>
                <a:cxn ang="0">
                  <a:pos x="62" y="71"/>
                </a:cxn>
                <a:cxn ang="0">
                  <a:pos x="79" y="105"/>
                </a:cxn>
                <a:cxn ang="0">
                  <a:pos x="95" y="140"/>
                </a:cxn>
                <a:cxn ang="0">
                  <a:pos x="112" y="176"/>
                </a:cxn>
                <a:cxn ang="0">
                  <a:pos x="125" y="211"/>
                </a:cxn>
                <a:cxn ang="0">
                  <a:pos x="125" y="222"/>
                </a:cxn>
                <a:cxn ang="0">
                  <a:pos x="0" y="104"/>
                </a:cxn>
              </a:cxnLst>
              <a:rect l="0" t="0" r="r" b="b"/>
              <a:pathLst>
                <a:path w="125" h="222">
                  <a:moveTo>
                    <a:pt x="0" y="104"/>
                  </a:moveTo>
                  <a:lnTo>
                    <a:pt x="22" y="0"/>
                  </a:lnTo>
                  <a:lnTo>
                    <a:pt x="25" y="5"/>
                  </a:lnTo>
                  <a:lnTo>
                    <a:pt x="33" y="20"/>
                  </a:lnTo>
                  <a:lnTo>
                    <a:pt x="47" y="43"/>
                  </a:lnTo>
                  <a:lnTo>
                    <a:pt x="62" y="71"/>
                  </a:lnTo>
                  <a:lnTo>
                    <a:pt x="79" y="105"/>
                  </a:lnTo>
                  <a:lnTo>
                    <a:pt x="95" y="140"/>
                  </a:lnTo>
                  <a:lnTo>
                    <a:pt x="112" y="176"/>
                  </a:lnTo>
                  <a:lnTo>
                    <a:pt x="125" y="211"/>
                  </a:lnTo>
                  <a:lnTo>
                    <a:pt x="125" y="222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7" name="Freeform 173"/>
            <p:cNvSpPr>
              <a:spLocks/>
            </p:cNvSpPr>
            <p:nvPr/>
          </p:nvSpPr>
          <p:spPr bwMode="auto">
            <a:xfrm>
              <a:off x="956" y="1611"/>
              <a:ext cx="118" cy="72"/>
            </a:xfrm>
            <a:custGeom>
              <a:avLst/>
              <a:gdLst/>
              <a:ahLst/>
              <a:cxnLst>
                <a:cxn ang="0">
                  <a:pos x="118" y="72"/>
                </a:cxn>
                <a:cxn ang="0">
                  <a:pos x="80" y="3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10" y="10"/>
                </a:cxn>
                <a:cxn ang="0">
                  <a:pos x="22" y="18"/>
                </a:cxn>
                <a:cxn ang="0">
                  <a:pos x="37" y="31"/>
                </a:cxn>
                <a:cxn ang="0">
                  <a:pos x="55" y="43"/>
                </a:cxn>
                <a:cxn ang="0">
                  <a:pos x="75" y="55"/>
                </a:cxn>
                <a:cxn ang="0">
                  <a:pos x="96" y="65"/>
                </a:cxn>
                <a:cxn ang="0">
                  <a:pos x="118" y="72"/>
                </a:cxn>
              </a:cxnLst>
              <a:rect l="0" t="0" r="r" b="b"/>
              <a:pathLst>
                <a:path w="118" h="72">
                  <a:moveTo>
                    <a:pt x="118" y="72"/>
                  </a:moveTo>
                  <a:lnTo>
                    <a:pt x="80" y="3"/>
                  </a:lnTo>
                  <a:lnTo>
                    <a:pt x="0" y="0"/>
                  </a:lnTo>
                  <a:lnTo>
                    <a:pt x="2" y="2"/>
                  </a:lnTo>
                  <a:lnTo>
                    <a:pt x="10" y="10"/>
                  </a:lnTo>
                  <a:lnTo>
                    <a:pt x="22" y="18"/>
                  </a:lnTo>
                  <a:lnTo>
                    <a:pt x="37" y="31"/>
                  </a:lnTo>
                  <a:lnTo>
                    <a:pt x="55" y="43"/>
                  </a:lnTo>
                  <a:lnTo>
                    <a:pt x="75" y="55"/>
                  </a:lnTo>
                  <a:lnTo>
                    <a:pt x="96" y="65"/>
                  </a:lnTo>
                  <a:lnTo>
                    <a:pt x="118" y="7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8" name="Freeform 174"/>
            <p:cNvSpPr>
              <a:spLocks/>
            </p:cNvSpPr>
            <p:nvPr/>
          </p:nvSpPr>
          <p:spPr bwMode="auto">
            <a:xfrm>
              <a:off x="897" y="1513"/>
              <a:ext cx="119" cy="76"/>
            </a:xfrm>
            <a:custGeom>
              <a:avLst/>
              <a:gdLst/>
              <a:ahLst/>
              <a:cxnLst>
                <a:cxn ang="0">
                  <a:pos x="119" y="76"/>
                </a:cxn>
                <a:cxn ang="0">
                  <a:pos x="74" y="4"/>
                </a:cxn>
                <a:cxn ang="0">
                  <a:pos x="0" y="0"/>
                </a:cxn>
                <a:cxn ang="0">
                  <a:pos x="0" y="9"/>
                </a:cxn>
                <a:cxn ang="0">
                  <a:pos x="2" y="30"/>
                </a:cxn>
                <a:cxn ang="0">
                  <a:pos x="10" y="56"/>
                </a:cxn>
                <a:cxn ang="0">
                  <a:pos x="27" y="76"/>
                </a:cxn>
                <a:cxn ang="0">
                  <a:pos x="119" y="76"/>
                </a:cxn>
              </a:cxnLst>
              <a:rect l="0" t="0" r="r" b="b"/>
              <a:pathLst>
                <a:path w="119" h="76">
                  <a:moveTo>
                    <a:pt x="119" y="76"/>
                  </a:moveTo>
                  <a:lnTo>
                    <a:pt x="74" y="4"/>
                  </a:lnTo>
                  <a:lnTo>
                    <a:pt x="0" y="0"/>
                  </a:lnTo>
                  <a:lnTo>
                    <a:pt x="0" y="9"/>
                  </a:lnTo>
                  <a:lnTo>
                    <a:pt x="2" y="30"/>
                  </a:lnTo>
                  <a:lnTo>
                    <a:pt x="10" y="56"/>
                  </a:lnTo>
                  <a:lnTo>
                    <a:pt x="27" y="76"/>
                  </a:lnTo>
                  <a:lnTo>
                    <a:pt x="119" y="7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9" name="Freeform 175"/>
            <p:cNvSpPr>
              <a:spLocks/>
            </p:cNvSpPr>
            <p:nvPr/>
          </p:nvSpPr>
          <p:spPr bwMode="auto">
            <a:xfrm>
              <a:off x="901" y="1437"/>
              <a:ext cx="52" cy="56"/>
            </a:xfrm>
            <a:custGeom>
              <a:avLst/>
              <a:gdLst/>
              <a:ahLst/>
              <a:cxnLst>
                <a:cxn ang="0">
                  <a:pos x="52" y="5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0" y="21"/>
                </a:cxn>
                <a:cxn ang="0">
                  <a:pos x="0" y="39"/>
                </a:cxn>
                <a:cxn ang="0">
                  <a:pos x="0" y="52"/>
                </a:cxn>
                <a:cxn ang="0">
                  <a:pos x="52" y="56"/>
                </a:cxn>
              </a:cxnLst>
              <a:rect l="0" t="0" r="r" b="b"/>
              <a:pathLst>
                <a:path w="52" h="56">
                  <a:moveTo>
                    <a:pt x="52" y="5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21"/>
                  </a:lnTo>
                  <a:lnTo>
                    <a:pt x="0" y="39"/>
                  </a:lnTo>
                  <a:lnTo>
                    <a:pt x="0" y="52"/>
                  </a:lnTo>
                  <a:lnTo>
                    <a:pt x="52" y="5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0" name="Freeform 176"/>
            <p:cNvSpPr>
              <a:spLocks/>
            </p:cNvSpPr>
            <p:nvPr/>
          </p:nvSpPr>
          <p:spPr bwMode="auto">
            <a:xfrm>
              <a:off x="939" y="1432"/>
              <a:ext cx="73" cy="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22" y="1"/>
                </a:cxn>
                <a:cxn ang="0">
                  <a:pos x="33" y="5"/>
                </a:cxn>
                <a:cxn ang="0">
                  <a:pos x="45" y="10"/>
                </a:cxn>
                <a:cxn ang="0">
                  <a:pos x="59" y="19"/>
                </a:cxn>
                <a:cxn ang="0">
                  <a:pos x="73" y="32"/>
                </a:cxn>
                <a:cxn ang="0">
                  <a:pos x="69" y="79"/>
                </a:cxn>
                <a:cxn ang="0">
                  <a:pos x="67" y="76"/>
                </a:cxn>
                <a:cxn ang="0">
                  <a:pos x="60" y="69"/>
                </a:cxn>
                <a:cxn ang="0">
                  <a:pos x="52" y="59"/>
                </a:cxn>
                <a:cxn ang="0">
                  <a:pos x="40" y="45"/>
                </a:cxn>
                <a:cxn ang="0">
                  <a:pos x="29" y="32"/>
                </a:cxn>
                <a:cxn ang="0">
                  <a:pos x="18" y="20"/>
                </a:cxn>
                <a:cxn ang="0">
                  <a:pos x="8" y="9"/>
                </a:cxn>
                <a:cxn ang="0">
                  <a:pos x="0" y="1"/>
                </a:cxn>
              </a:cxnLst>
              <a:rect l="0" t="0" r="r" b="b"/>
              <a:pathLst>
                <a:path w="73" h="79">
                  <a:moveTo>
                    <a:pt x="0" y="1"/>
                  </a:moveTo>
                  <a:lnTo>
                    <a:pt x="2" y="1"/>
                  </a:lnTo>
                  <a:lnTo>
                    <a:pt x="7" y="0"/>
                  </a:lnTo>
                  <a:lnTo>
                    <a:pt x="13" y="0"/>
                  </a:lnTo>
                  <a:lnTo>
                    <a:pt x="22" y="1"/>
                  </a:lnTo>
                  <a:lnTo>
                    <a:pt x="33" y="5"/>
                  </a:lnTo>
                  <a:lnTo>
                    <a:pt x="45" y="10"/>
                  </a:lnTo>
                  <a:lnTo>
                    <a:pt x="59" y="19"/>
                  </a:lnTo>
                  <a:lnTo>
                    <a:pt x="73" y="32"/>
                  </a:lnTo>
                  <a:lnTo>
                    <a:pt x="69" y="79"/>
                  </a:lnTo>
                  <a:lnTo>
                    <a:pt x="67" y="76"/>
                  </a:lnTo>
                  <a:lnTo>
                    <a:pt x="60" y="69"/>
                  </a:lnTo>
                  <a:lnTo>
                    <a:pt x="52" y="59"/>
                  </a:lnTo>
                  <a:lnTo>
                    <a:pt x="40" y="45"/>
                  </a:lnTo>
                  <a:lnTo>
                    <a:pt x="29" y="32"/>
                  </a:lnTo>
                  <a:lnTo>
                    <a:pt x="18" y="20"/>
                  </a:lnTo>
                  <a:lnTo>
                    <a:pt x="8" y="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1" name="Freeform 177"/>
            <p:cNvSpPr>
              <a:spLocks/>
            </p:cNvSpPr>
            <p:nvPr/>
          </p:nvSpPr>
          <p:spPr bwMode="auto">
            <a:xfrm>
              <a:off x="1039" y="1503"/>
              <a:ext cx="49" cy="1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3"/>
                </a:cxn>
                <a:cxn ang="0">
                  <a:pos x="49" y="156"/>
                </a:cxn>
                <a:cxn ang="0">
                  <a:pos x="49" y="153"/>
                </a:cxn>
                <a:cxn ang="0">
                  <a:pos x="48" y="141"/>
                </a:cxn>
                <a:cxn ang="0">
                  <a:pos x="44" y="125"/>
                </a:cxn>
                <a:cxn ang="0">
                  <a:pos x="40" y="104"/>
                </a:cxn>
                <a:cxn ang="0">
                  <a:pos x="34" y="80"/>
                </a:cxn>
                <a:cxn ang="0">
                  <a:pos x="25" y="54"/>
                </a:cxn>
                <a:cxn ang="0">
                  <a:pos x="14" y="26"/>
                </a:cxn>
                <a:cxn ang="0">
                  <a:pos x="0" y="0"/>
                </a:cxn>
              </a:cxnLst>
              <a:rect l="0" t="0" r="r" b="b"/>
              <a:pathLst>
                <a:path w="49" h="156">
                  <a:moveTo>
                    <a:pt x="0" y="0"/>
                  </a:moveTo>
                  <a:lnTo>
                    <a:pt x="0" y="63"/>
                  </a:lnTo>
                  <a:lnTo>
                    <a:pt x="49" y="156"/>
                  </a:lnTo>
                  <a:lnTo>
                    <a:pt x="49" y="153"/>
                  </a:lnTo>
                  <a:lnTo>
                    <a:pt x="48" y="141"/>
                  </a:lnTo>
                  <a:lnTo>
                    <a:pt x="44" y="125"/>
                  </a:lnTo>
                  <a:lnTo>
                    <a:pt x="40" y="104"/>
                  </a:lnTo>
                  <a:lnTo>
                    <a:pt x="34" y="80"/>
                  </a:lnTo>
                  <a:lnTo>
                    <a:pt x="25" y="54"/>
                  </a:lnTo>
                  <a:lnTo>
                    <a:pt x="14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2" name="Freeform 178"/>
            <p:cNvSpPr>
              <a:spLocks/>
            </p:cNvSpPr>
            <p:nvPr/>
          </p:nvSpPr>
          <p:spPr bwMode="auto">
            <a:xfrm>
              <a:off x="1141" y="1806"/>
              <a:ext cx="88" cy="214"/>
            </a:xfrm>
            <a:custGeom>
              <a:avLst/>
              <a:gdLst/>
              <a:ahLst/>
              <a:cxnLst>
                <a:cxn ang="0">
                  <a:pos x="88" y="214"/>
                </a:cxn>
                <a:cxn ang="0">
                  <a:pos x="78" y="80"/>
                </a:cxn>
                <a:cxn ang="0">
                  <a:pos x="6" y="0"/>
                </a:cxn>
                <a:cxn ang="0">
                  <a:pos x="5" y="11"/>
                </a:cxn>
                <a:cxn ang="0">
                  <a:pos x="2" y="37"/>
                </a:cxn>
                <a:cxn ang="0">
                  <a:pos x="0" y="70"/>
                </a:cxn>
                <a:cxn ang="0">
                  <a:pos x="2" y="96"/>
                </a:cxn>
                <a:cxn ang="0">
                  <a:pos x="88" y="214"/>
                </a:cxn>
              </a:cxnLst>
              <a:rect l="0" t="0" r="r" b="b"/>
              <a:pathLst>
                <a:path w="88" h="214">
                  <a:moveTo>
                    <a:pt x="88" y="214"/>
                  </a:moveTo>
                  <a:lnTo>
                    <a:pt x="78" y="80"/>
                  </a:lnTo>
                  <a:lnTo>
                    <a:pt x="6" y="0"/>
                  </a:lnTo>
                  <a:lnTo>
                    <a:pt x="5" y="11"/>
                  </a:lnTo>
                  <a:lnTo>
                    <a:pt x="2" y="37"/>
                  </a:lnTo>
                  <a:lnTo>
                    <a:pt x="0" y="70"/>
                  </a:lnTo>
                  <a:lnTo>
                    <a:pt x="2" y="96"/>
                  </a:lnTo>
                  <a:lnTo>
                    <a:pt x="88" y="21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3" name="Freeform 179"/>
            <p:cNvSpPr>
              <a:spLocks/>
            </p:cNvSpPr>
            <p:nvPr/>
          </p:nvSpPr>
          <p:spPr bwMode="auto">
            <a:xfrm>
              <a:off x="1161" y="1691"/>
              <a:ext cx="75" cy="138"/>
            </a:xfrm>
            <a:custGeom>
              <a:avLst/>
              <a:gdLst/>
              <a:ahLst/>
              <a:cxnLst>
                <a:cxn ang="0">
                  <a:pos x="72" y="138"/>
                </a:cxn>
                <a:cxn ang="0">
                  <a:pos x="75" y="83"/>
                </a:cxn>
                <a:cxn ang="0">
                  <a:pos x="25" y="0"/>
                </a:cxn>
                <a:cxn ang="0">
                  <a:pos x="21" y="3"/>
                </a:cxn>
                <a:cxn ang="0">
                  <a:pos x="11" y="17"/>
                </a:cxn>
                <a:cxn ang="0">
                  <a:pos x="2" y="42"/>
                </a:cxn>
                <a:cxn ang="0">
                  <a:pos x="0" y="80"/>
                </a:cxn>
                <a:cxn ang="0">
                  <a:pos x="72" y="138"/>
                </a:cxn>
              </a:cxnLst>
              <a:rect l="0" t="0" r="r" b="b"/>
              <a:pathLst>
                <a:path w="75" h="138">
                  <a:moveTo>
                    <a:pt x="72" y="138"/>
                  </a:moveTo>
                  <a:lnTo>
                    <a:pt x="75" y="83"/>
                  </a:lnTo>
                  <a:lnTo>
                    <a:pt x="25" y="0"/>
                  </a:lnTo>
                  <a:lnTo>
                    <a:pt x="21" y="3"/>
                  </a:lnTo>
                  <a:lnTo>
                    <a:pt x="11" y="17"/>
                  </a:lnTo>
                  <a:lnTo>
                    <a:pt x="2" y="42"/>
                  </a:lnTo>
                  <a:lnTo>
                    <a:pt x="0" y="80"/>
                  </a:lnTo>
                  <a:lnTo>
                    <a:pt x="72" y="13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4" name="Freeform 180"/>
            <p:cNvSpPr>
              <a:spLocks/>
            </p:cNvSpPr>
            <p:nvPr/>
          </p:nvSpPr>
          <p:spPr bwMode="auto">
            <a:xfrm>
              <a:off x="1198" y="1552"/>
              <a:ext cx="45" cy="149"/>
            </a:xfrm>
            <a:custGeom>
              <a:avLst/>
              <a:gdLst/>
              <a:ahLst/>
              <a:cxnLst>
                <a:cxn ang="0">
                  <a:pos x="35" y="149"/>
                </a:cxn>
                <a:cxn ang="0">
                  <a:pos x="45" y="0"/>
                </a:cxn>
                <a:cxn ang="0">
                  <a:pos x="44" y="1"/>
                </a:cxn>
                <a:cxn ang="0">
                  <a:pos x="39" y="6"/>
                </a:cxn>
                <a:cxn ang="0">
                  <a:pos x="31" y="14"/>
                </a:cxn>
                <a:cxn ang="0">
                  <a:pos x="24" y="26"/>
                </a:cxn>
                <a:cxn ang="0">
                  <a:pos x="16" y="41"/>
                </a:cxn>
                <a:cxn ang="0">
                  <a:pos x="9" y="61"/>
                </a:cxn>
                <a:cxn ang="0">
                  <a:pos x="3" y="86"/>
                </a:cxn>
                <a:cxn ang="0">
                  <a:pos x="0" y="115"/>
                </a:cxn>
                <a:cxn ang="0">
                  <a:pos x="35" y="149"/>
                </a:cxn>
              </a:cxnLst>
              <a:rect l="0" t="0" r="r" b="b"/>
              <a:pathLst>
                <a:path w="45" h="149">
                  <a:moveTo>
                    <a:pt x="35" y="149"/>
                  </a:moveTo>
                  <a:lnTo>
                    <a:pt x="45" y="0"/>
                  </a:lnTo>
                  <a:lnTo>
                    <a:pt x="44" y="1"/>
                  </a:lnTo>
                  <a:lnTo>
                    <a:pt x="39" y="6"/>
                  </a:lnTo>
                  <a:lnTo>
                    <a:pt x="31" y="14"/>
                  </a:lnTo>
                  <a:lnTo>
                    <a:pt x="24" y="26"/>
                  </a:lnTo>
                  <a:lnTo>
                    <a:pt x="16" y="41"/>
                  </a:lnTo>
                  <a:lnTo>
                    <a:pt x="9" y="61"/>
                  </a:lnTo>
                  <a:lnTo>
                    <a:pt x="3" y="86"/>
                  </a:lnTo>
                  <a:lnTo>
                    <a:pt x="0" y="115"/>
                  </a:lnTo>
                  <a:lnTo>
                    <a:pt x="35" y="1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5" name="Freeform 181"/>
            <p:cNvSpPr>
              <a:spLocks/>
            </p:cNvSpPr>
            <p:nvPr/>
          </p:nvSpPr>
          <p:spPr bwMode="auto">
            <a:xfrm>
              <a:off x="1261" y="1558"/>
              <a:ext cx="68" cy="181"/>
            </a:xfrm>
            <a:custGeom>
              <a:avLst/>
              <a:gdLst/>
              <a:ahLst/>
              <a:cxnLst>
                <a:cxn ang="0">
                  <a:pos x="0" y="181"/>
                </a:cxn>
                <a:cxn ang="0">
                  <a:pos x="13" y="0"/>
                </a:cxn>
                <a:cxn ang="0">
                  <a:pos x="16" y="3"/>
                </a:cxn>
                <a:cxn ang="0">
                  <a:pos x="21" y="9"/>
                </a:cxn>
                <a:cxn ang="0">
                  <a:pos x="28" y="20"/>
                </a:cxn>
                <a:cxn ang="0">
                  <a:pos x="37" y="35"/>
                </a:cxn>
                <a:cxn ang="0">
                  <a:pos x="47" y="53"/>
                </a:cxn>
                <a:cxn ang="0">
                  <a:pos x="56" y="73"/>
                </a:cxn>
                <a:cxn ang="0">
                  <a:pos x="63" y="95"/>
                </a:cxn>
                <a:cxn ang="0">
                  <a:pos x="68" y="119"/>
                </a:cxn>
                <a:cxn ang="0">
                  <a:pos x="68" y="136"/>
                </a:cxn>
                <a:cxn ang="0">
                  <a:pos x="0" y="181"/>
                </a:cxn>
              </a:cxnLst>
              <a:rect l="0" t="0" r="r" b="b"/>
              <a:pathLst>
                <a:path w="68" h="181">
                  <a:moveTo>
                    <a:pt x="0" y="181"/>
                  </a:moveTo>
                  <a:lnTo>
                    <a:pt x="13" y="0"/>
                  </a:lnTo>
                  <a:lnTo>
                    <a:pt x="16" y="3"/>
                  </a:lnTo>
                  <a:lnTo>
                    <a:pt x="21" y="9"/>
                  </a:lnTo>
                  <a:lnTo>
                    <a:pt x="28" y="20"/>
                  </a:lnTo>
                  <a:lnTo>
                    <a:pt x="37" y="35"/>
                  </a:lnTo>
                  <a:lnTo>
                    <a:pt x="47" y="53"/>
                  </a:lnTo>
                  <a:lnTo>
                    <a:pt x="56" y="73"/>
                  </a:lnTo>
                  <a:lnTo>
                    <a:pt x="63" y="95"/>
                  </a:lnTo>
                  <a:lnTo>
                    <a:pt x="68" y="119"/>
                  </a:lnTo>
                  <a:lnTo>
                    <a:pt x="68" y="136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Freeform 182"/>
            <p:cNvSpPr>
              <a:spLocks/>
            </p:cNvSpPr>
            <p:nvPr/>
          </p:nvSpPr>
          <p:spPr bwMode="auto">
            <a:xfrm>
              <a:off x="1261" y="1726"/>
              <a:ext cx="86" cy="135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72" y="0"/>
                </a:cxn>
                <a:cxn ang="0">
                  <a:pos x="75" y="3"/>
                </a:cxn>
                <a:cxn ang="0">
                  <a:pos x="81" y="16"/>
                </a:cxn>
                <a:cxn ang="0">
                  <a:pos x="86" y="35"/>
                </a:cxn>
                <a:cxn ang="0">
                  <a:pos x="86" y="58"/>
                </a:cxn>
                <a:cxn ang="0">
                  <a:pos x="3" y="135"/>
                </a:cxn>
                <a:cxn ang="0">
                  <a:pos x="0" y="41"/>
                </a:cxn>
              </a:cxnLst>
              <a:rect l="0" t="0" r="r" b="b"/>
              <a:pathLst>
                <a:path w="86" h="135">
                  <a:moveTo>
                    <a:pt x="0" y="41"/>
                  </a:moveTo>
                  <a:lnTo>
                    <a:pt x="72" y="0"/>
                  </a:lnTo>
                  <a:lnTo>
                    <a:pt x="75" y="3"/>
                  </a:lnTo>
                  <a:lnTo>
                    <a:pt x="81" y="16"/>
                  </a:lnTo>
                  <a:lnTo>
                    <a:pt x="86" y="35"/>
                  </a:lnTo>
                  <a:lnTo>
                    <a:pt x="86" y="58"/>
                  </a:lnTo>
                  <a:lnTo>
                    <a:pt x="3" y="1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7" name="Freeform 183"/>
            <p:cNvSpPr>
              <a:spLocks/>
            </p:cNvSpPr>
            <p:nvPr/>
          </p:nvSpPr>
          <p:spPr bwMode="auto">
            <a:xfrm>
              <a:off x="1261" y="1819"/>
              <a:ext cx="97" cy="285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0" y="285"/>
                </a:cxn>
                <a:cxn ang="0">
                  <a:pos x="2" y="283"/>
                </a:cxn>
                <a:cxn ang="0">
                  <a:pos x="7" y="276"/>
                </a:cxn>
                <a:cxn ang="0">
                  <a:pos x="15" y="266"/>
                </a:cxn>
                <a:cxn ang="0">
                  <a:pos x="25" y="253"/>
                </a:cxn>
                <a:cxn ang="0">
                  <a:pos x="36" y="236"/>
                </a:cxn>
                <a:cxn ang="0">
                  <a:pos x="47" y="218"/>
                </a:cxn>
                <a:cxn ang="0">
                  <a:pos x="57" y="196"/>
                </a:cxn>
                <a:cxn ang="0">
                  <a:pos x="66" y="174"/>
                </a:cxn>
                <a:cxn ang="0">
                  <a:pos x="71" y="154"/>
                </a:cxn>
                <a:cxn ang="0">
                  <a:pos x="82" y="105"/>
                </a:cxn>
                <a:cxn ang="0">
                  <a:pos x="92" y="48"/>
                </a:cxn>
                <a:cxn ang="0">
                  <a:pos x="97" y="0"/>
                </a:cxn>
                <a:cxn ang="0">
                  <a:pos x="0" y="77"/>
                </a:cxn>
              </a:cxnLst>
              <a:rect l="0" t="0" r="r" b="b"/>
              <a:pathLst>
                <a:path w="97" h="285">
                  <a:moveTo>
                    <a:pt x="0" y="77"/>
                  </a:moveTo>
                  <a:lnTo>
                    <a:pt x="0" y="285"/>
                  </a:lnTo>
                  <a:lnTo>
                    <a:pt x="2" y="283"/>
                  </a:lnTo>
                  <a:lnTo>
                    <a:pt x="7" y="276"/>
                  </a:lnTo>
                  <a:lnTo>
                    <a:pt x="15" y="266"/>
                  </a:lnTo>
                  <a:lnTo>
                    <a:pt x="25" y="253"/>
                  </a:lnTo>
                  <a:lnTo>
                    <a:pt x="36" y="236"/>
                  </a:lnTo>
                  <a:lnTo>
                    <a:pt x="47" y="218"/>
                  </a:lnTo>
                  <a:lnTo>
                    <a:pt x="57" y="196"/>
                  </a:lnTo>
                  <a:lnTo>
                    <a:pt x="66" y="174"/>
                  </a:lnTo>
                  <a:lnTo>
                    <a:pt x="71" y="154"/>
                  </a:lnTo>
                  <a:lnTo>
                    <a:pt x="82" y="105"/>
                  </a:lnTo>
                  <a:lnTo>
                    <a:pt x="92" y="48"/>
                  </a:lnTo>
                  <a:lnTo>
                    <a:pt x="97" y="0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8" name="Freeform 184"/>
            <p:cNvSpPr>
              <a:spLocks/>
            </p:cNvSpPr>
            <p:nvPr/>
          </p:nvSpPr>
          <p:spPr bwMode="auto">
            <a:xfrm>
              <a:off x="1427" y="1573"/>
              <a:ext cx="25" cy="125"/>
            </a:xfrm>
            <a:custGeom>
              <a:avLst/>
              <a:gdLst/>
              <a:ahLst/>
              <a:cxnLst>
                <a:cxn ang="0">
                  <a:pos x="0" y="125"/>
                </a:cxn>
                <a:cxn ang="0">
                  <a:pos x="0" y="28"/>
                </a:cxn>
                <a:cxn ang="0">
                  <a:pos x="7" y="0"/>
                </a:cxn>
                <a:cxn ang="0">
                  <a:pos x="25" y="69"/>
                </a:cxn>
                <a:cxn ang="0">
                  <a:pos x="0" y="125"/>
                </a:cxn>
              </a:cxnLst>
              <a:rect l="0" t="0" r="r" b="b"/>
              <a:pathLst>
                <a:path w="25" h="125">
                  <a:moveTo>
                    <a:pt x="0" y="125"/>
                  </a:moveTo>
                  <a:lnTo>
                    <a:pt x="0" y="28"/>
                  </a:lnTo>
                  <a:lnTo>
                    <a:pt x="7" y="0"/>
                  </a:lnTo>
                  <a:lnTo>
                    <a:pt x="25" y="69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9" name="Freeform 185"/>
            <p:cNvSpPr>
              <a:spLocks/>
            </p:cNvSpPr>
            <p:nvPr/>
          </p:nvSpPr>
          <p:spPr bwMode="auto">
            <a:xfrm>
              <a:off x="1466" y="1486"/>
              <a:ext cx="27" cy="135"/>
            </a:xfrm>
            <a:custGeom>
              <a:avLst/>
              <a:gdLst/>
              <a:ahLst/>
              <a:cxnLst>
                <a:cxn ang="0">
                  <a:pos x="3" y="135"/>
                </a:cxn>
                <a:cxn ang="0">
                  <a:pos x="0" y="25"/>
                </a:cxn>
                <a:cxn ang="0">
                  <a:pos x="17" y="0"/>
                </a:cxn>
                <a:cxn ang="0">
                  <a:pos x="27" y="90"/>
                </a:cxn>
                <a:cxn ang="0">
                  <a:pos x="3" y="135"/>
                </a:cxn>
              </a:cxnLst>
              <a:rect l="0" t="0" r="r" b="b"/>
              <a:pathLst>
                <a:path w="27" h="135">
                  <a:moveTo>
                    <a:pt x="3" y="135"/>
                  </a:moveTo>
                  <a:lnTo>
                    <a:pt x="0" y="25"/>
                  </a:lnTo>
                  <a:lnTo>
                    <a:pt x="17" y="0"/>
                  </a:lnTo>
                  <a:lnTo>
                    <a:pt x="27" y="90"/>
                  </a:lnTo>
                  <a:lnTo>
                    <a:pt x="3" y="13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0" name="Freeform 186"/>
            <p:cNvSpPr>
              <a:spLocks/>
            </p:cNvSpPr>
            <p:nvPr/>
          </p:nvSpPr>
          <p:spPr bwMode="auto">
            <a:xfrm>
              <a:off x="1503" y="1444"/>
              <a:ext cx="45" cy="100"/>
            </a:xfrm>
            <a:custGeom>
              <a:avLst/>
              <a:gdLst/>
              <a:ahLst/>
              <a:cxnLst>
                <a:cxn ang="0">
                  <a:pos x="14" y="100"/>
                </a:cxn>
                <a:cxn ang="0">
                  <a:pos x="0" y="18"/>
                </a:cxn>
                <a:cxn ang="0">
                  <a:pos x="3" y="15"/>
                </a:cxn>
                <a:cxn ang="0">
                  <a:pos x="8" y="10"/>
                </a:cxn>
                <a:cxn ang="0">
                  <a:pos x="15" y="4"/>
                </a:cxn>
                <a:cxn ang="0">
                  <a:pos x="25" y="0"/>
                </a:cxn>
                <a:cxn ang="0">
                  <a:pos x="45" y="69"/>
                </a:cxn>
                <a:cxn ang="0">
                  <a:pos x="14" y="100"/>
                </a:cxn>
              </a:cxnLst>
              <a:rect l="0" t="0" r="r" b="b"/>
              <a:pathLst>
                <a:path w="45" h="100">
                  <a:moveTo>
                    <a:pt x="14" y="100"/>
                  </a:moveTo>
                  <a:lnTo>
                    <a:pt x="0" y="18"/>
                  </a:lnTo>
                  <a:lnTo>
                    <a:pt x="3" y="15"/>
                  </a:lnTo>
                  <a:lnTo>
                    <a:pt x="8" y="10"/>
                  </a:lnTo>
                  <a:lnTo>
                    <a:pt x="15" y="4"/>
                  </a:lnTo>
                  <a:lnTo>
                    <a:pt x="25" y="0"/>
                  </a:lnTo>
                  <a:lnTo>
                    <a:pt x="45" y="69"/>
                  </a:lnTo>
                  <a:lnTo>
                    <a:pt x="14" y="10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1" name="Freeform 187"/>
            <p:cNvSpPr>
              <a:spLocks/>
            </p:cNvSpPr>
            <p:nvPr/>
          </p:nvSpPr>
          <p:spPr bwMode="auto">
            <a:xfrm>
              <a:off x="1563" y="1433"/>
              <a:ext cx="38" cy="46"/>
            </a:xfrm>
            <a:custGeom>
              <a:avLst/>
              <a:gdLst/>
              <a:ahLst/>
              <a:cxnLst>
                <a:cxn ang="0">
                  <a:pos x="3" y="46"/>
                </a:cxn>
                <a:cxn ang="0">
                  <a:pos x="0" y="8"/>
                </a:cxn>
                <a:cxn ang="0">
                  <a:pos x="38" y="0"/>
                </a:cxn>
                <a:cxn ang="0">
                  <a:pos x="3" y="46"/>
                </a:cxn>
              </a:cxnLst>
              <a:rect l="0" t="0" r="r" b="b"/>
              <a:pathLst>
                <a:path w="38" h="46">
                  <a:moveTo>
                    <a:pt x="3" y="46"/>
                  </a:moveTo>
                  <a:lnTo>
                    <a:pt x="0" y="8"/>
                  </a:lnTo>
                  <a:lnTo>
                    <a:pt x="38" y="0"/>
                  </a:lnTo>
                  <a:lnTo>
                    <a:pt x="3" y="4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2" name="Freeform 188"/>
            <p:cNvSpPr>
              <a:spLocks/>
            </p:cNvSpPr>
            <p:nvPr/>
          </p:nvSpPr>
          <p:spPr bwMode="auto">
            <a:xfrm>
              <a:off x="1458" y="1649"/>
              <a:ext cx="66" cy="55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21" y="7"/>
                </a:cxn>
                <a:cxn ang="0">
                  <a:pos x="66" y="0"/>
                </a:cxn>
                <a:cxn ang="0">
                  <a:pos x="66" y="3"/>
                </a:cxn>
                <a:cxn ang="0">
                  <a:pos x="66" y="8"/>
                </a:cxn>
                <a:cxn ang="0">
                  <a:pos x="65" y="15"/>
                </a:cxn>
                <a:cxn ang="0">
                  <a:pos x="61" y="24"/>
                </a:cxn>
                <a:cxn ang="0">
                  <a:pos x="54" y="34"/>
                </a:cxn>
                <a:cxn ang="0">
                  <a:pos x="41" y="43"/>
                </a:cxn>
                <a:cxn ang="0">
                  <a:pos x="24" y="50"/>
                </a:cxn>
                <a:cxn ang="0">
                  <a:pos x="0" y="55"/>
                </a:cxn>
              </a:cxnLst>
              <a:rect l="0" t="0" r="r" b="b"/>
              <a:pathLst>
                <a:path w="66" h="55">
                  <a:moveTo>
                    <a:pt x="0" y="55"/>
                  </a:moveTo>
                  <a:lnTo>
                    <a:pt x="21" y="7"/>
                  </a:lnTo>
                  <a:lnTo>
                    <a:pt x="66" y="0"/>
                  </a:lnTo>
                  <a:lnTo>
                    <a:pt x="66" y="3"/>
                  </a:lnTo>
                  <a:lnTo>
                    <a:pt x="66" y="8"/>
                  </a:lnTo>
                  <a:lnTo>
                    <a:pt x="65" y="15"/>
                  </a:lnTo>
                  <a:lnTo>
                    <a:pt x="61" y="24"/>
                  </a:lnTo>
                  <a:lnTo>
                    <a:pt x="54" y="34"/>
                  </a:lnTo>
                  <a:lnTo>
                    <a:pt x="41" y="43"/>
                  </a:lnTo>
                  <a:lnTo>
                    <a:pt x="24" y="5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3" name="Freeform 189"/>
            <p:cNvSpPr>
              <a:spLocks/>
            </p:cNvSpPr>
            <p:nvPr/>
          </p:nvSpPr>
          <p:spPr bwMode="auto">
            <a:xfrm>
              <a:off x="1501" y="1583"/>
              <a:ext cx="72" cy="41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27" y="0"/>
                </a:cxn>
                <a:cxn ang="0">
                  <a:pos x="72" y="6"/>
                </a:cxn>
                <a:cxn ang="0">
                  <a:pos x="71" y="9"/>
                </a:cxn>
                <a:cxn ang="0">
                  <a:pos x="68" y="14"/>
                </a:cxn>
                <a:cxn ang="0">
                  <a:pos x="63" y="21"/>
                </a:cxn>
                <a:cxn ang="0">
                  <a:pos x="57" y="29"/>
                </a:cxn>
                <a:cxn ang="0">
                  <a:pos x="47" y="35"/>
                </a:cxn>
                <a:cxn ang="0">
                  <a:pos x="35" y="40"/>
                </a:cxn>
                <a:cxn ang="0">
                  <a:pos x="18" y="41"/>
                </a:cxn>
                <a:cxn ang="0">
                  <a:pos x="0" y="38"/>
                </a:cxn>
              </a:cxnLst>
              <a:rect l="0" t="0" r="r" b="b"/>
              <a:pathLst>
                <a:path w="72" h="41">
                  <a:moveTo>
                    <a:pt x="0" y="38"/>
                  </a:moveTo>
                  <a:lnTo>
                    <a:pt x="27" y="0"/>
                  </a:lnTo>
                  <a:lnTo>
                    <a:pt x="72" y="6"/>
                  </a:lnTo>
                  <a:lnTo>
                    <a:pt x="71" y="9"/>
                  </a:lnTo>
                  <a:lnTo>
                    <a:pt x="68" y="14"/>
                  </a:lnTo>
                  <a:lnTo>
                    <a:pt x="63" y="21"/>
                  </a:lnTo>
                  <a:lnTo>
                    <a:pt x="57" y="29"/>
                  </a:lnTo>
                  <a:lnTo>
                    <a:pt x="47" y="35"/>
                  </a:lnTo>
                  <a:lnTo>
                    <a:pt x="35" y="40"/>
                  </a:lnTo>
                  <a:lnTo>
                    <a:pt x="18" y="41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" name="Freeform 190"/>
            <p:cNvSpPr>
              <a:spLocks/>
            </p:cNvSpPr>
            <p:nvPr/>
          </p:nvSpPr>
          <p:spPr bwMode="auto">
            <a:xfrm>
              <a:off x="1546" y="1524"/>
              <a:ext cx="45" cy="34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3" y="0"/>
                </a:cxn>
                <a:cxn ang="0">
                  <a:pos x="45" y="3"/>
                </a:cxn>
                <a:cxn ang="0">
                  <a:pos x="31" y="34"/>
                </a:cxn>
                <a:cxn ang="0">
                  <a:pos x="0" y="24"/>
                </a:cxn>
              </a:cxnLst>
              <a:rect l="0" t="0" r="r" b="b"/>
              <a:pathLst>
                <a:path w="45" h="34">
                  <a:moveTo>
                    <a:pt x="0" y="24"/>
                  </a:moveTo>
                  <a:lnTo>
                    <a:pt x="23" y="0"/>
                  </a:lnTo>
                  <a:lnTo>
                    <a:pt x="45" y="3"/>
                  </a:lnTo>
                  <a:lnTo>
                    <a:pt x="31" y="3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" name="Freeform 191"/>
            <p:cNvSpPr>
              <a:spLocks/>
            </p:cNvSpPr>
            <p:nvPr/>
          </p:nvSpPr>
          <p:spPr bwMode="auto">
            <a:xfrm>
              <a:off x="1591" y="1448"/>
              <a:ext cx="27" cy="38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27" y="0"/>
                </a:cxn>
                <a:cxn ang="0">
                  <a:pos x="17" y="38"/>
                </a:cxn>
                <a:cxn ang="0">
                  <a:pos x="0" y="31"/>
                </a:cxn>
              </a:cxnLst>
              <a:rect l="0" t="0" r="r" b="b"/>
              <a:pathLst>
                <a:path w="27" h="38">
                  <a:moveTo>
                    <a:pt x="0" y="31"/>
                  </a:moveTo>
                  <a:lnTo>
                    <a:pt x="27" y="0"/>
                  </a:lnTo>
                  <a:lnTo>
                    <a:pt x="17" y="38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6" name="Freeform 192"/>
            <p:cNvSpPr>
              <a:spLocks/>
            </p:cNvSpPr>
            <p:nvPr/>
          </p:nvSpPr>
          <p:spPr bwMode="auto">
            <a:xfrm>
              <a:off x="1323" y="1977"/>
              <a:ext cx="49" cy="75"/>
            </a:xfrm>
            <a:custGeom>
              <a:avLst/>
              <a:gdLst/>
              <a:ahLst/>
              <a:cxnLst>
                <a:cxn ang="0">
                  <a:pos x="0" y="75"/>
                </a:cxn>
                <a:cxn ang="0">
                  <a:pos x="1" y="73"/>
                </a:cxn>
                <a:cxn ang="0">
                  <a:pos x="5" y="70"/>
                </a:cxn>
                <a:cxn ang="0">
                  <a:pos x="9" y="63"/>
                </a:cxn>
                <a:cxn ang="0">
                  <a:pos x="15" y="55"/>
                </a:cxn>
                <a:cxn ang="0">
                  <a:pos x="21" y="45"/>
                </a:cxn>
                <a:cxn ang="0">
                  <a:pos x="28" y="33"/>
                </a:cxn>
                <a:cxn ang="0">
                  <a:pos x="33" y="21"/>
                </a:cxn>
                <a:cxn ang="0">
                  <a:pos x="38" y="8"/>
                </a:cxn>
                <a:cxn ang="0">
                  <a:pos x="44" y="0"/>
                </a:cxn>
                <a:cxn ang="0">
                  <a:pos x="48" y="15"/>
                </a:cxn>
                <a:cxn ang="0">
                  <a:pos x="49" y="36"/>
                </a:cxn>
                <a:cxn ang="0">
                  <a:pos x="49" y="47"/>
                </a:cxn>
                <a:cxn ang="0">
                  <a:pos x="49" y="47"/>
                </a:cxn>
                <a:cxn ang="0">
                  <a:pos x="48" y="48"/>
                </a:cxn>
                <a:cxn ang="0">
                  <a:pos x="44" y="51"/>
                </a:cxn>
                <a:cxn ang="0">
                  <a:pos x="40" y="55"/>
                </a:cxn>
                <a:cxn ang="0">
                  <a:pos x="34" y="58"/>
                </a:cxn>
                <a:cxn ang="0">
                  <a:pos x="25" y="63"/>
                </a:cxn>
                <a:cxn ang="0">
                  <a:pos x="14" y="68"/>
                </a:cxn>
                <a:cxn ang="0">
                  <a:pos x="0" y="75"/>
                </a:cxn>
              </a:cxnLst>
              <a:rect l="0" t="0" r="r" b="b"/>
              <a:pathLst>
                <a:path w="49" h="75">
                  <a:moveTo>
                    <a:pt x="0" y="75"/>
                  </a:moveTo>
                  <a:lnTo>
                    <a:pt x="1" y="73"/>
                  </a:lnTo>
                  <a:lnTo>
                    <a:pt x="5" y="70"/>
                  </a:lnTo>
                  <a:lnTo>
                    <a:pt x="9" y="63"/>
                  </a:lnTo>
                  <a:lnTo>
                    <a:pt x="15" y="55"/>
                  </a:lnTo>
                  <a:lnTo>
                    <a:pt x="21" y="45"/>
                  </a:lnTo>
                  <a:lnTo>
                    <a:pt x="28" y="33"/>
                  </a:lnTo>
                  <a:lnTo>
                    <a:pt x="33" y="21"/>
                  </a:lnTo>
                  <a:lnTo>
                    <a:pt x="38" y="8"/>
                  </a:lnTo>
                  <a:lnTo>
                    <a:pt x="44" y="0"/>
                  </a:lnTo>
                  <a:lnTo>
                    <a:pt x="48" y="15"/>
                  </a:lnTo>
                  <a:lnTo>
                    <a:pt x="49" y="36"/>
                  </a:lnTo>
                  <a:lnTo>
                    <a:pt x="49" y="47"/>
                  </a:lnTo>
                  <a:lnTo>
                    <a:pt x="49" y="47"/>
                  </a:lnTo>
                  <a:lnTo>
                    <a:pt x="48" y="48"/>
                  </a:lnTo>
                  <a:lnTo>
                    <a:pt x="44" y="51"/>
                  </a:lnTo>
                  <a:lnTo>
                    <a:pt x="40" y="55"/>
                  </a:lnTo>
                  <a:lnTo>
                    <a:pt x="34" y="58"/>
                  </a:lnTo>
                  <a:lnTo>
                    <a:pt x="25" y="63"/>
                  </a:lnTo>
                  <a:lnTo>
                    <a:pt x="14" y="68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7" name="Freeform 193"/>
            <p:cNvSpPr>
              <a:spLocks/>
            </p:cNvSpPr>
            <p:nvPr/>
          </p:nvSpPr>
          <p:spPr bwMode="auto">
            <a:xfrm>
              <a:off x="1292" y="2069"/>
              <a:ext cx="222" cy="71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59" y="0"/>
                </a:cxn>
                <a:cxn ang="0">
                  <a:pos x="222" y="28"/>
                </a:cxn>
                <a:cxn ang="0">
                  <a:pos x="220" y="29"/>
                </a:cxn>
                <a:cxn ang="0">
                  <a:pos x="215" y="33"/>
                </a:cxn>
                <a:cxn ang="0">
                  <a:pos x="205" y="38"/>
                </a:cxn>
                <a:cxn ang="0">
                  <a:pos x="191" y="44"/>
                </a:cxn>
                <a:cxn ang="0">
                  <a:pos x="174" y="51"/>
                </a:cxn>
                <a:cxn ang="0">
                  <a:pos x="152" y="58"/>
                </a:cxn>
                <a:cxn ang="0">
                  <a:pos x="129" y="64"/>
                </a:cxn>
                <a:cxn ang="0">
                  <a:pos x="100" y="69"/>
                </a:cxn>
                <a:cxn ang="0">
                  <a:pos x="97" y="69"/>
                </a:cxn>
                <a:cxn ang="0">
                  <a:pos x="90" y="70"/>
                </a:cxn>
                <a:cxn ang="0">
                  <a:pos x="79" y="71"/>
                </a:cxn>
                <a:cxn ang="0">
                  <a:pos x="65" y="71"/>
                </a:cxn>
                <a:cxn ang="0">
                  <a:pos x="50" y="71"/>
                </a:cxn>
                <a:cxn ang="0">
                  <a:pos x="32" y="69"/>
                </a:cxn>
                <a:cxn ang="0">
                  <a:pos x="16" y="65"/>
                </a:cxn>
                <a:cxn ang="0">
                  <a:pos x="0" y="59"/>
                </a:cxn>
              </a:cxnLst>
              <a:rect l="0" t="0" r="r" b="b"/>
              <a:pathLst>
                <a:path w="222" h="71">
                  <a:moveTo>
                    <a:pt x="0" y="59"/>
                  </a:moveTo>
                  <a:lnTo>
                    <a:pt x="59" y="0"/>
                  </a:lnTo>
                  <a:lnTo>
                    <a:pt x="222" y="28"/>
                  </a:lnTo>
                  <a:lnTo>
                    <a:pt x="220" y="29"/>
                  </a:lnTo>
                  <a:lnTo>
                    <a:pt x="215" y="33"/>
                  </a:lnTo>
                  <a:lnTo>
                    <a:pt x="205" y="38"/>
                  </a:lnTo>
                  <a:lnTo>
                    <a:pt x="191" y="44"/>
                  </a:lnTo>
                  <a:lnTo>
                    <a:pt x="174" y="51"/>
                  </a:lnTo>
                  <a:lnTo>
                    <a:pt x="152" y="58"/>
                  </a:lnTo>
                  <a:lnTo>
                    <a:pt x="129" y="64"/>
                  </a:lnTo>
                  <a:lnTo>
                    <a:pt x="100" y="69"/>
                  </a:lnTo>
                  <a:lnTo>
                    <a:pt x="97" y="69"/>
                  </a:lnTo>
                  <a:lnTo>
                    <a:pt x="90" y="70"/>
                  </a:lnTo>
                  <a:lnTo>
                    <a:pt x="79" y="71"/>
                  </a:lnTo>
                  <a:lnTo>
                    <a:pt x="65" y="71"/>
                  </a:lnTo>
                  <a:lnTo>
                    <a:pt x="50" y="71"/>
                  </a:lnTo>
                  <a:lnTo>
                    <a:pt x="32" y="69"/>
                  </a:lnTo>
                  <a:lnTo>
                    <a:pt x="16" y="65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8" name="Freeform 194"/>
            <p:cNvSpPr>
              <a:spLocks/>
            </p:cNvSpPr>
            <p:nvPr/>
          </p:nvSpPr>
          <p:spPr bwMode="auto">
            <a:xfrm>
              <a:off x="1403" y="1995"/>
              <a:ext cx="211" cy="80"/>
            </a:xfrm>
            <a:custGeom>
              <a:avLst/>
              <a:gdLst/>
              <a:ahLst/>
              <a:cxnLst>
                <a:cxn ang="0">
                  <a:pos x="0" y="47"/>
                </a:cxn>
                <a:cxn ang="0">
                  <a:pos x="63" y="0"/>
                </a:cxn>
                <a:cxn ang="0">
                  <a:pos x="211" y="29"/>
                </a:cxn>
                <a:cxn ang="0">
                  <a:pos x="145" y="80"/>
                </a:cxn>
                <a:cxn ang="0">
                  <a:pos x="0" y="47"/>
                </a:cxn>
              </a:cxnLst>
              <a:rect l="0" t="0" r="r" b="b"/>
              <a:pathLst>
                <a:path w="211" h="80">
                  <a:moveTo>
                    <a:pt x="0" y="47"/>
                  </a:moveTo>
                  <a:lnTo>
                    <a:pt x="63" y="0"/>
                  </a:lnTo>
                  <a:lnTo>
                    <a:pt x="211" y="29"/>
                  </a:lnTo>
                  <a:lnTo>
                    <a:pt x="145" y="8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9" name="Freeform 195"/>
            <p:cNvSpPr>
              <a:spLocks/>
            </p:cNvSpPr>
            <p:nvPr/>
          </p:nvSpPr>
          <p:spPr bwMode="auto">
            <a:xfrm>
              <a:off x="1386" y="1857"/>
              <a:ext cx="68" cy="142"/>
            </a:xfrm>
            <a:custGeom>
              <a:avLst/>
              <a:gdLst/>
              <a:ahLst/>
              <a:cxnLst>
                <a:cxn ang="0">
                  <a:pos x="13" y="142"/>
                </a:cxn>
                <a:cxn ang="0">
                  <a:pos x="0" y="66"/>
                </a:cxn>
                <a:cxn ang="0">
                  <a:pos x="1" y="65"/>
                </a:cxn>
                <a:cxn ang="0">
                  <a:pos x="6" y="60"/>
                </a:cxn>
                <a:cxn ang="0">
                  <a:pos x="13" y="52"/>
                </a:cxn>
                <a:cxn ang="0">
                  <a:pos x="22" y="42"/>
                </a:cxn>
                <a:cxn ang="0">
                  <a:pos x="31" y="32"/>
                </a:cxn>
                <a:cxn ang="0">
                  <a:pos x="42" y="21"/>
                </a:cxn>
                <a:cxn ang="0">
                  <a:pos x="52" y="10"/>
                </a:cxn>
                <a:cxn ang="0">
                  <a:pos x="62" y="0"/>
                </a:cxn>
                <a:cxn ang="0">
                  <a:pos x="68" y="107"/>
                </a:cxn>
                <a:cxn ang="0">
                  <a:pos x="13" y="142"/>
                </a:cxn>
              </a:cxnLst>
              <a:rect l="0" t="0" r="r" b="b"/>
              <a:pathLst>
                <a:path w="68" h="142">
                  <a:moveTo>
                    <a:pt x="13" y="142"/>
                  </a:moveTo>
                  <a:lnTo>
                    <a:pt x="0" y="66"/>
                  </a:lnTo>
                  <a:lnTo>
                    <a:pt x="1" y="65"/>
                  </a:lnTo>
                  <a:lnTo>
                    <a:pt x="6" y="60"/>
                  </a:lnTo>
                  <a:lnTo>
                    <a:pt x="13" y="52"/>
                  </a:lnTo>
                  <a:lnTo>
                    <a:pt x="22" y="42"/>
                  </a:lnTo>
                  <a:lnTo>
                    <a:pt x="31" y="32"/>
                  </a:lnTo>
                  <a:lnTo>
                    <a:pt x="42" y="21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8" y="107"/>
                  </a:lnTo>
                  <a:lnTo>
                    <a:pt x="13" y="1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0" name="Freeform 196"/>
            <p:cNvSpPr>
              <a:spLocks/>
            </p:cNvSpPr>
            <p:nvPr/>
          </p:nvSpPr>
          <p:spPr bwMode="auto">
            <a:xfrm>
              <a:off x="1483" y="1774"/>
              <a:ext cx="125" cy="163"/>
            </a:xfrm>
            <a:custGeom>
              <a:avLst/>
              <a:gdLst/>
              <a:ahLst/>
              <a:cxnLst>
                <a:cxn ang="0">
                  <a:pos x="0" y="163"/>
                </a:cxn>
                <a:cxn ang="0">
                  <a:pos x="3" y="52"/>
                </a:cxn>
                <a:cxn ang="0">
                  <a:pos x="4" y="50"/>
                </a:cxn>
                <a:cxn ang="0">
                  <a:pos x="6" y="47"/>
                </a:cxn>
                <a:cxn ang="0">
                  <a:pos x="10" y="42"/>
                </a:cxn>
                <a:cxn ang="0">
                  <a:pos x="18" y="35"/>
                </a:cxn>
                <a:cxn ang="0">
                  <a:pos x="28" y="29"/>
                </a:cxn>
                <a:cxn ang="0">
                  <a:pos x="40" y="22"/>
                </a:cxn>
                <a:cxn ang="0">
                  <a:pos x="56" y="14"/>
                </a:cxn>
                <a:cxn ang="0">
                  <a:pos x="76" y="7"/>
                </a:cxn>
                <a:cxn ang="0">
                  <a:pos x="125" y="0"/>
                </a:cxn>
                <a:cxn ang="0">
                  <a:pos x="90" y="90"/>
                </a:cxn>
                <a:cxn ang="0">
                  <a:pos x="0" y="163"/>
                </a:cxn>
              </a:cxnLst>
              <a:rect l="0" t="0" r="r" b="b"/>
              <a:pathLst>
                <a:path w="125" h="163">
                  <a:moveTo>
                    <a:pt x="0" y="163"/>
                  </a:moveTo>
                  <a:lnTo>
                    <a:pt x="3" y="52"/>
                  </a:lnTo>
                  <a:lnTo>
                    <a:pt x="4" y="50"/>
                  </a:lnTo>
                  <a:lnTo>
                    <a:pt x="6" y="47"/>
                  </a:lnTo>
                  <a:lnTo>
                    <a:pt x="10" y="42"/>
                  </a:lnTo>
                  <a:lnTo>
                    <a:pt x="18" y="35"/>
                  </a:lnTo>
                  <a:lnTo>
                    <a:pt x="28" y="29"/>
                  </a:lnTo>
                  <a:lnTo>
                    <a:pt x="40" y="22"/>
                  </a:lnTo>
                  <a:lnTo>
                    <a:pt x="56" y="14"/>
                  </a:lnTo>
                  <a:lnTo>
                    <a:pt x="76" y="7"/>
                  </a:lnTo>
                  <a:lnTo>
                    <a:pt x="125" y="0"/>
                  </a:lnTo>
                  <a:lnTo>
                    <a:pt x="90" y="90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1" name="Freeform 197"/>
            <p:cNvSpPr>
              <a:spLocks/>
            </p:cNvSpPr>
            <p:nvPr/>
          </p:nvSpPr>
          <p:spPr bwMode="auto">
            <a:xfrm>
              <a:off x="1501" y="1906"/>
              <a:ext cx="183" cy="93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72" y="0"/>
                </a:cxn>
                <a:cxn ang="0">
                  <a:pos x="183" y="13"/>
                </a:cxn>
                <a:cxn ang="0">
                  <a:pos x="182" y="16"/>
                </a:cxn>
                <a:cxn ang="0">
                  <a:pos x="178" y="22"/>
                </a:cxn>
                <a:cxn ang="0">
                  <a:pos x="172" y="32"/>
                </a:cxn>
                <a:cxn ang="0">
                  <a:pos x="165" y="45"/>
                </a:cxn>
                <a:cxn ang="0">
                  <a:pos x="156" y="57"/>
                </a:cxn>
                <a:cxn ang="0">
                  <a:pos x="146" y="71"/>
                </a:cxn>
                <a:cxn ang="0">
                  <a:pos x="137" y="83"/>
                </a:cxn>
                <a:cxn ang="0">
                  <a:pos x="127" y="93"/>
                </a:cxn>
                <a:cxn ang="0">
                  <a:pos x="0" y="58"/>
                </a:cxn>
              </a:cxnLst>
              <a:rect l="0" t="0" r="r" b="b"/>
              <a:pathLst>
                <a:path w="183" h="93">
                  <a:moveTo>
                    <a:pt x="0" y="58"/>
                  </a:moveTo>
                  <a:lnTo>
                    <a:pt x="72" y="0"/>
                  </a:lnTo>
                  <a:lnTo>
                    <a:pt x="183" y="13"/>
                  </a:lnTo>
                  <a:lnTo>
                    <a:pt x="182" y="16"/>
                  </a:lnTo>
                  <a:lnTo>
                    <a:pt x="178" y="22"/>
                  </a:lnTo>
                  <a:lnTo>
                    <a:pt x="172" y="32"/>
                  </a:lnTo>
                  <a:lnTo>
                    <a:pt x="165" y="45"/>
                  </a:lnTo>
                  <a:lnTo>
                    <a:pt x="156" y="57"/>
                  </a:lnTo>
                  <a:lnTo>
                    <a:pt x="146" y="71"/>
                  </a:lnTo>
                  <a:lnTo>
                    <a:pt x="137" y="83"/>
                  </a:lnTo>
                  <a:lnTo>
                    <a:pt x="127" y="93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2" name="Freeform 198"/>
            <p:cNvSpPr>
              <a:spLocks/>
            </p:cNvSpPr>
            <p:nvPr/>
          </p:nvSpPr>
          <p:spPr bwMode="auto">
            <a:xfrm>
              <a:off x="1618" y="1749"/>
              <a:ext cx="149" cy="137"/>
            </a:xfrm>
            <a:custGeom>
              <a:avLst/>
              <a:gdLst/>
              <a:ahLst/>
              <a:cxnLst>
                <a:cxn ang="0">
                  <a:pos x="0" y="122"/>
                </a:cxn>
                <a:cxn ang="0">
                  <a:pos x="149" y="0"/>
                </a:cxn>
                <a:cxn ang="0">
                  <a:pos x="146" y="5"/>
                </a:cxn>
                <a:cxn ang="0">
                  <a:pos x="140" y="19"/>
                </a:cxn>
                <a:cxn ang="0">
                  <a:pos x="131" y="39"/>
                </a:cxn>
                <a:cxn ang="0">
                  <a:pos x="121" y="62"/>
                </a:cxn>
                <a:cxn ang="0">
                  <a:pos x="110" y="85"/>
                </a:cxn>
                <a:cxn ang="0">
                  <a:pos x="100" y="108"/>
                </a:cxn>
                <a:cxn ang="0">
                  <a:pos x="90" y="125"/>
                </a:cxn>
                <a:cxn ang="0">
                  <a:pos x="84" y="137"/>
                </a:cxn>
                <a:cxn ang="0">
                  <a:pos x="0" y="122"/>
                </a:cxn>
              </a:cxnLst>
              <a:rect l="0" t="0" r="r" b="b"/>
              <a:pathLst>
                <a:path w="149" h="137">
                  <a:moveTo>
                    <a:pt x="0" y="122"/>
                  </a:moveTo>
                  <a:lnTo>
                    <a:pt x="149" y="0"/>
                  </a:lnTo>
                  <a:lnTo>
                    <a:pt x="146" y="5"/>
                  </a:lnTo>
                  <a:lnTo>
                    <a:pt x="140" y="19"/>
                  </a:lnTo>
                  <a:lnTo>
                    <a:pt x="131" y="39"/>
                  </a:lnTo>
                  <a:lnTo>
                    <a:pt x="121" y="62"/>
                  </a:lnTo>
                  <a:lnTo>
                    <a:pt x="110" y="85"/>
                  </a:lnTo>
                  <a:lnTo>
                    <a:pt x="100" y="108"/>
                  </a:lnTo>
                  <a:lnTo>
                    <a:pt x="90" y="125"/>
                  </a:lnTo>
                  <a:lnTo>
                    <a:pt x="84" y="13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3" name="Freeform 199"/>
            <p:cNvSpPr>
              <a:spLocks/>
            </p:cNvSpPr>
            <p:nvPr/>
          </p:nvSpPr>
          <p:spPr bwMode="auto">
            <a:xfrm>
              <a:off x="1626" y="1739"/>
              <a:ext cx="117" cy="94"/>
            </a:xfrm>
            <a:custGeom>
              <a:avLst/>
              <a:gdLst/>
              <a:ahLst/>
              <a:cxnLst>
                <a:cxn ang="0">
                  <a:pos x="0" y="94"/>
                </a:cxn>
                <a:cxn ang="0">
                  <a:pos x="20" y="14"/>
                </a:cxn>
                <a:cxn ang="0">
                  <a:pos x="117" y="0"/>
                </a:cxn>
                <a:cxn ang="0">
                  <a:pos x="0" y="94"/>
                </a:cxn>
              </a:cxnLst>
              <a:rect l="0" t="0" r="r" b="b"/>
              <a:pathLst>
                <a:path w="117" h="94">
                  <a:moveTo>
                    <a:pt x="0" y="94"/>
                  </a:moveTo>
                  <a:lnTo>
                    <a:pt x="20" y="14"/>
                  </a:lnTo>
                  <a:lnTo>
                    <a:pt x="117" y="0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4" name="Freeform 200"/>
            <p:cNvSpPr>
              <a:spLocks/>
            </p:cNvSpPr>
            <p:nvPr/>
          </p:nvSpPr>
          <p:spPr bwMode="auto">
            <a:xfrm>
              <a:off x="1556" y="1951"/>
              <a:ext cx="517" cy="622"/>
            </a:xfrm>
            <a:custGeom>
              <a:avLst/>
              <a:gdLst/>
              <a:ahLst/>
              <a:cxnLst>
                <a:cxn ang="0">
                  <a:pos x="0" y="353"/>
                </a:cxn>
                <a:cxn ang="0">
                  <a:pos x="8" y="273"/>
                </a:cxn>
                <a:cxn ang="0">
                  <a:pos x="26" y="226"/>
                </a:cxn>
                <a:cxn ang="0">
                  <a:pos x="40" y="201"/>
                </a:cxn>
                <a:cxn ang="0">
                  <a:pos x="63" y="163"/>
                </a:cxn>
                <a:cxn ang="0">
                  <a:pos x="95" y="126"/>
                </a:cxn>
                <a:cxn ang="0">
                  <a:pos x="116" y="107"/>
                </a:cxn>
                <a:cxn ang="0">
                  <a:pos x="151" y="79"/>
                </a:cxn>
                <a:cxn ang="0">
                  <a:pos x="205" y="42"/>
                </a:cxn>
                <a:cxn ang="0">
                  <a:pos x="263" y="11"/>
                </a:cxn>
                <a:cxn ang="0">
                  <a:pos x="293" y="3"/>
                </a:cxn>
                <a:cxn ang="0">
                  <a:pos x="323" y="2"/>
                </a:cxn>
                <a:cxn ang="0">
                  <a:pos x="368" y="1"/>
                </a:cxn>
                <a:cxn ang="0">
                  <a:pos x="410" y="0"/>
                </a:cxn>
                <a:cxn ang="0">
                  <a:pos x="425" y="6"/>
                </a:cxn>
                <a:cxn ang="0">
                  <a:pos x="418" y="52"/>
                </a:cxn>
                <a:cxn ang="0">
                  <a:pos x="400" y="98"/>
                </a:cxn>
                <a:cxn ang="0">
                  <a:pos x="381" y="133"/>
                </a:cxn>
                <a:cxn ang="0">
                  <a:pos x="347" y="186"/>
                </a:cxn>
                <a:cxn ang="0">
                  <a:pos x="302" y="239"/>
                </a:cxn>
                <a:cxn ang="0">
                  <a:pos x="273" y="263"/>
                </a:cxn>
                <a:cxn ang="0">
                  <a:pos x="245" y="281"/>
                </a:cxn>
                <a:cxn ang="0">
                  <a:pos x="203" y="307"/>
                </a:cxn>
                <a:cxn ang="0">
                  <a:pos x="163" y="329"/>
                </a:cxn>
                <a:cxn ang="0">
                  <a:pos x="288" y="386"/>
                </a:cxn>
                <a:cxn ang="0">
                  <a:pos x="303" y="389"/>
                </a:cxn>
                <a:cxn ang="0">
                  <a:pos x="340" y="402"/>
                </a:cxn>
                <a:cxn ang="0">
                  <a:pos x="383" y="419"/>
                </a:cxn>
                <a:cxn ang="0">
                  <a:pos x="420" y="441"/>
                </a:cxn>
                <a:cxn ang="0">
                  <a:pos x="430" y="452"/>
                </a:cxn>
                <a:cxn ang="0">
                  <a:pos x="456" y="483"/>
                </a:cxn>
                <a:cxn ang="0">
                  <a:pos x="487" y="532"/>
                </a:cxn>
                <a:cxn ang="0">
                  <a:pos x="517" y="593"/>
                </a:cxn>
                <a:cxn ang="0">
                  <a:pos x="503" y="598"/>
                </a:cxn>
                <a:cxn ang="0">
                  <a:pos x="466" y="609"/>
                </a:cxn>
                <a:cxn ang="0">
                  <a:pos x="412" y="620"/>
                </a:cxn>
                <a:cxn ang="0">
                  <a:pos x="353" y="622"/>
                </a:cxn>
                <a:cxn ang="0">
                  <a:pos x="333" y="618"/>
                </a:cxn>
                <a:cxn ang="0">
                  <a:pos x="285" y="604"/>
                </a:cxn>
                <a:cxn ang="0">
                  <a:pos x="225" y="581"/>
                </a:cxn>
                <a:cxn ang="0">
                  <a:pos x="173" y="544"/>
                </a:cxn>
                <a:cxn ang="0">
                  <a:pos x="162" y="536"/>
                </a:cxn>
                <a:cxn ang="0">
                  <a:pos x="133" y="511"/>
                </a:cxn>
                <a:cxn ang="0">
                  <a:pos x="100" y="474"/>
                </a:cxn>
                <a:cxn ang="0">
                  <a:pos x="70" y="431"/>
                </a:cxn>
                <a:cxn ang="0">
                  <a:pos x="55" y="412"/>
                </a:cxn>
                <a:cxn ang="0">
                  <a:pos x="38" y="372"/>
                </a:cxn>
              </a:cxnLst>
              <a:rect l="0" t="0" r="r" b="b"/>
              <a:pathLst>
                <a:path w="517" h="622">
                  <a:moveTo>
                    <a:pt x="0" y="368"/>
                  </a:moveTo>
                  <a:lnTo>
                    <a:pt x="0" y="353"/>
                  </a:lnTo>
                  <a:lnTo>
                    <a:pt x="1" y="318"/>
                  </a:lnTo>
                  <a:lnTo>
                    <a:pt x="8" y="273"/>
                  </a:lnTo>
                  <a:lnTo>
                    <a:pt x="23" y="229"/>
                  </a:lnTo>
                  <a:lnTo>
                    <a:pt x="26" y="226"/>
                  </a:lnTo>
                  <a:lnTo>
                    <a:pt x="31" y="216"/>
                  </a:lnTo>
                  <a:lnTo>
                    <a:pt x="40" y="201"/>
                  </a:lnTo>
                  <a:lnTo>
                    <a:pt x="51" y="183"/>
                  </a:lnTo>
                  <a:lnTo>
                    <a:pt x="63" y="163"/>
                  </a:lnTo>
                  <a:lnTo>
                    <a:pt x="78" y="144"/>
                  </a:lnTo>
                  <a:lnTo>
                    <a:pt x="95" y="126"/>
                  </a:lnTo>
                  <a:lnTo>
                    <a:pt x="111" y="111"/>
                  </a:lnTo>
                  <a:lnTo>
                    <a:pt x="116" y="107"/>
                  </a:lnTo>
                  <a:lnTo>
                    <a:pt x="130" y="96"/>
                  </a:lnTo>
                  <a:lnTo>
                    <a:pt x="151" y="79"/>
                  </a:lnTo>
                  <a:lnTo>
                    <a:pt x="176" y="61"/>
                  </a:lnTo>
                  <a:lnTo>
                    <a:pt x="205" y="42"/>
                  </a:lnTo>
                  <a:lnTo>
                    <a:pt x="235" y="24"/>
                  </a:lnTo>
                  <a:lnTo>
                    <a:pt x="263" y="11"/>
                  </a:lnTo>
                  <a:lnTo>
                    <a:pt x="288" y="3"/>
                  </a:lnTo>
                  <a:lnTo>
                    <a:pt x="293" y="3"/>
                  </a:lnTo>
                  <a:lnTo>
                    <a:pt x="306" y="3"/>
                  </a:lnTo>
                  <a:lnTo>
                    <a:pt x="323" y="2"/>
                  </a:lnTo>
                  <a:lnTo>
                    <a:pt x="346" y="1"/>
                  </a:lnTo>
                  <a:lnTo>
                    <a:pt x="368" y="1"/>
                  </a:lnTo>
                  <a:lnTo>
                    <a:pt x="391" y="0"/>
                  </a:lnTo>
                  <a:lnTo>
                    <a:pt x="410" y="0"/>
                  </a:lnTo>
                  <a:lnTo>
                    <a:pt x="423" y="0"/>
                  </a:lnTo>
                  <a:lnTo>
                    <a:pt x="425" y="6"/>
                  </a:lnTo>
                  <a:lnTo>
                    <a:pt x="425" y="23"/>
                  </a:lnTo>
                  <a:lnTo>
                    <a:pt x="418" y="52"/>
                  </a:lnTo>
                  <a:lnTo>
                    <a:pt x="402" y="93"/>
                  </a:lnTo>
                  <a:lnTo>
                    <a:pt x="400" y="98"/>
                  </a:lnTo>
                  <a:lnTo>
                    <a:pt x="392" y="112"/>
                  </a:lnTo>
                  <a:lnTo>
                    <a:pt x="381" y="133"/>
                  </a:lnTo>
                  <a:lnTo>
                    <a:pt x="366" y="158"/>
                  </a:lnTo>
                  <a:lnTo>
                    <a:pt x="347" y="186"/>
                  </a:lnTo>
                  <a:lnTo>
                    <a:pt x="326" y="214"/>
                  </a:lnTo>
                  <a:lnTo>
                    <a:pt x="302" y="239"/>
                  </a:lnTo>
                  <a:lnTo>
                    <a:pt x="277" y="261"/>
                  </a:lnTo>
                  <a:lnTo>
                    <a:pt x="273" y="263"/>
                  </a:lnTo>
                  <a:lnTo>
                    <a:pt x="261" y="271"/>
                  </a:lnTo>
                  <a:lnTo>
                    <a:pt x="245" y="281"/>
                  </a:lnTo>
                  <a:lnTo>
                    <a:pt x="225" y="293"/>
                  </a:lnTo>
                  <a:lnTo>
                    <a:pt x="203" y="307"/>
                  </a:lnTo>
                  <a:lnTo>
                    <a:pt x="182" y="319"/>
                  </a:lnTo>
                  <a:lnTo>
                    <a:pt x="163" y="329"/>
                  </a:lnTo>
                  <a:lnTo>
                    <a:pt x="148" y="337"/>
                  </a:lnTo>
                  <a:lnTo>
                    <a:pt x="288" y="386"/>
                  </a:lnTo>
                  <a:lnTo>
                    <a:pt x="292" y="387"/>
                  </a:lnTo>
                  <a:lnTo>
                    <a:pt x="303" y="389"/>
                  </a:lnTo>
                  <a:lnTo>
                    <a:pt x="320" y="394"/>
                  </a:lnTo>
                  <a:lnTo>
                    <a:pt x="340" y="402"/>
                  </a:lnTo>
                  <a:lnTo>
                    <a:pt x="362" y="409"/>
                  </a:lnTo>
                  <a:lnTo>
                    <a:pt x="383" y="419"/>
                  </a:lnTo>
                  <a:lnTo>
                    <a:pt x="403" y="429"/>
                  </a:lnTo>
                  <a:lnTo>
                    <a:pt x="420" y="441"/>
                  </a:lnTo>
                  <a:lnTo>
                    <a:pt x="422" y="443"/>
                  </a:lnTo>
                  <a:lnTo>
                    <a:pt x="430" y="452"/>
                  </a:lnTo>
                  <a:lnTo>
                    <a:pt x="441" y="466"/>
                  </a:lnTo>
                  <a:lnTo>
                    <a:pt x="456" y="483"/>
                  </a:lnTo>
                  <a:lnTo>
                    <a:pt x="471" y="506"/>
                  </a:lnTo>
                  <a:lnTo>
                    <a:pt x="487" y="532"/>
                  </a:lnTo>
                  <a:lnTo>
                    <a:pt x="503" y="561"/>
                  </a:lnTo>
                  <a:lnTo>
                    <a:pt x="517" y="593"/>
                  </a:lnTo>
                  <a:lnTo>
                    <a:pt x="513" y="594"/>
                  </a:lnTo>
                  <a:lnTo>
                    <a:pt x="503" y="598"/>
                  </a:lnTo>
                  <a:lnTo>
                    <a:pt x="486" y="604"/>
                  </a:lnTo>
                  <a:lnTo>
                    <a:pt x="466" y="609"/>
                  </a:lnTo>
                  <a:lnTo>
                    <a:pt x="441" y="615"/>
                  </a:lnTo>
                  <a:lnTo>
                    <a:pt x="412" y="620"/>
                  </a:lnTo>
                  <a:lnTo>
                    <a:pt x="383" y="622"/>
                  </a:lnTo>
                  <a:lnTo>
                    <a:pt x="353" y="622"/>
                  </a:lnTo>
                  <a:lnTo>
                    <a:pt x="348" y="620"/>
                  </a:lnTo>
                  <a:lnTo>
                    <a:pt x="333" y="618"/>
                  </a:lnTo>
                  <a:lnTo>
                    <a:pt x="311" y="612"/>
                  </a:lnTo>
                  <a:lnTo>
                    <a:pt x="285" y="604"/>
                  </a:lnTo>
                  <a:lnTo>
                    <a:pt x="255" y="593"/>
                  </a:lnTo>
                  <a:lnTo>
                    <a:pt x="225" y="581"/>
                  </a:lnTo>
                  <a:lnTo>
                    <a:pt x="197" y="564"/>
                  </a:lnTo>
                  <a:lnTo>
                    <a:pt x="173" y="544"/>
                  </a:lnTo>
                  <a:lnTo>
                    <a:pt x="170" y="542"/>
                  </a:lnTo>
                  <a:lnTo>
                    <a:pt x="162" y="536"/>
                  </a:lnTo>
                  <a:lnTo>
                    <a:pt x="148" y="524"/>
                  </a:lnTo>
                  <a:lnTo>
                    <a:pt x="133" y="511"/>
                  </a:lnTo>
                  <a:lnTo>
                    <a:pt x="116" y="494"/>
                  </a:lnTo>
                  <a:lnTo>
                    <a:pt x="100" y="474"/>
                  </a:lnTo>
                  <a:lnTo>
                    <a:pt x="83" y="453"/>
                  </a:lnTo>
                  <a:lnTo>
                    <a:pt x="70" y="431"/>
                  </a:lnTo>
                  <a:lnTo>
                    <a:pt x="65" y="426"/>
                  </a:lnTo>
                  <a:lnTo>
                    <a:pt x="55" y="412"/>
                  </a:lnTo>
                  <a:lnTo>
                    <a:pt x="45" y="393"/>
                  </a:lnTo>
                  <a:lnTo>
                    <a:pt x="38" y="372"/>
                  </a:lnTo>
                  <a:lnTo>
                    <a:pt x="0" y="36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5" name="Freeform 201"/>
            <p:cNvSpPr>
              <a:spLocks/>
            </p:cNvSpPr>
            <p:nvPr/>
          </p:nvSpPr>
          <p:spPr bwMode="auto">
            <a:xfrm>
              <a:off x="1788" y="2152"/>
              <a:ext cx="445" cy="198"/>
            </a:xfrm>
            <a:custGeom>
              <a:avLst/>
              <a:gdLst/>
              <a:ahLst/>
              <a:cxnLst>
                <a:cxn ang="0">
                  <a:pos x="28" y="111"/>
                </a:cxn>
                <a:cxn ang="0">
                  <a:pos x="35" y="102"/>
                </a:cxn>
                <a:cxn ang="0">
                  <a:pos x="55" y="82"/>
                </a:cxn>
                <a:cxn ang="0">
                  <a:pos x="89" y="56"/>
                </a:cxn>
                <a:cxn ang="0">
                  <a:pos x="135" y="31"/>
                </a:cxn>
                <a:cxn ang="0">
                  <a:pos x="149" y="25"/>
                </a:cxn>
                <a:cxn ang="0">
                  <a:pos x="184" y="13"/>
                </a:cxn>
                <a:cxn ang="0">
                  <a:pos x="230" y="2"/>
                </a:cxn>
                <a:cxn ang="0">
                  <a:pos x="275" y="0"/>
                </a:cxn>
                <a:cxn ang="0">
                  <a:pos x="289" y="1"/>
                </a:cxn>
                <a:cxn ang="0">
                  <a:pos x="324" y="8"/>
                </a:cxn>
                <a:cxn ang="0">
                  <a:pos x="365" y="25"/>
                </a:cxn>
                <a:cxn ang="0">
                  <a:pos x="403" y="56"/>
                </a:cxn>
                <a:cxn ang="0">
                  <a:pos x="444" y="116"/>
                </a:cxn>
                <a:cxn ang="0">
                  <a:pos x="433" y="127"/>
                </a:cxn>
                <a:cxn ang="0">
                  <a:pos x="413" y="143"/>
                </a:cxn>
                <a:cxn ang="0">
                  <a:pos x="381" y="162"/>
                </a:cxn>
                <a:cxn ang="0">
                  <a:pos x="358" y="172"/>
                </a:cxn>
                <a:cxn ang="0">
                  <a:pos x="331" y="180"/>
                </a:cxn>
                <a:cxn ang="0">
                  <a:pos x="291" y="190"/>
                </a:cxn>
                <a:cxn ang="0">
                  <a:pos x="248" y="197"/>
                </a:cxn>
                <a:cxn ang="0">
                  <a:pos x="225" y="198"/>
                </a:cxn>
                <a:cxn ang="0">
                  <a:pos x="200" y="196"/>
                </a:cxn>
                <a:cxn ang="0">
                  <a:pos x="160" y="187"/>
                </a:cxn>
                <a:cxn ang="0">
                  <a:pos x="111" y="171"/>
                </a:cxn>
                <a:cxn ang="0">
                  <a:pos x="86" y="158"/>
                </a:cxn>
                <a:cxn ang="0">
                  <a:pos x="81" y="155"/>
                </a:cxn>
                <a:cxn ang="0">
                  <a:pos x="70" y="146"/>
                </a:cxn>
                <a:cxn ang="0">
                  <a:pos x="56" y="135"/>
                </a:cxn>
                <a:cxn ang="0">
                  <a:pos x="46" y="127"/>
                </a:cxn>
                <a:cxn ang="0">
                  <a:pos x="29" y="128"/>
                </a:cxn>
                <a:cxn ang="0">
                  <a:pos x="0" y="128"/>
                </a:cxn>
              </a:cxnLst>
              <a:rect l="0" t="0" r="r" b="b"/>
              <a:pathLst>
                <a:path w="445" h="198">
                  <a:moveTo>
                    <a:pt x="0" y="128"/>
                  </a:moveTo>
                  <a:lnTo>
                    <a:pt x="28" y="111"/>
                  </a:lnTo>
                  <a:lnTo>
                    <a:pt x="29" y="108"/>
                  </a:lnTo>
                  <a:lnTo>
                    <a:pt x="35" y="102"/>
                  </a:lnTo>
                  <a:lnTo>
                    <a:pt x="44" y="93"/>
                  </a:lnTo>
                  <a:lnTo>
                    <a:pt x="55" y="82"/>
                  </a:lnTo>
                  <a:lnTo>
                    <a:pt x="71" y="68"/>
                  </a:lnTo>
                  <a:lnTo>
                    <a:pt x="89" y="56"/>
                  </a:lnTo>
                  <a:lnTo>
                    <a:pt x="111" y="42"/>
                  </a:lnTo>
                  <a:lnTo>
                    <a:pt x="135" y="31"/>
                  </a:lnTo>
                  <a:lnTo>
                    <a:pt x="139" y="30"/>
                  </a:lnTo>
                  <a:lnTo>
                    <a:pt x="149" y="25"/>
                  </a:lnTo>
                  <a:lnTo>
                    <a:pt x="165" y="20"/>
                  </a:lnTo>
                  <a:lnTo>
                    <a:pt x="184" y="13"/>
                  </a:lnTo>
                  <a:lnTo>
                    <a:pt x="206" y="7"/>
                  </a:lnTo>
                  <a:lnTo>
                    <a:pt x="230" y="2"/>
                  </a:lnTo>
                  <a:lnTo>
                    <a:pt x="253" y="0"/>
                  </a:lnTo>
                  <a:lnTo>
                    <a:pt x="275" y="0"/>
                  </a:lnTo>
                  <a:lnTo>
                    <a:pt x="279" y="0"/>
                  </a:lnTo>
                  <a:lnTo>
                    <a:pt x="289" y="1"/>
                  </a:lnTo>
                  <a:lnTo>
                    <a:pt x="305" y="3"/>
                  </a:lnTo>
                  <a:lnTo>
                    <a:pt x="324" y="8"/>
                  </a:lnTo>
                  <a:lnTo>
                    <a:pt x="344" y="15"/>
                  </a:lnTo>
                  <a:lnTo>
                    <a:pt x="365" y="25"/>
                  </a:lnTo>
                  <a:lnTo>
                    <a:pt x="385" y="38"/>
                  </a:lnTo>
                  <a:lnTo>
                    <a:pt x="403" y="56"/>
                  </a:lnTo>
                  <a:lnTo>
                    <a:pt x="445" y="115"/>
                  </a:lnTo>
                  <a:lnTo>
                    <a:pt x="444" y="116"/>
                  </a:lnTo>
                  <a:lnTo>
                    <a:pt x="440" y="121"/>
                  </a:lnTo>
                  <a:lnTo>
                    <a:pt x="433" y="127"/>
                  </a:lnTo>
                  <a:lnTo>
                    <a:pt x="424" y="135"/>
                  </a:lnTo>
                  <a:lnTo>
                    <a:pt x="413" y="143"/>
                  </a:lnTo>
                  <a:lnTo>
                    <a:pt x="398" y="153"/>
                  </a:lnTo>
                  <a:lnTo>
                    <a:pt x="381" y="162"/>
                  </a:lnTo>
                  <a:lnTo>
                    <a:pt x="361" y="171"/>
                  </a:lnTo>
                  <a:lnTo>
                    <a:pt x="358" y="172"/>
                  </a:lnTo>
                  <a:lnTo>
                    <a:pt x="348" y="175"/>
                  </a:lnTo>
                  <a:lnTo>
                    <a:pt x="331" y="180"/>
                  </a:lnTo>
                  <a:lnTo>
                    <a:pt x="313" y="185"/>
                  </a:lnTo>
                  <a:lnTo>
                    <a:pt x="291" y="190"/>
                  </a:lnTo>
                  <a:lnTo>
                    <a:pt x="269" y="195"/>
                  </a:lnTo>
                  <a:lnTo>
                    <a:pt x="248" y="197"/>
                  </a:lnTo>
                  <a:lnTo>
                    <a:pt x="229" y="198"/>
                  </a:lnTo>
                  <a:lnTo>
                    <a:pt x="225" y="198"/>
                  </a:lnTo>
                  <a:lnTo>
                    <a:pt x="215" y="197"/>
                  </a:lnTo>
                  <a:lnTo>
                    <a:pt x="200" y="196"/>
                  </a:lnTo>
                  <a:lnTo>
                    <a:pt x="181" y="192"/>
                  </a:lnTo>
                  <a:lnTo>
                    <a:pt x="160" y="187"/>
                  </a:lnTo>
                  <a:lnTo>
                    <a:pt x="136" y="181"/>
                  </a:lnTo>
                  <a:lnTo>
                    <a:pt x="111" y="171"/>
                  </a:lnTo>
                  <a:lnTo>
                    <a:pt x="88" y="160"/>
                  </a:lnTo>
                  <a:lnTo>
                    <a:pt x="86" y="158"/>
                  </a:lnTo>
                  <a:lnTo>
                    <a:pt x="85" y="157"/>
                  </a:lnTo>
                  <a:lnTo>
                    <a:pt x="81" y="155"/>
                  </a:lnTo>
                  <a:lnTo>
                    <a:pt x="76" y="151"/>
                  </a:lnTo>
                  <a:lnTo>
                    <a:pt x="70" y="146"/>
                  </a:lnTo>
                  <a:lnTo>
                    <a:pt x="64" y="141"/>
                  </a:lnTo>
                  <a:lnTo>
                    <a:pt x="56" y="135"/>
                  </a:lnTo>
                  <a:lnTo>
                    <a:pt x="49" y="128"/>
                  </a:lnTo>
                  <a:lnTo>
                    <a:pt x="46" y="127"/>
                  </a:lnTo>
                  <a:lnTo>
                    <a:pt x="39" y="126"/>
                  </a:lnTo>
                  <a:lnTo>
                    <a:pt x="29" y="128"/>
                  </a:lnTo>
                  <a:lnTo>
                    <a:pt x="14" y="140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6" name="Freeform 202"/>
            <p:cNvSpPr>
              <a:spLocks/>
            </p:cNvSpPr>
            <p:nvPr/>
          </p:nvSpPr>
          <p:spPr bwMode="auto">
            <a:xfrm>
              <a:off x="1583" y="2114"/>
              <a:ext cx="70" cy="160"/>
            </a:xfrm>
            <a:custGeom>
              <a:avLst/>
              <a:gdLst/>
              <a:ahLst/>
              <a:cxnLst>
                <a:cxn ang="0">
                  <a:pos x="0" y="160"/>
                </a:cxn>
                <a:cxn ang="0">
                  <a:pos x="70" y="80"/>
                </a:cxn>
                <a:cxn ang="0">
                  <a:pos x="70" y="0"/>
                </a:cxn>
                <a:cxn ang="0">
                  <a:pos x="69" y="3"/>
                </a:cxn>
                <a:cxn ang="0">
                  <a:pos x="64" y="9"/>
                </a:cxn>
                <a:cxn ang="0">
                  <a:pos x="58" y="18"/>
                </a:cxn>
                <a:cxn ang="0">
                  <a:pos x="50" y="29"/>
                </a:cxn>
                <a:cxn ang="0">
                  <a:pos x="41" y="41"/>
                </a:cxn>
                <a:cxn ang="0">
                  <a:pos x="33" y="56"/>
                </a:cxn>
                <a:cxn ang="0">
                  <a:pos x="25" y="70"/>
                </a:cxn>
                <a:cxn ang="0">
                  <a:pos x="18" y="84"/>
                </a:cxn>
                <a:cxn ang="0">
                  <a:pos x="0" y="160"/>
                </a:cxn>
              </a:cxnLst>
              <a:rect l="0" t="0" r="r" b="b"/>
              <a:pathLst>
                <a:path w="70" h="160">
                  <a:moveTo>
                    <a:pt x="0" y="160"/>
                  </a:moveTo>
                  <a:lnTo>
                    <a:pt x="70" y="80"/>
                  </a:lnTo>
                  <a:lnTo>
                    <a:pt x="70" y="0"/>
                  </a:lnTo>
                  <a:lnTo>
                    <a:pt x="69" y="3"/>
                  </a:lnTo>
                  <a:lnTo>
                    <a:pt x="64" y="9"/>
                  </a:lnTo>
                  <a:lnTo>
                    <a:pt x="58" y="18"/>
                  </a:lnTo>
                  <a:lnTo>
                    <a:pt x="50" y="29"/>
                  </a:lnTo>
                  <a:lnTo>
                    <a:pt x="41" y="41"/>
                  </a:lnTo>
                  <a:lnTo>
                    <a:pt x="33" y="56"/>
                  </a:lnTo>
                  <a:lnTo>
                    <a:pt x="25" y="70"/>
                  </a:lnTo>
                  <a:lnTo>
                    <a:pt x="18" y="84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7" name="Freeform 203"/>
            <p:cNvSpPr>
              <a:spLocks/>
            </p:cNvSpPr>
            <p:nvPr/>
          </p:nvSpPr>
          <p:spPr bwMode="auto">
            <a:xfrm>
              <a:off x="1677" y="2020"/>
              <a:ext cx="97" cy="143"/>
            </a:xfrm>
            <a:custGeom>
              <a:avLst/>
              <a:gdLst/>
              <a:ahLst/>
              <a:cxnLst>
                <a:cxn ang="0">
                  <a:pos x="4" y="143"/>
                </a:cxn>
                <a:cxn ang="0">
                  <a:pos x="0" y="67"/>
                </a:cxn>
                <a:cxn ang="0">
                  <a:pos x="1" y="65"/>
                </a:cxn>
                <a:cxn ang="0">
                  <a:pos x="4" y="60"/>
                </a:cxn>
                <a:cxn ang="0">
                  <a:pos x="9" y="55"/>
                </a:cxn>
                <a:cxn ang="0">
                  <a:pos x="14" y="48"/>
                </a:cxn>
                <a:cxn ang="0">
                  <a:pos x="21" y="39"/>
                </a:cxn>
                <a:cxn ang="0">
                  <a:pos x="30" y="32"/>
                </a:cxn>
                <a:cxn ang="0">
                  <a:pos x="39" y="24"/>
                </a:cxn>
                <a:cxn ang="0">
                  <a:pos x="49" y="18"/>
                </a:cxn>
                <a:cxn ang="0">
                  <a:pos x="97" y="0"/>
                </a:cxn>
                <a:cxn ang="0">
                  <a:pos x="94" y="42"/>
                </a:cxn>
                <a:cxn ang="0">
                  <a:pos x="4" y="143"/>
                </a:cxn>
              </a:cxnLst>
              <a:rect l="0" t="0" r="r" b="b"/>
              <a:pathLst>
                <a:path w="97" h="143">
                  <a:moveTo>
                    <a:pt x="4" y="143"/>
                  </a:moveTo>
                  <a:lnTo>
                    <a:pt x="0" y="67"/>
                  </a:lnTo>
                  <a:lnTo>
                    <a:pt x="1" y="65"/>
                  </a:lnTo>
                  <a:lnTo>
                    <a:pt x="4" y="60"/>
                  </a:lnTo>
                  <a:lnTo>
                    <a:pt x="9" y="55"/>
                  </a:lnTo>
                  <a:lnTo>
                    <a:pt x="14" y="48"/>
                  </a:lnTo>
                  <a:lnTo>
                    <a:pt x="21" y="39"/>
                  </a:lnTo>
                  <a:lnTo>
                    <a:pt x="30" y="32"/>
                  </a:lnTo>
                  <a:lnTo>
                    <a:pt x="39" y="24"/>
                  </a:lnTo>
                  <a:lnTo>
                    <a:pt x="49" y="18"/>
                  </a:lnTo>
                  <a:lnTo>
                    <a:pt x="97" y="0"/>
                  </a:lnTo>
                  <a:lnTo>
                    <a:pt x="94" y="42"/>
                  </a:lnTo>
                  <a:lnTo>
                    <a:pt x="4" y="14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8" name="Freeform 204"/>
            <p:cNvSpPr>
              <a:spLocks/>
            </p:cNvSpPr>
            <p:nvPr/>
          </p:nvSpPr>
          <p:spPr bwMode="auto">
            <a:xfrm>
              <a:off x="1802" y="1972"/>
              <a:ext cx="121" cy="83"/>
            </a:xfrm>
            <a:custGeom>
              <a:avLst/>
              <a:gdLst/>
              <a:ahLst/>
              <a:cxnLst>
                <a:cxn ang="0">
                  <a:pos x="0" y="83"/>
                </a:cxn>
                <a:cxn ang="0">
                  <a:pos x="7" y="31"/>
                </a:cxn>
                <a:cxn ang="0">
                  <a:pos x="10" y="30"/>
                </a:cxn>
                <a:cxn ang="0">
                  <a:pos x="15" y="26"/>
                </a:cxn>
                <a:cxn ang="0">
                  <a:pos x="25" y="21"/>
                </a:cxn>
                <a:cxn ang="0">
                  <a:pos x="39" y="15"/>
                </a:cxn>
                <a:cxn ang="0">
                  <a:pos x="55" y="10"/>
                </a:cxn>
                <a:cxn ang="0">
                  <a:pos x="75" y="5"/>
                </a:cxn>
                <a:cxn ang="0">
                  <a:pos x="96" y="1"/>
                </a:cxn>
                <a:cxn ang="0">
                  <a:pos x="121" y="0"/>
                </a:cxn>
                <a:cxn ang="0">
                  <a:pos x="0" y="83"/>
                </a:cxn>
              </a:cxnLst>
              <a:rect l="0" t="0" r="r" b="b"/>
              <a:pathLst>
                <a:path w="121" h="83">
                  <a:moveTo>
                    <a:pt x="0" y="83"/>
                  </a:moveTo>
                  <a:lnTo>
                    <a:pt x="7" y="31"/>
                  </a:lnTo>
                  <a:lnTo>
                    <a:pt x="10" y="30"/>
                  </a:lnTo>
                  <a:lnTo>
                    <a:pt x="15" y="26"/>
                  </a:lnTo>
                  <a:lnTo>
                    <a:pt x="25" y="21"/>
                  </a:lnTo>
                  <a:lnTo>
                    <a:pt x="39" y="15"/>
                  </a:lnTo>
                  <a:lnTo>
                    <a:pt x="55" y="10"/>
                  </a:lnTo>
                  <a:lnTo>
                    <a:pt x="75" y="5"/>
                  </a:lnTo>
                  <a:lnTo>
                    <a:pt x="96" y="1"/>
                  </a:lnTo>
                  <a:lnTo>
                    <a:pt x="121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9" name="Freeform 205"/>
            <p:cNvSpPr>
              <a:spLocks/>
            </p:cNvSpPr>
            <p:nvPr/>
          </p:nvSpPr>
          <p:spPr bwMode="auto">
            <a:xfrm>
              <a:off x="1854" y="1979"/>
              <a:ext cx="100" cy="79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100" y="0"/>
                </a:cxn>
                <a:cxn ang="0">
                  <a:pos x="98" y="10"/>
                </a:cxn>
                <a:cxn ang="0">
                  <a:pos x="90" y="31"/>
                </a:cxn>
                <a:cxn ang="0">
                  <a:pos x="80" y="58"/>
                </a:cxn>
                <a:cxn ang="0">
                  <a:pos x="69" y="76"/>
                </a:cxn>
                <a:cxn ang="0">
                  <a:pos x="0" y="79"/>
                </a:cxn>
              </a:cxnLst>
              <a:rect l="0" t="0" r="r" b="b"/>
              <a:pathLst>
                <a:path w="100" h="79">
                  <a:moveTo>
                    <a:pt x="0" y="79"/>
                  </a:moveTo>
                  <a:lnTo>
                    <a:pt x="100" y="0"/>
                  </a:lnTo>
                  <a:lnTo>
                    <a:pt x="98" y="10"/>
                  </a:lnTo>
                  <a:lnTo>
                    <a:pt x="90" y="31"/>
                  </a:lnTo>
                  <a:lnTo>
                    <a:pt x="80" y="58"/>
                  </a:lnTo>
                  <a:lnTo>
                    <a:pt x="69" y="76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0" name="Freeform 206"/>
            <p:cNvSpPr>
              <a:spLocks/>
            </p:cNvSpPr>
            <p:nvPr/>
          </p:nvSpPr>
          <p:spPr bwMode="auto">
            <a:xfrm>
              <a:off x="1757" y="2079"/>
              <a:ext cx="150" cy="59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150" y="0"/>
                </a:cxn>
                <a:cxn ang="0">
                  <a:pos x="149" y="1"/>
                </a:cxn>
                <a:cxn ang="0">
                  <a:pos x="147" y="6"/>
                </a:cxn>
                <a:cxn ang="0">
                  <a:pos x="144" y="14"/>
                </a:cxn>
                <a:cxn ang="0">
                  <a:pos x="139" y="21"/>
                </a:cxn>
                <a:cxn ang="0">
                  <a:pos x="132" y="31"/>
                </a:cxn>
                <a:cxn ang="0">
                  <a:pos x="125" y="41"/>
                </a:cxn>
                <a:cxn ang="0">
                  <a:pos x="116" y="50"/>
                </a:cxn>
                <a:cxn ang="0">
                  <a:pos x="107" y="59"/>
                </a:cxn>
                <a:cxn ang="0">
                  <a:pos x="0" y="59"/>
                </a:cxn>
                <a:cxn ang="0">
                  <a:pos x="70" y="0"/>
                </a:cxn>
              </a:cxnLst>
              <a:rect l="0" t="0" r="r" b="b"/>
              <a:pathLst>
                <a:path w="150" h="59">
                  <a:moveTo>
                    <a:pt x="70" y="0"/>
                  </a:moveTo>
                  <a:lnTo>
                    <a:pt x="150" y="0"/>
                  </a:lnTo>
                  <a:lnTo>
                    <a:pt x="149" y="1"/>
                  </a:lnTo>
                  <a:lnTo>
                    <a:pt x="147" y="6"/>
                  </a:lnTo>
                  <a:lnTo>
                    <a:pt x="144" y="14"/>
                  </a:lnTo>
                  <a:lnTo>
                    <a:pt x="139" y="21"/>
                  </a:lnTo>
                  <a:lnTo>
                    <a:pt x="132" y="31"/>
                  </a:lnTo>
                  <a:lnTo>
                    <a:pt x="125" y="41"/>
                  </a:lnTo>
                  <a:lnTo>
                    <a:pt x="116" y="50"/>
                  </a:lnTo>
                  <a:lnTo>
                    <a:pt x="107" y="59"/>
                  </a:lnTo>
                  <a:lnTo>
                    <a:pt x="0" y="59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1" name="Freeform 207"/>
            <p:cNvSpPr>
              <a:spLocks/>
            </p:cNvSpPr>
            <p:nvPr/>
          </p:nvSpPr>
          <p:spPr bwMode="auto">
            <a:xfrm>
              <a:off x="1688" y="2163"/>
              <a:ext cx="153" cy="5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153" y="0"/>
                </a:cxn>
                <a:cxn ang="0">
                  <a:pos x="151" y="1"/>
                </a:cxn>
                <a:cxn ang="0">
                  <a:pos x="148" y="5"/>
                </a:cxn>
                <a:cxn ang="0">
                  <a:pos x="143" y="11"/>
                </a:cxn>
                <a:cxn ang="0">
                  <a:pos x="135" y="17"/>
                </a:cxn>
                <a:cxn ang="0">
                  <a:pos x="125" y="26"/>
                </a:cxn>
                <a:cxn ang="0">
                  <a:pos x="113" y="35"/>
                </a:cxn>
                <a:cxn ang="0">
                  <a:pos x="99" y="44"/>
                </a:cxn>
                <a:cxn ang="0">
                  <a:pos x="83" y="51"/>
                </a:cxn>
                <a:cxn ang="0">
                  <a:pos x="0" y="45"/>
                </a:cxn>
                <a:cxn ang="0">
                  <a:pos x="45" y="0"/>
                </a:cxn>
              </a:cxnLst>
              <a:rect l="0" t="0" r="r" b="b"/>
              <a:pathLst>
                <a:path w="153" h="51">
                  <a:moveTo>
                    <a:pt x="45" y="0"/>
                  </a:moveTo>
                  <a:lnTo>
                    <a:pt x="153" y="0"/>
                  </a:lnTo>
                  <a:lnTo>
                    <a:pt x="151" y="1"/>
                  </a:lnTo>
                  <a:lnTo>
                    <a:pt x="148" y="5"/>
                  </a:lnTo>
                  <a:lnTo>
                    <a:pt x="143" y="11"/>
                  </a:lnTo>
                  <a:lnTo>
                    <a:pt x="135" y="17"/>
                  </a:lnTo>
                  <a:lnTo>
                    <a:pt x="125" y="26"/>
                  </a:lnTo>
                  <a:lnTo>
                    <a:pt x="113" y="35"/>
                  </a:lnTo>
                  <a:lnTo>
                    <a:pt x="99" y="44"/>
                  </a:lnTo>
                  <a:lnTo>
                    <a:pt x="83" y="51"/>
                  </a:lnTo>
                  <a:lnTo>
                    <a:pt x="0" y="4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2" name="Freeform 208"/>
            <p:cNvSpPr>
              <a:spLocks/>
            </p:cNvSpPr>
            <p:nvPr/>
          </p:nvSpPr>
          <p:spPr bwMode="auto">
            <a:xfrm>
              <a:off x="1614" y="2232"/>
              <a:ext cx="112" cy="66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112" y="11"/>
                </a:cxn>
                <a:cxn ang="0">
                  <a:pos x="110" y="13"/>
                </a:cxn>
                <a:cxn ang="0">
                  <a:pos x="104" y="18"/>
                </a:cxn>
                <a:cxn ang="0">
                  <a:pos x="95" y="26"/>
                </a:cxn>
                <a:cxn ang="0">
                  <a:pos x="84" y="35"/>
                </a:cxn>
                <a:cxn ang="0">
                  <a:pos x="68" y="45"/>
                </a:cxn>
                <a:cxn ang="0">
                  <a:pos x="49" y="53"/>
                </a:cxn>
                <a:cxn ang="0">
                  <a:pos x="27" y="61"/>
                </a:cxn>
                <a:cxn ang="0">
                  <a:pos x="0" y="66"/>
                </a:cxn>
                <a:cxn ang="0">
                  <a:pos x="39" y="0"/>
                </a:cxn>
              </a:cxnLst>
              <a:rect l="0" t="0" r="r" b="b"/>
              <a:pathLst>
                <a:path w="112" h="66">
                  <a:moveTo>
                    <a:pt x="39" y="0"/>
                  </a:moveTo>
                  <a:lnTo>
                    <a:pt x="112" y="11"/>
                  </a:lnTo>
                  <a:lnTo>
                    <a:pt x="110" y="13"/>
                  </a:lnTo>
                  <a:lnTo>
                    <a:pt x="104" y="18"/>
                  </a:lnTo>
                  <a:lnTo>
                    <a:pt x="95" y="26"/>
                  </a:lnTo>
                  <a:lnTo>
                    <a:pt x="84" y="35"/>
                  </a:lnTo>
                  <a:lnTo>
                    <a:pt x="68" y="45"/>
                  </a:lnTo>
                  <a:lnTo>
                    <a:pt x="49" y="53"/>
                  </a:lnTo>
                  <a:lnTo>
                    <a:pt x="27" y="61"/>
                  </a:lnTo>
                  <a:lnTo>
                    <a:pt x="0" y="6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3" name="Freeform 209"/>
            <p:cNvSpPr>
              <a:spLocks/>
            </p:cNvSpPr>
            <p:nvPr/>
          </p:nvSpPr>
          <p:spPr bwMode="auto">
            <a:xfrm>
              <a:off x="1653" y="2325"/>
              <a:ext cx="211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0" y="0"/>
                </a:cxn>
                <a:cxn ang="0">
                  <a:pos x="41" y="2"/>
                </a:cxn>
                <a:cxn ang="0">
                  <a:pos x="68" y="4"/>
                </a:cxn>
                <a:cxn ang="0">
                  <a:pos x="99" y="8"/>
                </a:cxn>
                <a:cxn ang="0">
                  <a:pos x="130" y="14"/>
                </a:cxn>
                <a:cxn ang="0">
                  <a:pos x="161" y="23"/>
                </a:cxn>
                <a:cxn ang="0">
                  <a:pos x="191" y="35"/>
                </a:cxn>
                <a:cxn ang="0">
                  <a:pos x="211" y="45"/>
                </a:cxn>
                <a:cxn ang="0">
                  <a:pos x="121" y="60"/>
                </a:cxn>
                <a:cxn ang="0">
                  <a:pos x="0" y="0"/>
                </a:cxn>
              </a:cxnLst>
              <a:rect l="0" t="0" r="r" b="b"/>
              <a:pathLst>
                <a:path w="211" h="60">
                  <a:moveTo>
                    <a:pt x="0" y="0"/>
                  </a:moveTo>
                  <a:lnTo>
                    <a:pt x="5" y="0"/>
                  </a:lnTo>
                  <a:lnTo>
                    <a:pt x="20" y="0"/>
                  </a:lnTo>
                  <a:lnTo>
                    <a:pt x="41" y="2"/>
                  </a:lnTo>
                  <a:lnTo>
                    <a:pt x="68" y="4"/>
                  </a:lnTo>
                  <a:lnTo>
                    <a:pt x="99" y="8"/>
                  </a:lnTo>
                  <a:lnTo>
                    <a:pt x="130" y="14"/>
                  </a:lnTo>
                  <a:lnTo>
                    <a:pt x="161" y="23"/>
                  </a:lnTo>
                  <a:lnTo>
                    <a:pt x="191" y="35"/>
                  </a:lnTo>
                  <a:lnTo>
                    <a:pt x="211" y="45"/>
                  </a:lnTo>
                  <a:lnTo>
                    <a:pt x="121" y="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4" name="Freeform 210"/>
            <p:cNvSpPr>
              <a:spLocks/>
            </p:cNvSpPr>
            <p:nvPr/>
          </p:nvSpPr>
          <p:spPr bwMode="auto">
            <a:xfrm>
              <a:off x="1649" y="2350"/>
              <a:ext cx="73" cy="1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3" y="49"/>
                </a:cxn>
                <a:cxn ang="0">
                  <a:pos x="73" y="104"/>
                </a:cxn>
                <a:cxn ang="0">
                  <a:pos x="70" y="103"/>
                </a:cxn>
                <a:cxn ang="0">
                  <a:pos x="64" y="97"/>
                </a:cxn>
                <a:cxn ang="0">
                  <a:pos x="55" y="89"/>
                </a:cxn>
                <a:cxn ang="0">
                  <a:pos x="44" y="77"/>
                </a:cxn>
                <a:cxn ang="0">
                  <a:pos x="33" y="63"/>
                </a:cxn>
                <a:cxn ang="0">
                  <a:pos x="20" y="44"/>
                </a:cxn>
                <a:cxn ang="0">
                  <a:pos x="9" y="24"/>
                </a:cxn>
                <a:cxn ang="0">
                  <a:pos x="0" y="0"/>
                </a:cxn>
              </a:cxnLst>
              <a:rect l="0" t="0" r="r" b="b"/>
              <a:pathLst>
                <a:path w="73" h="104">
                  <a:moveTo>
                    <a:pt x="0" y="0"/>
                  </a:moveTo>
                  <a:lnTo>
                    <a:pt x="73" y="49"/>
                  </a:lnTo>
                  <a:lnTo>
                    <a:pt x="73" y="104"/>
                  </a:lnTo>
                  <a:lnTo>
                    <a:pt x="70" y="103"/>
                  </a:lnTo>
                  <a:lnTo>
                    <a:pt x="64" y="97"/>
                  </a:lnTo>
                  <a:lnTo>
                    <a:pt x="55" y="89"/>
                  </a:lnTo>
                  <a:lnTo>
                    <a:pt x="44" y="77"/>
                  </a:lnTo>
                  <a:lnTo>
                    <a:pt x="33" y="63"/>
                  </a:lnTo>
                  <a:lnTo>
                    <a:pt x="20" y="44"/>
                  </a:lnTo>
                  <a:lnTo>
                    <a:pt x="9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5" name="Freeform 211"/>
            <p:cNvSpPr>
              <a:spLocks/>
            </p:cNvSpPr>
            <p:nvPr/>
          </p:nvSpPr>
          <p:spPr bwMode="auto">
            <a:xfrm>
              <a:off x="1757" y="2405"/>
              <a:ext cx="62" cy="112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0" y="0"/>
                </a:cxn>
                <a:cxn ang="0">
                  <a:pos x="56" y="18"/>
                </a:cxn>
                <a:cxn ang="0">
                  <a:pos x="62" y="112"/>
                </a:cxn>
                <a:cxn ang="0">
                  <a:pos x="0" y="74"/>
                </a:cxn>
              </a:cxnLst>
              <a:rect l="0" t="0" r="r" b="b"/>
              <a:pathLst>
                <a:path w="62" h="112">
                  <a:moveTo>
                    <a:pt x="0" y="74"/>
                  </a:moveTo>
                  <a:lnTo>
                    <a:pt x="0" y="0"/>
                  </a:lnTo>
                  <a:lnTo>
                    <a:pt x="56" y="18"/>
                  </a:lnTo>
                  <a:lnTo>
                    <a:pt x="62" y="112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6" name="Freeform 212"/>
            <p:cNvSpPr>
              <a:spLocks/>
            </p:cNvSpPr>
            <p:nvPr/>
          </p:nvSpPr>
          <p:spPr bwMode="auto">
            <a:xfrm>
              <a:off x="1837" y="2444"/>
              <a:ext cx="90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6"/>
                </a:cxn>
                <a:cxn ang="0">
                  <a:pos x="5" y="78"/>
                </a:cxn>
                <a:cxn ang="0">
                  <a:pos x="10" y="80"/>
                </a:cxn>
                <a:cxn ang="0">
                  <a:pos x="19" y="83"/>
                </a:cxn>
                <a:cxn ang="0">
                  <a:pos x="29" y="86"/>
                </a:cxn>
                <a:cxn ang="0">
                  <a:pos x="41" y="90"/>
                </a:cxn>
                <a:cxn ang="0">
                  <a:pos x="56" y="93"/>
                </a:cxn>
                <a:cxn ang="0">
                  <a:pos x="72" y="94"/>
                </a:cxn>
                <a:cxn ang="0">
                  <a:pos x="90" y="94"/>
                </a:cxn>
                <a:cxn ang="0">
                  <a:pos x="49" y="14"/>
                </a:cxn>
                <a:cxn ang="0">
                  <a:pos x="0" y="0"/>
                </a:cxn>
              </a:cxnLst>
              <a:rect l="0" t="0" r="r" b="b"/>
              <a:pathLst>
                <a:path w="90" h="94">
                  <a:moveTo>
                    <a:pt x="0" y="0"/>
                  </a:moveTo>
                  <a:lnTo>
                    <a:pt x="4" y="76"/>
                  </a:lnTo>
                  <a:lnTo>
                    <a:pt x="5" y="78"/>
                  </a:lnTo>
                  <a:lnTo>
                    <a:pt x="10" y="80"/>
                  </a:lnTo>
                  <a:lnTo>
                    <a:pt x="19" y="83"/>
                  </a:lnTo>
                  <a:lnTo>
                    <a:pt x="29" y="86"/>
                  </a:lnTo>
                  <a:lnTo>
                    <a:pt x="41" y="90"/>
                  </a:lnTo>
                  <a:lnTo>
                    <a:pt x="56" y="93"/>
                  </a:lnTo>
                  <a:lnTo>
                    <a:pt x="72" y="94"/>
                  </a:lnTo>
                  <a:lnTo>
                    <a:pt x="90" y="94"/>
                  </a:lnTo>
                  <a:lnTo>
                    <a:pt x="49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7" name="Freeform 213"/>
            <p:cNvSpPr>
              <a:spLocks/>
            </p:cNvSpPr>
            <p:nvPr/>
          </p:nvSpPr>
          <p:spPr bwMode="auto">
            <a:xfrm>
              <a:off x="1931" y="2485"/>
              <a:ext cx="93" cy="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" y="53"/>
                </a:cxn>
                <a:cxn ang="0">
                  <a:pos x="28" y="53"/>
                </a:cxn>
                <a:cxn ang="0">
                  <a:pos x="33" y="53"/>
                </a:cxn>
                <a:cxn ang="0">
                  <a:pos x="40" y="54"/>
                </a:cxn>
                <a:cxn ang="0">
                  <a:pos x="48" y="54"/>
                </a:cxn>
                <a:cxn ang="0">
                  <a:pos x="58" y="54"/>
                </a:cxn>
                <a:cxn ang="0">
                  <a:pos x="70" y="53"/>
                </a:cxn>
                <a:cxn ang="0">
                  <a:pos x="82" y="52"/>
                </a:cxn>
                <a:cxn ang="0">
                  <a:pos x="93" y="49"/>
                </a:cxn>
                <a:cxn ang="0">
                  <a:pos x="92" y="48"/>
                </a:cxn>
                <a:cxn ang="0">
                  <a:pos x="87" y="44"/>
                </a:cxn>
                <a:cxn ang="0">
                  <a:pos x="80" y="39"/>
                </a:cxn>
                <a:cxn ang="0">
                  <a:pos x="70" y="33"/>
                </a:cxn>
                <a:cxn ang="0">
                  <a:pos x="57" y="25"/>
                </a:cxn>
                <a:cxn ang="0">
                  <a:pos x="41" y="17"/>
                </a:cxn>
                <a:cxn ang="0">
                  <a:pos x="22" y="9"/>
                </a:cxn>
                <a:cxn ang="0">
                  <a:pos x="0" y="0"/>
                </a:cxn>
              </a:cxnLst>
              <a:rect l="0" t="0" r="r" b="b"/>
              <a:pathLst>
                <a:path w="93" h="54">
                  <a:moveTo>
                    <a:pt x="0" y="0"/>
                  </a:moveTo>
                  <a:lnTo>
                    <a:pt x="27" y="53"/>
                  </a:lnTo>
                  <a:lnTo>
                    <a:pt x="28" y="53"/>
                  </a:lnTo>
                  <a:lnTo>
                    <a:pt x="33" y="53"/>
                  </a:lnTo>
                  <a:lnTo>
                    <a:pt x="40" y="54"/>
                  </a:lnTo>
                  <a:lnTo>
                    <a:pt x="48" y="54"/>
                  </a:lnTo>
                  <a:lnTo>
                    <a:pt x="58" y="54"/>
                  </a:lnTo>
                  <a:lnTo>
                    <a:pt x="70" y="53"/>
                  </a:lnTo>
                  <a:lnTo>
                    <a:pt x="82" y="52"/>
                  </a:lnTo>
                  <a:lnTo>
                    <a:pt x="93" y="49"/>
                  </a:lnTo>
                  <a:lnTo>
                    <a:pt x="92" y="48"/>
                  </a:lnTo>
                  <a:lnTo>
                    <a:pt x="87" y="44"/>
                  </a:lnTo>
                  <a:lnTo>
                    <a:pt x="80" y="39"/>
                  </a:lnTo>
                  <a:lnTo>
                    <a:pt x="70" y="33"/>
                  </a:lnTo>
                  <a:lnTo>
                    <a:pt x="57" y="25"/>
                  </a:lnTo>
                  <a:lnTo>
                    <a:pt x="41" y="17"/>
                  </a:lnTo>
                  <a:lnTo>
                    <a:pt x="22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8" name="Freeform 214"/>
            <p:cNvSpPr>
              <a:spLocks/>
            </p:cNvSpPr>
            <p:nvPr/>
          </p:nvSpPr>
          <p:spPr bwMode="auto">
            <a:xfrm>
              <a:off x="1841" y="2382"/>
              <a:ext cx="113" cy="5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58" y="0"/>
                </a:cxn>
                <a:cxn ang="0">
                  <a:pos x="61" y="1"/>
                </a:cxn>
                <a:cxn ang="0">
                  <a:pos x="66" y="3"/>
                </a:cxn>
                <a:cxn ang="0">
                  <a:pos x="73" y="7"/>
                </a:cxn>
                <a:cxn ang="0">
                  <a:pos x="82" y="11"/>
                </a:cxn>
                <a:cxn ang="0">
                  <a:pos x="92" y="16"/>
                </a:cxn>
                <a:cxn ang="0">
                  <a:pos x="101" y="21"/>
                </a:cxn>
                <a:cxn ang="0">
                  <a:pos x="108" y="26"/>
                </a:cxn>
                <a:cxn ang="0">
                  <a:pos x="113" y="31"/>
                </a:cxn>
                <a:cxn ang="0">
                  <a:pos x="68" y="55"/>
                </a:cxn>
                <a:cxn ang="0">
                  <a:pos x="0" y="20"/>
                </a:cxn>
              </a:cxnLst>
              <a:rect l="0" t="0" r="r" b="b"/>
              <a:pathLst>
                <a:path w="113" h="55">
                  <a:moveTo>
                    <a:pt x="0" y="20"/>
                  </a:moveTo>
                  <a:lnTo>
                    <a:pt x="58" y="0"/>
                  </a:lnTo>
                  <a:lnTo>
                    <a:pt x="61" y="1"/>
                  </a:lnTo>
                  <a:lnTo>
                    <a:pt x="66" y="3"/>
                  </a:lnTo>
                  <a:lnTo>
                    <a:pt x="73" y="7"/>
                  </a:lnTo>
                  <a:lnTo>
                    <a:pt x="82" y="11"/>
                  </a:lnTo>
                  <a:lnTo>
                    <a:pt x="92" y="16"/>
                  </a:lnTo>
                  <a:lnTo>
                    <a:pt x="101" y="21"/>
                  </a:lnTo>
                  <a:lnTo>
                    <a:pt x="108" y="26"/>
                  </a:lnTo>
                  <a:lnTo>
                    <a:pt x="113" y="31"/>
                  </a:lnTo>
                  <a:lnTo>
                    <a:pt x="68" y="55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9" name="Freeform 215"/>
            <p:cNvSpPr>
              <a:spLocks/>
            </p:cNvSpPr>
            <p:nvPr/>
          </p:nvSpPr>
          <p:spPr bwMode="auto">
            <a:xfrm>
              <a:off x="1941" y="2440"/>
              <a:ext cx="87" cy="55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42" y="0"/>
                </a:cxn>
                <a:cxn ang="0">
                  <a:pos x="43" y="2"/>
                </a:cxn>
                <a:cxn ang="0">
                  <a:pos x="46" y="4"/>
                </a:cxn>
                <a:cxn ang="0">
                  <a:pos x="50" y="9"/>
                </a:cxn>
                <a:cxn ang="0">
                  <a:pos x="55" y="15"/>
                </a:cxn>
                <a:cxn ang="0">
                  <a:pos x="61" y="23"/>
                </a:cxn>
                <a:cxn ang="0">
                  <a:pos x="68" y="33"/>
                </a:cxn>
                <a:cxn ang="0">
                  <a:pos x="77" y="43"/>
                </a:cxn>
                <a:cxn ang="0">
                  <a:pos x="87" y="55"/>
                </a:cxn>
                <a:cxn ang="0">
                  <a:pos x="0" y="10"/>
                </a:cxn>
              </a:cxnLst>
              <a:rect l="0" t="0" r="r" b="b"/>
              <a:pathLst>
                <a:path w="87" h="55">
                  <a:moveTo>
                    <a:pt x="0" y="10"/>
                  </a:moveTo>
                  <a:lnTo>
                    <a:pt x="42" y="0"/>
                  </a:lnTo>
                  <a:lnTo>
                    <a:pt x="43" y="2"/>
                  </a:lnTo>
                  <a:lnTo>
                    <a:pt x="46" y="4"/>
                  </a:lnTo>
                  <a:lnTo>
                    <a:pt x="50" y="9"/>
                  </a:lnTo>
                  <a:lnTo>
                    <a:pt x="55" y="15"/>
                  </a:lnTo>
                  <a:lnTo>
                    <a:pt x="61" y="23"/>
                  </a:lnTo>
                  <a:lnTo>
                    <a:pt x="68" y="33"/>
                  </a:lnTo>
                  <a:lnTo>
                    <a:pt x="77" y="43"/>
                  </a:lnTo>
                  <a:lnTo>
                    <a:pt x="87" y="5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0" name="Freeform 216"/>
            <p:cNvSpPr>
              <a:spLocks/>
            </p:cNvSpPr>
            <p:nvPr/>
          </p:nvSpPr>
          <p:spPr bwMode="auto">
            <a:xfrm>
              <a:off x="1868" y="2263"/>
              <a:ext cx="135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6" y="0"/>
                </a:cxn>
                <a:cxn ang="0">
                  <a:pos x="135" y="60"/>
                </a:cxn>
                <a:cxn ang="0">
                  <a:pos x="131" y="60"/>
                </a:cxn>
                <a:cxn ang="0">
                  <a:pos x="119" y="57"/>
                </a:cxn>
                <a:cxn ang="0">
                  <a:pos x="101" y="55"/>
                </a:cxn>
                <a:cxn ang="0">
                  <a:pos x="81" y="50"/>
                </a:cxn>
                <a:cxn ang="0">
                  <a:pos x="58" y="42"/>
                </a:cxn>
                <a:cxn ang="0">
                  <a:pos x="36" y="31"/>
                </a:cxn>
                <a:cxn ang="0">
                  <a:pos x="16" y="17"/>
                </a:cxn>
                <a:cxn ang="0">
                  <a:pos x="0" y="0"/>
                </a:cxn>
              </a:cxnLst>
              <a:rect l="0" t="0" r="r" b="b"/>
              <a:pathLst>
                <a:path w="135" h="60">
                  <a:moveTo>
                    <a:pt x="0" y="0"/>
                  </a:moveTo>
                  <a:lnTo>
                    <a:pt x="76" y="0"/>
                  </a:lnTo>
                  <a:lnTo>
                    <a:pt x="135" y="60"/>
                  </a:lnTo>
                  <a:lnTo>
                    <a:pt x="131" y="60"/>
                  </a:lnTo>
                  <a:lnTo>
                    <a:pt x="119" y="57"/>
                  </a:lnTo>
                  <a:lnTo>
                    <a:pt x="101" y="55"/>
                  </a:lnTo>
                  <a:lnTo>
                    <a:pt x="81" y="50"/>
                  </a:lnTo>
                  <a:lnTo>
                    <a:pt x="58" y="42"/>
                  </a:lnTo>
                  <a:lnTo>
                    <a:pt x="36" y="31"/>
                  </a:lnTo>
                  <a:lnTo>
                    <a:pt x="16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1" name="Freeform 217"/>
            <p:cNvSpPr>
              <a:spLocks/>
            </p:cNvSpPr>
            <p:nvPr/>
          </p:nvSpPr>
          <p:spPr bwMode="auto">
            <a:xfrm>
              <a:off x="1997" y="2253"/>
              <a:ext cx="125" cy="59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90" y="0"/>
                </a:cxn>
                <a:cxn ang="0">
                  <a:pos x="125" y="41"/>
                </a:cxn>
                <a:cxn ang="0">
                  <a:pos x="122" y="42"/>
                </a:cxn>
                <a:cxn ang="0">
                  <a:pos x="117" y="44"/>
                </a:cxn>
                <a:cxn ang="0">
                  <a:pos x="109" y="46"/>
                </a:cxn>
                <a:cxn ang="0">
                  <a:pos x="99" y="50"/>
                </a:cxn>
                <a:cxn ang="0">
                  <a:pos x="87" y="54"/>
                </a:cxn>
                <a:cxn ang="0">
                  <a:pos x="75" y="56"/>
                </a:cxn>
                <a:cxn ang="0">
                  <a:pos x="62" y="57"/>
                </a:cxn>
                <a:cxn ang="0">
                  <a:pos x="51" y="59"/>
                </a:cxn>
                <a:cxn ang="0">
                  <a:pos x="41" y="56"/>
                </a:cxn>
                <a:cxn ang="0">
                  <a:pos x="31" y="50"/>
                </a:cxn>
                <a:cxn ang="0">
                  <a:pos x="22" y="41"/>
                </a:cxn>
                <a:cxn ang="0">
                  <a:pos x="15" y="31"/>
                </a:cxn>
                <a:cxn ang="0">
                  <a:pos x="9" y="21"/>
                </a:cxn>
                <a:cxn ang="0">
                  <a:pos x="4" y="12"/>
                </a:cxn>
                <a:cxn ang="0">
                  <a:pos x="1" y="6"/>
                </a:cxn>
                <a:cxn ang="0">
                  <a:pos x="0" y="4"/>
                </a:cxn>
              </a:cxnLst>
              <a:rect l="0" t="0" r="r" b="b"/>
              <a:pathLst>
                <a:path w="125" h="59">
                  <a:moveTo>
                    <a:pt x="0" y="4"/>
                  </a:moveTo>
                  <a:lnTo>
                    <a:pt x="90" y="0"/>
                  </a:lnTo>
                  <a:lnTo>
                    <a:pt x="125" y="41"/>
                  </a:lnTo>
                  <a:lnTo>
                    <a:pt x="122" y="42"/>
                  </a:lnTo>
                  <a:lnTo>
                    <a:pt x="117" y="44"/>
                  </a:lnTo>
                  <a:lnTo>
                    <a:pt x="109" y="46"/>
                  </a:lnTo>
                  <a:lnTo>
                    <a:pt x="99" y="50"/>
                  </a:lnTo>
                  <a:lnTo>
                    <a:pt x="87" y="54"/>
                  </a:lnTo>
                  <a:lnTo>
                    <a:pt x="75" y="56"/>
                  </a:lnTo>
                  <a:lnTo>
                    <a:pt x="62" y="57"/>
                  </a:lnTo>
                  <a:lnTo>
                    <a:pt x="51" y="59"/>
                  </a:lnTo>
                  <a:lnTo>
                    <a:pt x="41" y="56"/>
                  </a:lnTo>
                  <a:lnTo>
                    <a:pt x="31" y="50"/>
                  </a:lnTo>
                  <a:lnTo>
                    <a:pt x="22" y="41"/>
                  </a:lnTo>
                  <a:lnTo>
                    <a:pt x="15" y="31"/>
                  </a:lnTo>
                  <a:lnTo>
                    <a:pt x="9" y="21"/>
                  </a:lnTo>
                  <a:lnTo>
                    <a:pt x="4" y="12"/>
                  </a:lnTo>
                  <a:lnTo>
                    <a:pt x="1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2" name="Freeform 218"/>
            <p:cNvSpPr>
              <a:spLocks/>
            </p:cNvSpPr>
            <p:nvPr/>
          </p:nvSpPr>
          <p:spPr bwMode="auto">
            <a:xfrm>
              <a:off x="2122" y="2257"/>
              <a:ext cx="82" cy="2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23"/>
                </a:cxn>
                <a:cxn ang="0">
                  <a:pos x="82" y="3"/>
                </a:cxn>
                <a:cxn ang="0">
                  <a:pos x="0" y="0"/>
                </a:cxn>
              </a:cxnLst>
              <a:rect l="0" t="0" r="r" b="b"/>
              <a:pathLst>
                <a:path w="82" h="23">
                  <a:moveTo>
                    <a:pt x="0" y="0"/>
                  </a:moveTo>
                  <a:lnTo>
                    <a:pt x="24" y="23"/>
                  </a:lnTo>
                  <a:lnTo>
                    <a:pt x="8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3" name="Freeform 219"/>
            <p:cNvSpPr>
              <a:spLocks/>
            </p:cNvSpPr>
            <p:nvPr/>
          </p:nvSpPr>
          <p:spPr bwMode="auto">
            <a:xfrm>
              <a:off x="2096" y="2183"/>
              <a:ext cx="75" cy="42"/>
            </a:xfrm>
            <a:custGeom>
              <a:avLst/>
              <a:gdLst/>
              <a:ahLst/>
              <a:cxnLst>
                <a:cxn ang="0">
                  <a:pos x="1" y="42"/>
                </a:cxn>
                <a:cxn ang="0">
                  <a:pos x="75" y="35"/>
                </a:cxn>
                <a:cxn ang="0">
                  <a:pos x="73" y="34"/>
                </a:cxn>
                <a:cxn ang="0">
                  <a:pos x="70" y="30"/>
                </a:cxn>
                <a:cxn ang="0">
                  <a:pos x="65" y="26"/>
                </a:cxn>
                <a:cxn ang="0">
                  <a:pos x="57" y="20"/>
                </a:cxn>
                <a:cxn ang="0">
                  <a:pos x="48" y="14"/>
                </a:cxn>
                <a:cxn ang="0">
                  <a:pos x="38" y="9"/>
                </a:cxn>
                <a:cxn ang="0">
                  <a:pos x="28" y="4"/>
                </a:cxn>
                <a:cxn ang="0">
                  <a:pos x="18" y="0"/>
                </a:cxn>
                <a:cxn ang="0">
                  <a:pos x="5" y="4"/>
                </a:cxn>
                <a:cxn ang="0">
                  <a:pos x="0" y="19"/>
                </a:cxn>
                <a:cxn ang="0">
                  <a:pos x="0" y="35"/>
                </a:cxn>
                <a:cxn ang="0">
                  <a:pos x="1" y="42"/>
                </a:cxn>
              </a:cxnLst>
              <a:rect l="0" t="0" r="r" b="b"/>
              <a:pathLst>
                <a:path w="75" h="42">
                  <a:moveTo>
                    <a:pt x="1" y="42"/>
                  </a:moveTo>
                  <a:lnTo>
                    <a:pt x="75" y="35"/>
                  </a:lnTo>
                  <a:lnTo>
                    <a:pt x="73" y="34"/>
                  </a:lnTo>
                  <a:lnTo>
                    <a:pt x="70" y="30"/>
                  </a:lnTo>
                  <a:lnTo>
                    <a:pt x="65" y="26"/>
                  </a:lnTo>
                  <a:lnTo>
                    <a:pt x="57" y="20"/>
                  </a:lnTo>
                  <a:lnTo>
                    <a:pt x="48" y="14"/>
                  </a:lnTo>
                  <a:lnTo>
                    <a:pt x="38" y="9"/>
                  </a:lnTo>
                  <a:lnTo>
                    <a:pt x="28" y="4"/>
                  </a:lnTo>
                  <a:lnTo>
                    <a:pt x="18" y="0"/>
                  </a:lnTo>
                  <a:lnTo>
                    <a:pt x="5" y="4"/>
                  </a:lnTo>
                  <a:lnTo>
                    <a:pt x="0" y="19"/>
                  </a:lnTo>
                  <a:lnTo>
                    <a:pt x="0" y="35"/>
                  </a:lnTo>
                  <a:lnTo>
                    <a:pt x="1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4" name="Freeform 220"/>
            <p:cNvSpPr>
              <a:spLocks/>
            </p:cNvSpPr>
            <p:nvPr/>
          </p:nvSpPr>
          <p:spPr bwMode="auto">
            <a:xfrm>
              <a:off x="1997" y="2177"/>
              <a:ext cx="82" cy="45"/>
            </a:xfrm>
            <a:custGeom>
              <a:avLst/>
              <a:gdLst/>
              <a:ahLst/>
              <a:cxnLst>
                <a:cxn ang="0">
                  <a:pos x="59" y="45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6" y="0"/>
                </a:cxn>
                <a:cxn ang="0">
                  <a:pos x="70" y="0"/>
                </a:cxn>
                <a:cxn ang="0">
                  <a:pos x="62" y="0"/>
                </a:cxn>
                <a:cxn ang="0">
                  <a:pos x="54" y="1"/>
                </a:cxn>
                <a:cxn ang="0">
                  <a:pos x="44" y="2"/>
                </a:cxn>
                <a:cxn ang="0">
                  <a:pos x="34" y="5"/>
                </a:cxn>
                <a:cxn ang="0">
                  <a:pos x="24" y="10"/>
                </a:cxn>
                <a:cxn ang="0">
                  <a:pos x="10" y="21"/>
                </a:cxn>
                <a:cxn ang="0">
                  <a:pos x="2" y="31"/>
                </a:cxn>
                <a:cxn ang="0">
                  <a:pos x="0" y="38"/>
                </a:cxn>
                <a:cxn ang="0">
                  <a:pos x="0" y="41"/>
                </a:cxn>
                <a:cxn ang="0">
                  <a:pos x="59" y="45"/>
                </a:cxn>
              </a:cxnLst>
              <a:rect l="0" t="0" r="r" b="b"/>
              <a:pathLst>
                <a:path w="82" h="45">
                  <a:moveTo>
                    <a:pt x="59" y="45"/>
                  </a:moveTo>
                  <a:lnTo>
                    <a:pt x="82" y="0"/>
                  </a:lnTo>
                  <a:lnTo>
                    <a:pt x="81" y="0"/>
                  </a:lnTo>
                  <a:lnTo>
                    <a:pt x="76" y="0"/>
                  </a:lnTo>
                  <a:lnTo>
                    <a:pt x="70" y="0"/>
                  </a:lnTo>
                  <a:lnTo>
                    <a:pt x="62" y="0"/>
                  </a:lnTo>
                  <a:lnTo>
                    <a:pt x="54" y="1"/>
                  </a:lnTo>
                  <a:lnTo>
                    <a:pt x="44" y="2"/>
                  </a:lnTo>
                  <a:lnTo>
                    <a:pt x="34" y="5"/>
                  </a:lnTo>
                  <a:lnTo>
                    <a:pt x="24" y="10"/>
                  </a:lnTo>
                  <a:lnTo>
                    <a:pt x="10" y="21"/>
                  </a:lnTo>
                  <a:lnTo>
                    <a:pt x="2" y="31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59" y="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5" name="Freeform 221"/>
            <p:cNvSpPr>
              <a:spLocks/>
            </p:cNvSpPr>
            <p:nvPr/>
          </p:nvSpPr>
          <p:spPr bwMode="auto">
            <a:xfrm>
              <a:off x="1877" y="2183"/>
              <a:ext cx="106" cy="64"/>
            </a:xfrm>
            <a:custGeom>
              <a:avLst/>
              <a:gdLst/>
              <a:ahLst/>
              <a:cxnLst>
                <a:cxn ang="0">
                  <a:pos x="61" y="49"/>
                </a:cxn>
                <a:cxn ang="0">
                  <a:pos x="106" y="0"/>
                </a:cxn>
                <a:cxn ang="0">
                  <a:pos x="102" y="1"/>
                </a:cxn>
                <a:cxn ang="0">
                  <a:pos x="94" y="4"/>
                </a:cxn>
                <a:cxn ang="0">
                  <a:pos x="81" y="9"/>
                </a:cxn>
                <a:cxn ang="0">
                  <a:pos x="65" y="16"/>
                </a:cxn>
                <a:cxn ang="0">
                  <a:pos x="47" y="24"/>
                </a:cxn>
                <a:cxn ang="0">
                  <a:pos x="31" y="32"/>
                </a:cxn>
                <a:cxn ang="0">
                  <a:pos x="16" y="42"/>
                </a:cxn>
                <a:cxn ang="0">
                  <a:pos x="5" y="52"/>
                </a:cxn>
                <a:cxn ang="0">
                  <a:pos x="0" y="60"/>
                </a:cxn>
                <a:cxn ang="0">
                  <a:pos x="4" y="64"/>
                </a:cxn>
                <a:cxn ang="0">
                  <a:pos x="12" y="64"/>
                </a:cxn>
                <a:cxn ang="0">
                  <a:pos x="24" y="61"/>
                </a:cxn>
                <a:cxn ang="0">
                  <a:pos x="37" y="57"/>
                </a:cxn>
                <a:cxn ang="0">
                  <a:pos x="49" y="54"/>
                </a:cxn>
                <a:cxn ang="0">
                  <a:pos x="57" y="50"/>
                </a:cxn>
                <a:cxn ang="0">
                  <a:pos x="61" y="49"/>
                </a:cxn>
              </a:cxnLst>
              <a:rect l="0" t="0" r="r" b="b"/>
              <a:pathLst>
                <a:path w="106" h="64">
                  <a:moveTo>
                    <a:pt x="61" y="49"/>
                  </a:moveTo>
                  <a:lnTo>
                    <a:pt x="106" y="0"/>
                  </a:lnTo>
                  <a:lnTo>
                    <a:pt x="102" y="1"/>
                  </a:lnTo>
                  <a:lnTo>
                    <a:pt x="94" y="4"/>
                  </a:lnTo>
                  <a:lnTo>
                    <a:pt x="81" y="9"/>
                  </a:lnTo>
                  <a:lnTo>
                    <a:pt x="65" y="16"/>
                  </a:lnTo>
                  <a:lnTo>
                    <a:pt x="47" y="24"/>
                  </a:lnTo>
                  <a:lnTo>
                    <a:pt x="31" y="32"/>
                  </a:lnTo>
                  <a:lnTo>
                    <a:pt x="16" y="42"/>
                  </a:lnTo>
                  <a:lnTo>
                    <a:pt x="5" y="52"/>
                  </a:lnTo>
                  <a:lnTo>
                    <a:pt x="0" y="60"/>
                  </a:lnTo>
                  <a:lnTo>
                    <a:pt x="4" y="64"/>
                  </a:lnTo>
                  <a:lnTo>
                    <a:pt x="12" y="64"/>
                  </a:lnTo>
                  <a:lnTo>
                    <a:pt x="24" y="61"/>
                  </a:lnTo>
                  <a:lnTo>
                    <a:pt x="37" y="57"/>
                  </a:lnTo>
                  <a:lnTo>
                    <a:pt x="49" y="54"/>
                  </a:lnTo>
                  <a:lnTo>
                    <a:pt x="57" y="50"/>
                  </a:lnTo>
                  <a:lnTo>
                    <a:pt x="61" y="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/>
              <a:t>Árvores - Conceitos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9814" y="1066800"/>
            <a:ext cx="8509343" cy="4627562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pt-BR" dirty="0"/>
          </a:p>
          <a:p>
            <a:pPr>
              <a:lnSpc>
                <a:spcPct val="90000"/>
              </a:lnSpc>
            </a:pPr>
            <a:r>
              <a:rPr lang="pt-BR" dirty="0"/>
              <a:t>Cada nó pode ser a raiz de uma árvore com zero ou mais sub-árvores.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pt-BR" dirty="0"/>
          </a:p>
          <a:p>
            <a:pPr>
              <a:lnSpc>
                <a:spcPct val="90000"/>
              </a:lnSpc>
            </a:pPr>
            <a:r>
              <a:rPr lang="pt-BR" dirty="0"/>
              <a:t>Se X é a raiz de uma árvore e Y é a raiz de sua sub-árvore direita ou esquerda, então X é o </a:t>
            </a:r>
            <a:r>
              <a:rPr lang="pt-BR" dirty="0">
                <a:solidFill>
                  <a:srgbClr val="0066FF"/>
                </a:solidFill>
              </a:rPr>
              <a:t>PAI</a:t>
            </a:r>
            <a:r>
              <a:rPr lang="pt-BR" dirty="0"/>
              <a:t> de Y e Y é o </a:t>
            </a:r>
            <a:r>
              <a:rPr lang="pt-BR" dirty="0">
                <a:solidFill>
                  <a:srgbClr val="0066FF"/>
                </a:solidFill>
              </a:rPr>
              <a:t>FILHO</a:t>
            </a:r>
            <a:r>
              <a:rPr lang="pt-BR" dirty="0"/>
              <a:t> de X.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Árvores – Exemplo 1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007010" y="1422400"/>
            <a:ext cx="5410200" cy="4477280"/>
            <a:chOff x="720" y="720"/>
            <a:chExt cx="4416" cy="3183"/>
          </a:xfrm>
        </p:grpSpPr>
        <p:sp>
          <p:nvSpPr>
            <p:cNvPr id="4102" name="Oval 6"/>
            <p:cNvSpPr>
              <a:spLocks noChangeArrowheads="1"/>
            </p:cNvSpPr>
            <p:nvPr/>
          </p:nvSpPr>
          <p:spPr bwMode="auto">
            <a:xfrm>
              <a:off x="2784" y="720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 dirty="0">
                  <a:solidFill>
                    <a:srgbClr val="00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4103" name="Oval 7"/>
            <p:cNvSpPr>
              <a:spLocks noChangeArrowheads="1"/>
            </p:cNvSpPr>
            <p:nvPr/>
          </p:nvSpPr>
          <p:spPr bwMode="auto">
            <a:xfrm>
              <a:off x="1296" y="187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4104" name="Oval 8"/>
            <p:cNvSpPr>
              <a:spLocks noChangeArrowheads="1"/>
            </p:cNvSpPr>
            <p:nvPr/>
          </p:nvSpPr>
          <p:spPr bwMode="auto">
            <a:xfrm>
              <a:off x="2817" y="187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C</a:t>
              </a:r>
            </a:p>
          </p:txBody>
        </p:sp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4416" y="187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D</a:t>
              </a:r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4416" y="3216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1968" y="3264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720" y="327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  <p:sp>
          <p:nvSpPr>
            <p:cNvPr id="4109" name="Line 13"/>
            <p:cNvSpPr>
              <a:spLocks noChangeShapeType="1"/>
            </p:cNvSpPr>
            <p:nvPr/>
          </p:nvSpPr>
          <p:spPr bwMode="auto">
            <a:xfrm>
              <a:off x="3168" y="1344"/>
              <a:ext cx="0" cy="5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10" name="Line 14"/>
            <p:cNvSpPr>
              <a:spLocks noChangeShapeType="1"/>
            </p:cNvSpPr>
            <p:nvPr/>
          </p:nvSpPr>
          <p:spPr bwMode="auto">
            <a:xfrm flipH="1">
              <a:off x="1660" y="1344"/>
              <a:ext cx="1502" cy="5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12" name="Line 16"/>
            <p:cNvSpPr>
              <a:spLocks noChangeShapeType="1"/>
            </p:cNvSpPr>
            <p:nvPr/>
          </p:nvSpPr>
          <p:spPr bwMode="auto">
            <a:xfrm>
              <a:off x="3168" y="1344"/>
              <a:ext cx="16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13" name="Line 17"/>
            <p:cNvSpPr>
              <a:spLocks noChangeShapeType="1"/>
            </p:cNvSpPr>
            <p:nvPr/>
          </p:nvSpPr>
          <p:spPr bwMode="auto">
            <a:xfrm flipH="1">
              <a:off x="1104" y="2496"/>
              <a:ext cx="57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>
              <a:off x="1680" y="2496"/>
              <a:ext cx="672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15" name="Line 19"/>
            <p:cNvSpPr>
              <a:spLocks noChangeShapeType="1"/>
            </p:cNvSpPr>
            <p:nvPr/>
          </p:nvSpPr>
          <p:spPr bwMode="auto">
            <a:xfrm>
              <a:off x="4800" y="249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762000" y="1066800"/>
            <a:ext cx="2814638" cy="1600200"/>
            <a:chOff x="480" y="384"/>
            <a:chExt cx="2364" cy="1296"/>
          </a:xfrm>
        </p:grpSpPr>
        <p:grpSp>
          <p:nvGrpSpPr>
            <p:cNvPr id="4" name="Group 36"/>
            <p:cNvGrpSpPr>
              <a:grpSpLocks/>
            </p:cNvGrpSpPr>
            <p:nvPr/>
          </p:nvGrpSpPr>
          <p:grpSpPr bwMode="auto">
            <a:xfrm>
              <a:off x="480" y="384"/>
              <a:ext cx="2364" cy="1296"/>
              <a:chOff x="480" y="384"/>
              <a:chExt cx="2364" cy="1296"/>
            </a:xfrm>
          </p:grpSpPr>
          <p:sp>
            <p:nvSpPr>
              <p:cNvPr id="4119" name="AutoShape 23"/>
              <p:cNvSpPr>
                <a:spLocks noChangeArrowheads="1"/>
              </p:cNvSpPr>
              <p:nvPr/>
            </p:nvSpPr>
            <p:spPr bwMode="auto">
              <a:xfrm>
                <a:off x="480" y="384"/>
                <a:ext cx="1728" cy="1296"/>
              </a:xfrm>
              <a:prstGeom prst="star8">
                <a:avLst>
                  <a:gd name="adj" fmla="val 38250"/>
                </a:avLst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0" name="AutoShape 24"/>
              <p:cNvSpPr>
                <a:spLocks noChangeArrowheads="1"/>
              </p:cNvSpPr>
              <p:nvPr/>
            </p:nvSpPr>
            <p:spPr bwMode="auto">
              <a:xfrm flipH="1">
                <a:off x="2076" y="912"/>
                <a:ext cx="768" cy="192"/>
              </a:xfrm>
              <a:prstGeom prst="notchedRightArrow">
                <a:avLst>
                  <a:gd name="adj1" fmla="val 50000"/>
                  <a:gd name="adj2" fmla="val 100000"/>
                </a:avLst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121" name="Text Box 25"/>
            <p:cNvSpPr txBox="1">
              <a:spLocks noChangeArrowheads="1"/>
            </p:cNvSpPr>
            <p:nvPr/>
          </p:nvSpPr>
          <p:spPr bwMode="auto">
            <a:xfrm>
              <a:off x="686" y="510"/>
              <a:ext cx="1392" cy="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kumimoji="1" lang="pt-BR" sz="3200" dirty="0">
                  <a:latin typeface="Arial Narrow" pitchFamily="34" charset="0"/>
                </a:rPr>
                <a:t>RAIZ da árvore</a:t>
              </a:r>
            </a:p>
          </p:txBody>
        </p:sp>
      </p:grpSp>
      <p:sp>
        <p:nvSpPr>
          <p:cNvPr id="4122" name="Text Box 26"/>
          <p:cNvSpPr txBox="1">
            <a:spLocks noChangeArrowheads="1"/>
          </p:cNvSpPr>
          <p:nvPr/>
        </p:nvSpPr>
        <p:spPr bwMode="auto">
          <a:xfrm>
            <a:off x="5144186" y="1150252"/>
            <a:ext cx="42291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pt-BR" sz="3600" dirty="0">
                <a:solidFill>
                  <a:srgbClr val="0066FF"/>
                </a:solidFill>
                <a:latin typeface="Arial Narrow" pitchFamily="34" charset="0"/>
              </a:rPr>
              <a:t>Nós: A, B, C, D, E, F, G</a:t>
            </a:r>
          </a:p>
        </p:txBody>
      </p:sp>
      <p:sp>
        <p:nvSpPr>
          <p:cNvPr id="4123" name="Text Box 27"/>
          <p:cNvSpPr txBox="1">
            <a:spLocks noChangeArrowheads="1"/>
          </p:cNvSpPr>
          <p:nvPr/>
        </p:nvSpPr>
        <p:spPr bwMode="auto">
          <a:xfrm>
            <a:off x="5449544" y="1955800"/>
            <a:ext cx="32496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600" dirty="0">
                <a:solidFill>
                  <a:srgbClr val="000099"/>
                </a:solidFill>
                <a:latin typeface="Arial Narrow" pitchFamily="34" charset="0"/>
              </a:rPr>
              <a:t>FOLHAS: E,F,C,G</a:t>
            </a:r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79387" y="2819400"/>
            <a:ext cx="7737476" cy="1219200"/>
            <a:chOff x="514" y="1728"/>
            <a:chExt cx="5246" cy="816"/>
          </a:xfrm>
        </p:grpSpPr>
        <p:sp>
          <p:nvSpPr>
            <p:cNvPr id="4124" name="AutoShape 28"/>
            <p:cNvSpPr>
              <a:spLocks noChangeArrowheads="1"/>
            </p:cNvSpPr>
            <p:nvPr/>
          </p:nvSpPr>
          <p:spPr bwMode="auto">
            <a:xfrm>
              <a:off x="522" y="1728"/>
              <a:ext cx="5238" cy="816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25" name="Text Box 29"/>
            <p:cNvSpPr txBox="1">
              <a:spLocks noChangeArrowheads="1"/>
            </p:cNvSpPr>
            <p:nvPr/>
          </p:nvSpPr>
          <p:spPr bwMode="auto">
            <a:xfrm>
              <a:off x="514" y="1776"/>
              <a:ext cx="960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pt-BR" sz="3200" b="1">
                  <a:solidFill>
                    <a:srgbClr val="FF0000"/>
                  </a:solidFill>
                  <a:latin typeface="Arial Narrow" pitchFamily="34" charset="0"/>
                </a:rPr>
                <a:t>FILHOS DE  A</a:t>
              </a:r>
            </a:p>
          </p:txBody>
        </p:sp>
      </p:grp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191186" y="4876800"/>
            <a:ext cx="5029200" cy="1295400"/>
            <a:chOff x="576" y="3168"/>
            <a:chExt cx="3168" cy="816"/>
          </a:xfrm>
        </p:grpSpPr>
        <p:sp>
          <p:nvSpPr>
            <p:cNvPr id="4127" name="AutoShape 31"/>
            <p:cNvSpPr>
              <a:spLocks noChangeArrowheads="1"/>
            </p:cNvSpPr>
            <p:nvPr/>
          </p:nvSpPr>
          <p:spPr bwMode="auto">
            <a:xfrm>
              <a:off x="576" y="3168"/>
              <a:ext cx="3168" cy="816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FF0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28" name="Text Box 32"/>
            <p:cNvSpPr txBox="1">
              <a:spLocks noChangeArrowheads="1"/>
            </p:cNvSpPr>
            <p:nvPr/>
          </p:nvSpPr>
          <p:spPr bwMode="auto">
            <a:xfrm>
              <a:off x="2736" y="3216"/>
              <a:ext cx="960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pt-BR" sz="3200" b="1">
                  <a:solidFill>
                    <a:srgbClr val="00FF00"/>
                  </a:solidFill>
                  <a:latin typeface="Arial Narrow" pitchFamily="34" charset="0"/>
                </a:rPr>
                <a:t>FILHOS DE  B</a:t>
              </a:r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5535112" y="4343400"/>
            <a:ext cx="2735263" cy="1981200"/>
            <a:chOff x="4224" y="2736"/>
            <a:chExt cx="1723" cy="1248"/>
          </a:xfrm>
        </p:grpSpPr>
        <p:sp>
          <p:nvSpPr>
            <p:cNvPr id="4130" name="Text Box 34"/>
            <p:cNvSpPr txBox="1">
              <a:spLocks noChangeArrowheads="1"/>
            </p:cNvSpPr>
            <p:nvPr/>
          </p:nvSpPr>
          <p:spPr bwMode="auto">
            <a:xfrm>
              <a:off x="4987" y="2736"/>
              <a:ext cx="960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pt-BR" sz="3200" b="1">
                  <a:solidFill>
                    <a:srgbClr val="0066FF"/>
                  </a:solidFill>
                  <a:latin typeface="Arial Narrow" pitchFamily="34" charset="0"/>
                </a:rPr>
                <a:t>FILHO DE  D</a:t>
              </a:r>
            </a:p>
          </p:txBody>
        </p:sp>
        <p:sp>
          <p:nvSpPr>
            <p:cNvPr id="4131" name="AutoShape 35"/>
            <p:cNvSpPr>
              <a:spLocks noChangeArrowheads="1"/>
            </p:cNvSpPr>
            <p:nvPr/>
          </p:nvSpPr>
          <p:spPr bwMode="auto">
            <a:xfrm>
              <a:off x="4224" y="2784"/>
              <a:ext cx="1536" cy="120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FF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3" name="Espaço Reservado para Número de Slid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10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2" grpId="0" autoUpdateAnimBg="0"/>
      <p:bldP spid="412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Árvores - Conceitos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206500"/>
            <a:ext cx="7326312" cy="4700587"/>
          </a:xfrm>
        </p:spPr>
        <p:txBody>
          <a:bodyPr/>
          <a:lstStyle/>
          <a:p>
            <a:r>
              <a:rPr lang="pt-BR" sz="2400" dirty="0"/>
              <a:t>O nó X é um </a:t>
            </a:r>
            <a:r>
              <a:rPr lang="pt-BR" sz="2400" dirty="0">
                <a:solidFill>
                  <a:srgbClr val="0066FF"/>
                </a:solidFill>
              </a:rPr>
              <a:t>ANCESTRAL</a:t>
            </a:r>
            <a:r>
              <a:rPr lang="pt-BR" sz="2400" dirty="0"/>
              <a:t> do nó Y (e Y é DESCENDENTE de X) se X for o </a:t>
            </a:r>
            <a:r>
              <a:rPr lang="pt-BR" sz="2400" dirty="0">
                <a:solidFill>
                  <a:srgbClr val="0066FF"/>
                </a:solidFill>
              </a:rPr>
              <a:t>PAI</a:t>
            </a:r>
            <a:r>
              <a:rPr lang="pt-BR" sz="2400" dirty="0"/>
              <a:t> de Y ou então se X for o </a:t>
            </a:r>
            <a:r>
              <a:rPr lang="pt-BR" sz="2400" dirty="0">
                <a:solidFill>
                  <a:srgbClr val="0066FF"/>
                </a:solidFill>
              </a:rPr>
              <a:t>PAI</a:t>
            </a:r>
            <a:r>
              <a:rPr lang="pt-BR" sz="2400" dirty="0"/>
              <a:t> de algum </a:t>
            </a:r>
            <a:r>
              <a:rPr lang="pt-BR" sz="2400" dirty="0">
                <a:solidFill>
                  <a:srgbClr val="0066FF"/>
                </a:solidFill>
              </a:rPr>
              <a:t>ANCESTRAL</a:t>
            </a:r>
            <a:r>
              <a:rPr lang="pt-BR" sz="2400" dirty="0"/>
              <a:t> de Y.</a:t>
            </a:r>
          </a:p>
          <a:p>
            <a:endParaRPr lang="pt-BR" sz="2400" dirty="0"/>
          </a:p>
          <a:p>
            <a:r>
              <a:rPr lang="pt-BR" sz="2400" dirty="0"/>
              <a:t>Dois nós são </a:t>
            </a:r>
            <a:r>
              <a:rPr lang="pt-BR" sz="2400" dirty="0">
                <a:solidFill>
                  <a:srgbClr val="0066FF"/>
                </a:solidFill>
              </a:rPr>
              <a:t>IRMÃOS</a:t>
            </a:r>
            <a:r>
              <a:rPr lang="pt-BR" sz="2400" dirty="0"/>
              <a:t> se forem filhos do mesmo pai.</a:t>
            </a:r>
          </a:p>
          <a:p>
            <a:endParaRPr lang="pt-BR" sz="2400" dirty="0"/>
          </a:p>
          <a:p>
            <a:r>
              <a:rPr lang="pt-BR" sz="2400" dirty="0"/>
              <a:t>Os nós Y1, Y2, ...</a:t>
            </a:r>
            <a:r>
              <a:rPr lang="pt-BR" sz="2400" dirty="0" err="1"/>
              <a:t>Yj</a:t>
            </a:r>
            <a:r>
              <a:rPr lang="pt-BR" sz="2400" dirty="0"/>
              <a:t> são irmãos e se o nó Z é filho de Y1 então Y2,...</a:t>
            </a:r>
            <a:r>
              <a:rPr lang="pt-BR" sz="2400" dirty="0" err="1"/>
              <a:t>Yj</a:t>
            </a:r>
            <a:r>
              <a:rPr lang="pt-BR" sz="2400" dirty="0"/>
              <a:t> são </a:t>
            </a:r>
            <a:r>
              <a:rPr lang="pt-BR" sz="2400" dirty="0" err="1">
                <a:solidFill>
                  <a:srgbClr val="0066FF"/>
                </a:solidFill>
              </a:rPr>
              <a:t>TIOs</a:t>
            </a:r>
            <a:r>
              <a:rPr lang="pt-BR" sz="2400" dirty="0"/>
              <a:t> de Z.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11</a:t>
            </a:fld>
            <a:endParaRPr lang="pt-BR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Árvores – Exemplo 2</a:t>
            </a:r>
          </a:p>
        </p:txBody>
      </p:sp>
      <p:grpSp>
        <p:nvGrpSpPr>
          <p:cNvPr id="2" name="Group 1041"/>
          <p:cNvGrpSpPr>
            <a:grpSpLocks/>
          </p:cNvGrpSpPr>
          <p:nvPr/>
        </p:nvGrpSpPr>
        <p:grpSpPr bwMode="auto">
          <a:xfrm>
            <a:off x="1395413" y="1201738"/>
            <a:ext cx="6923087" cy="5070475"/>
            <a:chOff x="879" y="757"/>
            <a:chExt cx="4497" cy="3194"/>
          </a:xfrm>
        </p:grpSpPr>
        <p:sp>
          <p:nvSpPr>
            <p:cNvPr id="33796" name="Oval 1028"/>
            <p:cNvSpPr>
              <a:spLocks noChangeArrowheads="1"/>
            </p:cNvSpPr>
            <p:nvPr/>
          </p:nvSpPr>
          <p:spPr bwMode="auto">
            <a:xfrm>
              <a:off x="2367" y="757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 dirty="0">
                  <a:solidFill>
                    <a:srgbClr val="00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33797" name="Oval 1029"/>
            <p:cNvSpPr>
              <a:spLocks noChangeArrowheads="1"/>
            </p:cNvSpPr>
            <p:nvPr/>
          </p:nvSpPr>
          <p:spPr bwMode="auto">
            <a:xfrm>
              <a:off x="879" y="190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C</a:t>
              </a:r>
            </a:p>
          </p:txBody>
        </p:sp>
        <p:sp>
          <p:nvSpPr>
            <p:cNvPr id="33798" name="Oval 1030"/>
            <p:cNvSpPr>
              <a:spLocks noChangeArrowheads="1"/>
            </p:cNvSpPr>
            <p:nvPr/>
          </p:nvSpPr>
          <p:spPr bwMode="auto">
            <a:xfrm>
              <a:off x="2400" y="190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D</a:t>
              </a:r>
            </a:p>
          </p:txBody>
        </p:sp>
        <p:sp>
          <p:nvSpPr>
            <p:cNvPr id="33799" name="Oval 1031"/>
            <p:cNvSpPr>
              <a:spLocks noChangeArrowheads="1"/>
            </p:cNvSpPr>
            <p:nvPr/>
          </p:nvSpPr>
          <p:spPr bwMode="auto">
            <a:xfrm>
              <a:off x="3999" y="190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33800" name="Oval 1032"/>
            <p:cNvSpPr>
              <a:spLocks noChangeArrowheads="1"/>
            </p:cNvSpPr>
            <p:nvPr/>
          </p:nvSpPr>
          <p:spPr bwMode="auto">
            <a:xfrm>
              <a:off x="2382" y="3264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33801" name="Oval 1033"/>
            <p:cNvSpPr>
              <a:spLocks noChangeArrowheads="1"/>
            </p:cNvSpPr>
            <p:nvPr/>
          </p:nvSpPr>
          <p:spPr bwMode="auto">
            <a:xfrm>
              <a:off x="4656" y="331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  <p:sp>
          <p:nvSpPr>
            <p:cNvPr id="33802" name="Oval 1034"/>
            <p:cNvSpPr>
              <a:spLocks noChangeArrowheads="1"/>
            </p:cNvSpPr>
            <p:nvPr/>
          </p:nvSpPr>
          <p:spPr bwMode="auto">
            <a:xfrm>
              <a:off x="3408" y="3327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33803" name="Line 1035"/>
            <p:cNvSpPr>
              <a:spLocks noChangeShapeType="1"/>
            </p:cNvSpPr>
            <p:nvPr/>
          </p:nvSpPr>
          <p:spPr bwMode="auto">
            <a:xfrm>
              <a:off x="2751" y="1381"/>
              <a:ext cx="0" cy="5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3804" name="Line 1036"/>
            <p:cNvSpPr>
              <a:spLocks noChangeShapeType="1"/>
            </p:cNvSpPr>
            <p:nvPr/>
          </p:nvSpPr>
          <p:spPr bwMode="auto">
            <a:xfrm flipH="1">
              <a:off x="1243" y="1381"/>
              <a:ext cx="1502" cy="5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3805" name="Line 1037"/>
            <p:cNvSpPr>
              <a:spLocks noChangeShapeType="1"/>
            </p:cNvSpPr>
            <p:nvPr/>
          </p:nvSpPr>
          <p:spPr bwMode="auto">
            <a:xfrm>
              <a:off x="2751" y="1381"/>
              <a:ext cx="16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3806" name="Line 1038"/>
            <p:cNvSpPr>
              <a:spLocks noChangeShapeType="1"/>
            </p:cNvSpPr>
            <p:nvPr/>
          </p:nvSpPr>
          <p:spPr bwMode="auto">
            <a:xfrm flipH="1">
              <a:off x="3792" y="2544"/>
              <a:ext cx="57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3807" name="Line 1039"/>
            <p:cNvSpPr>
              <a:spLocks noChangeShapeType="1"/>
            </p:cNvSpPr>
            <p:nvPr/>
          </p:nvSpPr>
          <p:spPr bwMode="auto">
            <a:xfrm>
              <a:off x="4368" y="2544"/>
              <a:ext cx="672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3808" name="Line 1040"/>
            <p:cNvSpPr>
              <a:spLocks noChangeShapeType="1"/>
            </p:cNvSpPr>
            <p:nvPr/>
          </p:nvSpPr>
          <p:spPr bwMode="auto">
            <a:xfrm>
              <a:off x="2766" y="254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</p:grpSp>
      <p:grpSp>
        <p:nvGrpSpPr>
          <p:cNvPr id="3" name="Group 1050"/>
          <p:cNvGrpSpPr>
            <a:grpSpLocks/>
          </p:cNvGrpSpPr>
          <p:nvPr/>
        </p:nvGrpSpPr>
        <p:grpSpPr bwMode="auto">
          <a:xfrm>
            <a:off x="828675" y="2830513"/>
            <a:ext cx="8315325" cy="1295400"/>
            <a:chOff x="522" y="1783"/>
            <a:chExt cx="5238" cy="816"/>
          </a:xfrm>
        </p:grpSpPr>
        <p:sp>
          <p:nvSpPr>
            <p:cNvPr id="33811" name="AutoShape 1043"/>
            <p:cNvSpPr>
              <a:spLocks noChangeArrowheads="1"/>
            </p:cNvSpPr>
            <p:nvPr/>
          </p:nvSpPr>
          <p:spPr bwMode="auto">
            <a:xfrm>
              <a:off x="522" y="1783"/>
              <a:ext cx="5238" cy="816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3812" name="Text Box 1044"/>
            <p:cNvSpPr txBox="1">
              <a:spLocks noChangeArrowheads="1"/>
            </p:cNvSpPr>
            <p:nvPr/>
          </p:nvSpPr>
          <p:spPr bwMode="auto">
            <a:xfrm>
              <a:off x="4800" y="1824"/>
              <a:ext cx="960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pt-BR" sz="2400" b="1" dirty="0">
                  <a:solidFill>
                    <a:srgbClr val="FF0000"/>
                  </a:solidFill>
                  <a:latin typeface="Arial Narrow" pitchFamily="34" charset="0"/>
                </a:rPr>
                <a:t>NÓS IRMÃOS</a:t>
              </a:r>
            </a:p>
          </p:txBody>
        </p:sp>
      </p:grpSp>
      <p:grpSp>
        <p:nvGrpSpPr>
          <p:cNvPr id="4" name="Group 1051"/>
          <p:cNvGrpSpPr>
            <a:grpSpLocks/>
          </p:cNvGrpSpPr>
          <p:nvPr/>
        </p:nvGrpSpPr>
        <p:grpSpPr bwMode="auto">
          <a:xfrm>
            <a:off x="828675" y="2514600"/>
            <a:ext cx="8315325" cy="3841750"/>
            <a:chOff x="522" y="1584"/>
            <a:chExt cx="5238" cy="2544"/>
          </a:xfrm>
        </p:grpSpPr>
        <p:sp>
          <p:nvSpPr>
            <p:cNvPr id="33814" name="Text Box 1046"/>
            <p:cNvSpPr txBox="1">
              <a:spLocks noChangeArrowheads="1"/>
            </p:cNvSpPr>
            <p:nvPr/>
          </p:nvSpPr>
          <p:spPr bwMode="auto">
            <a:xfrm>
              <a:off x="576" y="2832"/>
              <a:ext cx="1467" cy="5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pt-BR" sz="2400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DESCENDENTES</a:t>
              </a:r>
              <a:r>
                <a:rPr kumimoji="1" lang="pt-BR" sz="2800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kumimoji="1" lang="pt-BR" sz="2400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DE  A</a:t>
              </a:r>
              <a:endParaRPr kumimoji="1" lang="pt-BR" sz="2800" b="1" dirty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endParaRPr>
            </a:p>
          </p:txBody>
        </p:sp>
        <p:sp>
          <p:nvSpPr>
            <p:cNvPr id="33815" name="AutoShape 1047"/>
            <p:cNvSpPr>
              <a:spLocks noChangeArrowheads="1"/>
            </p:cNvSpPr>
            <p:nvPr/>
          </p:nvSpPr>
          <p:spPr bwMode="auto">
            <a:xfrm>
              <a:off x="522" y="1584"/>
              <a:ext cx="5238" cy="2544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bg2">
                  <a:lumMod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5" name="Group 1049"/>
          <p:cNvGrpSpPr>
            <a:grpSpLocks/>
          </p:cNvGrpSpPr>
          <p:nvPr/>
        </p:nvGrpSpPr>
        <p:grpSpPr bwMode="auto">
          <a:xfrm>
            <a:off x="3305431" y="838200"/>
            <a:ext cx="5546725" cy="3429000"/>
            <a:chOff x="2304" y="528"/>
            <a:chExt cx="3494" cy="2160"/>
          </a:xfrm>
        </p:grpSpPr>
        <p:sp>
          <p:nvSpPr>
            <p:cNvPr id="33813" name="AutoShape 1045"/>
            <p:cNvSpPr>
              <a:spLocks noChangeArrowheads="1"/>
            </p:cNvSpPr>
            <p:nvPr/>
          </p:nvSpPr>
          <p:spPr bwMode="auto">
            <a:xfrm>
              <a:off x="2304" y="528"/>
              <a:ext cx="1584" cy="216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FF0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3816" name="Text Box 1048"/>
            <p:cNvSpPr txBox="1">
              <a:spLocks noChangeArrowheads="1"/>
            </p:cNvSpPr>
            <p:nvPr/>
          </p:nvSpPr>
          <p:spPr bwMode="auto">
            <a:xfrm>
              <a:off x="3926" y="611"/>
              <a:ext cx="187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pt-BR" sz="2400" b="1" dirty="0">
                  <a:solidFill>
                    <a:srgbClr val="00FF00"/>
                  </a:solidFill>
                  <a:latin typeface="Arial Narrow" pitchFamily="34" charset="0"/>
                </a:rPr>
                <a:t>ANCESTRAIS DE G</a:t>
              </a:r>
            </a:p>
          </p:txBody>
        </p:sp>
      </p:grpSp>
      <p:grpSp>
        <p:nvGrpSpPr>
          <p:cNvPr id="6" name="Group 1055"/>
          <p:cNvGrpSpPr>
            <a:grpSpLocks/>
          </p:cNvGrpSpPr>
          <p:nvPr/>
        </p:nvGrpSpPr>
        <p:grpSpPr bwMode="auto">
          <a:xfrm>
            <a:off x="914400" y="1066800"/>
            <a:ext cx="4267200" cy="2971800"/>
            <a:chOff x="576" y="672"/>
            <a:chExt cx="2688" cy="1872"/>
          </a:xfrm>
        </p:grpSpPr>
        <p:sp>
          <p:nvSpPr>
            <p:cNvPr id="33820" name="AutoShape 1052"/>
            <p:cNvSpPr>
              <a:spLocks noChangeArrowheads="1"/>
            </p:cNvSpPr>
            <p:nvPr/>
          </p:nvSpPr>
          <p:spPr bwMode="auto">
            <a:xfrm>
              <a:off x="816" y="1872"/>
              <a:ext cx="2448" cy="672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3366FF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3821" name="Line 1053"/>
            <p:cNvSpPr>
              <a:spLocks noChangeShapeType="1"/>
            </p:cNvSpPr>
            <p:nvPr/>
          </p:nvSpPr>
          <p:spPr bwMode="auto">
            <a:xfrm flipH="1" flipV="1">
              <a:off x="1296" y="1056"/>
              <a:ext cx="624" cy="1056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3822" name="Text Box 1054"/>
            <p:cNvSpPr txBox="1">
              <a:spLocks noChangeArrowheads="1"/>
            </p:cNvSpPr>
            <p:nvPr/>
          </p:nvSpPr>
          <p:spPr bwMode="auto">
            <a:xfrm>
              <a:off x="576" y="672"/>
              <a:ext cx="11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pt-BR" sz="2400" b="1" dirty="0">
                  <a:solidFill>
                    <a:srgbClr val="0066FF"/>
                  </a:solidFill>
                  <a:latin typeface="Arial Narrow" pitchFamily="34" charset="0"/>
                </a:rPr>
                <a:t>TIOS de F e </a:t>
              </a:r>
              <a:r>
                <a:rPr kumimoji="1" lang="pt-BR" sz="2400" b="1" dirty="0" err="1">
                  <a:solidFill>
                    <a:srgbClr val="0066FF"/>
                  </a:solidFill>
                  <a:latin typeface="Arial Narrow" pitchFamily="34" charset="0"/>
                </a:rPr>
                <a:t>E</a:t>
              </a:r>
              <a:endParaRPr kumimoji="1" lang="pt-BR" sz="2400" b="1" dirty="0">
                <a:solidFill>
                  <a:srgbClr val="0066FF"/>
                </a:solidFill>
                <a:latin typeface="Arial Narrow" pitchFamily="34" charset="0"/>
              </a:endParaRPr>
            </a:p>
          </p:txBody>
        </p:sp>
      </p:grpSp>
      <p:sp>
        <p:nvSpPr>
          <p:cNvPr id="30" name="Espaço Reservado para Número de Slide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12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Árvores - Conceitos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6475" y="1628775"/>
            <a:ext cx="8137525" cy="4537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O </a:t>
            </a:r>
            <a:r>
              <a:rPr lang="pt-BR">
                <a:solidFill>
                  <a:srgbClr val="0066FF"/>
                </a:solidFill>
              </a:rPr>
              <a:t>NÍVEL</a:t>
            </a:r>
            <a:r>
              <a:rPr lang="pt-BR"/>
              <a:t> de um nó X é definido como segue:</a:t>
            </a:r>
          </a:p>
          <a:p>
            <a:pPr lvl="1">
              <a:lnSpc>
                <a:spcPct val="90000"/>
              </a:lnSpc>
            </a:pPr>
            <a:r>
              <a:rPr lang="pt-BR"/>
              <a:t>a </a:t>
            </a:r>
            <a:r>
              <a:rPr lang="pt-BR">
                <a:solidFill>
                  <a:srgbClr val="0066FF"/>
                </a:solidFill>
              </a:rPr>
              <a:t>RAIZ</a:t>
            </a:r>
            <a:r>
              <a:rPr lang="pt-BR"/>
              <a:t> tem nível </a:t>
            </a:r>
            <a:r>
              <a:rPr lang="pt-BR">
                <a:solidFill>
                  <a:srgbClr val="0066FF"/>
                </a:solidFill>
              </a:rPr>
              <a:t>1</a:t>
            </a:r>
          </a:p>
          <a:p>
            <a:pPr lvl="1">
              <a:lnSpc>
                <a:spcPct val="90000"/>
              </a:lnSpc>
            </a:pPr>
            <a:r>
              <a:rPr lang="pt-BR"/>
              <a:t>o nível de qualquer outro nó é um nível a mais que o nível de seu </a:t>
            </a:r>
            <a:r>
              <a:rPr lang="pt-BR">
                <a:solidFill>
                  <a:srgbClr val="0066FF"/>
                </a:solidFill>
              </a:rPr>
              <a:t>PAI</a:t>
            </a:r>
            <a:r>
              <a:rPr lang="pt-BR"/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pt-BR" sz="1000"/>
          </a:p>
          <a:p>
            <a:pPr>
              <a:lnSpc>
                <a:spcPct val="90000"/>
              </a:lnSpc>
            </a:pPr>
            <a:r>
              <a:rPr lang="pt-BR"/>
              <a:t>A </a:t>
            </a:r>
            <a:r>
              <a:rPr lang="pt-BR">
                <a:solidFill>
                  <a:srgbClr val="0066FF"/>
                </a:solidFill>
              </a:rPr>
              <a:t>PROFUNDIDADE </a:t>
            </a:r>
            <a:r>
              <a:rPr lang="pt-BR"/>
              <a:t>de uma árvore significa o nível máximo de qualquer </a:t>
            </a:r>
            <a:r>
              <a:rPr lang="pt-BR">
                <a:solidFill>
                  <a:srgbClr val="0066FF"/>
                </a:solidFill>
              </a:rPr>
              <a:t>FOLHA</a:t>
            </a:r>
            <a:r>
              <a:rPr lang="pt-BR"/>
              <a:t> na árvore (equivale ao tamanho do percurso mais distante da </a:t>
            </a:r>
            <a:r>
              <a:rPr lang="pt-BR">
                <a:solidFill>
                  <a:srgbClr val="0066FF"/>
                </a:solidFill>
              </a:rPr>
              <a:t>RAIZ</a:t>
            </a:r>
            <a:r>
              <a:rPr lang="pt-BR"/>
              <a:t> até qualquer </a:t>
            </a:r>
            <a:r>
              <a:rPr lang="pt-BR">
                <a:solidFill>
                  <a:srgbClr val="0066FF"/>
                </a:solidFill>
              </a:rPr>
              <a:t>FOLHA</a:t>
            </a:r>
            <a:r>
              <a:rPr lang="pt-BR"/>
              <a:t>).</a:t>
            </a:r>
            <a:endParaRPr lang="pt-BR" sz="10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13</a:t>
            </a:fld>
            <a:endParaRPr lang="pt-BR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Árvores – Exemplo 3</a:t>
            </a:r>
          </a:p>
        </p:txBody>
      </p:sp>
      <p:grpSp>
        <p:nvGrpSpPr>
          <p:cNvPr id="2" name="Group 1081"/>
          <p:cNvGrpSpPr>
            <a:grpSpLocks/>
          </p:cNvGrpSpPr>
          <p:nvPr/>
        </p:nvGrpSpPr>
        <p:grpSpPr bwMode="auto">
          <a:xfrm>
            <a:off x="914400" y="990600"/>
            <a:ext cx="7848600" cy="5562600"/>
            <a:chOff x="576" y="624"/>
            <a:chExt cx="5184" cy="3504"/>
          </a:xfrm>
        </p:grpSpPr>
        <p:sp>
          <p:nvSpPr>
            <p:cNvPr id="34861" name="Line 1069"/>
            <p:cNvSpPr>
              <a:spLocks noChangeShapeType="1"/>
            </p:cNvSpPr>
            <p:nvPr/>
          </p:nvSpPr>
          <p:spPr bwMode="auto">
            <a:xfrm>
              <a:off x="3600" y="139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grpSp>
          <p:nvGrpSpPr>
            <p:cNvPr id="3" name="Group 1080"/>
            <p:cNvGrpSpPr>
              <a:grpSpLocks/>
            </p:cNvGrpSpPr>
            <p:nvPr/>
          </p:nvGrpSpPr>
          <p:grpSpPr bwMode="auto">
            <a:xfrm>
              <a:off x="576" y="624"/>
              <a:ext cx="5184" cy="3504"/>
              <a:chOff x="576" y="624"/>
              <a:chExt cx="5184" cy="3504"/>
            </a:xfrm>
          </p:grpSpPr>
          <p:sp>
            <p:nvSpPr>
              <p:cNvPr id="34833" name="Oval 1041"/>
              <p:cNvSpPr>
                <a:spLocks noChangeArrowheads="1"/>
              </p:cNvSpPr>
              <p:nvPr/>
            </p:nvSpPr>
            <p:spPr bwMode="auto">
              <a:xfrm>
                <a:off x="3312" y="912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 dirty="0">
                    <a:solidFill>
                      <a:srgbClr val="000000"/>
                    </a:solidFill>
                    <a:latin typeface="Arial Narrow" pitchFamily="34" charset="0"/>
                  </a:rPr>
                  <a:t>D</a:t>
                </a:r>
              </a:p>
            </p:txBody>
          </p:sp>
          <p:sp>
            <p:nvSpPr>
              <p:cNvPr id="34834" name="Oval 1042"/>
              <p:cNvSpPr>
                <a:spLocks noChangeArrowheads="1"/>
              </p:cNvSpPr>
              <p:nvPr/>
            </p:nvSpPr>
            <p:spPr bwMode="auto">
              <a:xfrm>
                <a:off x="2317" y="91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 dirty="0">
                    <a:solidFill>
                      <a:srgbClr val="000000"/>
                    </a:solidFill>
                    <a:latin typeface="Arial Narrow" pitchFamily="34" charset="0"/>
                  </a:rPr>
                  <a:t>C</a:t>
                </a:r>
              </a:p>
            </p:txBody>
          </p:sp>
          <p:sp>
            <p:nvSpPr>
              <p:cNvPr id="34835" name="Oval 1043"/>
              <p:cNvSpPr>
                <a:spLocks noChangeArrowheads="1"/>
              </p:cNvSpPr>
              <p:nvPr/>
            </p:nvSpPr>
            <p:spPr bwMode="auto">
              <a:xfrm>
                <a:off x="1200" y="912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B</a:t>
                </a:r>
              </a:p>
            </p:txBody>
          </p:sp>
          <p:sp>
            <p:nvSpPr>
              <p:cNvPr id="34836" name="Oval 1044"/>
              <p:cNvSpPr>
                <a:spLocks noChangeArrowheads="1"/>
              </p:cNvSpPr>
              <p:nvPr/>
            </p:nvSpPr>
            <p:spPr bwMode="auto">
              <a:xfrm>
                <a:off x="4368" y="912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E</a:t>
                </a:r>
              </a:p>
            </p:txBody>
          </p:sp>
          <p:sp>
            <p:nvSpPr>
              <p:cNvPr id="34838" name="Line 1046"/>
              <p:cNvSpPr>
                <a:spLocks noChangeShapeType="1"/>
              </p:cNvSpPr>
              <p:nvPr/>
            </p:nvSpPr>
            <p:spPr bwMode="auto">
              <a:xfrm flipH="1">
                <a:off x="1488" y="624"/>
                <a:ext cx="129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40" name="Line 1048"/>
              <p:cNvSpPr>
                <a:spLocks noChangeShapeType="1"/>
              </p:cNvSpPr>
              <p:nvPr/>
            </p:nvSpPr>
            <p:spPr bwMode="auto">
              <a:xfrm flipH="1">
                <a:off x="2592" y="816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41" name="Line 1049"/>
              <p:cNvSpPr>
                <a:spLocks noChangeShapeType="1"/>
              </p:cNvSpPr>
              <p:nvPr/>
            </p:nvSpPr>
            <p:spPr bwMode="auto">
              <a:xfrm>
                <a:off x="3216" y="816"/>
                <a:ext cx="3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42" name="Line 1050"/>
              <p:cNvSpPr>
                <a:spLocks noChangeShapeType="1"/>
              </p:cNvSpPr>
              <p:nvPr/>
            </p:nvSpPr>
            <p:spPr bwMode="auto">
              <a:xfrm>
                <a:off x="3312" y="624"/>
                <a:ext cx="129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43" name="Oval 1051"/>
              <p:cNvSpPr>
                <a:spLocks noChangeArrowheads="1"/>
              </p:cNvSpPr>
              <p:nvPr/>
            </p:nvSpPr>
            <p:spPr bwMode="auto">
              <a:xfrm>
                <a:off x="3337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I</a:t>
                </a:r>
              </a:p>
            </p:txBody>
          </p:sp>
          <p:sp>
            <p:nvSpPr>
              <p:cNvPr id="34844" name="Oval 1052"/>
              <p:cNvSpPr>
                <a:spLocks noChangeArrowheads="1"/>
              </p:cNvSpPr>
              <p:nvPr/>
            </p:nvSpPr>
            <p:spPr bwMode="auto">
              <a:xfrm>
                <a:off x="1209" y="1780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G</a:t>
                </a:r>
              </a:p>
            </p:txBody>
          </p:sp>
          <p:sp>
            <p:nvSpPr>
              <p:cNvPr id="34845" name="Oval 1053"/>
              <p:cNvSpPr>
                <a:spLocks noChangeArrowheads="1"/>
              </p:cNvSpPr>
              <p:nvPr/>
            </p:nvSpPr>
            <p:spPr bwMode="auto">
              <a:xfrm>
                <a:off x="576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F</a:t>
                </a:r>
              </a:p>
            </p:txBody>
          </p:sp>
          <p:sp>
            <p:nvSpPr>
              <p:cNvPr id="34846" name="Oval 1054"/>
              <p:cNvSpPr>
                <a:spLocks noChangeArrowheads="1"/>
              </p:cNvSpPr>
              <p:nvPr/>
            </p:nvSpPr>
            <p:spPr bwMode="auto">
              <a:xfrm>
                <a:off x="3964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J</a:t>
                </a:r>
              </a:p>
            </p:txBody>
          </p:sp>
          <p:sp>
            <p:nvSpPr>
              <p:cNvPr id="34847" name="Oval 1055"/>
              <p:cNvSpPr>
                <a:spLocks noChangeArrowheads="1"/>
              </p:cNvSpPr>
              <p:nvPr/>
            </p:nvSpPr>
            <p:spPr bwMode="auto">
              <a:xfrm>
                <a:off x="1854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H</a:t>
                </a:r>
              </a:p>
            </p:txBody>
          </p:sp>
          <p:sp>
            <p:nvSpPr>
              <p:cNvPr id="34848" name="Oval 1056"/>
              <p:cNvSpPr>
                <a:spLocks noChangeArrowheads="1"/>
              </p:cNvSpPr>
              <p:nvPr/>
            </p:nvSpPr>
            <p:spPr bwMode="auto">
              <a:xfrm>
                <a:off x="4587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K</a:t>
                </a:r>
              </a:p>
            </p:txBody>
          </p:sp>
          <p:sp>
            <p:nvSpPr>
              <p:cNvPr id="34849" name="Oval 1057"/>
              <p:cNvSpPr>
                <a:spLocks noChangeArrowheads="1"/>
              </p:cNvSpPr>
              <p:nvPr/>
            </p:nvSpPr>
            <p:spPr bwMode="auto">
              <a:xfrm>
                <a:off x="5232" y="1772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L</a:t>
                </a:r>
              </a:p>
            </p:txBody>
          </p:sp>
          <p:sp>
            <p:nvSpPr>
              <p:cNvPr id="34850" name="Oval 1058"/>
              <p:cNvSpPr>
                <a:spLocks noChangeArrowheads="1"/>
              </p:cNvSpPr>
              <p:nvPr/>
            </p:nvSpPr>
            <p:spPr bwMode="auto">
              <a:xfrm>
                <a:off x="1226" y="2733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N</a:t>
                </a:r>
              </a:p>
            </p:txBody>
          </p:sp>
          <p:sp>
            <p:nvSpPr>
              <p:cNvPr id="34851" name="Oval 1059"/>
              <p:cNvSpPr>
                <a:spLocks noChangeArrowheads="1"/>
              </p:cNvSpPr>
              <p:nvPr/>
            </p:nvSpPr>
            <p:spPr bwMode="auto">
              <a:xfrm>
                <a:off x="615" y="2729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M</a:t>
                </a:r>
              </a:p>
            </p:txBody>
          </p:sp>
          <p:sp>
            <p:nvSpPr>
              <p:cNvPr id="34852" name="Oval 1060"/>
              <p:cNvSpPr>
                <a:spLocks noChangeArrowheads="1"/>
              </p:cNvSpPr>
              <p:nvPr/>
            </p:nvSpPr>
            <p:spPr bwMode="auto">
              <a:xfrm>
                <a:off x="1893" y="2729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O</a:t>
                </a:r>
              </a:p>
            </p:txBody>
          </p:sp>
          <p:sp>
            <p:nvSpPr>
              <p:cNvPr id="34853" name="Oval 1061"/>
              <p:cNvSpPr>
                <a:spLocks noChangeArrowheads="1"/>
              </p:cNvSpPr>
              <p:nvPr/>
            </p:nvSpPr>
            <p:spPr bwMode="auto">
              <a:xfrm>
                <a:off x="602" y="3648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P</a:t>
                </a:r>
              </a:p>
            </p:txBody>
          </p:sp>
          <p:sp>
            <p:nvSpPr>
              <p:cNvPr id="34854" name="Line 1062"/>
              <p:cNvSpPr>
                <a:spLocks noChangeShapeType="1"/>
              </p:cNvSpPr>
              <p:nvPr/>
            </p:nvSpPr>
            <p:spPr bwMode="auto">
              <a:xfrm flipH="1">
                <a:off x="864" y="1392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5" name="Line 1063"/>
              <p:cNvSpPr>
                <a:spLocks noChangeShapeType="1"/>
              </p:cNvSpPr>
              <p:nvPr/>
            </p:nvSpPr>
            <p:spPr bwMode="auto">
              <a:xfrm>
                <a:off x="1440" y="1392"/>
                <a:ext cx="67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6" name="Line 1064"/>
              <p:cNvSpPr>
                <a:spLocks noChangeShapeType="1"/>
              </p:cNvSpPr>
              <p:nvPr/>
            </p:nvSpPr>
            <p:spPr bwMode="auto">
              <a:xfrm>
                <a:off x="1451" y="1392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7" name="Line 1065"/>
              <p:cNvSpPr>
                <a:spLocks noChangeShapeType="1"/>
              </p:cNvSpPr>
              <p:nvPr/>
            </p:nvSpPr>
            <p:spPr bwMode="auto">
              <a:xfrm flipH="1">
                <a:off x="912" y="2256"/>
                <a:ext cx="576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8" name="Line 1066"/>
              <p:cNvSpPr>
                <a:spLocks noChangeShapeType="1"/>
              </p:cNvSpPr>
              <p:nvPr/>
            </p:nvSpPr>
            <p:spPr bwMode="auto">
              <a:xfrm>
                <a:off x="1488" y="225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9" name="Line 1067"/>
              <p:cNvSpPr>
                <a:spLocks noChangeShapeType="1"/>
              </p:cNvSpPr>
              <p:nvPr/>
            </p:nvSpPr>
            <p:spPr bwMode="auto">
              <a:xfrm>
                <a:off x="1488" y="2256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60" name="Line 1068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62" name="Line 1070"/>
              <p:cNvSpPr>
                <a:spLocks noChangeShapeType="1"/>
              </p:cNvSpPr>
              <p:nvPr/>
            </p:nvSpPr>
            <p:spPr bwMode="auto">
              <a:xfrm flipH="1">
                <a:off x="4224" y="1392"/>
                <a:ext cx="43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63" name="Line 1071"/>
              <p:cNvSpPr>
                <a:spLocks noChangeShapeType="1"/>
              </p:cNvSpPr>
              <p:nvPr/>
            </p:nvSpPr>
            <p:spPr bwMode="auto">
              <a:xfrm>
                <a:off x="4656" y="1392"/>
                <a:ext cx="86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64" name="Line 1072"/>
              <p:cNvSpPr>
                <a:spLocks noChangeShapeType="1"/>
              </p:cNvSpPr>
              <p:nvPr/>
            </p:nvSpPr>
            <p:spPr bwMode="auto">
              <a:xfrm>
                <a:off x="4656" y="1392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</p:grpSp>
      </p:grpSp>
      <p:sp>
        <p:nvSpPr>
          <p:cNvPr id="34865" name="Text Box 1073"/>
          <p:cNvSpPr txBox="1">
            <a:spLocks noChangeArrowheads="1"/>
          </p:cNvSpPr>
          <p:nvPr/>
        </p:nvSpPr>
        <p:spPr bwMode="auto">
          <a:xfrm>
            <a:off x="5392026" y="5270212"/>
            <a:ext cx="3291286" cy="58477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200" b="1" dirty="0">
                <a:solidFill>
                  <a:srgbClr val="020000"/>
                </a:solidFill>
                <a:latin typeface="Arial Narrow" pitchFamily="34" charset="0"/>
              </a:rPr>
              <a:t>PROFUNDIDADE: 5</a:t>
            </a:r>
          </a:p>
        </p:txBody>
      </p:sp>
      <p:sp>
        <p:nvSpPr>
          <p:cNvPr id="34866" name="Text Box 1074"/>
          <p:cNvSpPr txBox="1">
            <a:spLocks noChangeArrowheads="1"/>
          </p:cNvSpPr>
          <p:nvPr/>
        </p:nvSpPr>
        <p:spPr bwMode="auto">
          <a:xfrm>
            <a:off x="5502275" y="349250"/>
            <a:ext cx="1293687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 1</a:t>
            </a:r>
          </a:p>
        </p:txBody>
      </p:sp>
      <p:sp>
        <p:nvSpPr>
          <p:cNvPr id="34867" name="Text Box 1075"/>
          <p:cNvSpPr txBox="1">
            <a:spLocks noChangeArrowheads="1"/>
          </p:cNvSpPr>
          <p:nvPr/>
        </p:nvSpPr>
        <p:spPr bwMode="auto">
          <a:xfrm>
            <a:off x="228600" y="1524000"/>
            <a:ext cx="12936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 2</a:t>
            </a:r>
          </a:p>
        </p:txBody>
      </p:sp>
      <p:sp>
        <p:nvSpPr>
          <p:cNvPr id="34868" name="Text Box 1076"/>
          <p:cNvSpPr txBox="1">
            <a:spLocks noChangeArrowheads="1"/>
          </p:cNvSpPr>
          <p:nvPr/>
        </p:nvSpPr>
        <p:spPr bwMode="auto">
          <a:xfrm>
            <a:off x="3800880" y="3051830"/>
            <a:ext cx="1293687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 3</a:t>
            </a:r>
          </a:p>
        </p:txBody>
      </p:sp>
      <p:sp>
        <p:nvSpPr>
          <p:cNvPr id="34869" name="Text Box 1077"/>
          <p:cNvSpPr txBox="1">
            <a:spLocks noChangeArrowheads="1"/>
          </p:cNvSpPr>
          <p:nvPr/>
        </p:nvSpPr>
        <p:spPr bwMode="auto">
          <a:xfrm>
            <a:off x="4038600" y="4419600"/>
            <a:ext cx="12987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</a:t>
            </a:r>
            <a:r>
              <a:rPr kumimoji="1" lang="pt-BR" sz="2800" dirty="0">
                <a:solidFill>
                  <a:srgbClr val="0066FF"/>
                </a:solidFill>
                <a:latin typeface="Arial Narrow" pitchFamily="34" charset="0"/>
              </a:rPr>
              <a:t> </a:t>
            </a:r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4</a:t>
            </a:r>
          </a:p>
        </p:txBody>
      </p:sp>
      <p:sp>
        <p:nvSpPr>
          <p:cNvPr id="34870" name="Text Box 1078"/>
          <p:cNvSpPr txBox="1">
            <a:spLocks noChangeArrowheads="1"/>
          </p:cNvSpPr>
          <p:nvPr/>
        </p:nvSpPr>
        <p:spPr bwMode="auto">
          <a:xfrm>
            <a:off x="1905000" y="6029980"/>
            <a:ext cx="12936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 5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44" name="Oval 1028"/>
          <p:cNvSpPr>
            <a:spLocks noChangeArrowheads="1"/>
          </p:cNvSpPr>
          <p:nvPr/>
        </p:nvSpPr>
        <p:spPr bwMode="auto">
          <a:xfrm>
            <a:off x="4257322" y="609600"/>
            <a:ext cx="799394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2800" dirty="0">
                <a:solidFill>
                  <a:srgbClr val="000000"/>
                </a:solidFill>
                <a:latin typeface="Arial Narrow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90523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65" grpId="0" animBg="1" autoUpdateAnimBg="0"/>
      <p:bldP spid="34866" grpId="0" animBg="1" autoUpdateAnimBg="0"/>
      <p:bldP spid="34867" grpId="0" autoUpdateAnimBg="0"/>
      <p:bldP spid="34868" grpId="0" animBg="1" autoUpdateAnimBg="0"/>
      <p:bldP spid="34869" grpId="0" autoUpdateAnimBg="0"/>
      <p:bldP spid="3487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Árvores - Conceitos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6475" y="1628775"/>
            <a:ext cx="8137525" cy="52292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O </a:t>
            </a:r>
            <a:r>
              <a:rPr lang="pt-BR">
                <a:solidFill>
                  <a:srgbClr val="0066FF"/>
                </a:solidFill>
              </a:rPr>
              <a:t>GRAU</a:t>
            </a:r>
            <a:r>
              <a:rPr lang="pt-BR"/>
              <a:t> (ou </a:t>
            </a:r>
            <a:r>
              <a:rPr lang="pt-BR">
                <a:solidFill>
                  <a:srgbClr val="0066FF"/>
                </a:solidFill>
              </a:rPr>
              <a:t>GRAU DE SAÍDA</a:t>
            </a:r>
            <a:r>
              <a:rPr lang="pt-BR"/>
              <a:t>) de um nó numa árvore é o número de seus </a:t>
            </a:r>
            <a:r>
              <a:rPr lang="pt-BR">
                <a:solidFill>
                  <a:srgbClr val="0066FF"/>
                </a:solidFill>
              </a:rPr>
              <a:t>FILHOS</a:t>
            </a:r>
            <a:r>
              <a:rPr lang="pt-BR"/>
              <a:t>.</a:t>
            </a:r>
          </a:p>
          <a:p>
            <a:pPr>
              <a:lnSpc>
                <a:spcPct val="90000"/>
              </a:lnSpc>
            </a:pPr>
            <a:endParaRPr lang="pt-BR" sz="1000"/>
          </a:p>
          <a:p>
            <a:pPr>
              <a:lnSpc>
                <a:spcPct val="90000"/>
              </a:lnSpc>
            </a:pPr>
            <a:r>
              <a:rPr lang="pt-BR"/>
              <a:t>O </a:t>
            </a:r>
            <a:r>
              <a:rPr lang="pt-BR">
                <a:solidFill>
                  <a:srgbClr val="0066FF"/>
                </a:solidFill>
              </a:rPr>
              <a:t>GRAU</a:t>
            </a:r>
            <a:r>
              <a:rPr lang="pt-BR"/>
              <a:t> da árvore é o máximo entre os graus de seus nós.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15</a:t>
            </a:fld>
            <a:endParaRPr lang="pt-BR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/>
              <a:t>Árvores – Exemplo 3</a:t>
            </a:r>
          </a:p>
        </p:txBody>
      </p:sp>
      <p:grpSp>
        <p:nvGrpSpPr>
          <p:cNvPr id="2" name="Group 1081"/>
          <p:cNvGrpSpPr>
            <a:grpSpLocks/>
          </p:cNvGrpSpPr>
          <p:nvPr/>
        </p:nvGrpSpPr>
        <p:grpSpPr bwMode="auto">
          <a:xfrm>
            <a:off x="914400" y="990600"/>
            <a:ext cx="7848600" cy="5562600"/>
            <a:chOff x="576" y="624"/>
            <a:chExt cx="5184" cy="3504"/>
          </a:xfrm>
        </p:grpSpPr>
        <p:sp>
          <p:nvSpPr>
            <p:cNvPr id="34861" name="Line 1069"/>
            <p:cNvSpPr>
              <a:spLocks noChangeShapeType="1"/>
            </p:cNvSpPr>
            <p:nvPr/>
          </p:nvSpPr>
          <p:spPr bwMode="auto">
            <a:xfrm>
              <a:off x="3600" y="139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grpSp>
          <p:nvGrpSpPr>
            <p:cNvPr id="3" name="Group 1080"/>
            <p:cNvGrpSpPr>
              <a:grpSpLocks/>
            </p:cNvGrpSpPr>
            <p:nvPr/>
          </p:nvGrpSpPr>
          <p:grpSpPr bwMode="auto">
            <a:xfrm>
              <a:off x="576" y="624"/>
              <a:ext cx="5184" cy="3504"/>
              <a:chOff x="576" y="624"/>
              <a:chExt cx="5184" cy="3504"/>
            </a:xfrm>
          </p:grpSpPr>
          <p:sp>
            <p:nvSpPr>
              <p:cNvPr id="34833" name="Oval 1041"/>
              <p:cNvSpPr>
                <a:spLocks noChangeArrowheads="1"/>
              </p:cNvSpPr>
              <p:nvPr/>
            </p:nvSpPr>
            <p:spPr bwMode="auto">
              <a:xfrm>
                <a:off x="3312" y="912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 dirty="0">
                    <a:solidFill>
                      <a:srgbClr val="000000"/>
                    </a:solidFill>
                    <a:latin typeface="Arial Narrow" pitchFamily="34" charset="0"/>
                  </a:rPr>
                  <a:t>D</a:t>
                </a:r>
              </a:p>
            </p:txBody>
          </p:sp>
          <p:sp>
            <p:nvSpPr>
              <p:cNvPr id="34834" name="Oval 1042"/>
              <p:cNvSpPr>
                <a:spLocks noChangeArrowheads="1"/>
              </p:cNvSpPr>
              <p:nvPr/>
            </p:nvSpPr>
            <p:spPr bwMode="auto">
              <a:xfrm>
                <a:off x="2317" y="91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 dirty="0">
                    <a:solidFill>
                      <a:srgbClr val="000000"/>
                    </a:solidFill>
                    <a:latin typeface="Arial Narrow" pitchFamily="34" charset="0"/>
                  </a:rPr>
                  <a:t>C</a:t>
                </a:r>
              </a:p>
            </p:txBody>
          </p:sp>
          <p:sp>
            <p:nvSpPr>
              <p:cNvPr id="34835" name="Oval 1043"/>
              <p:cNvSpPr>
                <a:spLocks noChangeArrowheads="1"/>
              </p:cNvSpPr>
              <p:nvPr/>
            </p:nvSpPr>
            <p:spPr bwMode="auto">
              <a:xfrm>
                <a:off x="1200" y="912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B</a:t>
                </a:r>
              </a:p>
            </p:txBody>
          </p:sp>
          <p:sp>
            <p:nvSpPr>
              <p:cNvPr id="34836" name="Oval 1044"/>
              <p:cNvSpPr>
                <a:spLocks noChangeArrowheads="1"/>
              </p:cNvSpPr>
              <p:nvPr/>
            </p:nvSpPr>
            <p:spPr bwMode="auto">
              <a:xfrm>
                <a:off x="4368" y="912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E</a:t>
                </a:r>
              </a:p>
            </p:txBody>
          </p:sp>
          <p:sp>
            <p:nvSpPr>
              <p:cNvPr id="34838" name="Line 1046"/>
              <p:cNvSpPr>
                <a:spLocks noChangeShapeType="1"/>
              </p:cNvSpPr>
              <p:nvPr/>
            </p:nvSpPr>
            <p:spPr bwMode="auto">
              <a:xfrm flipH="1">
                <a:off x="1488" y="624"/>
                <a:ext cx="129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40" name="Line 1048"/>
              <p:cNvSpPr>
                <a:spLocks noChangeShapeType="1"/>
              </p:cNvSpPr>
              <p:nvPr/>
            </p:nvSpPr>
            <p:spPr bwMode="auto">
              <a:xfrm flipH="1">
                <a:off x="2592" y="816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41" name="Line 1049"/>
              <p:cNvSpPr>
                <a:spLocks noChangeShapeType="1"/>
              </p:cNvSpPr>
              <p:nvPr/>
            </p:nvSpPr>
            <p:spPr bwMode="auto">
              <a:xfrm>
                <a:off x="3216" y="816"/>
                <a:ext cx="3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42" name="Line 1050"/>
              <p:cNvSpPr>
                <a:spLocks noChangeShapeType="1"/>
              </p:cNvSpPr>
              <p:nvPr/>
            </p:nvSpPr>
            <p:spPr bwMode="auto">
              <a:xfrm>
                <a:off x="3312" y="624"/>
                <a:ext cx="129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43" name="Oval 1051"/>
              <p:cNvSpPr>
                <a:spLocks noChangeArrowheads="1"/>
              </p:cNvSpPr>
              <p:nvPr/>
            </p:nvSpPr>
            <p:spPr bwMode="auto">
              <a:xfrm>
                <a:off x="3337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I</a:t>
                </a:r>
              </a:p>
            </p:txBody>
          </p:sp>
          <p:sp>
            <p:nvSpPr>
              <p:cNvPr id="34844" name="Oval 1052"/>
              <p:cNvSpPr>
                <a:spLocks noChangeArrowheads="1"/>
              </p:cNvSpPr>
              <p:nvPr/>
            </p:nvSpPr>
            <p:spPr bwMode="auto">
              <a:xfrm>
                <a:off x="1209" y="1780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G</a:t>
                </a:r>
              </a:p>
            </p:txBody>
          </p:sp>
          <p:sp>
            <p:nvSpPr>
              <p:cNvPr id="34845" name="Oval 1053"/>
              <p:cNvSpPr>
                <a:spLocks noChangeArrowheads="1"/>
              </p:cNvSpPr>
              <p:nvPr/>
            </p:nvSpPr>
            <p:spPr bwMode="auto">
              <a:xfrm>
                <a:off x="576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F</a:t>
                </a:r>
              </a:p>
            </p:txBody>
          </p:sp>
          <p:sp>
            <p:nvSpPr>
              <p:cNvPr id="34846" name="Oval 1054"/>
              <p:cNvSpPr>
                <a:spLocks noChangeArrowheads="1"/>
              </p:cNvSpPr>
              <p:nvPr/>
            </p:nvSpPr>
            <p:spPr bwMode="auto">
              <a:xfrm>
                <a:off x="3964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J</a:t>
                </a:r>
              </a:p>
            </p:txBody>
          </p:sp>
          <p:sp>
            <p:nvSpPr>
              <p:cNvPr id="34847" name="Oval 1055"/>
              <p:cNvSpPr>
                <a:spLocks noChangeArrowheads="1"/>
              </p:cNvSpPr>
              <p:nvPr/>
            </p:nvSpPr>
            <p:spPr bwMode="auto">
              <a:xfrm>
                <a:off x="1854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H</a:t>
                </a:r>
              </a:p>
            </p:txBody>
          </p:sp>
          <p:sp>
            <p:nvSpPr>
              <p:cNvPr id="34848" name="Oval 1056"/>
              <p:cNvSpPr>
                <a:spLocks noChangeArrowheads="1"/>
              </p:cNvSpPr>
              <p:nvPr/>
            </p:nvSpPr>
            <p:spPr bwMode="auto">
              <a:xfrm>
                <a:off x="4587" y="1776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K</a:t>
                </a:r>
              </a:p>
            </p:txBody>
          </p:sp>
          <p:sp>
            <p:nvSpPr>
              <p:cNvPr id="34849" name="Oval 1057"/>
              <p:cNvSpPr>
                <a:spLocks noChangeArrowheads="1"/>
              </p:cNvSpPr>
              <p:nvPr/>
            </p:nvSpPr>
            <p:spPr bwMode="auto">
              <a:xfrm>
                <a:off x="5232" y="1772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L</a:t>
                </a:r>
              </a:p>
            </p:txBody>
          </p:sp>
          <p:sp>
            <p:nvSpPr>
              <p:cNvPr id="34850" name="Oval 1058"/>
              <p:cNvSpPr>
                <a:spLocks noChangeArrowheads="1"/>
              </p:cNvSpPr>
              <p:nvPr/>
            </p:nvSpPr>
            <p:spPr bwMode="auto">
              <a:xfrm>
                <a:off x="1226" y="2733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N</a:t>
                </a:r>
              </a:p>
            </p:txBody>
          </p:sp>
          <p:sp>
            <p:nvSpPr>
              <p:cNvPr id="34851" name="Oval 1059"/>
              <p:cNvSpPr>
                <a:spLocks noChangeArrowheads="1"/>
              </p:cNvSpPr>
              <p:nvPr/>
            </p:nvSpPr>
            <p:spPr bwMode="auto">
              <a:xfrm>
                <a:off x="615" y="2729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M</a:t>
                </a:r>
              </a:p>
            </p:txBody>
          </p:sp>
          <p:sp>
            <p:nvSpPr>
              <p:cNvPr id="34852" name="Oval 1060"/>
              <p:cNvSpPr>
                <a:spLocks noChangeArrowheads="1"/>
              </p:cNvSpPr>
              <p:nvPr/>
            </p:nvSpPr>
            <p:spPr bwMode="auto">
              <a:xfrm>
                <a:off x="1893" y="2729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O</a:t>
                </a:r>
              </a:p>
            </p:txBody>
          </p:sp>
          <p:sp>
            <p:nvSpPr>
              <p:cNvPr id="34853" name="Oval 1061"/>
              <p:cNvSpPr>
                <a:spLocks noChangeArrowheads="1"/>
              </p:cNvSpPr>
              <p:nvPr/>
            </p:nvSpPr>
            <p:spPr bwMode="auto">
              <a:xfrm>
                <a:off x="602" y="3648"/>
                <a:ext cx="528" cy="4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kumimoji="1" lang="pt-BR" sz="2800">
                    <a:solidFill>
                      <a:srgbClr val="000000"/>
                    </a:solidFill>
                    <a:latin typeface="Arial Narrow" pitchFamily="34" charset="0"/>
                  </a:rPr>
                  <a:t>P</a:t>
                </a:r>
              </a:p>
            </p:txBody>
          </p:sp>
          <p:sp>
            <p:nvSpPr>
              <p:cNvPr id="34854" name="Line 1062"/>
              <p:cNvSpPr>
                <a:spLocks noChangeShapeType="1"/>
              </p:cNvSpPr>
              <p:nvPr/>
            </p:nvSpPr>
            <p:spPr bwMode="auto">
              <a:xfrm flipH="1">
                <a:off x="864" y="1392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5" name="Line 1063"/>
              <p:cNvSpPr>
                <a:spLocks noChangeShapeType="1"/>
              </p:cNvSpPr>
              <p:nvPr/>
            </p:nvSpPr>
            <p:spPr bwMode="auto">
              <a:xfrm>
                <a:off x="1440" y="1392"/>
                <a:ext cx="67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6" name="Line 1064"/>
              <p:cNvSpPr>
                <a:spLocks noChangeShapeType="1"/>
              </p:cNvSpPr>
              <p:nvPr/>
            </p:nvSpPr>
            <p:spPr bwMode="auto">
              <a:xfrm>
                <a:off x="1451" y="1392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7" name="Line 1065"/>
              <p:cNvSpPr>
                <a:spLocks noChangeShapeType="1"/>
              </p:cNvSpPr>
              <p:nvPr/>
            </p:nvSpPr>
            <p:spPr bwMode="auto">
              <a:xfrm flipH="1">
                <a:off x="912" y="2256"/>
                <a:ext cx="576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8" name="Line 1066"/>
              <p:cNvSpPr>
                <a:spLocks noChangeShapeType="1"/>
              </p:cNvSpPr>
              <p:nvPr/>
            </p:nvSpPr>
            <p:spPr bwMode="auto">
              <a:xfrm>
                <a:off x="1488" y="225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59" name="Line 1067"/>
              <p:cNvSpPr>
                <a:spLocks noChangeShapeType="1"/>
              </p:cNvSpPr>
              <p:nvPr/>
            </p:nvSpPr>
            <p:spPr bwMode="auto">
              <a:xfrm>
                <a:off x="1488" y="2256"/>
                <a:ext cx="67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60" name="Line 1068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62" name="Line 1070"/>
              <p:cNvSpPr>
                <a:spLocks noChangeShapeType="1"/>
              </p:cNvSpPr>
              <p:nvPr/>
            </p:nvSpPr>
            <p:spPr bwMode="auto">
              <a:xfrm flipH="1">
                <a:off x="4224" y="1392"/>
                <a:ext cx="43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63" name="Line 1071"/>
              <p:cNvSpPr>
                <a:spLocks noChangeShapeType="1"/>
              </p:cNvSpPr>
              <p:nvPr/>
            </p:nvSpPr>
            <p:spPr bwMode="auto">
              <a:xfrm>
                <a:off x="4656" y="1392"/>
                <a:ext cx="86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  <p:sp>
            <p:nvSpPr>
              <p:cNvPr id="34864" name="Line 1072"/>
              <p:cNvSpPr>
                <a:spLocks noChangeShapeType="1"/>
              </p:cNvSpPr>
              <p:nvPr/>
            </p:nvSpPr>
            <p:spPr bwMode="auto">
              <a:xfrm>
                <a:off x="4656" y="1392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pt-BR" sz="1400"/>
              </a:p>
            </p:txBody>
          </p:sp>
        </p:grpSp>
      </p:grpSp>
      <p:sp>
        <p:nvSpPr>
          <p:cNvPr id="34871" name="Text Box 1079"/>
          <p:cNvSpPr txBox="1">
            <a:spLocks noChangeArrowheads="1"/>
          </p:cNvSpPr>
          <p:nvPr/>
        </p:nvSpPr>
        <p:spPr bwMode="auto">
          <a:xfrm>
            <a:off x="4516175" y="3979159"/>
            <a:ext cx="2630488" cy="230832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1" lang="pt-BR" sz="2400" dirty="0">
                <a:latin typeface="Arial Narrow" pitchFamily="34" charset="0"/>
              </a:rPr>
              <a:t>GRAU DE A:  4</a:t>
            </a:r>
          </a:p>
          <a:p>
            <a:pPr algn="r"/>
            <a:r>
              <a:rPr kumimoji="1" lang="pt-BR" sz="2400" dirty="0">
                <a:latin typeface="Arial Narrow" pitchFamily="34" charset="0"/>
              </a:rPr>
              <a:t>GRAU DE B:  3</a:t>
            </a:r>
          </a:p>
          <a:p>
            <a:pPr algn="r"/>
            <a:r>
              <a:rPr kumimoji="1" lang="pt-BR" sz="2400" dirty="0">
                <a:latin typeface="Arial Narrow" pitchFamily="34" charset="0"/>
              </a:rPr>
              <a:t>GRAU DE C: 0</a:t>
            </a:r>
          </a:p>
          <a:p>
            <a:pPr algn="r"/>
            <a:r>
              <a:rPr kumimoji="1" lang="pt-BR" sz="2400" dirty="0">
                <a:latin typeface="Arial Narrow" pitchFamily="34" charset="0"/>
              </a:rPr>
              <a:t>GRAU DE M: 1</a:t>
            </a:r>
          </a:p>
          <a:p>
            <a:pPr algn="ctr"/>
            <a:r>
              <a:rPr kumimoji="1" lang="pt-BR" sz="2400" b="1" dirty="0">
                <a:latin typeface="Arial Narrow" pitchFamily="34" charset="0"/>
              </a:rPr>
              <a:t>...</a:t>
            </a:r>
          </a:p>
          <a:p>
            <a:pPr algn="r"/>
            <a:r>
              <a:rPr kumimoji="1" lang="pt-BR" sz="2400" b="1" dirty="0">
                <a:latin typeface="Arial Narrow" pitchFamily="34" charset="0"/>
              </a:rPr>
              <a:t>Grau da arvore:4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16</a:t>
            </a:fld>
            <a:endParaRPr lang="pt-BR"/>
          </a:p>
        </p:txBody>
      </p:sp>
      <p:sp>
        <p:nvSpPr>
          <p:cNvPr id="44" name="Oval 1028"/>
          <p:cNvSpPr>
            <a:spLocks noChangeArrowheads="1"/>
          </p:cNvSpPr>
          <p:nvPr/>
        </p:nvSpPr>
        <p:spPr bwMode="auto">
          <a:xfrm>
            <a:off x="4257322" y="609600"/>
            <a:ext cx="799394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2800" dirty="0">
                <a:solidFill>
                  <a:srgbClr val="000000"/>
                </a:solidFill>
                <a:latin typeface="Arial Narrow" pitchFamily="34" charset="0"/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4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7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/>
              <a:t>Árvores – Exemplo 4</a:t>
            </a:r>
          </a:p>
        </p:txBody>
      </p:sp>
      <p:sp>
        <p:nvSpPr>
          <p:cNvPr id="34861" name="Line 1069"/>
          <p:cNvSpPr>
            <a:spLocks noChangeShapeType="1"/>
          </p:cNvSpPr>
          <p:nvPr/>
        </p:nvSpPr>
        <p:spPr bwMode="auto">
          <a:xfrm>
            <a:off x="5547985" y="263328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 sz="1400"/>
          </a:p>
        </p:txBody>
      </p:sp>
      <p:sp>
        <p:nvSpPr>
          <p:cNvPr id="34833" name="Oval 1041"/>
          <p:cNvSpPr>
            <a:spLocks noChangeArrowheads="1"/>
          </p:cNvSpPr>
          <p:nvPr/>
        </p:nvSpPr>
        <p:spPr bwMode="auto">
          <a:xfrm>
            <a:off x="6695016" y="1666220"/>
            <a:ext cx="799394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2800" dirty="0">
                <a:solidFill>
                  <a:srgbClr val="000000"/>
                </a:solidFill>
                <a:latin typeface="Arial Narrow" pitchFamily="34" charset="0"/>
              </a:rPr>
              <a:t>D</a:t>
            </a:r>
          </a:p>
        </p:txBody>
      </p:sp>
      <p:sp>
        <p:nvSpPr>
          <p:cNvPr id="34840" name="Line 1048"/>
          <p:cNvSpPr>
            <a:spLocks noChangeShapeType="1"/>
          </p:cNvSpPr>
          <p:nvPr/>
        </p:nvSpPr>
        <p:spPr bwMode="auto">
          <a:xfrm flipH="1">
            <a:off x="5502266" y="1496962"/>
            <a:ext cx="45719" cy="55025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 sz="1400"/>
          </a:p>
        </p:txBody>
      </p:sp>
      <p:sp>
        <p:nvSpPr>
          <p:cNvPr id="34841" name="Line 1049"/>
          <p:cNvSpPr>
            <a:spLocks noChangeShapeType="1"/>
          </p:cNvSpPr>
          <p:nvPr/>
        </p:nvSpPr>
        <p:spPr bwMode="auto">
          <a:xfrm>
            <a:off x="5750278" y="1428750"/>
            <a:ext cx="1234722" cy="2476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 sz="1400"/>
          </a:p>
        </p:txBody>
      </p:sp>
      <p:sp>
        <p:nvSpPr>
          <p:cNvPr id="34842" name="Line 1050"/>
          <p:cNvSpPr>
            <a:spLocks noChangeShapeType="1"/>
          </p:cNvSpPr>
          <p:nvPr/>
        </p:nvSpPr>
        <p:spPr bwMode="auto">
          <a:xfrm flipH="1">
            <a:off x="3533775" y="1491595"/>
            <a:ext cx="1760030" cy="3492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 sz="1400"/>
          </a:p>
        </p:txBody>
      </p:sp>
      <p:sp>
        <p:nvSpPr>
          <p:cNvPr id="34843" name="Oval 1051"/>
          <p:cNvSpPr>
            <a:spLocks noChangeArrowheads="1"/>
          </p:cNvSpPr>
          <p:nvPr/>
        </p:nvSpPr>
        <p:spPr bwMode="auto">
          <a:xfrm>
            <a:off x="5148292" y="3212445"/>
            <a:ext cx="799394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2800">
                <a:solidFill>
                  <a:srgbClr val="000000"/>
                </a:solidFill>
                <a:latin typeface="Arial Narrow" pitchFamily="34" charset="0"/>
              </a:rPr>
              <a:t>I</a:t>
            </a:r>
          </a:p>
        </p:txBody>
      </p:sp>
      <p:sp>
        <p:nvSpPr>
          <p:cNvPr id="34865" name="Text Box 1073"/>
          <p:cNvSpPr txBox="1">
            <a:spLocks noChangeArrowheads="1"/>
          </p:cNvSpPr>
          <p:nvPr/>
        </p:nvSpPr>
        <p:spPr bwMode="auto">
          <a:xfrm>
            <a:off x="3198687" y="6029980"/>
            <a:ext cx="3086101" cy="58477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200" b="1" dirty="0">
                <a:solidFill>
                  <a:srgbClr val="020000"/>
                </a:solidFill>
                <a:latin typeface="Arial Narrow" pitchFamily="34" charset="0"/>
              </a:rPr>
              <a:t>PROUNDIDADE: 4</a:t>
            </a:r>
          </a:p>
        </p:txBody>
      </p:sp>
      <p:sp>
        <p:nvSpPr>
          <p:cNvPr id="34866" name="Text Box 1074"/>
          <p:cNvSpPr txBox="1">
            <a:spLocks noChangeArrowheads="1"/>
          </p:cNvSpPr>
          <p:nvPr/>
        </p:nvSpPr>
        <p:spPr bwMode="auto">
          <a:xfrm>
            <a:off x="3198687" y="905530"/>
            <a:ext cx="1293687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 1</a:t>
            </a:r>
          </a:p>
        </p:txBody>
      </p:sp>
      <p:sp>
        <p:nvSpPr>
          <p:cNvPr id="34867" name="Text Box 1075"/>
          <p:cNvSpPr txBox="1">
            <a:spLocks noChangeArrowheads="1"/>
          </p:cNvSpPr>
          <p:nvPr/>
        </p:nvSpPr>
        <p:spPr bwMode="auto">
          <a:xfrm>
            <a:off x="1360814" y="1785609"/>
            <a:ext cx="12936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 2</a:t>
            </a:r>
          </a:p>
        </p:txBody>
      </p:sp>
      <p:sp>
        <p:nvSpPr>
          <p:cNvPr id="34868" name="Text Box 1076"/>
          <p:cNvSpPr txBox="1">
            <a:spLocks noChangeArrowheads="1"/>
          </p:cNvSpPr>
          <p:nvPr/>
        </p:nvSpPr>
        <p:spPr bwMode="auto">
          <a:xfrm>
            <a:off x="0" y="2775506"/>
            <a:ext cx="1293687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 3</a:t>
            </a:r>
          </a:p>
        </p:txBody>
      </p:sp>
      <p:sp>
        <p:nvSpPr>
          <p:cNvPr id="34869" name="Text Box 1077"/>
          <p:cNvSpPr txBox="1">
            <a:spLocks noChangeArrowheads="1"/>
          </p:cNvSpPr>
          <p:nvPr/>
        </p:nvSpPr>
        <p:spPr bwMode="auto">
          <a:xfrm>
            <a:off x="228600" y="4801255"/>
            <a:ext cx="12987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NÍVEL</a:t>
            </a:r>
            <a:r>
              <a:rPr kumimoji="1" lang="pt-BR" sz="2800" dirty="0">
                <a:solidFill>
                  <a:srgbClr val="0066FF"/>
                </a:solidFill>
                <a:latin typeface="Arial Narrow" pitchFamily="34" charset="0"/>
              </a:rPr>
              <a:t> </a:t>
            </a:r>
            <a:r>
              <a:rPr kumimoji="1" lang="pt-BR" sz="2800" b="1" dirty="0">
                <a:solidFill>
                  <a:srgbClr val="020000"/>
                </a:solidFill>
                <a:latin typeface="Arial Narrow" pitchFamily="34" charset="0"/>
              </a:rPr>
              <a:t>4</a:t>
            </a:r>
          </a:p>
        </p:txBody>
      </p:sp>
      <p:sp>
        <p:nvSpPr>
          <p:cNvPr id="34871" name="Text Box 1079"/>
          <p:cNvSpPr txBox="1">
            <a:spLocks noChangeArrowheads="1"/>
          </p:cNvSpPr>
          <p:nvPr/>
        </p:nvSpPr>
        <p:spPr bwMode="auto">
          <a:xfrm>
            <a:off x="6179166" y="3582283"/>
            <a:ext cx="2630488" cy="230832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1" lang="pt-BR" sz="2400" dirty="0">
                <a:latin typeface="Arial Narrow" pitchFamily="34" charset="0"/>
              </a:rPr>
              <a:t>GRAU DE A:  3</a:t>
            </a:r>
          </a:p>
          <a:p>
            <a:pPr algn="r"/>
            <a:r>
              <a:rPr kumimoji="1" lang="pt-BR" sz="2400" dirty="0">
                <a:latin typeface="Arial Narrow" pitchFamily="34" charset="0"/>
              </a:rPr>
              <a:t>GRAU DE B:  4</a:t>
            </a:r>
          </a:p>
          <a:p>
            <a:pPr algn="r"/>
            <a:r>
              <a:rPr kumimoji="1" lang="pt-BR" sz="2400" dirty="0">
                <a:latin typeface="Arial Narrow" pitchFamily="34" charset="0"/>
              </a:rPr>
              <a:t>GRAU DE C: 1</a:t>
            </a:r>
          </a:p>
          <a:p>
            <a:pPr algn="r"/>
            <a:r>
              <a:rPr kumimoji="1" lang="pt-BR" sz="2400" dirty="0">
                <a:latin typeface="Arial Narrow" pitchFamily="34" charset="0"/>
              </a:rPr>
              <a:t>GRAU DE E: 0</a:t>
            </a:r>
          </a:p>
          <a:p>
            <a:pPr algn="r"/>
            <a:endParaRPr kumimoji="1" lang="pt-BR" sz="2400" dirty="0">
              <a:latin typeface="Arial Narrow" pitchFamily="34" charset="0"/>
            </a:endParaRPr>
          </a:p>
          <a:p>
            <a:pPr algn="r"/>
            <a:r>
              <a:rPr kumimoji="1" lang="pt-BR" sz="2400" b="1" dirty="0">
                <a:latin typeface="Arial Narrow" pitchFamily="34" charset="0"/>
              </a:rPr>
              <a:t>Grau da arvore:4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44" name="Oval 1028"/>
          <p:cNvSpPr>
            <a:spLocks noChangeArrowheads="1"/>
          </p:cNvSpPr>
          <p:nvPr/>
        </p:nvSpPr>
        <p:spPr bwMode="auto">
          <a:xfrm>
            <a:off x="5102576" y="795476"/>
            <a:ext cx="799394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2800" dirty="0">
                <a:solidFill>
                  <a:srgbClr val="000000"/>
                </a:solidFill>
                <a:latin typeface="Arial Narrow" pitchFamily="34" charset="0"/>
              </a:rPr>
              <a:t>A</a:t>
            </a:r>
          </a:p>
        </p:txBody>
      </p:sp>
      <p:grpSp>
        <p:nvGrpSpPr>
          <p:cNvPr id="46" name="Grupo 45"/>
          <p:cNvGrpSpPr/>
          <p:nvPr/>
        </p:nvGrpSpPr>
        <p:grpSpPr>
          <a:xfrm>
            <a:off x="1208264" y="1840845"/>
            <a:ext cx="3706283" cy="3657600"/>
            <a:chOff x="844903" y="1581150"/>
            <a:chExt cx="3706283" cy="3657600"/>
          </a:xfrm>
        </p:grpSpPr>
        <p:sp>
          <p:nvSpPr>
            <p:cNvPr id="34835" name="Oval 1043"/>
            <p:cNvSpPr>
              <a:spLocks noChangeArrowheads="1"/>
            </p:cNvSpPr>
            <p:nvPr/>
          </p:nvSpPr>
          <p:spPr bwMode="auto">
            <a:xfrm>
              <a:off x="2734381" y="1581150"/>
              <a:ext cx="799394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2800" dirty="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34844" name="Oval 1052"/>
            <p:cNvSpPr>
              <a:spLocks noChangeArrowheads="1"/>
            </p:cNvSpPr>
            <p:nvPr/>
          </p:nvSpPr>
          <p:spPr bwMode="auto">
            <a:xfrm>
              <a:off x="2711671" y="2959100"/>
              <a:ext cx="799394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28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34845" name="Oval 1053"/>
            <p:cNvSpPr>
              <a:spLocks noChangeArrowheads="1"/>
            </p:cNvSpPr>
            <p:nvPr/>
          </p:nvSpPr>
          <p:spPr bwMode="auto">
            <a:xfrm>
              <a:off x="1753306" y="2952750"/>
              <a:ext cx="799394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28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34846" name="Oval 1054"/>
            <p:cNvSpPr>
              <a:spLocks noChangeArrowheads="1"/>
            </p:cNvSpPr>
            <p:nvPr/>
          </p:nvSpPr>
          <p:spPr bwMode="auto">
            <a:xfrm>
              <a:off x="1825978" y="4476750"/>
              <a:ext cx="799394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2800">
                  <a:solidFill>
                    <a:srgbClr val="000000"/>
                  </a:solidFill>
                  <a:latin typeface="Arial Narrow" pitchFamily="34" charset="0"/>
                </a:rPr>
                <a:t>J</a:t>
              </a:r>
            </a:p>
          </p:txBody>
        </p:sp>
        <p:sp>
          <p:nvSpPr>
            <p:cNvPr id="34847" name="Oval 1055"/>
            <p:cNvSpPr>
              <a:spLocks noChangeArrowheads="1"/>
            </p:cNvSpPr>
            <p:nvPr/>
          </p:nvSpPr>
          <p:spPr bwMode="auto">
            <a:xfrm>
              <a:off x="3688204" y="2952750"/>
              <a:ext cx="799394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2800">
                  <a:solidFill>
                    <a:srgbClr val="000000"/>
                  </a:solidFill>
                  <a:latin typeface="Arial Narrow" pitchFamily="34" charset="0"/>
                </a:rPr>
                <a:t>H</a:t>
              </a:r>
            </a:p>
          </p:txBody>
        </p:sp>
        <p:sp>
          <p:nvSpPr>
            <p:cNvPr id="34848" name="Oval 1056"/>
            <p:cNvSpPr>
              <a:spLocks noChangeArrowheads="1"/>
            </p:cNvSpPr>
            <p:nvPr/>
          </p:nvSpPr>
          <p:spPr bwMode="auto">
            <a:xfrm>
              <a:off x="2711671" y="4476750"/>
              <a:ext cx="799394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2800">
                  <a:solidFill>
                    <a:srgbClr val="000000"/>
                  </a:solidFill>
                  <a:latin typeface="Arial Narrow" pitchFamily="34" charset="0"/>
                </a:rPr>
                <a:t>K</a:t>
              </a:r>
            </a:p>
          </p:txBody>
        </p:sp>
        <p:sp>
          <p:nvSpPr>
            <p:cNvPr id="34849" name="Oval 1057"/>
            <p:cNvSpPr>
              <a:spLocks noChangeArrowheads="1"/>
            </p:cNvSpPr>
            <p:nvPr/>
          </p:nvSpPr>
          <p:spPr bwMode="auto">
            <a:xfrm>
              <a:off x="3751792" y="4476750"/>
              <a:ext cx="799394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2800">
                  <a:solidFill>
                    <a:srgbClr val="000000"/>
                  </a:solidFill>
                  <a:latin typeface="Arial Narrow" pitchFamily="34" charset="0"/>
                </a:rPr>
                <a:t>L</a:t>
              </a:r>
            </a:p>
          </p:txBody>
        </p:sp>
        <p:sp>
          <p:nvSpPr>
            <p:cNvPr id="34854" name="Line 1062"/>
            <p:cNvSpPr>
              <a:spLocks noChangeShapeType="1"/>
            </p:cNvSpPr>
            <p:nvPr/>
          </p:nvSpPr>
          <p:spPr bwMode="auto">
            <a:xfrm flipH="1">
              <a:off x="2189339" y="2343150"/>
              <a:ext cx="872067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sp>
          <p:nvSpPr>
            <p:cNvPr id="34855" name="Line 1063"/>
            <p:cNvSpPr>
              <a:spLocks noChangeShapeType="1"/>
            </p:cNvSpPr>
            <p:nvPr/>
          </p:nvSpPr>
          <p:spPr bwMode="auto">
            <a:xfrm>
              <a:off x="3061406" y="2343150"/>
              <a:ext cx="1017411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sp>
          <p:nvSpPr>
            <p:cNvPr id="34856" name="Line 1064"/>
            <p:cNvSpPr>
              <a:spLocks noChangeShapeType="1"/>
            </p:cNvSpPr>
            <p:nvPr/>
          </p:nvSpPr>
          <p:spPr bwMode="auto">
            <a:xfrm>
              <a:off x="3078060" y="234315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sp>
          <p:nvSpPr>
            <p:cNvPr id="34857" name="Line 1065"/>
            <p:cNvSpPr>
              <a:spLocks noChangeShapeType="1"/>
            </p:cNvSpPr>
            <p:nvPr/>
          </p:nvSpPr>
          <p:spPr bwMode="auto">
            <a:xfrm flipH="1">
              <a:off x="2262011" y="3714750"/>
              <a:ext cx="872067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sp>
          <p:nvSpPr>
            <p:cNvPr id="34858" name="Line 1066"/>
            <p:cNvSpPr>
              <a:spLocks noChangeShapeType="1"/>
            </p:cNvSpPr>
            <p:nvPr/>
          </p:nvSpPr>
          <p:spPr bwMode="auto">
            <a:xfrm>
              <a:off x="3134078" y="371475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sp>
          <p:nvSpPr>
            <p:cNvPr id="34859" name="Line 1067"/>
            <p:cNvSpPr>
              <a:spLocks noChangeShapeType="1"/>
            </p:cNvSpPr>
            <p:nvPr/>
          </p:nvSpPr>
          <p:spPr bwMode="auto">
            <a:xfrm>
              <a:off x="3134078" y="3714750"/>
              <a:ext cx="1017411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sp>
          <p:nvSpPr>
            <p:cNvPr id="34860" name="Line 1068"/>
            <p:cNvSpPr>
              <a:spLocks noChangeShapeType="1"/>
            </p:cNvSpPr>
            <p:nvPr/>
          </p:nvSpPr>
          <p:spPr bwMode="auto">
            <a:xfrm flipH="1">
              <a:off x="1244600" y="2343150"/>
              <a:ext cx="1889478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400"/>
            </a:p>
          </p:txBody>
        </p:sp>
        <p:sp>
          <p:nvSpPr>
            <p:cNvPr id="45" name="Oval 1044"/>
            <p:cNvSpPr>
              <a:spLocks noChangeArrowheads="1"/>
            </p:cNvSpPr>
            <p:nvPr/>
          </p:nvSpPr>
          <p:spPr bwMode="auto">
            <a:xfrm>
              <a:off x="844903" y="2959656"/>
              <a:ext cx="799394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28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</p:grpSp>
      <p:sp>
        <p:nvSpPr>
          <p:cNvPr id="34834" name="Oval 1042"/>
          <p:cNvSpPr>
            <a:spLocks noChangeArrowheads="1"/>
          </p:cNvSpPr>
          <p:nvPr/>
        </p:nvSpPr>
        <p:spPr bwMode="auto">
          <a:xfrm>
            <a:off x="5148292" y="1871286"/>
            <a:ext cx="799394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2800" dirty="0">
                <a:solidFill>
                  <a:srgbClr val="000000"/>
                </a:solidFill>
                <a:latin typeface="Arial Narrow" pitchFamily="34" charset="0"/>
              </a:rPr>
              <a:t>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65" grpId="0" animBg="1" autoUpdateAnimBg="0"/>
      <p:bldP spid="34866" grpId="0" animBg="1" autoUpdateAnimBg="0"/>
      <p:bldP spid="34867" grpId="0" autoUpdateAnimBg="0"/>
      <p:bldP spid="34868" grpId="0" animBg="1" autoUpdateAnimBg="0"/>
      <p:bldP spid="34869" grpId="0" autoUpdateAnimBg="0"/>
      <p:bldP spid="34871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cap="all" dirty="0" err="1"/>
              <a:t>Tenenbaum</a:t>
            </a:r>
            <a:r>
              <a:rPr lang="pt-BR" cap="all" dirty="0"/>
              <a:t>, </a:t>
            </a:r>
            <a:r>
              <a:rPr lang="pt-BR" cap="all" dirty="0" err="1"/>
              <a:t>A.M.</a:t>
            </a:r>
            <a:r>
              <a:rPr lang="pt-BR" cap="all" dirty="0"/>
              <a:t> e </a:t>
            </a:r>
            <a:r>
              <a:rPr lang="pt-BR" dirty="0"/>
              <a:t>outros - </a:t>
            </a:r>
            <a:r>
              <a:rPr lang="pt-BR" b="1" dirty="0"/>
              <a:t>Estruturas de Dados usando C</a:t>
            </a:r>
            <a:r>
              <a:rPr lang="pt-BR" dirty="0"/>
              <a:t>. </a:t>
            </a:r>
            <a:r>
              <a:rPr lang="pt-BR" dirty="0" err="1"/>
              <a:t>Makron</a:t>
            </a:r>
            <a:r>
              <a:rPr lang="pt-BR" dirty="0"/>
              <a:t> Books do Brasil Editora </a:t>
            </a:r>
            <a:r>
              <a:rPr lang="pt-BR" dirty="0" err="1"/>
              <a:t>Ltda</a:t>
            </a:r>
            <a:r>
              <a:rPr lang="pt-BR" dirty="0"/>
              <a:t>, SP.</a:t>
            </a:r>
          </a:p>
          <a:p>
            <a:r>
              <a:rPr lang="pt-BR" dirty="0"/>
              <a:t>PEREIRA, S. L. </a:t>
            </a:r>
            <a:r>
              <a:rPr lang="pt-BR" b="1" dirty="0"/>
              <a:t>Estrutura de Dados Fundamentais. </a:t>
            </a:r>
            <a:r>
              <a:rPr lang="pt-BR" dirty="0"/>
              <a:t>São Paulo: Érica.</a:t>
            </a:r>
          </a:p>
          <a:p>
            <a:r>
              <a:rPr lang="pt-BR" cap="all" dirty="0"/>
              <a:t>FORBELLONE, </a:t>
            </a:r>
            <a:r>
              <a:rPr lang="pt-BR" cap="all" dirty="0" err="1"/>
              <a:t>A.L.V.</a:t>
            </a:r>
            <a:r>
              <a:rPr lang="pt-BR" cap="all" dirty="0"/>
              <a:t> &amp; EBERSPÄCHER, </a:t>
            </a:r>
            <a:r>
              <a:rPr lang="pt-BR" cap="all" dirty="0" err="1"/>
              <a:t>H.F.</a:t>
            </a:r>
            <a:r>
              <a:rPr lang="pt-BR" cap="all" dirty="0"/>
              <a:t> – </a:t>
            </a:r>
            <a:r>
              <a:rPr lang="pt-BR" b="1" dirty="0"/>
              <a:t>Lógica de Programação: A Construção de Algoritmos e Estruturas de Dados.</a:t>
            </a:r>
            <a:r>
              <a:rPr lang="pt-BR" dirty="0"/>
              <a:t> </a:t>
            </a:r>
            <a:r>
              <a:rPr lang="pt-BR" dirty="0" err="1"/>
              <a:t>Makron</a:t>
            </a:r>
            <a:r>
              <a:rPr lang="pt-BR" dirty="0"/>
              <a:t> Books, São Paulo, SP</a:t>
            </a:r>
          </a:p>
          <a:p>
            <a:r>
              <a:rPr lang="pt-BR" dirty="0"/>
              <a:t>ASCENCIO,</a:t>
            </a:r>
            <a:r>
              <a:rPr lang="pt-BR" dirty="0" err="1"/>
              <a:t>A.F.</a:t>
            </a:r>
            <a:r>
              <a:rPr lang="pt-BR" dirty="0"/>
              <a:t>G e ARAÚJO, </a:t>
            </a:r>
            <a:r>
              <a:rPr lang="pt-BR" dirty="0" err="1"/>
              <a:t>G.S.</a:t>
            </a:r>
            <a:r>
              <a:rPr lang="pt-BR" dirty="0"/>
              <a:t> – Estruturas de Dados: Algoritmos, Análise da Complexidade e Implementação em JAVA e C/C++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</a:t>
            </a:r>
            <a:r>
              <a:rPr kumimoji="1" lang="pt-BR" sz="2000">
                <a:solidFill>
                  <a:schemeClr val="bg1"/>
                </a:solidFill>
                <a:latin typeface="Gotham-Bold"/>
                <a:cs typeface="Gotham-Bold"/>
              </a:rPr>
              <a:t>© 2023</a:t>
            </a: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.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849</TotalTime>
  <Words>868</Words>
  <Application>Microsoft Office PowerPoint</Application>
  <PresentationFormat>Apresentação na tela (4:3)</PresentationFormat>
  <Paragraphs>202</Paragraphs>
  <Slides>19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19</vt:i4>
      </vt:variant>
    </vt:vector>
  </HeadingPairs>
  <TitlesOfParts>
    <vt:vector size="31" baseType="lpstr">
      <vt:lpstr>Arial</vt:lpstr>
      <vt:lpstr>Arial Narrow</vt:lpstr>
      <vt:lpstr>Calibri</vt:lpstr>
      <vt:lpstr>Gotham HTF</vt:lpstr>
      <vt:lpstr>Gotham-Bold</vt:lpstr>
      <vt:lpstr>Gotham-Book</vt:lpstr>
      <vt:lpstr>Verdana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Definição</vt:lpstr>
      <vt:lpstr>Aplicação de Árvore: machine learning</vt:lpstr>
      <vt:lpstr>Aplicação de Árvore: machine learning</vt:lpstr>
      <vt:lpstr>Aplicação de Árvore: Busca Binária</vt:lpstr>
      <vt:lpstr>Como utilizar Árvores na computação?</vt:lpstr>
      <vt:lpstr>Árvores - Definição</vt:lpstr>
      <vt:lpstr>Exemplo Árvore</vt:lpstr>
      <vt:lpstr>Árvores - Conceitos</vt:lpstr>
      <vt:lpstr>Árvores – Exemplo 1</vt:lpstr>
      <vt:lpstr>Árvores - Conceitos</vt:lpstr>
      <vt:lpstr>Árvores – Exemplo 2</vt:lpstr>
      <vt:lpstr>Árvores - Conceitos</vt:lpstr>
      <vt:lpstr>Árvores – Exemplo 3</vt:lpstr>
      <vt:lpstr>Árvores - Conceitos</vt:lpstr>
      <vt:lpstr>Árvores – Exemplo 3</vt:lpstr>
      <vt:lpstr>Árvores – Exemplo 4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Patrícia Magna</cp:lastModifiedBy>
  <cp:revision>189</cp:revision>
  <dcterms:created xsi:type="dcterms:W3CDTF">2015-01-30T10:46:50Z</dcterms:created>
  <dcterms:modified xsi:type="dcterms:W3CDTF">2023-10-18T19:46:59Z</dcterms:modified>
</cp:coreProperties>
</file>