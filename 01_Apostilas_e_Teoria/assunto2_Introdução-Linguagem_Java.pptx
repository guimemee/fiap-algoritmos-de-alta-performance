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7"/>
  </p:notesMasterIdLst>
  <p:sldIdLst>
    <p:sldId id="322" r:id="rId2"/>
    <p:sldId id="268" r:id="rId3"/>
    <p:sldId id="334" r:id="rId4"/>
    <p:sldId id="270" r:id="rId5"/>
    <p:sldId id="346" r:id="rId6"/>
    <p:sldId id="347" r:id="rId7"/>
    <p:sldId id="348" r:id="rId8"/>
    <p:sldId id="349" r:id="rId9"/>
    <p:sldId id="350" r:id="rId10"/>
    <p:sldId id="356" r:id="rId11"/>
    <p:sldId id="269" r:id="rId12"/>
    <p:sldId id="336" r:id="rId13"/>
    <p:sldId id="271" r:id="rId14"/>
    <p:sldId id="272" r:id="rId15"/>
    <p:sldId id="273" r:id="rId16"/>
    <p:sldId id="274" r:id="rId17"/>
    <p:sldId id="275" r:id="rId18"/>
    <p:sldId id="344" r:id="rId19"/>
    <p:sldId id="276" r:id="rId20"/>
    <p:sldId id="352" r:id="rId21"/>
    <p:sldId id="281" r:id="rId22"/>
    <p:sldId id="357" r:id="rId23"/>
    <p:sldId id="318" r:id="rId24"/>
    <p:sldId id="337" r:id="rId25"/>
    <p:sldId id="284" r:id="rId26"/>
    <p:sldId id="339" r:id="rId27"/>
    <p:sldId id="358" r:id="rId28"/>
    <p:sldId id="277" r:id="rId29"/>
    <p:sldId id="341" r:id="rId30"/>
    <p:sldId id="280" r:id="rId31"/>
    <p:sldId id="345" r:id="rId32"/>
    <p:sldId id="315" r:id="rId33"/>
    <p:sldId id="360" r:id="rId34"/>
    <p:sldId id="362" r:id="rId35"/>
    <p:sldId id="361" r:id="rId36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AB8"/>
    <a:srgbClr val="BF1B1B"/>
    <a:srgbClr val="CC3300"/>
    <a:srgbClr val="EC1302"/>
    <a:srgbClr val="0E9648"/>
    <a:srgbClr val="FFC91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5E563-B162-B576-92A9-5132C69442BA}" v="385" dt="2026-01-30T13:11:34.885"/>
    <p1510:client id="{68637D6E-89F8-B2E9-935D-E06C229996C9}" v="25" dt="2026-01-30T13:19:43.394"/>
    <p1510:client id="{86673D3B-D002-2B6D-D095-272457225EC7}" v="170" dt="2026-01-28T18:56:15.108"/>
    <p1510:client id="{9E2A3BBA-BFF2-7A0B-8CFD-9711F1C3B6AB}" v="76" dt="2026-01-29T20:30:49.926"/>
    <p1510:client id="{E7958341-2E54-BA54-C4E5-D9481699D369}" v="26" dt="2026-01-30T16:48:53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78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73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CA2255C-8CFF-4D1F-9362-97681C3AADAA}" type="datetimeFigureOut">
              <a:rPr lang="pt-BR"/>
              <a:pPr>
                <a:defRPr/>
              </a:pPr>
              <a:t>19/02/2026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4219D76-E73E-4582-957E-640DA26C75A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360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5065-60D4-AC44-34FB-8E253CDA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1EE1FCD-3B37-7129-CF0F-CD8D5E9FD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6125" cy="341630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1C5BEEB-95B5-64BE-7F08-C1A08B1C41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991" y="4341522"/>
            <a:ext cx="5030018" cy="4116005"/>
          </a:xfrm>
          <a:noFill/>
          <a:ln w="9525"/>
        </p:spPr>
        <p:txBody>
          <a:bodyPr/>
          <a:lstStyle/>
          <a:p>
            <a:endParaRPr lang="pt-B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73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C6F5-300D-4E2C-48B8-C4F04780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9717E-13DA-E02B-8B5D-BF2932E7C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79E45-0077-987D-8F9B-EC6819208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DBFB3-5A29-F813-D799-BF7745CCD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24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43240" y="6357938"/>
            <a:ext cx="2643206" cy="363537"/>
          </a:xfrm>
        </p:spPr>
        <p:txBody>
          <a:bodyPr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10FC19D-3417-40C5-B677-EA271E2DB6D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1311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 algn="l">
              <a:defRPr sz="3200"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286116" y="6286500"/>
            <a:ext cx="2643206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A70AE2-C52A-487E-82EC-B4E2135152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5811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500430" y="6357938"/>
            <a:ext cx="2571768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01B60D-8F34-4FC3-9ECD-DD8C34184A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8481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214678" y="6356350"/>
            <a:ext cx="2357454" cy="501650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F9D7B0E-6DF5-42FE-9407-370595370C8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051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928926" y="6356350"/>
            <a:ext cx="264320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4E8A36-260A-44F0-8C15-F9F9C5DA95A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8197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72254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214678" y="6357938"/>
            <a:ext cx="2428892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657340-78B5-4426-9B2B-5CE25F8DC69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076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071802" y="6356350"/>
            <a:ext cx="2571755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F6CA55-B9A3-4C41-A473-693762DE17E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1632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643188" y="6356350"/>
            <a:ext cx="250031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7696E4-64A4-4C3D-A8E8-0811A33CBA0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2355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000364" y="6357938"/>
            <a:ext cx="2643206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658760-AADC-4109-A6AE-7E9B08F44EA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634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71A860-A07B-4DF7-99A9-4AEE24DC38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62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EEADA1-E5DE-4917-9030-651A831A033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44392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A9123-D83F-4E0F-9ED0-944EC780F8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32547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5E264D-F4D9-4AE5-A8E3-27EF1AD7CF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118638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Algoritmos de Alta Performance - Profa Patrícia Magna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3DA464-4495-4077-9091-A744F10609C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915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Algoritmos de Alta Performance -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714625" y="6357938"/>
            <a:ext cx="3305175" cy="36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bg1">
                    <a:lumMod val="6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FFDCA17-8283-47AE-BAEA-029F589A471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82" r:id="rId12"/>
    <p:sldLayoutId id="2147483994" r:id="rId13"/>
    <p:sldLayoutId id="2147483995" r:id="rId14"/>
    <p:sldLayoutId id="2147483996" r:id="rId1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82AB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-11651" y="2643182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00230" y="2714620"/>
            <a:ext cx="8143770" cy="12557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b="1" dirty="0">
                <a:solidFill>
                  <a:srgbClr val="FFFF00"/>
                </a:solidFill>
                <a:latin typeface="Gotham-Bold"/>
                <a:cs typeface="Gotham-Bold"/>
              </a:rPr>
              <a:t>Linguagem JAVA</a:t>
            </a:r>
          </a:p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FFFF00"/>
                </a:solidFill>
                <a:latin typeface="Gotham-Bold"/>
                <a:cs typeface="Gotham-Bold"/>
              </a:rPr>
              <a:t>Introdução – Tipos Primitivos de Dados – Operadores Matemáticos - Entrada e 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538" y="4214818"/>
            <a:ext cx="554131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 err="1">
                <a:solidFill>
                  <a:schemeClr val="bg2"/>
                </a:solidFill>
                <a:latin typeface="Arial"/>
                <a:cs typeface="Arial"/>
              </a:rPr>
              <a:t>Advanced</a:t>
            </a:r>
            <a:r>
              <a:rPr lang="pt-BR" sz="2000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lang="pt-BR" sz="2000" dirty="0" err="1">
                <a:solidFill>
                  <a:schemeClr val="bg2"/>
                </a:solidFill>
                <a:latin typeface="Arial"/>
                <a:cs typeface="Arial"/>
              </a:rPr>
              <a:t>Programming</a:t>
            </a:r>
            <a:r>
              <a:rPr lang="pt-BR" sz="2000" dirty="0">
                <a:solidFill>
                  <a:schemeClr val="bg2"/>
                </a:solidFill>
                <a:latin typeface="Arial"/>
                <a:cs typeface="Arial"/>
              </a:rPr>
              <a:t> &amp; Mobile </a:t>
            </a:r>
            <a:r>
              <a:rPr lang="pt-BR" sz="2000" dirty="0" err="1">
                <a:solidFill>
                  <a:schemeClr val="bg2"/>
                </a:solidFill>
                <a:latin typeface="Arial"/>
                <a:cs typeface="Arial"/>
              </a:rPr>
              <a:t>dev</a:t>
            </a:r>
            <a:endParaRPr lang="pt-BR" dirty="0" err="1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1538" y="4714884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180" y="-1970"/>
            <a:ext cx="8172091" cy="682427"/>
          </a:xfrm>
        </p:spPr>
        <p:txBody>
          <a:bodyPr/>
          <a:lstStyle/>
          <a:p>
            <a:pPr eaLnBrk="1" hangingPunct="1"/>
            <a:r>
              <a:rPr lang="pt-BR" altLang="pt-BR" sz="2800" dirty="0"/>
              <a:t>Estrutura Básica de um Programa em JAVA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16389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D7FA9-6BBD-40D8-9DFA-1411D5474252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370013"/>
            <a:ext cx="8229600" cy="4986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public class </a:t>
            </a:r>
            <a:r>
              <a:rPr lang="en-US" altLang="pt-BR" sz="2000" b="1" dirty="0" err="1">
                <a:solidFill>
                  <a:srgbClr val="FF0000"/>
                </a:solidFill>
              </a:rPr>
              <a:t>Primeira</a:t>
            </a:r>
            <a:r>
              <a:rPr lang="en-US" altLang="pt-BR" sz="2000" b="1" dirty="0"/>
              <a:t>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public static void main(String[] </a:t>
            </a:r>
            <a:r>
              <a:rPr lang="en-US" altLang="pt-BR" sz="2000" b="1" dirty="0" err="1"/>
              <a:t>args</a:t>
            </a:r>
            <a:r>
              <a:rPr lang="en-US" altLang="pt-BR" sz="2000" b="1" dirty="0"/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	</a:t>
            </a:r>
            <a:r>
              <a:rPr lang="en-US" altLang="pt-BR" sz="2000" b="1" dirty="0">
                <a:solidFill>
                  <a:srgbClr val="0033CC"/>
                </a:solidFill>
              </a:rPr>
              <a:t>/*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		</a:t>
            </a:r>
            <a:r>
              <a:rPr lang="en-US" altLang="pt-BR" sz="2000" b="1" dirty="0" err="1">
                <a:solidFill>
                  <a:srgbClr val="0033CC"/>
                </a:solidFill>
              </a:rPr>
              <a:t>declaração</a:t>
            </a:r>
            <a:r>
              <a:rPr lang="en-US" altLang="pt-BR" sz="2000" b="1" dirty="0">
                <a:solidFill>
                  <a:srgbClr val="0033CC"/>
                </a:solidFill>
              </a:rPr>
              <a:t> de </a:t>
            </a:r>
            <a:r>
              <a:rPr lang="en-US" altLang="pt-BR" sz="2000" b="1" dirty="0" err="1">
                <a:solidFill>
                  <a:srgbClr val="0033CC"/>
                </a:solidFill>
              </a:rPr>
              <a:t>variáveis</a:t>
            </a:r>
            <a:endParaRPr lang="en-US" altLang="pt-BR" sz="2000" b="1" dirty="0">
              <a:solidFill>
                <a:srgbClr val="0033CC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             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		//</a:t>
            </a:r>
            <a:r>
              <a:rPr lang="en-US" altLang="pt-BR" sz="2000" b="1" dirty="0" err="1">
                <a:solidFill>
                  <a:srgbClr val="0033CC"/>
                </a:solidFill>
              </a:rPr>
              <a:t>comandos</a:t>
            </a:r>
            <a:r>
              <a:rPr lang="en-US" altLang="pt-BR" sz="2000" b="1" dirty="0">
                <a:solidFill>
                  <a:srgbClr val="0033CC"/>
                </a:solidFill>
              </a:rPr>
              <a:t> da </a:t>
            </a:r>
            <a:r>
              <a:rPr lang="en-US" altLang="pt-BR" sz="2000" b="1" dirty="0" err="1">
                <a:solidFill>
                  <a:srgbClr val="0033CC"/>
                </a:solidFill>
              </a:rPr>
              <a:t>linguagem</a:t>
            </a:r>
            <a:r>
              <a:rPr lang="en-US" altLang="pt-BR" sz="2000" b="1" dirty="0">
                <a:solidFill>
                  <a:srgbClr val="0033CC"/>
                </a:solidFill>
              </a:rPr>
              <a:t> JAVA</a:t>
            </a: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}	</a:t>
            </a:r>
            <a:endParaRPr lang="en-US" altLang="pt-BR" sz="2000" b="1" dirty="0">
              <a:solidFill>
                <a:srgbClr val="0033CC"/>
              </a:solidFill>
            </a:endParaRPr>
          </a:p>
        </p:txBody>
      </p:sp>
      <p:sp>
        <p:nvSpPr>
          <p:cNvPr id="12293" name="AutoShape 5"/>
          <p:cNvSpPr>
            <a:spLocks/>
          </p:cNvSpPr>
          <p:nvPr/>
        </p:nvSpPr>
        <p:spPr bwMode="auto">
          <a:xfrm>
            <a:off x="6414004" y="2764160"/>
            <a:ext cx="2214562" cy="720080"/>
          </a:xfrm>
          <a:prstGeom prst="borderCallout1">
            <a:avLst>
              <a:gd name="adj1" fmla="val 28722"/>
              <a:gd name="adj2" fmla="val -2745"/>
              <a:gd name="adj3" fmla="val 10348"/>
              <a:gd name="adj4" fmla="val -8998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Arial" pitchFamily="34" charset="0"/>
              </a:rPr>
              <a:t>Função  ou Método Principal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D0D7BCA-1D3A-F7F5-6040-DFB36FE2029F}"/>
              </a:ext>
            </a:extLst>
          </p:cNvPr>
          <p:cNvSpPr>
            <a:spLocks/>
          </p:cNvSpPr>
          <p:nvPr/>
        </p:nvSpPr>
        <p:spPr bwMode="auto">
          <a:xfrm>
            <a:off x="4200656" y="1238769"/>
            <a:ext cx="3806525" cy="720080"/>
          </a:xfrm>
          <a:prstGeom prst="borderCallout1">
            <a:avLst>
              <a:gd name="adj1" fmla="val 28722"/>
              <a:gd name="adj2" fmla="val -2745"/>
              <a:gd name="adj3" fmla="val 74918"/>
              <a:gd name="adj4" fmla="val -4940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FF0000"/>
                </a:solidFill>
                <a:latin typeface="+mn-lt"/>
              </a:rPr>
              <a:t>Primeira</a:t>
            </a:r>
            <a:r>
              <a:rPr lang="pt-BR" altLang="pt-BR" sz="1800" dirty="0">
                <a:latin typeface="Arial" pitchFamily="34" charset="0"/>
              </a:rPr>
              <a:t> é o nome da classe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Arial" pitchFamily="34" charset="0"/>
              </a:rPr>
              <a:t>de aplicação (nome do programa)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A08FC85-488C-D38C-A64B-851C348ECF3A}"/>
              </a:ext>
            </a:extLst>
          </p:cNvPr>
          <p:cNvSpPr>
            <a:spLocks/>
          </p:cNvSpPr>
          <p:nvPr/>
        </p:nvSpPr>
        <p:spPr bwMode="auto">
          <a:xfrm>
            <a:off x="6103919" y="3742487"/>
            <a:ext cx="3000375" cy="1219200"/>
          </a:xfrm>
          <a:prstGeom prst="borderCallout1">
            <a:avLst>
              <a:gd name="adj1" fmla="val 53750"/>
              <a:gd name="adj2" fmla="val -1616"/>
              <a:gd name="adj3" fmla="val -24855"/>
              <a:gd name="adj4" fmla="val -7232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Arial" pitchFamily="34" charset="0"/>
              </a:rPr>
              <a:t>Variáveis precisam ser declaradas antes do seu uso em JAVA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800" dirty="0">
              <a:latin typeface="Arial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11EAF7E-75FE-20B7-E6FF-7CDA739F6CF1}"/>
              </a:ext>
            </a:extLst>
          </p:cNvPr>
          <p:cNvSpPr txBox="1"/>
          <p:nvPr/>
        </p:nvSpPr>
        <p:spPr>
          <a:xfrm>
            <a:off x="1561920" y="5078770"/>
            <a:ext cx="669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800" dirty="0" err="1">
                <a:solidFill>
                  <a:srgbClr val="FF0000"/>
                </a:solidFill>
                <a:latin typeface="+mn-lt"/>
              </a:rPr>
              <a:t>class</a:t>
            </a:r>
            <a:r>
              <a:rPr lang="pt-BR" altLang="pt-BR" sz="1800" dirty="0">
                <a:solidFill>
                  <a:srgbClr val="FF0000"/>
                </a:solidFill>
                <a:latin typeface="+mn-lt"/>
              </a:rPr>
              <a:t> Primeira </a:t>
            </a:r>
            <a:r>
              <a:rPr lang="pt-BR" altLang="pt-BR" sz="1800" dirty="0">
                <a:latin typeface="+mn-lt"/>
              </a:rPr>
              <a:t>indica o nome do programa. Em Java, todos os programas de aplicação  são classes que possuem “função” </a:t>
            </a:r>
            <a:r>
              <a:rPr lang="pt-BR" altLang="pt-BR" sz="1800" dirty="0" err="1">
                <a:latin typeface="+mn-lt"/>
              </a:rPr>
              <a:t>main</a:t>
            </a:r>
            <a:r>
              <a:rPr lang="pt-BR" altLang="pt-BR" sz="1800" dirty="0">
                <a:latin typeface="+mn-lt"/>
              </a:rPr>
              <a:t>() dentro de um projeto que pode conter diversas classes.</a:t>
            </a:r>
          </a:p>
          <a:p>
            <a:endParaRPr lang="pt-BR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nimBg="1"/>
      <p:bldP spid="5" grpId="0" animBg="1"/>
      <p:bldP spid="6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2800" dirty="0"/>
              <a:t>Estrutura Básica de um Programa em JAVA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  <a:endParaRPr lang="pt-BR">
              <a:cs typeface="Arial" charset="0"/>
            </a:endParaRPr>
          </a:p>
        </p:txBody>
      </p:sp>
      <p:sp>
        <p:nvSpPr>
          <p:cNvPr id="16389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D7FA9-6BBD-40D8-9DFA-1411D5474252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370013"/>
            <a:ext cx="8229600" cy="4986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pt-BR" sz="2000" dirty="0">
                <a:solidFill>
                  <a:srgbClr val="0033CC"/>
                </a:solidFill>
              </a:rPr>
              <a:t>// </a:t>
            </a:r>
            <a:r>
              <a:rPr lang="en-US" altLang="pt-BR" sz="2000" dirty="0" err="1">
                <a:solidFill>
                  <a:srgbClr val="0033CC"/>
                </a:solidFill>
              </a:rPr>
              <a:t>várias</a:t>
            </a:r>
            <a:r>
              <a:rPr lang="en-US" altLang="pt-BR" sz="2000" dirty="0">
                <a:solidFill>
                  <a:srgbClr val="0033CC"/>
                </a:solidFill>
              </a:rPr>
              <a:t> </a:t>
            </a:r>
            <a:r>
              <a:rPr lang="en-US" altLang="pt-BR" sz="2000" dirty="0" err="1">
                <a:solidFill>
                  <a:srgbClr val="0033CC"/>
                </a:solidFill>
              </a:rPr>
              <a:t>bibliotecas</a:t>
            </a:r>
            <a:r>
              <a:rPr lang="en-US" altLang="pt-BR" sz="2000" dirty="0">
                <a:solidFill>
                  <a:srgbClr val="0033CC"/>
                </a:solidFill>
              </a:rPr>
              <a:t> </a:t>
            </a:r>
            <a:r>
              <a:rPr lang="en-US" altLang="pt-BR" sz="2000" dirty="0" err="1">
                <a:solidFill>
                  <a:srgbClr val="0033CC"/>
                </a:solidFill>
              </a:rPr>
              <a:t>podem</a:t>
            </a:r>
            <a:r>
              <a:rPr lang="en-US" altLang="pt-BR" sz="2000" dirty="0">
                <a:solidFill>
                  <a:srgbClr val="0033CC"/>
                </a:solidFill>
              </a:rPr>
              <a:t> ser </a:t>
            </a:r>
            <a:r>
              <a:rPr lang="en-US" altLang="pt-BR" sz="2000" dirty="0" err="1">
                <a:solidFill>
                  <a:srgbClr val="0033CC"/>
                </a:solidFill>
              </a:rPr>
              <a:t>incluídas</a:t>
            </a:r>
            <a:endParaRPr lang="en-US" altLang="pt-BR" sz="2000" dirty="0">
              <a:solidFill>
                <a:srgbClr val="0033CC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pt-BR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/>
              <a:t>public class </a:t>
            </a:r>
            <a:r>
              <a:rPr lang="en-US" altLang="pt-BR" sz="2000" b="1" dirty="0" err="1">
                <a:solidFill>
                  <a:srgbClr val="FF0000"/>
                </a:solidFill>
              </a:rPr>
              <a:t>Primeira</a:t>
            </a:r>
            <a:r>
              <a:rPr lang="en-US" altLang="pt-BR" sz="2000" b="1" dirty="0"/>
              <a:t> </a:t>
            </a:r>
            <a:r>
              <a:rPr lang="en-US" altLang="pt-BR" sz="2000" b="1" dirty="0">
                <a:solidFill>
                  <a:srgbClr val="FF0000"/>
                </a:solidFill>
              </a:rPr>
              <a:t>{ 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/>
              <a:t>	public static void main(String[] </a:t>
            </a:r>
            <a:r>
              <a:rPr lang="en-US" altLang="pt-BR" sz="2000" dirty="0" err="1"/>
              <a:t>args</a:t>
            </a:r>
            <a:r>
              <a:rPr lang="en-US" altLang="pt-BR" sz="2000" dirty="0"/>
              <a:t>) </a:t>
            </a:r>
            <a:r>
              <a:rPr lang="en-US" altLang="pt-BR" sz="2000" b="1" dirty="0"/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/>
              <a:t>		</a:t>
            </a:r>
            <a:r>
              <a:rPr lang="en-US" altLang="pt-BR" sz="2000" dirty="0">
                <a:solidFill>
                  <a:srgbClr val="0033CC"/>
                </a:solidFill>
              </a:rPr>
              <a:t>/*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>
                <a:solidFill>
                  <a:srgbClr val="0033CC"/>
                </a:solidFill>
              </a:rPr>
              <a:t>			</a:t>
            </a:r>
            <a:r>
              <a:rPr lang="en-US" altLang="pt-BR" sz="2000" dirty="0" err="1">
                <a:solidFill>
                  <a:srgbClr val="0033CC"/>
                </a:solidFill>
              </a:rPr>
              <a:t>declaração</a:t>
            </a:r>
            <a:r>
              <a:rPr lang="en-US" altLang="pt-BR" sz="2000" dirty="0">
                <a:solidFill>
                  <a:srgbClr val="0033CC"/>
                </a:solidFill>
              </a:rPr>
              <a:t> de </a:t>
            </a:r>
            <a:r>
              <a:rPr lang="en-US" altLang="pt-BR" sz="2000" dirty="0" err="1">
                <a:solidFill>
                  <a:srgbClr val="0033CC"/>
                </a:solidFill>
              </a:rPr>
              <a:t>variáveis</a:t>
            </a:r>
            <a:endParaRPr lang="en-US" altLang="pt-BR" sz="2000" dirty="0">
              <a:solidFill>
                <a:srgbClr val="0033CC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>
                <a:solidFill>
                  <a:srgbClr val="0033CC"/>
                </a:solidFill>
              </a:rPr>
              <a:t>         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>
                <a:solidFill>
                  <a:srgbClr val="0033CC"/>
                </a:solidFill>
              </a:rPr>
              <a:t>		//</a:t>
            </a:r>
            <a:r>
              <a:rPr lang="en-US" altLang="pt-BR" sz="2000" dirty="0" err="1">
                <a:solidFill>
                  <a:srgbClr val="0033CC"/>
                </a:solidFill>
              </a:rPr>
              <a:t>comandos</a:t>
            </a:r>
            <a:r>
              <a:rPr lang="en-US" altLang="pt-BR" sz="2000" dirty="0">
                <a:solidFill>
                  <a:srgbClr val="0033CC"/>
                </a:solidFill>
              </a:rPr>
              <a:t> da </a:t>
            </a:r>
            <a:r>
              <a:rPr lang="en-US" altLang="pt-BR" sz="2000" dirty="0" err="1">
                <a:solidFill>
                  <a:srgbClr val="0033CC"/>
                </a:solidFill>
              </a:rPr>
              <a:t>linguagem</a:t>
            </a:r>
            <a:r>
              <a:rPr lang="en-US" altLang="pt-BR" sz="2000" dirty="0">
                <a:solidFill>
                  <a:srgbClr val="0033CC"/>
                </a:solidFill>
              </a:rPr>
              <a:t> JAVA</a:t>
            </a:r>
            <a:endParaRPr lang="en-US" altLang="pt-BR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dirty="0"/>
              <a:t>	</a:t>
            </a:r>
            <a:r>
              <a:rPr lang="en-US" altLang="pt-BR" sz="2000" b="1" dirty="0"/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FF0000"/>
                </a:solidFill>
              </a:rPr>
              <a:t>}	</a:t>
            </a:r>
          </a:p>
        </p:txBody>
      </p:sp>
      <p:sp>
        <p:nvSpPr>
          <p:cNvPr id="12292" name="AutoShape 4"/>
          <p:cNvSpPr>
            <a:spLocks/>
          </p:cNvSpPr>
          <p:nvPr/>
        </p:nvSpPr>
        <p:spPr bwMode="auto">
          <a:xfrm>
            <a:off x="6119812" y="1250317"/>
            <a:ext cx="3000375" cy="1219200"/>
          </a:xfrm>
          <a:prstGeom prst="borderCallout1">
            <a:avLst>
              <a:gd name="adj1" fmla="val 53750"/>
              <a:gd name="adj2" fmla="val -1616"/>
              <a:gd name="adj3" fmla="val 43789"/>
              <a:gd name="adj4" fmla="val -85751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Arial" pitchFamily="34" charset="0"/>
              </a:rPr>
              <a:t>Bibliotecas que contém a especificação dos comandos necessários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4819C0B-DE09-EBE2-471A-3EE6D4E280C1}"/>
              </a:ext>
            </a:extLst>
          </p:cNvPr>
          <p:cNvGrpSpPr/>
          <p:nvPr/>
        </p:nvGrpSpPr>
        <p:grpSpPr>
          <a:xfrm>
            <a:off x="1052733" y="3253323"/>
            <a:ext cx="7939102" cy="1581708"/>
            <a:chOff x="1116798" y="3575484"/>
            <a:chExt cx="7939102" cy="1581708"/>
          </a:xfrm>
        </p:grpSpPr>
        <p:sp>
          <p:nvSpPr>
            <p:cNvPr id="2" name="AutoShape 4">
              <a:extLst>
                <a:ext uri="{FF2B5EF4-FFF2-40B4-BE49-F238E27FC236}">
                  <a16:creationId xmlns:a16="http://schemas.microsoft.com/office/drawing/2014/main" id="{B99905DC-528B-8C31-9F01-5EBEF0576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525" y="3575484"/>
              <a:ext cx="3000375" cy="1219200"/>
            </a:xfrm>
            <a:prstGeom prst="borderCallout1">
              <a:avLst>
                <a:gd name="adj1" fmla="val 53750"/>
                <a:gd name="adj2" fmla="val -1616"/>
                <a:gd name="adj3" fmla="val -6211"/>
                <a:gd name="adj4" fmla="val -40279"/>
              </a:avLst>
            </a:prstGeom>
            <a:solidFill>
              <a:srgbClr val="FFFF99"/>
            </a:solidFill>
            <a:ln w="15875">
              <a:solidFill>
                <a:srgbClr val="C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 dirty="0">
                  <a:latin typeface="Arial" pitchFamily="34" charset="0"/>
                </a:rPr>
                <a:t>As chaves delimitam início e fim da classe, do método </a:t>
              </a:r>
              <a:r>
                <a:rPr lang="pt-BR" altLang="pt-BR" sz="1800" dirty="0" err="1">
                  <a:latin typeface="Arial" pitchFamily="34" charset="0"/>
                </a:rPr>
                <a:t>main</a:t>
              </a:r>
              <a:r>
                <a:rPr lang="pt-BR" altLang="pt-BR" sz="1800" dirty="0">
                  <a:latin typeface="Arial" pitchFamily="34" charset="0"/>
                </a:rPr>
                <a:t>() e de cada bloco de comandos</a:t>
              </a:r>
            </a:p>
          </p:txBody>
        </p:sp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A59FD9C7-A511-863B-FF6B-D74E20A52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798" y="4794684"/>
              <a:ext cx="4938727" cy="36250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584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200" dirty="0"/>
              <a:t>Inserindo Comentários em JAVA</a:t>
            </a:r>
          </a:p>
        </p:txBody>
      </p:sp>
      <p:sp>
        <p:nvSpPr>
          <p:cNvPr id="1331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 err="1">
                <a:latin typeface="Arial"/>
                <a:cs typeface="Arial"/>
              </a:rPr>
              <a:t>Profa</a:t>
            </a:r>
            <a:r>
              <a:rPr lang="pt-BR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1843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B91D7-8393-4BFF-933E-4105401273E4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58792" y="1000695"/>
            <a:ext cx="8229600" cy="4868862"/>
          </a:xfrm>
        </p:spPr>
        <p:txBody>
          <a:bodyPr/>
          <a:lstStyle/>
          <a:p>
            <a:pPr lvl="1" eaLnBrk="1" hangingPunct="1">
              <a:buFont typeface="Arial" pitchFamily="34" charset="0"/>
              <a:buNone/>
            </a:pPr>
            <a:endParaRPr lang="pt-BR" altLang="pt-BR" sz="2400" dirty="0"/>
          </a:p>
          <a:p>
            <a:pPr eaLnBrk="1" hangingPunct="1"/>
            <a:r>
              <a:rPr lang="pt-BR" altLang="pt-BR" sz="2400" dirty="0"/>
              <a:t>O nome do </a:t>
            </a:r>
            <a:r>
              <a:rPr lang="pt-BR" altLang="pt-BR" sz="2400" b="1" dirty="0"/>
              <a:t>arquivo</a:t>
            </a:r>
            <a:r>
              <a:rPr lang="pt-BR" altLang="pt-BR" sz="2400" dirty="0"/>
              <a:t> onde a </a:t>
            </a:r>
            <a:r>
              <a:rPr lang="pt-BR" altLang="pt-BR" sz="2400" b="1" dirty="0"/>
              <a:t>classe</a:t>
            </a:r>
            <a:r>
              <a:rPr lang="pt-BR" altLang="pt-BR" sz="2400" dirty="0"/>
              <a:t> </a:t>
            </a:r>
            <a:r>
              <a:rPr lang="pt-BR" altLang="pt-BR" sz="2400" b="1" dirty="0"/>
              <a:t>Primeira</a:t>
            </a:r>
            <a:r>
              <a:rPr lang="pt-BR" altLang="pt-BR" sz="2400" dirty="0"/>
              <a:t> é criada TEM QUE ter como nome </a:t>
            </a:r>
            <a:r>
              <a:rPr lang="pt-BR" altLang="pt-BR" sz="2400" b="1" dirty="0"/>
              <a:t>Primeira.java</a:t>
            </a:r>
          </a:p>
          <a:p>
            <a:pPr eaLnBrk="1" hangingPunct="1"/>
            <a:endParaRPr lang="pt-BR" altLang="pt-BR" sz="2400" b="1" dirty="0"/>
          </a:p>
          <a:p>
            <a:pPr eaLnBrk="1" hangingPunct="1"/>
            <a:r>
              <a:rPr lang="pt-BR" altLang="pt-BR" sz="2400" dirty="0"/>
              <a:t>Blocos de comandos são delimitados por { }</a:t>
            </a:r>
          </a:p>
          <a:p>
            <a:pPr lvl="1" eaLnBrk="1" hangingPunct="1"/>
            <a:r>
              <a:rPr lang="pt-BR" altLang="pt-BR" dirty="0"/>
              <a:t>Equivale ao recuo (alinhamento) do </a:t>
            </a:r>
            <a:r>
              <a:rPr lang="pt-BR" altLang="pt-BR" dirty="0" err="1"/>
              <a:t>python</a:t>
            </a:r>
            <a:endParaRPr lang="pt-BR" altLang="pt-BR" dirty="0"/>
          </a:p>
          <a:p>
            <a:pPr lvl="1" eaLnBrk="1" hangingPunct="1"/>
            <a:endParaRPr lang="pt-BR" altLang="pt-BR" dirty="0"/>
          </a:p>
          <a:p>
            <a:pPr eaLnBrk="1" hangingPunct="1"/>
            <a:r>
              <a:rPr lang="pt-BR" altLang="pt-BR" sz="2400" dirty="0"/>
              <a:t>Comentários podem ser inseridos no código fonte usando:</a:t>
            </a:r>
          </a:p>
          <a:p>
            <a:pPr lvl="1" eaLnBrk="1" hangingPunct="1"/>
            <a:r>
              <a:rPr lang="pt-BR" altLang="pt-BR" sz="2000" b="1" dirty="0">
                <a:solidFill>
                  <a:srgbClr val="082AB8"/>
                </a:solidFill>
              </a:rPr>
              <a:t> //  </a:t>
            </a:r>
            <a:r>
              <a:rPr lang="pt-BR" altLang="pt-BR" sz="2000" dirty="0"/>
              <a:t>finaliza o comentário com ENTER (fim da linha de comando)</a:t>
            </a:r>
          </a:p>
          <a:p>
            <a:pPr lvl="1" eaLnBrk="1" hangingPunct="1"/>
            <a:r>
              <a:rPr lang="pt-BR" altLang="pt-BR" sz="2000" b="1" dirty="0">
                <a:solidFill>
                  <a:srgbClr val="082AB8"/>
                </a:solidFill>
              </a:rPr>
              <a:t> /*  */ </a:t>
            </a:r>
            <a:r>
              <a:rPr lang="pt-BR" altLang="pt-BR" sz="2000" dirty="0"/>
              <a:t>pode conter um bloco de linhas de comentário iniciando com </a:t>
            </a:r>
            <a:r>
              <a:rPr lang="pt-BR" altLang="pt-BR" sz="2000" b="1" dirty="0">
                <a:solidFill>
                  <a:srgbClr val="082AB8"/>
                </a:solidFill>
              </a:rPr>
              <a:t>/*</a:t>
            </a:r>
            <a:r>
              <a:rPr lang="pt-BR" altLang="pt-BR" sz="2000" dirty="0"/>
              <a:t> e depois fechando área de comentário com </a:t>
            </a:r>
            <a:r>
              <a:rPr lang="pt-BR" altLang="pt-BR" sz="2000" b="1" dirty="0">
                <a:solidFill>
                  <a:srgbClr val="082AB8"/>
                </a:solidFill>
              </a:rPr>
              <a:t>*/</a:t>
            </a:r>
          </a:p>
          <a:p>
            <a:pPr lvl="1" eaLnBrk="1" hangingPunct="1">
              <a:buFont typeface="Arial" pitchFamily="34" charset="0"/>
              <a:buNone/>
            </a:pPr>
            <a:endParaRPr lang="pt-BR" altLang="pt-BR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9B559-0E8E-FF4C-0DFD-5CE30141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0" y="21307"/>
            <a:ext cx="6995120" cy="1143000"/>
          </a:xfrm>
        </p:spPr>
        <p:txBody>
          <a:bodyPr/>
          <a:lstStyle/>
          <a:p>
            <a:r>
              <a:rPr lang="pt-BR" sz="3200" dirty="0"/>
              <a:t>Vamos criar nosso primeiro  projeto </a:t>
            </a:r>
            <a:br>
              <a:rPr lang="pt-BR" sz="3200" dirty="0"/>
            </a:br>
            <a:r>
              <a:rPr lang="pt-BR" sz="3200" dirty="0">
                <a:ea typeface="Calibri"/>
                <a:cs typeface="Calibri"/>
              </a:rPr>
              <a:t>JAVA no </a:t>
            </a:r>
            <a:r>
              <a:rPr lang="pt-BR" sz="3200" dirty="0" err="1">
                <a:ea typeface="Calibri"/>
                <a:cs typeface="Calibri"/>
              </a:rPr>
              <a:t>IntelliJ</a:t>
            </a:r>
            <a:r>
              <a:rPr lang="pt-BR" sz="3200" dirty="0">
                <a:ea typeface="Calibri"/>
                <a:cs typeface="Calibri"/>
              </a:rPr>
              <a:t> 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501FE5-A148-BD6C-3E66-9A4B20C7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57CA198-C255-1D6C-D308-5C70604E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3" name="Rolagem: Horizontal 2">
            <a:extLst>
              <a:ext uri="{FF2B5EF4-FFF2-40B4-BE49-F238E27FC236}">
                <a16:creationId xmlns:a16="http://schemas.microsoft.com/office/drawing/2014/main" id="{BC2A8D59-7DA1-53BE-23A3-0E71FE8E2167}"/>
              </a:ext>
            </a:extLst>
          </p:cNvPr>
          <p:cNvSpPr/>
          <p:nvPr/>
        </p:nvSpPr>
        <p:spPr>
          <a:xfrm>
            <a:off x="179512" y="0"/>
            <a:ext cx="7272808" cy="1340768"/>
          </a:xfrm>
          <a:prstGeom prst="horizontalScroll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00C3960-DF7B-C30E-4B41-15827061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8" y="1335477"/>
            <a:ext cx="67532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1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796C5292-78E9-69FE-B388-F764ADF2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4DDCAEF-47B0-9F21-9AFF-2560AF55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89F9EAA-4502-1A82-E1B4-F01C1473D3D7}"/>
              </a:ext>
            </a:extLst>
          </p:cNvPr>
          <p:cNvSpPr/>
          <p:nvPr/>
        </p:nvSpPr>
        <p:spPr>
          <a:xfrm>
            <a:off x="539552" y="908962"/>
            <a:ext cx="617734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Tela de computador com texto preto sobre fundo escuro&#10;&#10;O conteúdo gerado por IA pode estar incorreto.">
            <a:extLst>
              <a:ext uri="{FF2B5EF4-FFF2-40B4-BE49-F238E27FC236}">
                <a16:creationId xmlns:a16="http://schemas.microsoft.com/office/drawing/2014/main" id="{C6B47C5B-EA45-56A2-396F-6EA3D0EA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08" y="0"/>
            <a:ext cx="7444477" cy="6858000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920869-841D-FF1D-47DC-2AEC0929E45F}"/>
              </a:ext>
            </a:extLst>
          </p:cNvPr>
          <p:cNvSpPr/>
          <p:nvPr/>
        </p:nvSpPr>
        <p:spPr>
          <a:xfrm>
            <a:off x="4426085" y="1815829"/>
            <a:ext cx="778212" cy="551234"/>
          </a:xfrm>
          <a:prstGeom prst="roundRect">
            <a:avLst/>
          </a:prstGeom>
          <a:noFill/>
          <a:ln>
            <a:solidFill>
              <a:srgbClr val="BF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51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A65BE1B-FDCD-BC6C-7421-9FA7AFB0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2D43404-000F-CAAB-B099-A74CB599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44E43E-6F4A-B208-EE76-08F135327724}"/>
              </a:ext>
            </a:extLst>
          </p:cNvPr>
          <p:cNvSpPr txBox="1"/>
          <p:nvPr/>
        </p:nvSpPr>
        <p:spPr>
          <a:xfrm>
            <a:off x="323529" y="332656"/>
            <a:ext cx="532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Dentro do projeto Java, agora precisamos criar uma classe para iniciarmos a codificação</a:t>
            </a:r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0200594-90E0-7B6D-9ECF-BDA91FFE3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24000"/>
            <a:ext cx="6667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2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2B034344-8C1E-8268-1ED7-15643371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0EDC981-B5A5-1982-1D04-75FA2A19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pic>
        <p:nvPicPr>
          <p:cNvPr id="4" name="Imagem 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B1384776-195B-E88F-2BAF-988C92DE0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43" y="976312"/>
            <a:ext cx="8124825" cy="4905375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ACB59C7F-7DBB-D2B9-95DF-2952DB0B4AC3}"/>
              </a:ext>
            </a:extLst>
          </p:cNvPr>
          <p:cNvSpPr/>
          <p:nvPr/>
        </p:nvSpPr>
        <p:spPr>
          <a:xfrm>
            <a:off x="4612515" y="3825650"/>
            <a:ext cx="576064" cy="360040"/>
          </a:xfrm>
          <a:prstGeom prst="rightArrow">
            <a:avLst/>
          </a:prstGeom>
          <a:solidFill>
            <a:srgbClr val="CC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04959B8-9FF2-04DA-0561-76862FFE47E5}"/>
              </a:ext>
            </a:extLst>
          </p:cNvPr>
          <p:cNvSpPr/>
          <p:nvPr/>
        </p:nvSpPr>
        <p:spPr>
          <a:xfrm>
            <a:off x="-3878" y="2266130"/>
            <a:ext cx="1050516" cy="1872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70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33A40C4E-0B3C-27BA-398A-1BF526D8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938B14A-16ED-EA3B-A65F-9812D205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E3D9927-4A9D-4BC3-A9BC-AC2A710B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403"/>
            <a:ext cx="9144000" cy="2284325"/>
          </a:xfrm>
          <a:prstGeom prst="rect">
            <a:avLst/>
          </a:prstGeom>
        </p:spPr>
      </p:pic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17642D7-AD6A-327B-9D6C-BE80A749B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429180"/>
            <a:ext cx="63627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0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00F6-FF71-1159-8882-9427F150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7424293-5976-0BA7-D17D-3AF550CD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180" y="-1970"/>
            <a:ext cx="8172091" cy="682427"/>
          </a:xfrm>
        </p:spPr>
        <p:txBody>
          <a:bodyPr/>
          <a:lstStyle/>
          <a:p>
            <a:pPr eaLnBrk="1" hangingPunct="1"/>
            <a:r>
              <a:rPr lang="pt-BR" altLang="pt-BR" sz="2800" dirty="0"/>
              <a:t>Estrutura Básica de um Programa em JAVA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0D73DE-E062-2E3E-FC67-72168F9D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>
                <a:latin typeface="Arial"/>
                <a:cs typeface="Arial"/>
              </a:rPr>
              <a:t>Profa</a:t>
            </a:r>
            <a:r>
              <a:rPr lang="pt-BR" altLang="en-US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16389" name="Espaço Reservado para Número de Slide 5">
            <a:extLst>
              <a:ext uri="{FF2B5EF4-FFF2-40B4-BE49-F238E27FC236}">
                <a16:creationId xmlns:a16="http://schemas.microsoft.com/office/drawing/2014/main" id="{7F4088D9-1D5F-CD15-AD91-8472038E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D7FA9-6BBD-40D8-9DFA-1411D5474252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B8BABA1-9B25-AA3E-A549-E444DAFF5F1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90755" y="938692"/>
            <a:ext cx="8229600" cy="49863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public class </a:t>
            </a:r>
            <a:r>
              <a:rPr lang="en-US" altLang="pt-BR" sz="2000" b="1" dirty="0" err="1">
                <a:solidFill>
                  <a:srgbClr val="FF0000"/>
                </a:solidFill>
              </a:rPr>
              <a:t>Primeira</a:t>
            </a:r>
            <a:r>
              <a:rPr lang="en-US" altLang="pt-BR" sz="2000" b="1" dirty="0"/>
              <a:t>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public static void main(String[] </a:t>
            </a:r>
            <a:r>
              <a:rPr lang="en-US" altLang="pt-BR" sz="2000" b="1" dirty="0" err="1"/>
              <a:t>args</a:t>
            </a:r>
            <a:r>
              <a:rPr lang="en-US" altLang="pt-BR" sz="2000" b="1" dirty="0"/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	</a:t>
            </a:r>
            <a:r>
              <a:rPr lang="en-US" altLang="pt-BR" sz="2000" b="1" dirty="0">
                <a:solidFill>
                  <a:srgbClr val="0033CC"/>
                </a:solidFill>
              </a:rPr>
              <a:t>/*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		</a:t>
            </a:r>
            <a:r>
              <a:rPr lang="en-US" altLang="pt-BR" sz="2000" b="1" dirty="0" err="1">
                <a:solidFill>
                  <a:srgbClr val="0033CC"/>
                </a:solidFill>
              </a:rPr>
              <a:t>declaração</a:t>
            </a:r>
            <a:r>
              <a:rPr lang="en-US" altLang="pt-BR" sz="2000" b="1" dirty="0">
                <a:solidFill>
                  <a:srgbClr val="0033CC"/>
                </a:solidFill>
              </a:rPr>
              <a:t> de </a:t>
            </a:r>
            <a:r>
              <a:rPr lang="en-US" altLang="pt-BR" sz="2000" b="1" dirty="0" err="1">
                <a:solidFill>
                  <a:srgbClr val="0033CC"/>
                </a:solidFill>
              </a:rPr>
              <a:t>variáveis</a:t>
            </a:r>
            <a:endParaRPr lang="en-US" altLang="pt-BR" sz="2000" b="1" dirty="0">
              <a:solidFill>
                <a:srgbClr val="0033CC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              */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>
                <a:solidFill>
                  <a:srgbClr val="0033CC"/>
                </a:solidFill>
              </a:rPr>
              <a:t>		//</a:t>
            </a:r>
            <a:r>
              <a:rPr lang="en-US" altLang="pt-BR" sz="2000" b="1" dirty="0" err="1">
                <a:solidFill>
                  <a:srgbClr val="0033CC"/>
                </a:solidFill>
              </a:rPr>
              <a:t>comandos</a:t>
            </a:r>
            <a:r>
              <a:rPr lang="en-US" altLang="pt-BR" sz="2000" b="1" dirty="0">
                <a:solidFill>
                  <a:srgbClr val="0033CC"/>
                </a:solidFill>
              </a:rPr>
              <a:t> da </a:t>
            </a:r>
            <a:r>
              <a:rPr lang="en-US" altLang="pt-BR" sz="2000" b="1" dirty="0" err="1">
                <a:solidFill>
                  <a:srgbClr val="0033CC"/>
                </a:solidFill>
              </a:rPr>
              <a:t>linguagem</a:t>
            </a:r>
            <a:r>
              <a:rPr lang="en-US" altLang="pt-BR" sz="2000" b="1" dirty="0">
                <a:solidFill>
                  <a:srgbClr val="0033CC"/>
                </a:solidFill>
              </a:rPr>
              <a:t> JAVA</a:t>
            </a: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pt-BR" sz="2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pt-BR" sz="2000" b="1" dirty="0"/>
              <a:t>}	</a:t>
            </a:r>
            <a:endParaRPr lang="en-US" altLang="pt-BR" sz="2000" b="1" dirty="0">
              <a:solidFill>
                <a:srgbClr val="0033CC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88505B-434C-A24C-CDAE-2BDF610863A1}"/>
              </a:ext>
            </a:extLst>
          </p:cNvPr>
          <p:cNvSpPr txBox="1"/>
          <p:nvPr/>
        </p:nvSpPr>
        <p:spPr>
          <a:xfrm>
            <a:off x="1561920" y="5078770"/>
            <a:ext cx="669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800" dirty="0" err="1">
                <a:solidFill>
                  <a:srgbClr val="FF0000"/>
                </a:solidFill>
                <a:latin typeface="+mn-lt"/>
              </a:rPr>
              <a:t>class</a:t>
            </a:r>
            <a:r>
              <a:rPr lang="pt-BR" altLang="pt-BR" sz="1800" dirty="0">
                <a:solidFill>
                  <a:srgbClr val="FF0000"/>
                </a:solidFill>
                <a:latin typeface="+mn-lt"/>
              </a:rPr>
              <a:t> Primeira </a:t>
            </a:r>
            <a:r>
              <a:rPr lang="pt-BR" altLang="pt-BR" sz="1800" dirty="0">
                <a:latin typeface="+mn-lt"/>
              </a:rPr>
              <a:t>indica o nome do programa. Em Java, todos os programas de aplicação  são classes que possuem “função” </a:t>
            </a:r>
            <a:r>
              <a:rPr lang="pt-BR" altLang="pt-BR" sz="1800" dirty="0" err="1">
                <a:latin typeface="+mn-lt"/>
              </a:rPr>
              <a:t>main</a:t>
            </a:r>
            <a:r>
              <a:rPr lang="pt-BR" altLang="pt-BR" sz="1800" dirty="0">
                <a:latin typeface="+mn-lt"/>
              </a:rPr>
              <a:t>() dentro de um projeto que pode conter diversas classes.</a:t>
            </a:r>
          </a:p>
          <a:p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59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9557" y="328709"/>
            <a:ext cx="8215223" cy="754314"/>
          </a:xfrm>
        </p:spPr>
        <p:txBody>
          <a:bodyPr/>
          <a:lstStyle/>
          <a:p>
            <a:pPr algn="l" eaLnBrk="1" hangingPunct="1"/>
            <a:r>
              <a:rPr lang="pt-BR" altLang="pt-BR" sz="3200" b="1" dirty="0"/>
              <a:t>Exemplo 1</a:t>
            </a:r>
            <a:br>
              <a:rPr lang="pt-BR" altLang="pt-BR" sz="3200" b="1" dirty="0"/>
            </a:br>
            <a:endParaRPr lang="pt-BR" altLang="pt-BR" sz="3200" b="1">
              <a:ea typeface="Calibri"/>
              <a:cs typeface="Calibri"/>
            </a:endParaRPr>
          </a:p>
        </p:txBody>
      </p:sp>
      <p:sp>
        <p:nvSpPr>
          <p:cNvPr id="1741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749F3D-4CC2-4269-B684-454C3B4EEF3F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06415" y="1269521"/>
            <a:ext cx="7138988" cy="3557588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Primeira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93663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449263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//variáveis x e y são do tipo inteiro</a:t>
            </a:r>
          </a:p>
          <a:p>
            <a:pPr marL="0" indent="449263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1;	</a:t>
            </a:r>
            <a:r>
              <a:rPr lang="es-ES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8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variável</a:t>
            </a:r>
            <a:r>
              <a:rPr lang="es-ES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 y recebe o valor 1</a:t>
            </a:r>
          </a:p>
          <a:p>
            <a:pPr marL="2154238" indent="-179705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 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+2;   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variável x recebe o resultado de y somado de 2 */</a:t>
            </a:r>
          </a:p>
          <a:p>
            <a:pPr marL="0" indent="449263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altLang="pt-BR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200" dirty="0"/>
              <a:t>Comandos em JAVA</a:t>
            </a:r>
          </a:p>
        </p:txBody>
      </p:sp>
      <p:sp>
        <p:nvSpPr>
          <p:cNvPr id="1843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B91D7-8393-4BFF-933E-4105401273E4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417638"/>
            <a:ext cx="8229600" cy="4525962"/>
          </a:xfrm>
        </p:spPr>
        <p:txBody>
          <a:bodyPr/>
          <a:lstStyle/>
          <a:p>
            <a:pPr eaLnBrk="1" hangingPunct="1"/>
            <a:r>
              <a:rPr lang="pt-BR" altLang="pt-BR" sz="2400" dirty="0"/>
              <a:t>Cada comando, ou seja, cada linha do programa deve ser concluída com   </a:t>
            </a:r>
            <a:r>
              <a:rPr lang="pt-BR" altLang="pt-BR" sz="2400" b="1" dirty="0">
                <a:solidFill>
                  <a:srgbClr val="EC1302"/>
                </a:solidFill>
              </a:rPr>
              <a:t>;</a:t>
            </a:r>
          </a:p>
          <a:p>
            <a:pPr eaLnBrk="1" hangingPunct="1"/>
            <a:r>
              <a:rPr lang="pt-BR" altLang="pt-BR" sz="2400" dirty="0"/>
              <a:t>O ponto-e-vírgula determina que o comando está completo e pode ser iniciado outro</a:t>
            </a:r>
          </a:p>
          <a:p>
            <a:pPr eaLnBrk="1" hangingPunct="1"/>
            <a:r>
              <a:rPr lang="pt-BR" altLang="pt-BR" sz="2400" dirty="0"/>
              <a:t>Exemplo: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pt-BR" altLang="pt-BR" sz="2400" b="1" dirty="0"/>
              <a:t>y = 1;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pt-BR" altLang="pt-BR" sz="2400" b="1" dirty="0"/>
              <a:t>a = y + 2;</a:t>
            </a:r>
          </a:p>
          <a:p>
            <a:pPr lvl="1" eaLnBrk="1" hangingPunct="1">
              <a:buFont typeface="Arial" pitchFamily="34" charset="0"/>
              <a:buNone/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425549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200" dirty="0"/>
              <a:t>Declaração de Variáveis em JAVA</a:t>
            </a:r>
          </a:p>
        </p:txBody>
      </p:sp>
      <p:sp>
        <p:nvSpPr>
          <p:cNvPr id="19461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44FC4D-9392-4F61-9A00-01A1BCC1C986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9472" y="1485181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altLang="pt-BR" sz="2400" dirty="0"/>
              <a:t>Nos programas as informações são armazenadas em variáveis.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400" dirty="0"/>
              <a:t>Em Java a toda variável deve ser associado um tipo dos dados que ela armazenará, o que é feito na </a:t>
            </a:r>
            <a:r>
              <a:rPr lang="pt-BR" altLang="pt-BR" sz="2400" i="1" dirty="0"/>
              <a:t>declaração</a:t>
            </a:r>
            <a:r>
              <a:rPr lang="pt-BR" altLang="pt-BR" sz="2400" dirty="0"/>
              <a:t> da variável.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pt-BR" altLang="pt-BR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pt-BR" altLang="pt-BR" sz="2400" dirty="0"/>
              <a:t>Declaração: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pt-BR" altLang="pt-BR" sz="2400" dirty="0"/>
              <a:t>	</a:t>
            </a:r>
          </a:p>
          <a:p>
            <a:pPr marL="457200" lvl="1" indent="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pt-BR" altLang="pt-BR" sz="2400" dirty="0">
                <a:solidFill>
                  <a:srgbClr val="0033CC"/>
                </a:solidFill>
              </a:rPr>
              <a:t>	Tipo</a:t>
            </a:r>
            <a:r>
              <a:rPr lang="pt-BR" altLang="pt-BR" sz="2400" dirty="0"/>
              <a:t> 	</a:t>
            </a:r>
            <a:r>
              <a:rPr lang="pt-BR" altLang="pt-BR" sz="2400" dirty="0">
                <a:solidFill>
                  <a:srgbClr val="FF0000"/>
                </a:solidFill>
              </a:rPr>
              <a:t>lista de identificadores</a:t>
            </a:r>
            <a:r>
              <a:rPr lang="pt-BR" altLang="pt-BR" sz="2400" dirty="0"/>
              <a:t>;</a:t>
            </a:r>
          </a:p>
          <a:p>
            <a:pPr marL="457200" lvl="1" indent="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endParaRPr lang="pt-BR" altLang="pt-BR" sz="2400" dirty="0"/>
          </a:p>
          <a:p>
            <a:pPr marL="457200" lvl="1" indent="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endParaRPr lang="pt-BR" altLang="pt-BR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pt-BR" altLang="pt-BR" sz="2400" b="1" dirty="0"/>
              <a:t>	</a:t>
            </a:r>
            <a:r>
              <a:rPr lang="pt-BR" altLang="pt-BR" sz="2400" b="1" dirty="0">
                <a:solidFill>
                  <a:srgbClr val="0033CC"/>
                </a:solidFill>
              </a:rPr>
              <a:t>	</a:t>
            </a:r>
            <a:r>
              <a:rPr lang="pt-BR" altLang="pt-BR" sz="2400" b="1" dirty="0" err="1">
                <a:solidFill>
                  <a:srgbClr val="0033CC"/>
                </a:solidFill>
              </a:rPr>
              <a:t>int</a:t>
            </a:r>
            <a:r>
              <a:rPr lang="pt-BR" altLang="pt-BR" sz="2400" b="1" dirty="0">
                <a:solidFill>
                  <a:srgbClr val="0033CC"/>
                </a:solidFill>
              </a:rPr>
              <a:t>	</a:t>
            </a:r>
            <a:r>
              <a:rPr lang="pt-BR" altLang="pt-BR" sz="2400" b="1" dirty="0">
                <a:solidFill>
                  <a:srgbClr val="FF0000"/>
                </a:solidFill>
              </a:rPr>
              <a:t>x, y</a:t>
            </a:r>
            <a:r>
              <a:rPr lang="pt-BR" altLang="pt-BR" sz="2400" b="1" dirty="0">
                <a:solidFill>
                  <a:srgbClr val="0033CC"/>
                </a:solidFill>
              </a:rPr>
              <a:t>;</a:t>
            </a:r>
          </a:p>
        </p:txBody>
      </p:sp>
      <p:sp>
        <p:nvSpPr>
          <p:cNvPr id="2" name="Seta para baixo 1"/>
          <p:cNvSpPr/>
          <p:nvPr/>
        </p:nvSpPr>
        <p:spPr>
          <a:xfrm>
            <a:off x="1547664" y="4520016"/>
            <a:ext cx="284162" cy="50323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Seta para baixo 6"/>
          <p:cNvSpPr/>
          <p:nvPr/>
        </p:nvSpPr>
        <p:spPr>
          <a:xfrm>
            <a:off x="2639593" y="4520016"/>
            <a:ext cx="282575" cy="50323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2800" dirty="0"/>
              <a:t>Palavras Reservadas para Linguagem JAVA</a:t>
            </a:r>
            <a:endParaRPr lang="pt-BR" altLang="pt-BR" sz="3200" dirty="0"/>
          </a:p>
        </p:txBody>
      </p:sp>
      <p:sp>
        <p:nvSpPr>
          <p:cNvPr id="102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 err="1">
                <a:latin typeface="Arial"/>
                <a:cs typeface="Arial"/>
              </a:rPr>
              <a:t>Profa</a:t>
            </a:r>
            <a:r>
              <a:rPr lang="pt-BR" dirty="0">
                <a:latin typeface="Arial"/>
                <a:cs typeface="Arial"/>
              </a:rPr>
              <a:t> Patrícia Magna</a:t>
            </a:r>
          </a:p>
        </p:txBody>
      </p:sp>
      <p:sp>
        <p:nvSpPr>
          <p:cNvPr id="20483" name="Espaço Reservado para Número de Slid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4EBC3-F9E3-48B0-AFE6-720E199CBBC2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85078C1-197A-AAD9-C197-C165E2C7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7344816" cy="4349444"/>
          </a:xfrm>
          <a:prstGeom prst="rect">
            <a:avLst/>
          </a:prstGeom>
        </p:spPr>
      </p:pic>
      <p:sp>
        <p:nvSpPr>
          <p:cNvPr id="2" name="Onda 1">
            <a:extLst>
              <a:ext uri="{FF2B5EF4-FFF2-40B4-BE49-F238E27FC236}">
                <a16:creationId xmlns:a16="http://schemas.microsoft.com/office/drawing/2014/main" id="{B31A2C3D-4D86-96E3-BA4B-3018D9331515}"/>
              </a:ext>
            </a:extLst>
          </p:cNvPr>
          <p:cNvSpPr/>
          <p:nvPr/>
        </p:nvSpPr>
        <p:spPr>
          <a:xfrm>
            <a:off x="899592" y="5379488"/>
            <a:ext cx="7200800" cy="1071563"/>
          </a:xfrm>
          <a:prstGeom prst="wav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82AB8"/>
                </a:solidFill>
              </a:rPr>
              <a:t>Palavras que NÃO podem ser usadas como identificadores de variáveis, métodos, classes,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600" dirty="0"/>
              <a:t>Tipos de Dados Primitivos em JAVA</a:t>
            </a:r>
          </a:p>
        </p:txBody>
      </p:sp>
      <p:sp>
        <p:nvSpPr>
          <p:cNvPr id="21508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CE00C8-4DBF-4AE9-AACC-FFD3A86434AF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pic>
        <p:nvPicPr>
          <p:cNvPr id="1026" name="Picture 2" descr="Tipos primitivos do Java.">
            <a:extLst>
              <a:ext uri="{FF2B5EF4-FFF2-40B4-BE49-F238E27FC236}">
                <a16:creationId xmlns:a16="http://schemas.microsoft.com/office/drawing/2014/main" id="{48F52A5A-795C-EFDA-0C29-D3A4C560F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179" y="1628800"/>
            <a:ext cx="9144000" cy="390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Exemplo 2: Declarações de Variáveis</a:t>
            </a:r>
          </a:p>
        </p:txBody>
      </p:sp>
      <p:sp>
        <p:nvSpPr>
          <p:cNvPr id="2253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4AD1C-0A4B-48DB-89E3-131F81359B6A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31800" y="1600200"/>
            <a:ext cx="8712200" cy="4525963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Exemplo2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357188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620713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variável x é do tipo inteiro   */</a:t>
            </a:r>
          </a:p>
          <a:p>
            <a:pPr marL="0" indent="620713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variável y é do tipo real    */</a:t>
            </a:r>
          </a:p>
          <a:p>
            <a:pPr marL="0" indent="620713" algn="l">
              <a:buNone/>
            </a:pPr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variáveis z e w são do tipo caractere*/</a:t>
            </a:r>
          </a:p>
          <a:p>
            <a:pPr marL="0" indent="620713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=1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	/* variável x recebe o valor 1   */</a:t>
            </a:r>
          </a:p>
          <a:p>
            <a:pPr marL="0" indent="620713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= 3.14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s-ES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	/* </a:t>
            </a:r>
            <a:r>
              <a:rPr lang="es-ES" sz="1800" b="1" dirty="0" err="1">
                <a:solidFill>
                  <a:srgbClr val="3F7F5F"/>
                </a:solidFill>
                <a:latin typeface="Consolas" panose="020B0609020204030204" pitchFamily="49" charset="0"/>
              </a:rPr>
              <a:t>variável</a:t>
            </a:r>
            <a:r>
              <a:rPr lang="es-ES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 y recebe o valor 3.14   */</a:t>
            </a:r>
          </a:p>
          <a:p>
            <a:pPr marL="0" indent="620713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variável z recebe o símbolo A   */</a:t>
            </a:r>
          </a:p>
          <a:p>
            <a:pPr marL="0" indent="620713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'1'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	</a:t>
            </a:r>
            <a:r>
              <a:rPr lang="pt-BR" sz="1800" b="1" dirty="0">
                <a:solidFill>
                  <a:srgbClr val="3F7F5F"/>
                </a:solidFill>
                <a:latin typeface="Consolas" panose="020B0609020204030204" pitchFamily="49" charset="0"/>
              </a:rPr>
              <a:t>/* variável w recebe o símbolo 1 (ASCII)*/</a:t>
            </a:r>
            <a:endParaRPr lang="pt-BR" sz="1800" b="1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altLang="pt-BR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Principais Operadores Matemáticos em Java</a:t>
            </a:r>
          </a:p>
        </p:txBody>
      </p:sp>
      <p:sp>
        <p:nvSpPr>
          <p:cNvPr id="2355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ACF500-7CC1-452D-B962-0C38F2D5FDF7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881AFE08-C31B-CB6B-E9A5-8DDC9477B31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07" y="1491682"/>
            <a:ext cx="81343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to 6"/>
          <p:cNvCxnSpPr/>
          <p:nvPr/>
        </p:nvCxnSpPr>
        <p:spPr>
          <a:xfrm rot="5400000">
            <a:off x="-821569" y="3464719"/>
            <a:ext cx="264320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Principais Operadores Matemáticos em Java</a:t>
            </a:r>
          </a:p>
        </p:txBody>
      </p:sp>
      <p:sp>
        <p:nvSpPr>
          <p:cNvPr id="2355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ACF500-7CC1-452D-B962-0C38F2D5FDF7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pic>
        <p:nvPicPr>
          <p:cNvPr id="4" name="Imagem 1">
            <a:extLst>
              <a:ext uri="{FF2B5EF4-FFF2-40B4-BE49-F238E27FC236}">
                <a16:creationId xmlns:a16="http://schemas.microsoft.com/office/drawing/2014/main" id="{77284BDD-F559-A178-615E-248EC7E20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268538"/>
            <a:ext cx="8124825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386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Exemplo 3: Operações Matemáticas e Prioridades</a:t>
            </a:r>
          </a:p>
        </p:txBody>
      </p:sp>
      <p:sp>
        <p:nvSpPr>
          <p:cNvPr id="24581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BA2CF-00EC-45C6-BD06-4E0FB2300E9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27038" y="790785"/>
            <a:ext cx="8716962" cy="4929187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Exemplo3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357188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357188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992188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/*variáveis </a:t>
            </a:r>
            <a:r>
              <a:rPr lang="pt-BR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x,y,z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 e w são do tipo real*/</a:t>
            </a:r>
          </a:p>
          <a:p>
            <a:pPr marL="0" indent="992188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=1;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m e n são do tipo inteiro */</a:t>
            </a:r>
          </a:p>
          <a:p>
            <a:pPr marL="0" indent="992188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=3.2;  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x recebe o valor 3.2      */</a:t>
            </a:r>
          </a:p>
          <a:p>
            <a:pPr marL="0" indent="992188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*2;    	   </a:t>
            </a:r>
            <a:r>
              <a:rPr lang="es-ES" sz="18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es-E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variável</a:t>
            </a:r>
            <a:r>
              <a:rPr lang="es-ES" sz="1800" dirty="0">
                <a:solidFill>
                  <a:srgbClr val="3F7F5F"/>
                </a:solidFill>
                <a:latin typeface="Consolas" panose="020B0609020204030204" pitchFamily="49" charset="0"/>
              </a:rPr>
              <a:t> y recebe o valor 6.4      */</a:t>
            </a:r>
          </a:p>
          <a:p>
            <a:pPr marL="0" indent="992188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)/2;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z recebe o valor 4.8      */</a:t>
            </a:r>
          </a:p>
          <a:p>
            <a:pPr marL="0" indent="992188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/2;   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w recebe o valor 6.4      */</a:t>
            </a:r>
          </a:p>
          <a:p>
            <a:pPr marL="0" indent="992188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/2;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m recebe o valor 0        */</a:t>
            </a:r>
          </a:p>
          <a:p>
            <a:pPr marL="0" indent="357188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66EDB6-AB51-C7B5-B8C5-C6A71F882929}"/>
              </a:ext>
            </a:extLst>
          </p:cNvPr>
          <p:cNvSpPr txBox="1"/>
          <p:nvPr/>
        </p:nvSpPr>
        <p:spPr>
          <a:xfrm>
            <a:off x="971600" y="5059209"/>
            <a:ext cx="77152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b="1" dirty="0">
                <a:solidFill>
                  <a:srgbClr val="FF0000"/>
                </a:solidFill>
                <a:latin typeface="Arial"/>
                <a:cs typeface="Arial"/>
              </a:rPr>
              <a:t>Vamos juntos...</a:t>
            </a:r>
            <a:endParaRPr lang="pt-BR" b="1" dirty="0">
              <a:solidFill>
                <a:srgbClr val="FF0000"/>
              </a:solidFill>
            </a:endParaRPr>
          </a:p>
          <a:p>
            <a:pPr algn="just"/>
            <a:endParaRPr lang="pt-BR" b="1" dirty="0">
              <a:solidFill>
                <a:srgbClr val="FF0000"/>
              </a:solidFill>
              <a:latin typeface="Arial"/>
              <a:cs typeface="Arial"/>
            </a:endParaRPr>
          </a:p>
          <a:p>
            <a:pPr algn="just"/>
            <a:r>
              <a:rPr lang="pt-BR" b="1" dirty="0">
                <a:latin typeface="Arial"/>
                <a:cs typeface="Arial"/>
              </a:rPr>
              <a:t>Crie um projeto com nome assunto2Exemplo3.</a:t>
            </a:r>
          </a:p>
          <a:p>
            <a:pPr algn="just"/>
            <a:r>
              <a:rPr lang="pt-BR" b="1" dirty="0"/>
              <a:t>Dentro do projeto crie a classe Exemplo3 com os comandos do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1C7FD91-30BC-80C0-488C-AA69F2CE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b="1" dirty="0">
                <a:ea typeface="Calibri"/>
                <a:cs typeface="Calibri"/>
              </a:rPr>
              <a:t>Execução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008C830-3612-A93B-50F6-A3953914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B3E780-C46D-E5A7-EAFC-3513F8C11F72}"/>
              </a:ext>
            </a:extLst>
          </p:cNvPr>
          <p:cNvGrpSpPr/>
          <p:nvPr/>
        </p:nvGrpSpPr>
        <p:grpSpPr>
          <a:xfrm>
            <a:off x="672473" y="4782803"/>
            <a:ext cx="8032195" cy="1431884"/>
            <a:chOff x="672473" y="4782803"/>
            <a:chExt cx="8032195" cy="1431884"/>
          </a:xfrm>
        </p:grpSpPr>
        <p:sp>
          <p:nvSpPr>
            <p:cNvPr id="7" name="Título 5">
              <a:extLst>
                <a:ext uri="{FF2B5EF4-FFF2-40B4-BE49-F238E27FC236}">
                  <a16:creationId xmlns:a16="http://schemas.microsoft.com/office/drawing/2014/main" id="{41A6A2CF-5BD1-76C4-B192-19C55D17ADB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72473" y="4828568"/>
              <a:ext cx="6824695" cy="1152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rgbClr val="082AB8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82AB8"/>
                  </a:solidFill>
                  <a:latin typeface="Calibri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82AB8"/>
                  </a:solidFill>
                  <a:latin typeface="Calibri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82AB8"/>
                  </a:solidFill>
                  <a:latin typeface="Calibri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82AB8"/>
                  </a:solidFill>
                  <a:latin typeface="Calibri" pitchFamily="34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pt-BR" sz="2400" dirty="0"/>
                <a:t>Então, vamos aprender como são os comandos de escrita na tela de saída em Java</a:t>
              </a:r>
            </a:p>
          </p:txBody>
        </p:sp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6BE955B6-4CB5-01D1-F986-8B38DE0E6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1744" y="4782803"/>
              <a:ext cx="1212924" cy="1431884"/>
            </a:xfrm>
            <a:prstGeom prst="rect">
              <a:avLst/>
            </a:prstGeom>
          </p:spPr>
        </p:pic>
      </p:grp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850557C-9A8F-2EC2-72EB-2BF0CE664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9" y="2664514"/>
            <a:ext cx="9144000" cy="175900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D7CDD7-79D1-4F61-7D03-83BC839DF683}"/>
              </a:ext>
            </a:extLst>
          </p:cNvPr>
          <p:cNvSpPr txBox="1"/>
          <p:nvPr/>
        </p:nvSpPr>
        <p:spPr>
          <a:xfrm>
            <a:off x="949825" y="931774"/>
            <a:ext cx="7533733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200">
                <a:latin typeface="Calibri"/>
                <a:ea typeface="Calibri"/>
                <a:cs typeface="Calibri"/>
              </a:rPr>
              <a:t>Na janela console é apresentada a tela de saída da execução do programa.</a:t>
            </a:r>
            <a:br>
              <a:rPr lang="pt-BR" sz="2200" dirty="0">
                <a:latin typeface="Calibri"/>
                <a:ea typeface="Calibri"/>
                <a:cs typeface="Calibri"/>
              </a:rPr>
            </a:br>
            <a:r>
              <a:rPr lang="pt-BR" sz="2200">
                <a:latin typeface="Calibri"/>
                <a:ea typeface="Calibri"/>
                <a:cs typeface="Calibri"/>
              </a:rPr>
              <a:t>Como ainda não usamos comandos para escrever na tela de saída o console fica vazio.</a:t>
            </a:r>
          </a:p>
          <a:p>
            <a:pPr algn="l"/>
            <a:endParaRPr lang="pt-BR" sz="2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6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200" dirty="0"/>
              <a:t>Comandos de Saída</a:t>
            </a:r>
          </a:p>
        </p:txBody>
      </p:sp>
      <p:sp>
        <p:nvSpPr>
          <p:cNvPr id="29701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151B7D-4951-4F32-9A41-8F3114340751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BR" altLang="pt-BR" sz="1200" dirty="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72895" y="1171066"/>
            <a:ext cx="8642350" cy="4525962"/>
          </a:xfrm>
        </p:spPr>
        <p:txBody>
          <a:bodyPr/>
          <a:lstStyle/>
          <a:p>
            <a:pPr eaLnBrk="1" hangingPunct="1"/>
            <a:r>
              <a:rPr lang="pt-BR" altLang="pt-BR" sz="2400" dirty="0"/>
              <a:t>Comando de saída é usado para apresentar mensagens e valores das variáveis na tela de saída.</a:t>
            </a:r>
          </a:p>
          <a:p>
            <a:pPr eaLnBrk="1" hangingPunct="1"/>
            <a:r>
              <a:rPr lang="pt-BR" altLang="pt-BR" sz="2400" dirty="0"/>
              <a:t>Em Java usaremos:</a:t>
            </a:r>
          </a:p>
          <a:p>
            <a:pPr marL="457200" lvl="1" indent="0" eaLnBrk="1" hangingPunct="1">
              <a:buNone/>
            </a:pPr>
            <a:r>
              <a:rPr lang="pt-BR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20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20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20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ou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20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20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</a:t>
            </a:r>
            <a:r>
              <a:rPr lang="pt-BR" sz="20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 </a:t>
            </a:r>
            <a:endParaRPr lang="pt-BR" altLang="pt-BR" sz="2000" b="1" i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/>
            <a:r>
              <a:rPr lang="pt-BR" altLang="pt-BR" sz="2400" dirty="0"/>
              <a:t>Exemplos de uso:</a:t>
            </a:r>
          </a:p>
          <a:p>
            <a:pPr lvl="1" eaLnBrk="1" hangingPunct="1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pt-BR" sz="18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Hello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world!"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pt-BR" sz="1800" dirty="0"/>
          </a:p>
          <a:p>
            <a:pPr lvl="1" eaLnBrk="1" hangingPunct="1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pt-BR" sz="18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Hello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world!"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 eaLnBrk="1" hangingPunct="1">
              <a:buNone/>
            </a:pPr>
            <a:endParaRPr lang="en-US" altLang="pt-BR" sz="2000" dirty="0"/>
          </a:p>
          <a:p>
            <a:pPr marL="342900" lvl="1" indent="-342900" eaLnBrk="1" hangingPunct="1">
              <a:buFont typeface="Arial" pitchFamily="34" charset="0"/>
              <a:buChar char="•"/>
            </a:pPr>
            <a:r>
              <a:rPr lang="pt-BR" altLang="pt-BR" sz="2400" dirty="0"/>
              <a:t>Em programa se x é uma variável:</a:t>
            </a:r>
          </a:p>
          <a:p>
            <a:pPr lvl="1" eaLnBrk="1" hangingPunct="1"/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s-E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s-ES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O valor de x = " </a:t>
            </a:r>
            <a:r>
              <a:rPr lang="es-E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s-ES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s-E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altLang="pt-BR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DDC3-DA16-499A-12D3-7E71B9DC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AF1C03E-9C7E-A8F3-CBEF-E06FAB452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Exemplo 3: Continuando para apresentação de valores</a:t>
            </a:r>
          </a:p>
        </p:txBody>
      </p:sp>
      <p:sp>
        <p:nvSpPr>
          <p:cNvPr id="24581" name="Espaço Reservado para Número de Slide 5">
            <a:extLst>
              <a:ext uri="{FF2B5EF4-FFF2-40B4-BE49-F238E27FC236}">
                <a16:creationId xmlns:a16="http://schemas.microsoft.com/office/drawing/2014/main" id="{7143BE0C-1711-1C42-7488-4454F0F9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BA2CF-00EC-45C6-BD06-4E0FB2300E9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F3EE8B1-236E-E013-8FE5-88BB97DA951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27038" y="1265238"/>
            <a:ext cx="8716962" cy="4929187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Exemplo3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356870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800" b="1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US" sz="1800" b="1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9918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;  </a:t>
            </a:r>
            <a:r>
              <a:rPr lang="pt-BR" sz="1800" dirty="0">
                <a:solidFill>
                  <a:srgbClr val="3F7F5F"/>
                </a:solidFill>
                <a:latin typeface="Consolas"/>
              </a:rPr>
              <a:t>/*variáveis </a:t>
            </a:r>
            <a:r>
              <a:rPr lang="pt-BR" sz="1800" err="1">
                <a:solidFill>
                  <a:srgbClr val="3F7F5F"/>
                </a:solidFill>
                <a:latin typeface="Consolas"/>
              </a:rPr>
              <a:t>x,y,z</a:t>
            </a:r>
            <a:r>
              <a:rPr lang="pt-BR" sz="1800" dirty="0">
                <a:solidFill>
                  <a:srgbClr val="3F7F5F"/>
                </a:solidFill>
                <a:latin typeface="Consolas"/>
              </a:rPr>
              <a:t> e w são do tipo real*/</a:t>
            </a:r>
          </a:p>
          <a:p>
            <a:pPr marL="0" indent="9918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n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=1; 	   </a:t>
            </a:r>
            <a:r>
              <a:rPr lang="pt-BR" sz="1800" dirty="0">
                <a:solidFill>
                  <a:srgbClr val="3F7F5F"/>
                </a:solidFill>
                <a:latin typeface="Consolas"/>
              </a:rPr>
              <a:t>/* variável m e n são do tipo inteiro */</a:t>
            </a:r>
          </a:p>
          <a:p>
            <a:pPr marL="0" indent="9918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=3.2;  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x recebe o valor 3.2      */</a:t>
            </a:r>
          </a:p>
          <a:p>
            <a:pPr marL="0" indent="991870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s-ES" sz="1800" dirty="0">
                <a:solidFill>
                  <a:srgbClr val="6A3E3E"/>
                </a:solidFill>
                <a:latin typeface="Consolas"/>
              </a:rPr>
              <a:t>x</a:t>
            </a:r>
            <a:r>
              <a:rPr lang="es-ES" sz="1800" dirty="0">
                <a:solidFill>
                  <a:srgbClr val="000000"/>
                </a:solidFill>
                <a:latin typeface="Consolas"/>
              </a:rPr>
              <a:t>*2;    	   </a:t>
            </a:r>
            <a:r>
              <a:rPr lang="es-ES" sz="1800" dirty="0">
                <a:solidFill>
                  <a:srgbClr val="3F7F5F"/>
                </a:solidFill>
                <a:latin typeface="Consolas"/>
              </a:rPr>
              <a:t>/* </a:t>
            </a:r>
            <a:r>
              <a:rPr lang="es-ES" sz="1800" err="1">
                <a:solidFill>
                  <a:srgbClr val="3F7F5F"/>
                </a:solidFill>
                <a:latin typeface="Consolas"/>
              </a:rPr>
              <a:t>variável</a:t>
            </a:r>
            <a:r>
              <a:rPr lang="es-ES" sz="1800" dirty="0">
                <a:solidFill>
                  <a:srgbClr val="3F7F5F"/>
                </a:solidFill>
                <a:latin typeface="Consolas"/>
              </a:rPr>
              <a:t> y recebe o valor 6.4      */</a:t>
            </a:r>
          </a:p>
          <a:p>
            <a:pPr marL="0" indent="9918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=(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)/2; 	   </a:t>
            </a:r>
            <a:r>
              <a:rPr lang="pt-BR" sz="1800" dirty="0">
                <a:solidFill>
                  <a:srgbClr val="3F7F5F"/>
                </a:solidFill>
                <a:latin typeface="Consolas"/>
              </a:rPr>
              <a:t>/* variável z recebe o valor 4.8      */</a:t>
            </a:r>
          </a:p>
          <a:p>
            <a:pPr marL="0" indent="9918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/2;    	   </a:t>
            </a:r>
            <a:r>
              <a:rPr lang="pt-BR" sz="1800" dirty="0">
                <a:solidFill>
                  <a:srgbClr val="3F7F5F"/>
                </a:solidFill>
                <a:latin typeface="Consolas"/>
              </a:rPr>
              <a:t>/* variável w recebe o valor 6.4      */</a:t>
            </a:r>
          </a:p>
          <a:p>
            <a:pPr marL="0" indent="9918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/2; 	   </a:t>
            </a:r>
            <a:r>
              <a:rPr lang="pt-BR" sz="1800" dirty="0">
                <a:solidFill>
                  <a:srgbClr val="3F7F5F"/>
                </a:solidFill>
                <a:latin typeface="Consolas" panose="020B0609020204030204" pitchFamily="49" charset="0"/>
              </a:rPr>
              <a:t>/* variável m recebe o valor 0        */</a:t>
            </a:r>
          </a:p>
          <a:p>
            <a:pPr marL="914400" indent="-57150">
              <a:buNone/>
            </a:pPr>
            <a:r>
              <a:rPr lang="pt-BR" sz="180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.println(</a:t>
            </a:r>
            <a:r>
              <a:rPr lang="pt-BR" sz="1800" b="1" i="1">
                <a:solidFill>
                  <a:srgbClr val="2A00FF"/>
                </a:solidFill>
                <a:latin typeface="Consolas"/>
              </a:rPr>
              <a:t>"x: "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 + </a:t>
            </a:r>
            <a:r>
              <a:rPr lang="pt-BR" sz="1800" b="1" i="1">
                <a:solidFill>
                  <a:srgbClr val="6A3E3E"/>
                </a:solidFill>
                <a:latin typeface="Consolas"/>
              </a:rPr>
              <a:t>x 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>
                <a:solidFill>
                  <a:srgbClr val="2A00FF"/>
                </a:solidFill>
                <a:latin typeface="Consolas"/>
              </a:rPr>
              <a:t>" y= "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914400" indent="-57150">
              <a:buNone/>
            </a:pPr>
            <a:r>
              <a:rPr lang="pt-BR" sz="180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.println(</a:t>
            </a:r>
            <a:r>
              <a:rPr lang="pt-BR" sz="1800" b="1" i="1">
                <a:solidFill>
                  <a:srgbClr val="2A00FF"/>
                </a:solidFill>
                <a:latin typeface="Consolas"/>
              </a:rPr>
              <a:t>"z: 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pt-BR" sz="1800" b="1" i="1">
                <a:solidFill>
                  <a:srgbClr val="6A3E3E"/>
                </a:solidFill>
                <a:latin typeface="Consolas"/>
              </a:rPr>
              <a:t>z 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>
                <a:solidFill>
                  <a:srgbClr val="2A00FF"/>
                </a:solidFill>
                <a:latin typeface="Consolas"/>
              </a:rPr>
              <a:t>" w= 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);</a:t>
            </a:r>
            <a:endParaRPr lang="pt-BR" dirty="0">
              <a:ea typeface="Calibri"/>
              <a:cs typeface="Calibri"/>
            </a:endParaRPr>
          </a:p>
          <a:p>
            <a:pPr marL="914400" indent="-57150">
              <a:buNone/>
            </a:pPr>
            <a:r>
              <a:rPr lang="pt-BR" sz="1800" dirty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dirty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.println(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"m: 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pt-BR" sz="1800" b="1" i="1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i="1">
                <a:solidFill>
                  <a:srgbClr val="000000"/>
                </a:solidFill>
                <a:latin typeface="Consolas"/>
              </a:rPr>
              <a:t>);</a:t>
            </a:r>
            <a:endParaRPr lang="pt-BR" dirty="0">
              <a:ea typeface="Calibri"/>
              <a:cs typeface="Calibri"/>
            </a:endParaRPr>
          </a:p>
          <a:p>
            <a:pPr marL="0" indent="35687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5280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Exercício 1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54325" y="973138"/>
            <a:ext cx="8689675" cy="2470239"/>
          </a:xfrm>
        </p:spPr>
        <p:txBody>
          <a:bodyPr/>
          <a:lstStyle/>
          <a:p>
            <a:pPr>
              <a:buNone/>
            </a:pPr>
            <a:r>
              <a:rPr lang="pt-BR" sz="2800" dirty="0"/>
              <a:t>Crie:</a:t>
            </a:r>
          </a:p>
          <a:p>
            <a:r>
              <a:rPr lang="pt-BR" sz="2800" dirty="0"/>
              <a:t>um projeto chamado assunto2_Exercicio1</a:t>
            </a:r>
            <a:endParaRPr lang="pt-BR" sz="2800" dirty="0">
              <a:ea typeface="Calibri"/>
              <a:cs typeface="Calibri"/>
            </a:endParaRPr>
          </a:p>
          <a:p>
            <a:r>
              <a:rPr lang="pt-BR" sz="2800" dirty="0"/>
              <a:t>Uma classe de aplicação denominada Exercicio1 e dentro dela passe para a linguagem Java o seguinte algoritmo:</a:t>
            </a:r>
          </a:p>
        </p:txBody>
      </p:sp>
      <p:sp>
        <p:nvSpPr>
          <p:cNvPr id="6" name="Retângulo 5"/>
          <p:cNvSpPr/>
          <p:nvPr/>
        </p:nvSpPr>
        <p:spPr>
          <a:xfrm>
            <a:off x="2122880" y="3802811"/>
            <a:ext cx="62151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82AB8"/>
                </a:solidFill>
              </a:rPr>
              <a:t>ALGORITMO</a:t>
            </a:r>
          </a:p>
          <a:p>
            <a:r>
              <a:rPr lang="pt-BR" sz="2000" dirty="0">
                <a:solidFill>
                  <a:srgbClr val="082AB8"/>
                </a:solidFill>
              </a:rPr>
              <a:t>	DECLARE </a:t>
            </a:r>
          </a:p>
          <a:p>
            <a:r>
              <a:rPr lang="pt-BR" sz="2000" dirty="0">
                <a:solidFill>
                  <a:srgbClr val="082AB8"/>
                </a:solidFill>
              </a:rPr>
              <a:t>		Numérico real </a:t>
            </a:r>
            <a:r>
              <a:rPr lang="pt-BR" sz="2000" dirty="0" err="1">
                <a:solidFill>
                  <a:srgbClr val="082AB8"/>
                </a:solidFill>
              </a:rPr>
              <a:t>preco</a:t>
            </a:r>
            <a:r>
              <a:rPr lang="pt-BR" sz="2000" dirty="0">
                <a:solidFill>
                  <a:srgbClr val="082AB8"/>
                </a:solidFill>
              </a:rPr>
              <a:t>, desconto10;</a:t>
            </a:r>
          </a:p>
          <a:p>
            <a:endParaRPr lang="pt-BR" sz="2000" dirty="0">
              <a:solidFill>
                <a:srgbClr val="082AB8"/>
              </a:solidFill>
            </a:endParaRPr>
          </a:p>
          <a:p>
            <a:r>
              <a:rPr lang="pt-BR" sz="2000" dirty="0">
                <a:solidFill>
                  <a:srgbClr val="082AB8"/>
                </a:solidFill>
              </a:rPr>
              <a:t>	preço = 20.5;</a:t>
            </a:r>
          </a:p>
          <a:p>
            <a:r>
              <a:rPr lang="pt-BR" sz="2000" dirty="0">
                <a:solidFill>
                  <a:srgbClr val="082AB8"/>
                </a:solidFill>
              </a:rPr>
              <a:t>	desconto10 = </a:t>
            </a:r>
            <a:r>
              <a:rPr lang="pt-BR" sz="2000" dirty="0" err="1">
                <a:solidFill>
                  <a:srgbClr val="082AB8"/>
                </a:solidFill>
              </a:rPr>
              <a:t>preco</a:t>
            </a:r>
            <a:r>
              <a:rPr lang="pt-BR" sz="2000" dirty="0">
                <a:solidFill>
                  <a:srgbClr val="082AB8"/>
                </a:solidFill>
              </a:rPr>
              <a:t> * 0.9;</a:t>
            </a:r>
          </a:p>
          <a:p>
            <a:r>
              <a:rPr lang="pt-BR" sz="2000" dirty="0">
                <a:solidFill>
                  <a:srgbClr val="082AB8"/>
                </a:solidFill>
              </a:rPr>
              <a:t>	ESCREVA desconto10</a:t>
            </a:r>
          </a:p>
          <a:p>
            <a:r>
              <a:rPr lang="pt-BR" sz="2000" dirty="0">
                <a:solidFill>
                  <a:srgbClr val="082AB8"/>
                </a:solidFill>
              </a:rPr>
              <a:t>FIM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2400"/>
              <a:t>Exemplo 4: Melhorando Aparência </a:t>
            </a:r>
          </a:p>
        </p:txBody>
      </p:sp>
      <p:sp>
        <p:nvSpPr>
          <p:cNvPr id="24581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BA2CF-00EC-45C6-BD06-4E0FB2300E9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74453" y="1225730"/>
            <a:ext cx="8718550" cy="4929188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Exemplo4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263525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800" b="1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 {</a:t>
            </a:r>
            <a:endParaRPr lang="pt-BR" sz="1800" dirty="0">
              <a:latin typeface="Consolas"/>
            </a:endParaRPr>
          </a:p>
          <a:p>
            <a:pPr marL="0" indent="7124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n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=1; </a:t>
            </a:r>
            <a:endParaRPr lang="pt-BR" sz="1800" b="1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" Apresentando variáveis declaradas"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=3.2;    </a:t>
            </a:r>
            <a:endParaRPr lang="pt-B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*2;</a:t>
            </a:r>
            <a:endParaRPr lang="es-E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es-ES" sz="180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s-ES" sz="1800" b="1" i="1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s-ES" sz="1800" b="1" i="1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s-ES" sz="1800" b="1" i="1" dirty="0">
                <a:solidFill>
                  <a:srgbClr val="2A00FF"/>
                </a:solidFill>
                <a:latin typeface="Consolas"/>
              </a:rPr>
              <a:t>"x = "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s-ES" sz="1800" b="1" i="1" dirty="0">
                <a:solidFill>
                  <a:srgbClr val="6A3E3E"/>
                </a:solidFill>
                <a:latin typeface="Consolas"/>
              </a:rPr>
              <a:t>x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s-ES" sz="1800" b="1" i="1" dirty="0">
                <a:solidFill>
                  <a:srgbClr val="2A00FF"/>
                </a:solidFill>
                <a:latin typeface="Consolas"/>
              </a:rPr>
              <a:t>" y = "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s-ES" sz="1800" b="1" i="1" dirty="0">
                <a:solidFill>
                  <a:srgbClr val="6A3E3E"/>
                </a:solidFill>
                <a:latin typeface="Consolas"/>
              </a:rPr>
              <a:t>y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=(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)/2;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/2;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l-PL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l-PL" sz="1800" b="1" i="1" dirty="0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.printf(</a:t>
            </a:r>
            <a:r>
              <a:rPr lang="pl-PL" sz="1800" b="1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"%s%.2f\n"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pl-PL" sz="1800" b="1" i="1" dirty="0">
                <a:solidFill>
                  <a:srgbClr val="2A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"z = "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pl-PL" sz="18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z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  <a:endParaRPr lang="pt-BR" sz="1800" b="1" i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l-PL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l-PL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w = "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l-PL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8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/2; </a:t>
            </a:r>
          </a:p>
          <a:p>
            <a:pPr marL="0" indent="712470" algn="l">
              <a:buNone/>
            </a:pPr>
            <a:r>
              <a:rPr lang="pt-BR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l-PL" sz="18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m</a:t>
            </a:r>
            <a:r>
              <a:rPr lang="pl-PL" sz="1800" b="1" i="1" dirty="0">
                <a:solidFill>
                  <a:srgbClr val="2A00FF"/>
                </a:solidFill>
                <a:latin typeface="Consolas"/>
              </a:rPr>
              <a:t> = "</a:t>
            </a:r>
            <a:r>
              <a:rPr lang="pl-PL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);</a:t>
            </a:r>
            <a:endParaRPr lang="pl-PL" sz="1800" b="1" i="1" dirty="0">
              <a:solidFill>
                <a:srgbClr val="000000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E0056A9-281B-9BC2-5BA4-AAADD42E4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243272"/>
            <a:ext cx="1895662" cy="14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5892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altLang="pt-BR" sz="3700" kern="1200" dirty="0">
                <a:latin typeface="+mj-lt"/>
                <a:ea typeface="+mj-ea"/>
                <a:cs typeface="+mj-cs"/>
              </a:rPr>
              <a:t>Melhorando a </a:t>
            </a:r>
            <a:r>
              <a:rPr lang="pt-BR" altLang="pt-BR" sz="3200" kern="1200" dirty="0">
                <a:latin typeface="+mj-lt"/>
                <a:ea typeface="+mj-ea"/>
                <a:cs typeface="+mj-cs"/>
              </a:rPr>
              <a:t>apresentação</a:t>
            </a:r>
            <a:r>
              <a:rPr lang="pt-BR" altLang="pt-BR" sz="3700" kern="1200" dirty="0">
                <a:latin typeface="+mj-lt"/>
                <a:ea typeface="+mj-ea"/>
                <a:cs typeface="+mj-cs"/>
              </a:rPr>
              <a:t> de valores</a:t>
            </a:r>
            <a:endParaRPr lang="pt-BR" altLang="pt-BR" sz="3700" i="1" u="sng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278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  <a:defRPr/>
            </a:pPr>
            <a:fld id="{3202B9FC-CFDA-4197-B9B7-B2F0543CEE5B}" type="slidenum">
              <a:rPr lang="pt-BR" altLang="en-US" sz="1200" kern="1200">
                <a:solidFill>
                  <a:srgbClr val="898989"/>
                </a:solidFill>
                <a:latin typeface="Arial" pitchFamily="34" charset="0"/>
                <a:ea typeface="+mn-ea"/>
                <a:cs typeface="+mn-cs"/>
              </a:rPr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  <a:defRPr/>
              </a:pPr>
              <a:t>25</a:t>
            </a:fld>
            <a:endParaRPr lang="pt-BR" altLang="en-US" sz="1200" kern="1200">
              <a:solidFill>
                <a:srgbClr val="898989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9E9D73-7DA6-D88C-0312-0C8D8D7D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96" y="1000496"/>
            <a:ext cx="8190198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pt-BR" altLang="pt-BR" sz="2200" dirty="0"/>
              <a:t>Em Java também podemos usar:</a:t>
            </a:r>
          </a:p>
          <a:p>
            <a:pPr marL="457200" lvl="1" indent="0">
              <a:lnSpc>
                <a:spcPct val="90000"/>
              </a:lnSpc>
              <a:buFont typeface="Arial" pitchFamily="34" charset="0"/>
              <a:buNone/>
            </a:pPr>
            <a:r>
              <a:rPr lang="pt-BR" sz="2200" dirty="0" err="1">
                <a:highlight>
                  <a:srgbClr val="FFFF00"/>
                </a:highlight>
              </a:rPr>
              <a:t>System.</a:t>
            </a:r>
            <a:r>
              <a:rPr lang="pt-BR" sz="2200" b="1" i="1" dirty="0" err="1">
                <a:highlight>
                  <a:srgbClr val="FFFF00"/>
                </a:highlight>
              </a:rPr>
              <a:t>out.printf</a:t>
            </a:r>
            <a:r>
              <a:rPr lang="pt-BR" sz="2200" b="1" i="1" dirty="0">
                <a:highlight>
                  <a:srgbClr val="FFFF00"/>
                </a:highlight>
              </a:rPr>
              <a:t>() </a:t>
            </a:r>
          </a:p>
          <a:p>
            <a:pPr>
              <a:lnSpc>
                <a:spcPct val="90000"/>
              </a:lnSpc>
            </a:pPr>
            <a:r>
              <a:rPr lang="pt-BR" altLang="pt-BR" sz="2200" dirty="0"/>
              <a:t>Exemplos de uso:</a:t>
            </a:r>
          </a:p>
          <a:p>
            <a:pPr lvl="1">
              <a:lnSpc>
                <a:spcPct val="90000"/>
              </a:lnSpc>
            </a:pPr>
            <a:r>
              <a:rPr lang="pt-BR" sz="2200" dirty="0" err="1"/>
              <a:t>System.</a:t>
            </a:r>
            <a:r>
              <a:rPr lang="pt-BR" sz="2200" b="1" i="1" dirty="0" err="1"/>
              <a:t>out.printf</a:t>
            </a:r>
            <a:r>
              <a:rPr lang="pt-BR" sz="2200" b="1" i="1" dirty="0"/>
              <a:t>("%s%.2f","z = ",z);</a:t>
            </a:r>
          </a:p>
          <a:p>
            <a:pPr lvl="1">
              <a:lnSpc>
                <a:spcPct val="90000"/>
              </a:lnSpc>
            </a:pPr>
            <a:r>
              <a:rPr lang="pt-BR" sz="2200" dirty="0" err="1"/>
              <a:t>System.</a:t>
            </a:r>
            <a:r>
              <a:rPr lang="pt-BR" sz="2200" b="1" i="1" dirty="0" err="1"/>
              <a:t>out.printf</a:t>
            </a:r>
            <a:r>
              <a:rPr lang="pt-BR" sz="2200" b="1" i="1" dirty="0"/>
              <a:t>("%</a:t>
            </a:r>
            <a:r>
              <a:rPr lang="pt-BR" sz="2200" b="1" i="1" dirty="0" err="1"/>
              <a:t>s%d</a:t>
            </a:r>
            <a:r>
              <a:rPr lang="pt-BR" sz="2200" b="1" i="1" dirty="0"/>
              <a:t>","O valor de m = ", m);</a:t>
            </a:r>
          </a:p>
          <a:p>
            <a:pPr>
              <a:lnSpc>
                <a:spcPct val="90000"/>
              </a:lnSpc>
            </a:pPr>
            <a:r>
              <a:rPr lang="pt-BR" sz="2200" dirty="0"/>
              <a:t>A formatação exige que seja conhecido o tipo de dado que será escrito na tela de saída: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C74C3C8-81C6-C3B6-F339-449C8B41D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50776"/>
              </p:ext>
            </p:extLst>
          </p:nvPr>
        </p:nvGraphicFramePr>
        <p:xfrm>
          <a:off x="4273569" y="3310595"/>
          <a:ext cx="4869710" cy="342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450">
                  <a:extLst>
                    <a:ext uri="{9D8B030D-6E8A-4147-A177-3AD203B41FA5}">
                      <a16:colId xmlns:a16="http://schemas.microsoft.com/office/drawing/2014/main" val="620522139"/>
                    </a:ext>
                  </a:extLst>
                </a:gridCol>
                <a:gridCol w="3411260">
                  <a:extLst>
                    <a:ext uri="{9D8B030D-6E8A-4147-A177-3AD203B41FA5}">
                      <a16:colId xmlns:a16="http://schemas.microsoft.com/office/drawing/2014/main" val="111984089"/>
                    </a:ext>
                  </a:extLst>
                </a:gridCol>
              </a:tblGrid>
              <a:tr h="26964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>
                          <a:effectLst/>
                        </a:rPr>
                        <a:t>Especificador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>
                          <a:effectLst/>
                        </a:rPr>
                        <a:t>Formato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304798854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%s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String de caracteres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117551127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%d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Número inteiro decimal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25184253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%u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Número inteiro decimal sem sinal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1840211508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Número inteiro octal sem sinal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716902440"/>
                  </a:ext>
                </a:extLst>
              </a:tr>
              <a:tr h="48112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%x, %X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 dirty="0">
                          <a:effectLst/>
                        </a:rPr>
                        <a:t>Número inteiro hexadecimal sem sinal, minúsculo ou maiúsculo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1802680676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%f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Float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460991407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%2f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Double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74727330"/>
                  </a:ext>
                </a:extLst>
              </a:tr>
              <a:tr h="481122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%e, %E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Número real, em notação científica, minúsculo ou maiúsculo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3957667303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%b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Boolean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423241956"/>
                  </a:ext>
                </a:extLst>
              </a:tr>
              <a:tr h="26964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>
                          <a:effectLst/>
                        </a:rPr>
                        <a:t>%c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u="none" strike="noStrike" dirty="0">
                          <a:effectLst/>
                        </a:rPr>
                        <a:t>Caractere (char)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016" marR="12016" marT="12016" marB="0" anchor="ctr"/>
                </a:tc>
                <a:extLst>
                  <a:ext uri="{0D108BD9-81ED-4DB2-BD59-A6C34878D82A}">
                    <a16:rowId xmlns:a16="http://schemas.microsoft.com/office/drawing/2014/main" val="7280743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 dirty="0"/>
              <a:t>Melhorando a apresentação de valores</a:t>
            </a:r>
            <a:endParaRPr lang="pt-BR" altLang="pt-BR" sz="3200" i="1" u="sng" dirty="0"/>
          </a:p>
        </p:txBody>
      </p:sp>
      <p:sp>
        <p:nvSpPr>
          <p:cNvPr id="32787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02B9FC-CFDA-4197-B9B7-B2F0543CEE5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graphicFrame>
        <p:nvGraphicFramePr>
          <p:cNvPr id="35872" name="Group 3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51715340"/>
              </p:ext>
            </p:extLst>
          </p:nvPr>
        </p:nvGraphicFramePr>
        <p:xfrm>
          <a:off x="1093458" y="3279595"/>
          <a:ext cx="5965534" cy="1280160"/>
        </p:xfrm>
        <a:graphic>
          <a:graphicData uri="http://schemas.openxmlformats.org/drawingml/2006/table">
            <a:tbl>
              <a:tblPr/>
              <a:tblGrid>
                <a:gridCol w="2238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6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Comando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Ação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5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\n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Insere uma nova linha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6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\t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Insere espaço de tabulação</a:t>
                      </a:r>
                      <a:endParaRPr kumimoji="0" 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CC9E9D73-7DA6-D88C-0312-0C8D8D7D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544" y="1929707"/>
            <a:ext cx="8642350" cy="236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2800" dirty="0"/>
              <a:t>Também existem comandos que ajudam na melhor formatação da tela de saída, 2 deles são:</a:t>
            </a:r>
            <a:r>
              <a:rPr lang="pl-PL" sz="2800" dirty="0"/>
              <a:t>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43056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A865-4AF0-99BA-F9C4-C44624A0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E6FA15B-C440-D27E-72D0-2604A4D8B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400" dirty="0"/>
              <a:t>Exemplo 5: Outra forma de Formatação na Apresentação</a:t>
            </a:r>
            <a:endParaRPr lang="pt-BR" altLang="pt-BR" sz="2400" dirty="0">
              <a:ea typeface="Calibri"/>
              <a:cs typeface="Calibri"/>
            </a:endParaRPr>
          </a:p>
        </p:txBody>
      </p:sp>
      <p:sp>
        <p:nvSpPr>
          <p:cNvPr id="24581" name="Espaço Reservado para Número de Slide 5">
            <a:extLst>
              <a:ext uri="{FF2B5EF4-FFF2-40B4-BE49-F238E27FC236}">
                <a16:creationId xmlns:a16="http://schemas.microsoft.com/office/drawing/2014/main" id="{7091B40F-6F33-3AE7-668D-7EB63C25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BA2CF-00EC-45C6-BD06-4E0FB2300E9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D966BF0-1EF7-9141-C492-00DF85505F0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60075" y="966938"/>
            <a:ext cx="8689796" cy="5748697"/>
          </a:xfrm>
          <a:solidFill>
            <a:srgbClr val="FFFFFF"/>
          </a:solidFill>
        </p:spPr>
        <p:txBody>
          <a:bodyPr/>
          <a:lstStyle/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Exemplo5 {</a:t>
            </a:r>
          </a:p>
          <a:p>
            <a:pPr marL="0" indent="263525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800" b="1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/>
              </a:rPr>
              <a:t>) {</a:t>
            </a:r>
            <a:endParaRPr lang="pt-BR" sz="1800" dirty="0">
              <a:latin typeface="Consolas"/>
            </a:endParaRPr>
          </a:p>
          <a:p>
            <a:pPr marL="0" indent="7124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b="1" err="1">
                <a:solidFill>
                  <a:srgbClr val="000000"/>
                </a:solidFill>
                <a:latin typeface="Consolas"/>
              </a:rPr>
              <a:t>,</a:t>
            </a:r>
            <a:r>
              <a:rPr lang="pt-BR" sz="1800" b="1" err="1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b="1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pt-BR" sz="1800" b="1" dirty="0">
                <a:solidFill>
                  <a:srgbClr val="6A3E3E"/>
                </a:solidFill>
                <a:latin typeface="Consolas"/>
              </a:rPr>
              <a:t>n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=1; </a:t>
            </a:r>
            <a:endParaRPr lang="pt-BR" sz="1800" b="1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" Apresentando variáveis declaradas"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=3.2;    </a:t>
            </a:r>
            <a:endParaRPr lang="pt-BR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s-ES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*2;</a:t>
            </a:r>
            <a:endParaRPr lang="es-ES" sz="18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es-ES" sz="180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s-ES" sz="1800" b="1" i="1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s-ES" sz="1800" b="1" i="1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s-ES" sz="1800" b="1" i="1" dirty="0">
                <a:solidFill>
                  <a:srgbClr val="2A00FF"/>
                </a:solidFill>
                <a:latin typeface="Consolas"/>
              </a:rPr>
              <a:t>"x = "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s-ES" sz="1800" b="1" i="1" dirty="0">
                <a:solidFill>
                  <a:srgbClr val="6A3E3E"/>
                </a:solidFill>
                <a:latin typeface="Consolas"/>
              </a:rPr>
              <a:t>x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s-ES" sz="1800" b="1" i="1" dirty="0">
                <a:solidFill>
                  <a:srgbClr val="2A00FF"/>
                </a:solidFill>
                <a:latin typeface="Consolas"/>
              </a:rPr>
              <a:t>" y = "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s-ES" sz="1800" b="1" i="1" dirty="0">
                <a:solidFill>
                  <a:srgbClr val="6A3E3E"/>
                </a:solidFill>
                <a:latin typeface="Consolas"/>
              </a:rPr>
              <a:t>y</a:t>
            </a:r>
            <a:r>
              <a:rPr lang="es-ES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z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=(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)/2;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/>
              </a:rPr>
              <a:t>w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err="1">
                <a:solidFill>
                  <a:srgbClr val="000000"/>
                </a:solidFill>
                <a:latin typeface="Consolas"/>
              </a:rPr>
              <a:t>+</a:t>
            </a:r>
            <a:r>
              <a:rPr lang="pt-BR" sz="1800" err="1">
                <a:solidFill>
                  <a:srgbClr val="6A3E3E"/>
                </a:solidFill>
                <a:latin typeface="Consolas"/>
              </a:rPr>
              <a:t>y</a:t>
            </a:r>
            <a:r>
              <a:rPr lang="pt-BR" sz="1800" dirty="0">
                <a:solidFill>
                  <a:srgbClr val="000000"/>
                </a:solidFill>
                <a:latin typeface="Consolas"/>
              </a:rPr>
              <a:t>/2;  </a:t>
            </a:r>
            <a:endParaRPr lang="pt-BR" sz="1800" dirty="0">
              <a:solidFill>
                <a:srgbClr val="3F7F5F"/>
              </a:solidFill>
              <a:latin typeface="Consolas"/>
            </a:endParaRPr>
          </a:p>
          <a:p>
            <a:pPr marL="0" indent="712470">
              <a:buNone/>
            </a:pPr>
            <a:r>
              <a:rPr lang="pl-PL" sz="18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String </a:t>
            </a:r>
            <a:r>
              <a:rPr lang="pl-PL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resultado</a:t>
            </a:r>
            <a:r>
              <a:rPr lang="pl-PL" sz="1800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 ="z %.2f".formatted(z);</a:t>
            </a:r>
            <a:endParaRPr lang="pt-BR" sz="1800" dirty="0">
              <a:solidFill>
                <a:srgbClr val="000000"/>
              </a:solidFill>
              <a:highlight>
                <a:srgbClr val="FFFF00"/>
              </a:highlight>
              <a:latin typeface="Consolas"/>
            </a:endParaRPr>
          </a:p>
          <a:p>
            <a:pPr indent="342900">
              <a:buNone/>
            </a:pPr>
            <a:r>
              <a:rPr lang="pl-PL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System.</a:t>
            </a:r>
            <a:r>
              <a:rPr lang="pl-PL" sz="18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/>
              </a:rPr>
              <a:t>out</a:t>
            </a:r>
            <a:r>
              <a:rPr lang="pl-PL" sz="18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.println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(</a:t>
            </a:r>
            <a:r>
              <a:rPr lang="pl-PL" sz="1800" b="1" i="1" dirty="0" err="1">
                <a:solidFill>
                  <a:srgbClr val="6A3E3E"/>
                </a:solidFill>
                <a:highlight>
                  <a:srgbClr val="FFFF00"/>
                </a:highlight>
                <a:latin typeface="Consolas"/>
              </a:rPr>
              <a:t>resultado</a:t>
            </a:r>
            <a:r>
              <a:rPr lang="pl-PL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);</a:t>
            </a:r>
            <a:endParaRPr lang="pt-BR" sz="1800" dirty="0">
              <a:solidFill>
                <a:srgbClr val="000000"/>
              </a:solidFill>
              <a:highlight>
                <a:srgbClr val="FFFF00"/>
              </a:highlight>
              <a:latin typeface="Consolas"/>
            </a:endParaRPr>
          </a:p>
          <a:p>
            <a:pPr marL="0" indent="712470" algn="l">
              <a:buNone/>
            </a:pP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l-PL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l-PL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w = "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l-PL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pl-PL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800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/2; </a:t>
            </a:r>
          </a:p>
          <a:p>
            <a:pPr marL="0" indent="712470" algn="l">
              <a:buNone/>
            </a:pPr>
            <a:r>
              <a:rPr lang="pt-BR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l-PL" sz="18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m</a:t>
            </a:r>
            <a:r>
              <a:rPr lang="pl-PL" sz="1800" b="1" i="1" dirty="0">
                <a:solidFill>
                  <a:srgbClr val="2A00FF"/>
                </a:solidFill>
                <a:latin typeface="Consolas"/>
              </a:rPr>
              <a:t> = "</a:t>
            </a:r>
            <a:r>
              <a:rPr lang="pl-PL" sz="1800" b="1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/>
              </a:rPr>
              <a:t>m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);</a:t>
            </a:r>
            <a:endParaRPr lang="pl-PL" sz="1800" b="1" i="1" dirty="0">
              <a:solidFill>
                <a:srgbClr val="000000"/>
              </a:solidFill>
              <a:latin typeface="Consolas"/>
            </a:endParaRPr>
          </a:p>
          <a:p>
            <a:pPr marL="0" indent="71247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1356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 altLang="pt-BR" sz="3200" dirty="0"/>
              <a:t>Comandos de Entrada</a:t>
            </a:r>
          </a:p>
        </p:txBody>
      </p:sp>
      <p:sp>
        <p:nvSpPr>
          <p:cNvPr id="25605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5FE283-2594-4356-9D99-7629A0E4D7CB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165225"/>
            <a:ext cx="8229600" cy="5057446"/>
          </a:xfrm>
        </p:spPr>
        <p:txBody>
          <a:bodyPr/>
          <a:lstStyle/>
          <a:p>
            <a:pPr eaLnBrk="1" hangingPunct="1"/>
            <a:r>
              <a:rPr lang="pt-BR" altLang="pt-BR" sz="2400" dirty="0"/>
              <a:t>Comando que é usado para entrada de valores (do teclado) para as variáveis.</a:t>
            </a:r>
          </a:p>
          <a:p>
            <a:pPr eaLnBrk="1" hangingPunct="1"/>
            <a:r>
              <a:rPr lang="pt-BR" altLang="pt-BR" sz="2400" dirty="0"/>
              <a:t>Para ler uma informação inserida pelo usuário, precisamos da ajuda da classe Scanner. </a:t>
            </a:r>
          </a:p>
          <a:p>
            <a:pPr marL="0" indent="0" algn="ctr" eaLnBrk="1" hangingPunct="1">
              <a:buNone/>
            </a:pPr>
            <a:r>
              <a:rPr lang="fr-F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Scanner </a:t>
            </a:r>
            <a:r>
              <a:rPr lang="fr-FR" sz="20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</a:t>
            </a:r>
            <a:r>
              <a:rPr lang="fr-F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fr-FR" sz="2000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fr-FR" sz="20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Scanner(System.</a:t>
            </a:r>
            <a:r>
              <a:rPr lang="fr-FR" sz="2000" b="1" i="1" dirty="0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</a:t>
            </a:r>
            <a:r>
              <a:rPr lang="fr-FR" sz="20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 algn="ctr" eaLnBrk="1" hangingPunct="1">
              <a:buNone/>
            </a:pPr>
            <a:r>
              <a:rPr lang="pt-BR" altLang="pt-BR" sz="2400" dirty="0"/>
              <a:t>Assim, foi declarada uma “variável” do tipo Scanner com o nome </a:t>
            </a:r>
            <a:r>
              <a:rPr lang="pt-BR" altLang="pt-BR" sz="2400" dirty="0" err="1">
                <a:highlight>
                  <a:srgbClr val="FFFF00"/>
                </a:highlight>
              </a:rPr>
              <a:t>le</a:t>
            </a:r>
            <a:r>
              <a:rPr lang="pt-BR" altLang="pt-BR" sz="2400" dirty="0"/>
              <a:t> (o operador new e construtores em outra ocasião).</a:t>
            </a:r>
          </a:p>
          <a:p>
            <a:pPr eaLnBrk="1" hangingPunct="1"/>
            <a:r>
              <a:rPr lang="pt-BR" altLang="pt-BR" sz="2400" dirty="0"/>
              <a:t>Uma “variável” scanner permite a leitura de dados que podem ser provenientes de várias origens, como um arquivo do disco ou informações digitadas pelo usuário. Dessa forma, o argumento </a:t>
            </a:r>
            <a:r>
              <a:rPr lang="fr-FR" sz="2400" b="1" dirty="0">
                <a:solidFill>
                  <a:srgbClr val="000000"/>
                </a:solidFill>
                <a:highlight>
                  <a:srgbClr val="FFFF00"/>
                </a:highlight>
                <a:latin typeface="Consolas"/>
              </a:rPr>
              <a:t>System.</a:t>
            </a:r>
            <a:r>
              <a:rPr lang="fr-FR" sz="2400" b="1" i="1" dirty="0">
                <a:solidFill>
                  <a:srgbClr val="0000C0"/>
                </a:solidFill>
                <a:highlight>
                  <a:srgbClr val="FFFF00"/>
                </a:highlight>
                <a:latin typeface="Consolas"/>
              </a:rPr>
              <a:t>in</a:t>
            </a:r>
            <a:r>
              <a:rPr lang="fr-FR" sz="2400" b="1" i="1" dirty="0">
                <a:solidFill>
                  <a:srgbClr val="0000C0"/>
                </a:solidFill>
                <a:latin typeface="Consolas"/>
              </a:rPr>
              <a:t> </a:t>
            </a:r>
            <a:r>
              <a:rPr lang="pt-BR" altLang="pt-BR" sz="2400" dirty="0"/>
              <a:t>especifica que queremos ler os valores digitados pelo usuário. </a:t>
            </a:r>
            <a:endParaRPr lang="pt-BR" altLang="pt-BR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A6F4B-8ED6-02D1-D59C-4CD897C1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 sz="3200" dirty="0"/>
              <a:t>Comandos de Entrada</a:t>
            </a:r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EE338F-4A64-0983-95B7-A96B69E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29</a:t>
            </a:fld>
            <a:endParaRPr lang="pt-BR" alt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1D809-6150-2411-12D4-33CFD3612F0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6588" y="1165225"/>
            <a:ext cx="8507412" cy="4525963"/>
          </a:xfrm>
        </p:spPr>
        <p:txBody>
          <a:bodyPr/>
          <a:lstStyle/>
          <a:p>
            <a:r>
              <a:rPr lang="pt-BR" sz="2400" dirty="0"/>
              <a:t>Após a declaração, podemos utilizar os métodos da classe Scanner para ler as informações. </a:t>
            </a:r>
          </a:p>
          <a:p>
            <a:r>
              <a:rPr lang="pt-BR" sz="2400" dirty="0"/>
              <a:t>Existem vários métodos, que são utilizados para ler cada um dos tipos de dados possíveis.</a:t>
            </a:r>
          </a:p>
          <a:p>
            <a:r>
              <a:rPr lang="pt-BR" sz="2400" dirty="0"/>
              <a:t>Exemplos</a:t>
            </a:r>
          </a:p>
          <a:p>
            <a:pPr lvl="1"/>
            <a:r>
              <a:rPr lang="pt-BR" sz="2000" err="1"/>
              <a:t>int</a:t>
            </a:r>
            <a:r>
              <a:rPr lang="pt-BR" sz="2000" dirty="0"/>
              <a:t> idade = </a:t>
            </a:r>
            <a:r>
              <a:rPr lang="pt-BR" sz="2000" err="1"/>
              <a:t>le.nextInt</a:t>
            </a:r>
            <a:r>
              <a:rPr lang="pt-BR" sz="2000" dirty="0"/>
              <a:t>();</a:t>
            </a:r>
          </a:p>
          <a:p>
            <a:pPr lvl="1"/>
            <a:r>
              <a:rPr lang="pt-BR" sz="2000" err="1"/>
              <a:t>double</a:t>
            </a:r>
            <a:r>
              <a:rPr lang="pt-BR" sz="2000" dirty="0"/>
              <a:t> </a:t>
            </a:r>
            <a:r>
              <a:rPr lang="pt-BR" sz="2000" err="1"/>
              <a:t>preco</a:t>
            </a:r>
            <a:r>
              <a:rPr lang="pt-BR" sz="2000" dirty="0"/>
              <a:t> = </a:t>
            </a:r>
            <a:r>
              <a:rPr lang="pt-BR" sz="2000" err="1"/>
              <a:t>le.nextDouble</a:t>
            </a:r>
            <a:r>
              <a:rPr lang="pt-BR" sz="2000" dirty="0"/>
              <a:t>();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 classe Scanner está definida no pacote </a:t>
            </a:r>
            <a:r>
              <a:rPr lang="pt-BR" sz="2400" err="1"/>
              <a:t>java.util</a:t>
            </a:r>
            <a:r>
              <a:rPr lang="pt-BR" sz="2400" dirty="0"/>
              <a:t>.</a:t>
            </a:r>
          </a:p>
          <a:p>
            <a:r>
              <a:rPr lang="pt-BR" sz="2400" dirty="0"/>
              <a:t>Sempre que precisamos utilizar uma classe que estão em pacotes diferentes e não são do pacote básico (</a:t>
            </a:r>
            <a:r>
              <a:rPr lang="pt-BR" sz="2400" err="1"/>
              <a:t>java.lang</a:t>
            </a:r>
            <a:r>
              <a:rPr lang="pt-BR" sz="2400" dirty="0"/>
              <a:t>) é </a:t>
            </a:r>
            <a:r>
              <a:rPr lang="pt-BR" sz="2400"/>
              <a:t>necessário utilizar a instrução import. </a:t>
            </a:r>
            <a:endParaRPr lang="pt-BR" sz="2400">
              <a:ea typeface="Calibri"/>
              <a:cs typeface="Calibri"/>
            </a:endParaRPr>
          </a:p>
          <a:p>
            <a:endParaRPr lang="pt-BR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1377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 dirty="0"/>
              <a:t>Exemplo 6: Leitura de valores no teclado</a:t>
            </a:r>
          </a:p>
        </p:txBody>
      </p:sp>
      <p:sp>
        <p:nvSpPr>
          <p:cNvPr id="2150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Algoritmos de Alta Performance - Profa Patrícia Magna</a:t>
            </a:r>
          </a:p>
        </p:txBody>
      </p:sp>
      <p:sp>
        <p:nvSpPr>
          <p:cNvPr id="2867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09326E-4F9B-44F9-B28E-5CA654C21BD3}" type="slidenum">
              <a:rPr lang="pt-BR" altLang="pt-BR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BR" altLang="pt-BR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429753" y="1071546"/>
            <a:ext cx="8713787" cy="57864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pt-BR" sz="1800" b="1" dirty="0">
                <a:solidFill>
                  <a:srgbClr val="7F0055"/>
                </a:solidFill>
                <a:latin typeface="Consolas"/>
              </a:rPr>
              <a:t>  </a:t>
            </a: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800" b="1" dirty="0">
                <a:solidFill>
                  <a:srgbClr val="000000"/>
                </a:solidFill>
                <a:latin typeface="Consolas"/>
              </a:rPr>
              <a:t> Exemplo6 {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806450" algn="l">
              <a:buNone/>
            </a:pP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80645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806450" algn="l">
              <a:buNone/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806450" algn="l">
              <a:buNone/>
            </a:pP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8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806450" algn="l">
              <a:buNone/>
            </a:pPr>
            <a:r>
              <a:rPr lang="nb-NO" sz="18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nb-NO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b-NO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nb-NO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"Digite valor de a: "</a:t>
            </a:r>
            <a:r>
              <a:rPr lang="nb-NO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80645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806450" algn="l">
              <a:buNone/>
            </a:pPr>
            <a:r>
              <a:rPr lang="nb-NO" sz="18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nb-NO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nb-NO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.print(</a:t>
            </a:r>
            <a:r>
              <a:rPr lang="nb-NO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"Digite valor de x: "</a:t>
            </a:r>
            <a:r>
              <a:rPr lang="nb-NO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806450" algn="l">
              <a:buNone/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.nextDouble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806450" algn="l">
              <a:buNone/>
            </a:pPr>
            <a:r>
              <a:rPr lang="pt-BR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/>
              </a:rPr>
              <a:t>"a divisão de x por a é: "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 + (</a:t>
            </a:r>
            <a:r>
              <a:rPr lang="pt-BR" sz="1800" b="1" i="1" dirty="0">
                <a:solidFill>
                  <a:srgbClr val="6A3E3E"/>
                </a:solidFill>
                <a:latin typeface="Consolas"/>
              </a:rPr>
              <a:t>x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 / </a:t>
            </a:r>
            <a:r>
              <a:rPr lang="pt-BR" sz="1800" b="1" i="1" dirty="0">
                <a:solidFill>
                  <a:srgbClr val="6A3E3E"/>
                </a:solidFill>
                <a:latin typeface="Consolas"/>
              </a:rPr>
              <a:t>a</a:t>
            </a:r>
            <a:r>
              <a:rPr lang="pt-BR" sz="1800" b="1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0" indent="806450" algn="l">
              <a:buNone/>
            </a:pP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806450" algn="l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altLang="pt-BR" sz="2400" dirty="0">
              <a:latin typeface="+mn-lt"/>
            </a:endParaRPr>
          </a:p>
        </p:txBody>
      </p:sp>
      <p:sp>
        <p:nvSpPr>
          <p:cNvPr id="2" name="Texto Explicativo: Linha com Borda e Ênfase 1">
            <a:extLst>
              <a:ext uri="{FF2B5EF4-FFF2-40B4-BE49-F238E27FC236}">
                <a16:creationId xmlns:a16="http://schemas.microsoft.com/office/drawing/2014/main" id="{8B321EC4-B39A-9F08-CEEE-AAC5C11CD895}"/>
              </a:ext>
            </a:extLst>
          </p:cNvPr>
          <p:cNvSpPr/>
          <p:nvPr/>
        </p:nvSpPr>
        <p:spPr>
          <a:xfrm>
            <a:off x="4995568" y="1042980"/>
            <a:ext cx="3968919" cy="1017868"/>
          </a:xfrm>
          <a:prstGeom prst="accentBorderCallout1">
            <a:avLst>
              <a:gd name="adj1" fmla="val 18750"/>
              <a:gd name="adj2" fmla="val -8333"/>
              <a:gd name="adj3" fmla="val 18597"/>
              <a:gd name="adj4" fmla="val -3109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deve especificar o nome do </a:t>
            </a:r>
            <a:r>
              <a:rPr lang="pt-BR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pacote</a:t>
            </a:r>
            <a:r>
              <a:rPr 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mais o </a:t>
            </a:r>
            <a:r>
              <a:rPr lang="pt-BR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nome da classe</a:t>
            </a:r>
            <a:r>
              <a:rPr 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queremos utilizar na classe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Texto Explicativo: Linha com Borda e Ênfase 4">
            <a:extLst>
              <a:ext uri="{FF2B5EF4-FFF2-40B4-BE49-F238E27FC236}">
                <a16:creationId xmlns:a16="http://schemas.microsoft.com/office/drawing/2014/main" id="{A479BA77-4254-AB4B-4BF4-6C3D9F34E898}"/>
              </a:ext>
            </a:extLst>
          </p:cNvPr>
          <p:cNvSpPr/>
          <p:nvPr/>
        </p:nvSpPr>
        <p:spPr>
          <a:xfrm>
            <a:off x="6830886" y="2411132"/>
            <a:ext cx="2133601" cy="1017868"/>
          </a:xfrm>
          <a:prstGeom prst="accentBorderCallout1">
            <a:avLst>
              <a:gd name="adj1" fmla="val 18750"/>
              <a:gd name="adj2" fmla="val -8333"/>
              <a:gd name="adj3" fmla="val 108480"/>
              <a:gd name="adj4" fmla="val -1998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pt-BR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é declarada como um objeto Scanner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Texto Explicativo: Linha com Borda e Ênfase 5">
            <a:extLst>
              <a:ext uri="{FF2B5EF4-FFF2-40B4-BE49-F238E27FC236}">
                <a16:creationId xmlns:a16="http://schemas.microsoft.com/office/drawing/2014/main" id="{3CB18210-E771-70C9-CC21-5DBEE18F7BBA}"/>
              </a:ext>
            </a:extLst>
          </p:cNvPr>
          <p:cNvSpPr/>
          <p:nvPr/>
        </p:nvSpPr>
        <p:spPr>
          <a:xfrm>
            <a:off x="4999056" y="5487256"/>
            <a:ext cx="3973903" cy="1061000"/>
          </a:xfrm>
          <a:prstGeom prst="accentBorderCallout1">
            <a:avLst>
              <a:gd name="adj1" fmla="val 18750"/>
              <a:gd name="adj2" fmla="val -8333"/>
              <a:gd name="adj3" fmla="val 10984"/>
              <a:gd name="adj4" fmla="val -5797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800" b="1" dirty="0" err="1">
                <a:solidFill>
                  <a:schemeClr val="tx1"/>
                </a:solidFill>
                <a:effectLst/>
                <a:latin typeface="Arial"/>
                <a:ea typeface="Calibri"/>
                <a:cs typeface="Times New Roman"/>
              </a:rPr>
              <a:t>le</a:t>
            </a:r>
            <a:r>
              <a:rPr lang="pt-BR" sz="1800" dirty="0">
                <a:solidFill>
                  <a:schemeClr val="tx1"/>
                </a:solidFill>
                <a:effectLst/>
                <a:latin typeface="Arial"/>
                <a:ea typeface="Calibri"/>
                <a:cs typeface="Times New Roman"/>
              </a:rPr>
              <a:t>  é finalizado quando não vamos mais </a:t>
            </a:r>
            <a:r>
              <a:rPr lang="pt-BR" dirty="0">
                <a:solidFill>
                  <a:schemeClr val="tx1"/>
                </a:solidFill>
                <a:latin typeface="Arial"/>
                <a:ea typeface="Calibri"/>
                <a:cs typeface="Times New Roman"/>
              </a:rPr>
              <a:t>usá-lo finalizando vínculo com teclado </a:t>
            </a:r>
            <a:r>
              <a:rPr lang="pt-BR" dirty="0" err="1">
                <a:solidFill>
                  <a:schemeClr val="tx1"/>
                </a:solidFill>
                <a:latin typeface="Arial"/>
                <a:ea typeface="Calibri"/>
                <a:cs typeface="Times New Roman"/>
              </a:rPr>
              <a:t>físco</a:t>
            </a:r>
            <a:r>
              <a:rPr lang="pt-BR" dirty="0">
                <a:solidFill>
                  <a:schemeClr val="tx1"/>
                </a:solidFill>
                <a:latin typeface="Arial"/>
                <a:ea typeface="Calibri"/>
                <a:cs typeface="Times New Roman"/>
              </a:rPr>
              <a:t> da máquina</a:t>
            </a:r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BC842CA-48B8-D291-AF8C-032E87CB83D6}"/>
              </a:ext>
            </a:extLst>
          </p:cNvPr>
          <p:cNvGrpSpPr/>
          <p:nvPr/>
        </p:nvGrpSpPr>
        <p:grpSpPr>
          <a:xfrm>
            <a:off x="4107525" y="3779284"/>
            <a:ext cx="5006103" cy="1149553"/>
            <a:chOff x="4107525" y="3779284"/>
            <a:chExt cx="5006103" cy="1149553"/>
          </a:xfrm>
        </p:grpSpPr>
        <p:sp>
          <p:nvSpPr>
            <p:cNvPr id="3" name="Texto Explicativo: Linha com Borda e Ênfase 2">
              <a:extLst>
                <a:ext uri="{FF2B5EF4-FFF2-40B4-BE49-F238E27FC236}">
                  <a16:creationId xmlns:a16="http://schemas.microsoft.com/office/drawing/2014/main" id="{3C6DBF71-C614-F30A-653F-7B0FCAD3BCCC}"/>
                </a:ext>
              </a:extLst>
            </p:cNvPr>
            <p:cNvSpPr/>
            <p:nvPr/>
          </p:nvSpPr>
          <p:spPr>
            <a:xfrm>
              <a:off x="6980027" y="3779284"/>
              <a:ext cx="2133601" cy="1017868"/>
            </a:xfrm>
            <a:prstGeom prst="accentBorderCallout1">
              <a:avLst>
                <a:gd name="adj1" fmla="val 18750"/>
                <a:gd name="adj2" fmla="val -8333"/>
                <a:gd name="adj3" fmla="val 40035"/>
                <a:gd name="adj4" fmla="val -16104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800" b="1" dirty="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le</a:t>
              </a:r>
              <a:r>
                <a:rPr lang="pt-BR" sz="1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é usado para ler valor de tipo específico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C1EB0354-3B10-FFE8-4462-2E05F31485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7525" y="4665466"/>
              <a:ext cx="2710438" cy="263371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A6F4B-8ED6-02D1-D59C-4CD897C1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altLang="pt-BR" sz="3200" dirty="0"/>
              <a:t>Comandos de Entrada</a:t>
            </a:r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EE338F-4A64-0983-95B7-A96B69E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31</a:t>
            </a:fld>
            <a:endParaRPr lang="pt-BR" altLang="en-US"/>
          </a:p>
        </p:txBody>
      </p:sp>
      <p:pic>
        <p:nvPicPr>
          <p:cNvPr id="7" name="Imagem 1">
            <a:extLst>
              <a:ext uri="{FF2B5EF4-FFF2-40B4-BE49-F238E27FC236}">
                <a16:creationId xmlns:a16="http://schemas.microsoft.com/office/drawing/2014/main" id="{C49C8EE0-A4C1-FA50-D9A5-3769AA0A8AF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96" y="1278417"/>
            <a:ext cx="738187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862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Exercício 2</a:t>
            </a:r>
          </a:p>
        </p:txBody>
      </p:sp>
      <p:sp>
        <p:nvSpPr>
          <p:cNvPr id="36869" name="Espaço Reservado para Número de Slid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AD6EA8-7BD4-4B66-A44F-B41FF1100664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BR" altLang="en-US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36867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646981" y="1168879"/>
            <a:ext cx="8229600" cy="4525963"/>
          </a:xfrm>
        </p:spPr>
        <p:txBody>
          <a:bodyPr/>
          <a:lstStyle/>
          <a:p>
            <a:r>
              <a:rPr lang="pt-BR" altLang="pt-BR" sz="2800" dirty="0"/>
              <a:t>A conversão de graus </a:t>
            </a:r>
            <a:r>
              <a:rPr lang="pt-BR" altLang="pt-BR" sz="2800" dirty="0" err="1"/>
              <a:t>Farenheit</a:t>
            </a:r>
            <a:r>
              <a:rPr lang="pt-BR" altLang="pt-BR" sz="2800" dirty="0"/>
              <a:t> para centígrados é obtida por: </a:t>
            </a:r>
          </a:p>
          <a:p>
            <a:pPr>
              <a:buNone/>
            </a:pPr>
            <a:r>
              <a:rPr lang="pt-BR" altLang="pt-BR" sz="2800" dirty="0"/>
              <a:t>			C = 5/9 * (F – 32). </a:t>
            </a:r>
          </a:p>
          <a:p>
            <a:pPr>
              <a:buNone/>
            </a:pPr>
            <a:r>
              <a:rPr lang="pt-BR" altLang="pt-BR" sz="2800" dirty="0"/>
              <a:t>    Faça um programa que leia do teclado o valor da temperatura em </a:t>
            </a:r>
            <a:r>
              <a:rPr lang="pt-BR" altLang="pt-BR" sz="2800" dirty="0" err="1"/>
              <a:t>Farenheit</a:t>
            </a:r>
            <a:r>
              <a:rPr lang="pt-BR" altLang="pt-BR" sz="2800" dirty="0"/>
              <a:t> e depois calcule e escreva sua conversão para graus centígrados. </a:t>
            </a:r>
          </a:p>
          <a:p>
            <a:pPr>
              <a:buFont typeface="Arial" pitchFamily="34" charset="0"/>
              <a:buNone/>
            </a:pPr>
            <a:endParaRPr lang="pt-BR" altLang="pt-BR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C720E-DE90-DEBA-D42C-5E0D40C0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Calibri"/>
                <a:cs typeface="Calibri"/>
              </a:rPr>
              <a:t>Exercícios Extras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BD8100-8E55-368D-2922-508A2D5C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33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F789DF-6042-FEE7-138C-B81370C8FD83}"/>
              </a:ext>
            </a:extLst>
          </p:cNvPr>
          <p:cNvSpPr txBox="1"/>
          <p:nvPr/>
        </p:nvSpPr>
        <p:spPr>
          <a:xfrm>
            <a:off x="356680" y="956553"/>
            <a:ext cx="81225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Arial"/>
                <a:cs typeface="Arial"/>
              </a:rPr>
              <a:t>Exercícios Propostos no capítulo 3 (página 47) do livro: "Fundamentos da Programação de Computadores: Algoritmos, Pascal, C/C++ e JAVA", </a:t>
            </a:r>
            <a:r>
              <a:rPr lang="pt-BR">
                <a:latin typeface="Arial"/>
                <a:cs typeface="Arial"/>
              </a:rPr>
              <a:t>Ascencio,A.F.G e Campos, E.A.V,  2a </a:t>
            </a:r>
            <a:r>
              <a:rPr lang="pt-BR" dirty="0">
                <a:latin typeface="Arial"/>
                <a:cs typeface="Arial"/>
              </a:rPr>
              <a:t>edição. </a:t>
            </a:r>
            <a:endParaRPr lang="pt-BR" dirty="0"/>
          </a:p>
        </p:txBody>
      </p:sp>
      <p:pic>
        <p:nvPicPr>
          <p:cNvPr id="6" name="Imagem 5" descr="Texto, Tabela&#10;&#10;O conteúdo gerado por IA pode estar incorreto.">
            <a:extLst>
              <a:ext uri="{FF2B5EF4-FFF2-40B4-BE49-F238E27FC236}">
                <a16:creationId xmlns:a16="http://schemas.microsoft.com/office/drawing/2014/main" id="{853474AE-18FC-BF31-2BBB-F24CAB3C4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8" y="2150943"/>
            <a:ext cx="86963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2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AB54-AC9F-73FE-C8EB-35121F7E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2D7117A-FF15-19D3-C0A7-4F7FDBDF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57" y="252883"/>
            <a:ext cx="8229600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2400" b="1" dirty="0" err="1">
                <a:latin typeface="Calibri" pitchFamily="34" charset="0"/>
              </a:rPr>
              <a:t>Referências</a:t>
            </a:r>
            <a:r>
              <a:rPr lang="en-US" sz="2400" b="1" dirty="0">
                <a:latin typeface="Calibri" pitchFamily="34" charset="0"/>
              </a:rPr>
              <a:t> </a:t>
            </a:r>
            <a:r>
              <a:rPr lang="en-US" sz="2400" b="1" dirty="0" err="1">
                <a:latin typeface="Calibri" pitchFamily="34" charset="0"/>
              </a:rPr>
              <a:t>Bibliográficas</a:t>
            </a:r>
            <a:endParaRPr lang="pt-BR" sz="2400" b="1" dirty="0">
              <a:latin typeface="Calibri" pitchFamily="34" charset="0"/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511071-68F0-77EC-4B57-FA4E16FE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34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FFD7B67-45B5-6DB6-7F5E-D30D996F1A5D}"/>
              </a:ext>
            </a:extLst>
          </p:cNvPr>
          <p:cNvSpPr/>
          <p:nvPr/>
        </p:nvSpPr>
        <p:spPr>
          <a:xfrm>
            <a:off x="741872" y="1155940"/>
            <a:ext cx="7944927" cy="33547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charset="0"/>
              <a:buChar char="•"/>
              <a:defRPr/>
            </a:pPr>
            <a:r>
              <a:rPr lang="pt-BR" sz="2000" dirty="0">
                <a:latin typeface="+mn-lt"/>
              </a:rPr>
              <a:t> DEITEL, P; J.; </a:t>
            </a:r>
            <a:r>
              <a:rPr lang="pt-BR" sz="2000" err="1">
                <a:latin typeface="+mn-lt"/>
              </a:rPr>
              <a:t>Deitel</a:t>
            </a:r>
            <a:r>
              <a:rPr lang="pt-BR" sz="2000" dirty="0">
                <a:latin typeface="+mn-lt"/>
              </a:rPr>
              <a:t>, H.M., </a:t>
            </a:r>
            <a:r>
              <a:rPr lang="pt-BR" sz="2000" b="1" dirty="0">
                <a:latin typeface="+mn-lt"/>
              </a:rPr>
              <a:t>Java: como programar </a:t>
            </a:r>
            <a:r>
              <a:rPr lang="pt-BR" sz="2000" dirty="0">
                <a:latin typeface="+mn-lt"/>
              </a:rPr>
              <a:t>- 8ª edição, São Paulo, </a:t>
            </a:r>
            <a:r>
              <a:rPr lang="pt-BR" sz="2000" err="1">
                <a:latin typeface="+mn-lt"/>
              </a:rPr>
              <a:t>Ed.Pearson</a:t>
            </a:r>
            <a:r>
              <a:rPr lang="pt-BR" sz="2000" dirty="0">
                <a:latin typeface="+mn-lt"/>
              </a:rPr>
              <a:t> Prentice Hall, 2010.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pt-BR">
                <a:latin typeface="Arial"/>
                <a:cs typeface="Arial"/>
              </a:rPr>
              <a:t>Ascencio,A.F.G e Campos, E.A.V, F</a:t>
            </a:r>
            <a:r>
              <a:rPr lang="pt-BR" b="1">
                <a:latin typeface="Arial"/>
                <a:cs typeface="Arial"/>
              </a:rPr>
              <a:t>undamentos da Programação de Computadores: Algoritmos, Pascal, C/C++ e JAVA,</a:t>
            </a:r>
            <a:r>
              <a:rPr lang="pt-BR">
                <a:latin typeface="Arial"/>
                <a:cs typeface="Arial"/>
              </a:rPr>
              <a:t> , 2a edição, </a:t>
            </a:r>
            <a:r>
              <a:rPr lang="pt-BR" sz="2000">
                <a:latin typeface="Calibri"/>
                <a:ea typeface="Calibri"/>
                <a:cs typeface="Calibri"/>
              </a:rPr>
              <a:t>Ed.Pearson Prentice Hall, 2007</a:t>
            </a:r>
            <a:r>
              <a:rPr lang="pt-BR" dirty="0">
                <a:latin typeface="Arial"/>
                <a:cs typeface="Arial"/>
              </a:rPr>
              <a:t> </a:t>
            </a:r>
          </a:p>
          <a:p>
            <a:pPr>
              <a:buFont typeface="Arial" charset="0"/>
              <a:buChar char="•"/>
              <a:defRPr/>
            </a:pPr>
            <a:endParaRPr lang="pt-BR" sz="2000" dirty="0">
              <a:latin typeface="+mn-lt"/>
              <a:ea typeface="Calibri"/>
              <a:cs typeface="Calibri"/>
            </a:endParaRPr>
          </a:p>
          <a:p>
            <a:pPr>
              <a:buFont typeface="Arial" charset="0"/>
              <a:buChar char="•"/>
              <a:defRPr/>
            </a:pPr>
            <a:endParaRPr lang="pt-BR" sz="2000" dirty="0">
              <a:latin typeface="+mn-lt"/>
            </a:endParaRPr>
          </a:p>
          <a:p>
            <a:pPr>
              <a:defRPr/>
            </a:pPr>
            <a:endParaRPr lang="pt-BR" sz="1600" dirty="0">
              <a:latin typeface="+mn-lt"/>
            </a:endParaRPr>
          </a:p>
          <a:p>
            <a:pPr>
              <a:buFont typeface="Arial" charset="0"/>
              <a:buChar char="•"/>
              <a:defRPr/>
            </a:pPr>
            <a:endParaRPr lang="pt-BR" sz="2000" dirty="0">
              <a:latin typeface="+mn-lt"/>
            </a:endParaRPr>
          </a:p>
          <a:p>
            <a:pPr indent="457200">
              <a:tabLst>
                <a:tab pos="534988" algn="l"/>
              </a:tabLst>
            </a:pPr>
            <a:endParaRPr lang="pt-BR" sz="2000" dirty="0">
              <a:latin typeface="+mn-lt"/>
            </a:endParaRPr>
          </a:p>
          <a:p>
            <a:pPr indent="457200">
              <a:buFont typeface="Wingdings" pitchFamily="2" charset="2"/>
              <a:buChar char="§"/>
              <a:tabLst>
                <a:tab pos="534988" algn="l"/>
              </a:tabLst>
            </a:pPr>
            <a:endParaRPr lang="pt-BR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9211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43A5-87CC-7395-0935-FE3A693E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B777E4-8459-52F9-42D2-82E04FBBD1D7}"/>
              </a:ext>
            </a:extLst>
          </p:cNvPr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9D66DED7-4217-79C6-D82B-6253FD7E8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 anchor="t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2026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: Patrícia Magna</a:t>
            </a:r>
            <a:endParaRPr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F4E1E-67DB-8E98-C216-769A1F2A8B72}"/>
              </a:ext>
            </a:extLst>
          </p:cNvPr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708A8-DF3A-1C4C-5CC5-C55BB082D33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6B65F9-2E5E-E935-291E-6F0D34FF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6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2512</TotalTime>
  <Words>4052</Words>
  <Application>Microsoft Office PowerPoint</Application>
  <PresentationFormat>Apresentação na tela (4:3)</PresentationFormat>
  <Paragraphs>611</Paragraphs>
  <Slides>35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Apresentação do PowerPoint</vt:lpstr>
      <vt:lpstr>Estrutura Básica de um Programa em JAVA</vt:lpstr>
      <vt:lpstr>Estrutura Básica de um Programa em JAVA</vt:lpstr>
      <vt:lpstr>Inserindo Comentários em JAVA</vt:lpstr>
      <vt:lpstr>Vamos criar nosso primeiro  projeto  JAVA no IntelliJ </vt:lpstr>
      <vt:lpstr>Apresentação do PowerPoint</vt:lpstr>
      <vt:lpstr>Apresentação do PowerPoint</vt:lpstr>
      <vt:lpstr>Apresentação do PowerPoint</vt:lpstr>
      <vt:lpstr>Apresentação do PowerPoint</vt:lpstr>
      <vt:lpstr>Estrutura Básica de um Programa em JAVA</vt:lpstr>
      <vt:lpstr>Exemplo 1 </vt:lpstr>
      <vt:lpstr>Comandos em JAVA</vt:lpstr>
      <vt:lpstr>Declaração de Variáveis em JAVA</vt:lpstr>
      <vt:lpstr>Palavras Reservadas para Linguagem JAVA</vt:lpstr>
      <vt:lpstr>Tipos de Dados Primitivos em JAVA</vt:lpstr>
      <vt:lpstr>Exemplo 2: Declarações de Variáveis</vt:lpstr>
      <vt:lpstr>Principais Operadores Matemáticos em Java</vt:lpstr>
      <vt:lpstr>Principais Operadores Matemáticos em Java</vt:lpstr>
      <vt:lpstr>Exemplo 3: Operações Matemáticas e Prioridades</vt:lpstr>
      <vt:lpstr>Execução</vt:lpstr>
      <vt:lpstr>Comandos de Saída</vt:lpstr>
      <vt:lpstr>Exemplo 3: Continuando para apresentação de valores</vt:lpstr>
      <vt:lpstr>Exercício 1</vt:lpstr>
      <vt:lpstr>Exemplo 4: Melhorando Aparência </vt:lpstr>
      <vt:lpstr>Melhorando a apresentação de valores</vt:lpstr>
      <vt:lpstr>Melhorando a apresentação de valores</vt:lpstr>
      <vt:lpstr>Exemplo 5: Outra forma de Formatação na Apresentação</vt:lpstr>
      <vt:lpstr>Comandos de Entrada</vt:lpstr>
      <vt:lpstr>Comandos de Entrada</vt:lpstr>
      <vt:lpstr>Exemplo 6: Leitura de valores no teclado</vt:lpstr>
      <vt:lpstr>Comandos de Entrada</vt:lpstr>
      <vt:lpstr>Exercício 2</vt:lpstr>
      <vt:lpstr>Exercícios Extras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Organização de Computadores</dc:title>
  <dc:creator>Patrícia Magna</dc:creator>
  <cp:lastModifiedBy>Patricia Magna</cp:lastModifiedBy>
  <cp:revision>539</cp:revision>
  <dcterms:created xsi:type="dcterms:W3CDTF">2005-02-16T13:03:14Z</dcterms:created>
  <dcterms:modified xsi:type="dcterms:W3CDTF">2026-02-19T11:31:29Z</dcterms:modified>
</cp:coreProperties>
</file>