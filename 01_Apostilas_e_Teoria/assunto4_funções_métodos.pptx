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6"/>
  </p:notesMasterIdLst>
  <p:sldIdLst>
    <p:sldId id="267" r:id="rId5"/>
    <p:sldId id="343" r:id="rId6"/>
    <p:sldId id="342" r:id="rId7"/>
    <p:sldId id="313" r:id="rId8"/>
    <p:sldId id="344" r:id="rId9"/>
    <p:sldId id="345" r:id="rId10"/>
    <p:sldId id="361" r:id="rId11"/>
    <p:sldId id="346" r:id="rId12"/>
    <p:sldId id="349" r:id="rId13"/>
    <p:sldId id="350" r:id="rId14"/>
    <p:sldId id="353" r:id="rId15"/>
    <p:sldId id="356" r:id="rId16"/>
    <p:sldId id="357" r:id="rId17"/>
    <p:sldId id="355" r:id="rId18"/>
    <p:sldId id="360" r:id="rId19"/>
    <p:sldId id="347" r:id="rId20"/>
    <p:sldId id="348" r:id="rId21"/>
    <p:sldId id="359" r:id="rId22"/>
    <p:sldId id="363" r:id="rId23"/>
    <p:sldId id="358" r:id="rId24"/>
    <p:sldId id="265" r:id="rId25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AFB5"/>
    <a:srgbClr val="F9E8EA"/>
    <a:srgbClr val="FC0404"/>
    <a:srgbClr val="360EE2"/>
    <a:srgbClr val="144DDC"/>
    <a:srgbClr val="F4D3D6"/>
    <a:srgbClr val="F0265D"/>
    <a:srgbClr val="020000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7" autoAdjust="0"/>
    <p:restoredTop sz="99419" autoAdjust="0"/>
  </p:normalViewPr>
  <p:slideViewPr>
    <p:cSldViewPr snapToGrid="0" snapToObjects="1">
      <p:cViewPr varScale="1">
        <p:scale>
          <a:sx n="58" d="100"/>
          <a:sy n="58" d="100"/>
        </p:scale>
        <p:origin x="1650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49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44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271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42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080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Algoritmos de Alta Perfomance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Algoritmos de Alta </a:t>
            </a:r>
            <a:r>
              <a:rPr lang="pt-BR" dirty="0" err="1"/>
              <a:t>Perfomance</a:t>
            </a:r>
            <a:endParaRPr lang="pt-BR" dirty="0"/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Gotham-Bold"/>
              </a:rPr>
              <a:t>Advanced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Gotham-Bold"/>
              </a:rPr>
              <a:t> </a:t>
            </a: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Gotham-Bold"/>
              </a:rPr>
              <a:t>Programming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Gotham-Bold"/>
              </a:rPr>
              <a:t> </a:t>
            </a:r>
            <a:r>
              <a:rPr lang="pt-BR" b="1" dirty="0" err="1">
                <a:solidFill>
                  <a:schemeClr val="bg1">
                    <a:lumMod val="65000"/>
                  </a:schemeClr>
                </a:solidFill>
                <a:latin typeface="Gotham-Bold"/>
              </a:rPr>
              <a:t>and</a:t>
            </a:r>
            <a:r>
              <a:rPr lang="pt-BR" b="1" dirty="0">
                <a:solidFill>
                  <a:schemeClr val="bg1">
                    <a:lumMod val="65000"/>
                  </a:schemeClr>
                </a:solidFill>
                <a:latin typeface="Gotham-Bold"/>
              </a:rPr>
              <a:t> Mobile</a:t>
            </a:r>
          </a:p>
          <a:p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Profa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Patrícia Magna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400799"/>
            <a:ext cx="2895600" cy="365125"/>
          </a:xfrm>
        </p:spPr>
        <p:txBody>
          <a:bodyPr/>
          <a:lstStyle/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928938" y="6286500"/>
            <a:ext cx="3500437" cy="434975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CEA31-3BC2-41BB-9AE4-3F48CFF5CB6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928938" y="6286500"/>
            <a:ext cx="3500437" cy="57150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CEA31-3BC2-41BB-9AE4-3F48CFF5CB6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8" name="Espaço Reservado para Imagem 7"/>
          <p:cNvSpPr>
            <a:spLocks noGrp="1"/>
          </p:cNvSpPr>
          <p:nvPr>
            <p:ph type="pic" sz="quarter" idx="13"/>
          </p:nvPr>
        </p:nvSpPr>
        <p:spPr>
          <a:xfrm>
            <a:off x="7572396" y="0"/>
            <a:ext cx="1571604" cy="1500188"/>
          </a:xfrm>
        </p:spPr>
        <p:txBody>
          <a:bodyPr rtlCol="0">
            <a:normAutofit/>
          </a:bodyPr>
          <a:lstStyle/>
          <a:p>
            <a:pPr lvl="0"/>
            <a:endParaRPr lang="pt-BR" noProof="0" dirty="0"/>
          </a:p>
        </p:txBody>
      </p:sp>
      <p:sp>
        <p:nvSpPr>
          <p:cNvPr id="6" name="Espaço Reservado para Data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Rodapé 4"/>
          <p:cNvSpPr>
            <a:spLocks noGrp="1"/>
          </p:cNvSpPr>
          <p:nvPr>
            <p:ph type="ftr" sz="quarter" idx="15"/>
          </p:nvPr>
        </p:nvSpPr>
        <p:spPr>
          <a:xfrm>
            <a:off x="3124200" y="6286500"/>
            <a:ext cx="3305175" cy="571500"/>
          </a:xfrm>
        </p:spPr>
        <p:txBody>
          <a:bodyPr/>
          <a:lstStyle>
            <a:lvl1pPr>
              <a:defRPr/>
            </a:lvl1pPr>
          </a:lstStyle>
          <a:p>
            <a:r>
              <a:rPr lang="pt-BR" dirty="0" err="1"/>
              <a:t>Advanced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Mobile</a:t>
            </a:r>
          </a:p>
          <a:p>
            <a:r>
              <a:rPr lang="pt-BR" dirty="0" err="1"/>
              <a:t>Profa</a:t>
            </a:r>
            <a:r>
              <a:rPr lang="pt-BR" dirty="0"/>
              <a:t> Patrícia Magna</a:t>
            </a:r>
            <a:endParaRPr lang="pt-BR" altLang="en-US" dirty="0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7B789-2478-4B84-ACAC-457A7E3D18C9}" type="slidenum">
              <a:rPr lang="pt-BR" altLang="en-US"/>
              <a:pPr>
                <a:defRPr/>
              </a:pPr>
              <a:t>‹nº›</a:t>
            </a:fld>
            <a:endParaRPr lang="pt-BR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Algoritmos de Alta Perfomance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en/java/javase/18/docs/api/java.base/java/lang/Math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084723"/>
            <a:ext cx="781424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altLang="pt-BR" sz="3200" dirty="0">
                <a:solidFill>
                  <a:srgbClr val="FFFF00"/>
                </a:solidFill>
              </a:rPr>
              <a:t>Métodos em JAVA (Funções)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4043999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chemeClr val="bg2"/>
                </a:solidFill>
                <a:latin typeface="Gotham-Bold"/>
              </a:rPr>
              <a:t>Advanced</a:t>
            </a:r>
            <a:r>
              <a:rPr lang="pt-BR" sz="2000" b="1" dirty="0">
                <a:solidFill>
                  <a:schemeClr val="bg2"/>
                </a:solidFill>
                <a:latin typeface="Gotham-Bold"/>
              </a:rPr>
              <a:t> </a:t>
            </a:r>
            <a:r>
              <a:rPr lang="pt-BR" sz="2000" b="1" dirty="0" err="1">
                <a:solidFill>
                  <a:schemeClr val="bg2"/>
                </a:solidFill>
                <a:latin typeface="Gotham-Bold"/>
              </a:rPr>
              <a:t>Programming</a:t>
            </a:r>
            <a:r>
              <a:rPr lang="pt-BR" sz="2000" b="1" dirty="0">
                <a:solidFill>
                  <a:schemeClr val="bg2"/>
                </a:solidFill>
                <a:latin typeface="Gotham-Bold"/>
              </a:rPr>
              <a:t> </a:t>
            </a:r>
            <a:r>
              <a:rPr lang="pt-BR" sz="2000" b="1" dirty="0" err="1">
                <a:solidFill>
                  <a:schemeClr val="bg2"/>
                </a:solidFill>
                <a:latin typeface="Gotham-Bold"/>
              </a:rPr>
              <a:t>and</a:t>
            </a:r>
            <a:r>
              <a:rPr lang="pt-BR" sz="2000" b="1" dirty="0">
                <a:solidFill>
                  <a:schemeClr val="bg2"/>
                </a:solidFill>
                <a:latin typeface="Gotham-Bold"/>
              </a:rPr>
              <a:t> Mobile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200" dirty="0">
                <a:solidFill>
                  <a:srgbClr val="360EE2"/>
                </a:solidFill>
              </a:rPr>
              <a:t>Definição de Função (Método)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188100" y="944221"/>
            <a:ext cx="822960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Conjunto de comandos agrupados em um </a:t>
            </a:r>
            <a:r>
              <a:rPr lang="pt-BR" sz="2400" b="1" dirty="0"/>
              <a:t>módulo</a:t>
            </a:r>
            <a:r>
              <a:rPr lang="pt-BR" sz="2400" dirty="0"/>
              <a:t> ou </a:t>
            </a:r>
            <a:r>
              <a:rPr lang="pt-BR" sz="2400" b="1" dirty="0"/>
              <a:t>bloco</a:t>
            </a:r>
            <a:r>
              <a:rPr lang="pt-BR" sz="2400" dirty="0"/>
              <a:t>, que recebe um </a:t>
            </a:r>
            <a:r>
              <a:rPr lang="pt-BR" sz="2400" b="1" dirty="0"/>
              <a:t>nome</a:t>
            </a:r>
            <a:r>
              <a:rPr lang="pt-BR" sz="2400" dirty="0"/>
              <a:t> e através deste pode ser </a:t>
            </a:r>
            <a:r>
              <a:rPr lang="pt-BR" sz="2400" b="1" dirty="0"/>
              <a:t>chamado </a:t>
            </a:r>
            <a:r>
              <a:rPr lang="pt-BR" sz="2400" dirty="0"/>
              <a:t>para ser executado.</a:t>
            </a:r>
          </a:p>
          <a:p>
            <a:endParaRPr lang="pt-BR" sz="240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5317002-3799-8630-EAEF-E1E7546F4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63" y="3117057"/>
            <a:ext cx="7471273" cy="3239293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89900" y="1687512"/>
            <a:ext cx="3904605" cy="1519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600" dirty="0"/>
              <a:t>Razões para uso de Funções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469556" y="1262744"/>
            <a:ext cx="8229601" cy="4863420"/>
          </a:xfrm>
        </p:spPr>
        <p:txBody>
          <a:bodyPr>
            <a:normAutofit/>
          </a:bodyPr>
          <a:lstStyle/>
          <a:p>
            <a:r>
              <a:rPr lang="pt-BR" sz="2200" dirty="0"/>
              <a:t>Permitir o reaproveitamento de código já construído;</a:t>
            </a:r>
          </a:p>
          <a:p>
            <a:r>
              <a:rPr lang="pt-BR" sz="2200" dirty="0"/>
              <a:t>Evitar que um trecho de código que seja repetido várias vezes dentro de um mesmo programa;</a:t>
            </a:r>
          </a:p>
          <a:p>
            <a:r>
              <a:rPr lang="pt-BR" sz="2200" dirty="0"/>
              <a:t>Permitir a alteração de um trecho de código de uma forma mais rápida. Com o uso de uma função é preciso alterar apenas </a:t>
            </a:r>
            <a:r>
              <a:rPr lang="pt-BR" sz="2200" b="1" dirty="0"/>
              <a:t>dentro</a:t>
            </a:r>
            <a:r>
              <a:rPr lang="pt-BR" sz="2200" dirty="0"/>
              <a:t> da função que se deseja;</a:t>
            </a:r>
          </a:p>
          <a:p>
            <a:r>
              <a:rPr lang="pt-BR" sz="2200" dirty="0"/>
              <a:t>Possibilitar que os blocos do programa não fiquem grandes demais e, por conseqüência, mais difíceis de entender;</a:t>
            </a:r>
          </a:p>
          <a:p>
            <a:r>
              <a:rPr lang="pt-BR" sz="2200" dirty="0"/>
              <a:t>Facilitar a leitura do programa-fonte de uma forma mais fácil;</a:t>
            </a:r>
          </a:p>
          <a:p>
            <a:r>
              <a:rPr lang="pt-BR" sz="2200" dirty="0"/>
              <a:t>Separar o programa em partes (blocos) que possam ser logicamente compreendidos de forma isolada.</a:t>
            </a:r>
          </a:p>
          <a:p>
            <a:endParaRPr lang="pt-BR" sz="220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Imagem 4">
            <a:extLst>
              <a:ext uri="{FF2B5EF4-FFF2-40B4-BE49-F238E27FC236}">
                <a16:creationId xmlns:a16="http://schemas.microsoft.com/office/drawing/2014/main" id="{F760CE4C-40FB-6D68-630E-A91DE0E59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32" y="745223"/>
            <a:ext cx="8543925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1F297B6-919B-CB87-9702-F7BED660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557" y="278456"/>
            <a:ext cx="8229600" cy="466767"/>
          </a:xfrm>
        </p:spPr>
        <p:txBody>
          <a:bodyPr/>
          <a:lstStyle/>
          <a:p>
            <a:r>
              <a:rPr lang="pt-BR"/>
              <a:t>Funções Matemáticas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8DEADF3-C45F-3971-2739-B338F7052711}"/>
              </a:ext>
            </a:extLst>
          </p:cNvPr>
          <p:cNvSpPr txBox="1"/>
          <p:nvPr/>
        </p:nvSpPr>
        <p:spPr>
          <a:xfrm>
            <a:off x="1145814" y="6280731"/>
            <a:ext cx="6562759" cy="523220"/>
          </a:xfrm>
          <a:prstGeom prst="rect">
            <a:avLst/>
          </a:prstGeom>
          <a:solidFill>
            <a:srgbClr val="EBAFB5"/>
          </a:solidFill>
        </p:spPr>
        <p:txBody>
          <a:bodyPr wrap="none" rtlCol="0">
            <a:spAutoFit/>
          </a:bodyPr>
          <a:lstStyle/>
          <a:p>
            <a:r>
              <a:rPr lang="pt-BR" sz="1400" b="1" dirty="0"/>
              <a:t>Lista de funções matemáticas da biblioteca </a:t>
            </a:r>
            <a:r>
              <a:rPr lang="pt-BR" sz="1400" b="1" dirty="0" err="1"/>
              <a:t>Math</a:t>
            </a:r>
            <a:endParaRPr lang="pt-BR" sz="1400" b="1" dirty="0">
              <a:hlinkClick r:id="rId3"/>
            </a:endParaRPr>
          </a:p>
          <a:p>
            <a:r>
              <a:rPr lang="pt-BR" sz="1400" b="1" dirty="0">
                <a:hlinkClick r:id="rId3"/>
              </a:rPr>
              <a:t>https://docs.oracle.com/en/java/javase/18/docs/api/java.base/java/lang/Math.html</a:t>
            </a:r>
            <a:endParaRPr lang="pt-BR" sz="1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600" dirty="0"/>
              <a:t>Métodos em JAVA (Funções)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5</a:t>
            </a:fld>
            <a:endParaRPr lang="pt-BR" alt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-126127" y="2926985"/>
            <a:ext cx="91440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5720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 err="1">
                <a:ln>
                  <a:noFill/>
                </a:ln>
                <a:effectLst/>
                <a:latin typeface="+mn-lt"/>
                <a:ea typeface="MS Mincho" pitchFamily="49" charset="-128"/>
                <a:cs typeface="Arial" pitchFamily="34" charset="0"/>
              </a:rPr>
              <a:t>public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effectLst/>
                <a:latin typeface="+mn-lt"/>
                <a:ea typeface="MS Mincho" pitchFamily="49" charset="-128"/>
                <a:cs typeface="Arial" pitchFamily="34" charset="0"/>
              </a:rPr>
              <a:t> </a:t>
            </a:r>
            <a:r>
              <a:rPr kumimoji="0" lang="pt-BR" sz="2000" b="1" i="0" u="none" strike="noStrike" cap="none" normalizeH="0" baseline="0" dirty="0" err="1">
                <a:ln>
                  <a:noFill/>
                </a:ln>
                <a:effectLst/>
                <a:latin typeface="+mn-lt"/>
                <a:ea typeface="MS Mincho" pitchFamily="49" charset="-128"/>
                <a:cs typeface="Arial" pitchFamily="34" charset="0"/>
              </a:rPr>
              <a:t>static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effectLst/>
                <a:latin typeface="+mn-lt"/>
                <a:ea typeface="MS Mincho" pitchFamily="49" charset="-128"/>
                <a:cs typeface="Arial" pitchFamily="34" charset="0"/>
              </a:rPr>
              <a:t>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&lt;tipo do valor retornado&gt;  </a:t>
            </a:r>
            <a:r>
              <a:rPr lang="pt-BR" sz="2000" b="1" dirty="0">
                <a:solidFill>
                  <a:srgbClr val="082AB8"/>
                </a:solidFill>
                <a:ea typeface="MS Mincho" pitchFamily="49" charset="-128"/>
                <a:cs typeface="Arial" pitchFamily="34" charset="0"/>
              </a:rPr>
              <a:t>nome da função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(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lista de parâmetros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) 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   {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      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rgbClr val="082AB8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// declaração de variáveis locais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rgbClr val="082AB8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rgbClr val="082AB8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      //lista de comandos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rgbClr val="082AB8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     </a:t>
            </a:r>
            <a:r>
              <a:rPr kumimoji="0" lang="pt-B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return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 (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valor único retornado</a:t>
            </a: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);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0" marR="0" lvl="0" indent="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MS Mincho" pitchFamily="49" charset="-128"/>
                <a:cs typeface="Arial" pitchFamily="34" charset="0"/>
              </a:rPr>
              <a:t>   }</a:t>
            </a:r>
            <a:endParaRPr kumimoji="0" lang="pt-B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EC3E066-FD3A-4C2C-EE89-0BC0F1561629}"/>
              </a:ext>
            </a:extLst>
          </p:cNvPr>
          <p:cNvSpPr txBox="1"/>
          <p:nvPr/>
        </p:nvSpPr>
        <p:spPr>
          <a:xfrm>
            <a:off x="469557" y="1399565"/>
            <a:ext cx="7432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Como criar nossas próprias funções ou métodos em JAVA?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868346"/>
          </a:xfrm>
        </p:spPr>
        <p:txBody>
          <a:bodyPr>
            <a:normAutofit/>
          </a:bodyPr>
          <a:lstStyle/>
          <a:p>
            <a:pPr algn="l"/>
            <a:r>
              <a:rPr lang="pt-BR" sz="3600" dirty="0">
                <a:solidFill>
                  <a:srgbClr val="144DDC"/>
                </a:solidFill>
              </a:rPr>
              <a:t>Métodos em JAVA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85720" y="1071546"/>
            <a:ext cx="8572560" cy="5143536"/>
          </a:xfrm>
        </p:spPr>
        <p:txBody>
          <a:bodyPr>
            <a:normAutofit/>
          </a:bodyPr>
          <a:lstStyle/>
          <a:p>
            <a:r>
              <a:rPr lang="pt-BR" sz="2000" dirty="0"/>
              <a:t>As variáveis declaradas dentro do método são as variáveis locais.</a:t>
            </a:r>
          </a:p>
          <a:p>
            <a:r>
              <a:rPr lang="pt-BR" sz="2000" dirty="0"/>
              <a:t>Toda informação que deve ser passada para o método são passados como parâmetros. </a:t>
            </a:r>
          </a:p>
          <a:p>
            <a:pPr lvl="1"/>
            <a:r>
              <a:rPr lang="pt-BR" sz="1800" dirty="0"/>
              <a:t>Mesmo que não haja parâmetros,  a frente do nome do método deve-se ter parênteses ().</a:t>
            </a:r>
          </a:p>
          <a:p>
            <a:r>
              <a:rPr lang="pt-BR" sz="2000" dirty="0"/>
              <a:t>Um método pode:</a:t>
            </a:r>
          </a:p>
          <a:p>
            <a:pPr lvl="1"/>
            <a:r>
              <a:rPr lang="pt-BR" sz="1800" dirty="0"/>
              <a:t>retornar  1  valor com o próprio nome do método, neste caso antes do nome da função deve ser colocado o tipo do valor retornado, por exemplo, </a:t>
            </a:r>
            <a:r>
              <a:rPr lang="pt-BR" sz="1800" dirty="0" err="1"/>
              <a:t>int</a:t>
            </a:r>
            <a:r>
              <a:rPr lang="pt-BR" sz="1800" dirty="0"/>
              <a:t>, </a:t>
            </a:r>
            <a:r>
              <a:rPr lang="pt-BR" sz="1800" dirty="0" err="1"/>
              <a:t>double</a:t>
            </a:r>
            <a:r>
              <a:rPr lang="pt-BR" sz="1800" dirty="0"/>
              <a:t>, char, etc. </a:t>
            </a:r>
          </a:p>
          <a:p>
            <a:pPr lvl="1"/>
            <a:r>
              <a:rPr lang="pt-BR" sz="1800" dirty="0"/>
              <a:t>O retorno do valor do tipo especificado é feito através do comando </a:t>
            </a:r>
            <a:r>
              <a:rPr lang="pt-BR" sz="1800" dirty="0" err="1"/>
              <a:t>return</a:t>
            </a:r>
            <a:r>
              <a:rPr lang="pt-BR" sz="1800" dirty="0"/>
              <a:t>().</a:t>
            </a:r>
          </a:p>
          <a:p>
            <a:r>
              <a:rPr lang="pt-BR" sz="2000" dirty="0"/>
              <a:t>Quando nenhum valor é retornado com o nome da função deve ser colocado o tipo </a:t>
            </a:r>
            <a:r>
              <a:rPr lang="pt-BR" sz="2000" u="sng" dirty="0" err="1"/>
              <a:t>void</a:t>
            </a:r>
            <a:r>
              <a:rPr lang="pt-BR" sz="2000" dirty="0"/>
              <a:t>, que significa nenhum valor será retornado. </a:t>
            </a:r>
          </a:p>
          <a:p>
            <a:endParaRPr lang="pt-BR" sz="1800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6</a:t>
            </a:fld>
            <a:endParaRPr lang="pt-BR" alt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95F4A71E-2B49-B7D1-5BD3-6CC2598D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3" y="2805884"/>
            <a:ext cx="4621444" cy="3339120"/>
          </a:xfrm>
          <a:prstGeom prst="rect">
            <a:avLst/>
          </a:prstGeo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200" dirty="0">
                <a:solidFill>
                  <a:srgbClr val="360EE2"/>
                </a:solidFill>
              </a:rPr>
              <a:t>Parâmetros para um Método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idx="4294967295"/>
          </p:nvPr>
        </p:nvSpPr>
        <p:spPr>
          <a:xfrm>
            <a:off x="152077" y="898982"/>
            <a:ext cx="8229600" cy="4525963"/>
          </a:xfrm>
        </p:spPr>
        <p:txBody>
          <a:bodyPr>
            <a:normAutofit/>
          </a:bodyPr>
          <a:lstStyle/>
          <a:p>
            <a:r>
              <a:rPr lang="pt-BR" sz="2400" dirty="0"/>
              <a:t>Conjunto de dados que devem ser trocados entre métodos:</a:t>
            </a:r>
          </a:p>
          <a:p>
            <a:endParaRPr lang="pt-BR" sz="240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C49991DA-68F8-4B51-8F39-49C8DE17F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49641"/>
              </p:ext>
            </p:extLst>
          </p:nvPr>
        </p:nvGraphicFramePr>
        <p:xfrm>
          <a:off x="441238" y="1767343"/>
          <a:ext cx="4290419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957">
                  <a:extLst>
                    <a:ext uri="{9D8B030D-6E8A-4147-A177-3AD203B41FA5}">
                      <a16:colId xmlns:a16="http://schemas.microsoft.com/office/drawing/2014/main" val="3607319521"/>
                    </a:ext>
                  </a:extLst>
                </a:gridCol>
                <a:gridCol w="811922">
                  <a:extLst>
                    <a:ext uri="{9D8B030D-6E8A-4147-A177-3AD203B41FA5}">
                      <a16:colId xmlns:a16="http://schemas.microsoft.com/office/drawing/2014/main" val="1099534867"/>
                    </a:ext>
                  </a:extLst>
                </a:gridCol>
                <a:gridCol w="2716540">
                  <a:extLst>
                    <a:ext uri="{9D8B030D-6E8A-4147-A177-3AD203B41FA5}">
                      <a16:colId xmlns:a16="http://schemas.microsoft.com/office/drawing/2014/main" val="9442413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 err="1">
                          <a:solidFill>
                            <a:schemeClr val="tx1"/>
                          </a:solidFill>
                        </a:rPr>
                        <a:t>a</a:t>
                      </a:r>
                      <a:r>
                        <a:rPr lang="pt-BR" sz="2000" baseline="40000" dirty="0" err="1">
                          <a:solidFill>
                            <a:schemeClr val="tx1"/>
                          </a:solidFill>
                        </a:rPr>
                        <a:t>b</a:t>
                      </a:r>
                      <a:endParaRPr lang="pt-BR" sz="2000" baseline="40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840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=potência(</a:t>
                      </a:r>
                      <a:r>
                        <a:rPr lang="pt-BR" sz="2000" dirty="0" err="1">
                          <a:solidFill>
                            <a:schemeClr val="tx1"/>
                          </a:solidFill>
                        </a:rPr>
                        <a:t>a,b</a:t>
                      </a:r>
                      <a:r>
                        <a:rPr lang="pt-BR" sz="20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65260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CCB1A99C-2679-4163-BBAA-C3BE7BD95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958" y="1433055"/>
            <a:ext cx="3276190" cy="2142857"/>
          </a:xfrm>
          <a:prstGeom prst="rect">
            <a:avLst/>
          </a:prstGeom>
        </p:spPr>
      </p:pic>
      <p:sp>
        <p:nvSpPr>
          <p:cNvPr id="11" name="Elipse 10">
            <a:extLst>
              <a:ext uri="{FF2B5EF4-FFF2-40B4-BE49-F238E27FC236}">
                <a16:creationId xmlns:a16="http://schemas.microsoft.com/office/drawing/2014/main" id="{FEBDFC58-4ED9-43CE-9451-20998A2C6FE4}"/>
              </a:ext>
            </a:extLst>
          </p:cNvPr>
          <p:cNvSpPr/>
          <p:nvPr/>
        </p:nvSpPr>
        <p:spPr>
          <a:xfrm>
            <a:off x="8347535" y="1443016"/>
            <a:ext cx="514885" cy="334288"/>
          </a:xfrm>
          <a:prstGeom prst="ellipse">
            <a:avLst/>
          </a:prstGeom>
          <a:noFill/>
          <a:ln w="19050"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759EEE5A-D05E-4E01-9429-AFE7BF6D4042}"/>
              </a:ext>
            </a:extLst>
          </p:cNvPr>
          <p:cNvSpPr/>
          <p:nvPr/>
        </p:nvSpPr>
        <p:spPr>
          <a:xfrm>
            <a:off x="3738937" y="5248383"/>
            <a:ext cx="609277" cy="334288"/>
          </a:xfrm>
          <a:prstGeom prst="ellipse">
            <a:avLst/>
          </a:prstGeom>
          <a:noFill/>
          <a:ln w="19050"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EC3BC1F2-96CA-421A-BDDA-5FA69A032FE8}"/>
              </a:ext>
            </a:extLst>
          </p:cNvPr>
          <p:cNvCxnSpPr>
            <a:cxnSpLocks/>
          </p:cNvCxnSpPr>
          <p:nvPr/>
        </p:nvCxnSpPr>
        <p:spPr>
          <a:xfrm flipV="1">
            <a:off x="4266877" y="4783867"/>
            <a:ext cx="2568716" cy="473934"/>
          </a:xfrm>
          <a:prstGeom prst="straightConnector1">
            <a:avLst/>
          </a:prstGeom>
          <a:ln>
            <a:solidFill>
              <a:srgbClr val="FC04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6DA5FBCC-575F-4036-AF25-827CBBBA4C65}"/>
              </a:ext>
            </a:extLst>
          </p:cNvPr>
          <p:cNvCxnSpPr>
            <a:cxnSpLocks/>
            <a:stCxn id="11" idx="4"/>
          </p:cNvCxnSpPr>
          <p:nvPr/>
        </p:nvCxnSpPr>
        <p:spPr>
          <a:xfrm flipH="1">
            <a:off x="8016693" y="1777304"/>
            <a:ext cx="588285" cy="2822032"/>
          </a:xfrm>
          <a:prstGeom prst="straightConnector1">
            <a:avLst/>
          </a:prstGeom>
          <a:ln>
            <a:solidFill>
              <a:srgbClr val="FC040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B812D5E-50BC-406C-B4C7-DB1B13D18842}"/>
              </a:ext>
            </a:extLst>
          </p:cNvPr>
          <p:cNvSpPr txBox="1"/>
          <p:nvPr/>
        </p:nvSpPr>
        <p:spPr>
          <a:xfrm>
            <a:off x="6931460" y="4492197"/>
            <a:ext cx="16735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rgbClr val="C00000"/>
                </a:solidFill>
              </a:rPr>
              <a:t>Parâmetros passados para a função </a:t>
            </a:r>
          </a:p>
        </p:txBody>
      </p:sp>
    </p:spTree>
    <p:extLst>
      <p:ext uri="{BB962C8B-B14F-4D97-AF65-F5344CB8AC3E}">
        <p14:creationId xmlns:p14="http://schemas.microsoft.com/office/powerpoint/2010/main" val="315383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0"/>
            <a:ext cx="6972320" cy="857232"/>
          </a:xfrm>
        </p:spPr>
        <p:txBody>
          <a:bodyPr/>
          <a:lstStyle/>
          <a:p>
            <a:pPr algn="l"/>
            <a:r>
              <a:rPr lang="pt-BR" sz="4000" dirty="0"/>
              <a:t>Exemplo1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8</a:t>
            </a:fld>
            <a:endParaRPr lang="pt-BR" altLang="en-US" dirty="0"/>
          </a:p>
        </p:txBody>
      </p:sp>
      <p:sp>
        <p:nvSpPr>
          <p:cNvPr id="9" name="CaixaDeTexto 8"/>
          <p:cNvSpPr txBox="1"/>
          <p:nvPr/>
        </p:nvSpPr>
        <p:spPr>
          <a:xfrm>
            <a:off x="2900182" y="2115239"/>
            <a:ext cx="3000396" cy="169277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pt-BR" sz="2000" dirty="0"/>
          </a:p>
          <a:p>
            <a:pPr algn="ctr"/>
            <a:r>
              <a:rPr lang="pt-BR" sz="2400" dirty="0">
                <a:solidFill>
                  <a:srgbClr val="FC0404"/>
                </a:solidFill>
              </a:rPr>
              <a:t>delta</a:t>
            </a:r>
          </a:p>
          <a:p>
            <a:endParaRPr lang="pt-BR" sz="2000" dirty="0"/>
          </a:p>
          <a:p>
            <a:pPr algn="ctr"/>
            <a:r>
              <a:rPr lang="pt-BR" sz="2000" dirty="0"/>
              <a:t>delta  = b*b - 4*a*c</a:t>
            </a:r>
          </a:p>
          <a:p>
            <a:endParaRPr lang="pt-BR" sz="2000" dirty="0"/>
          </a:p>
        </p:txBody>
      </p:sp>
      <p:cxnSp>
        <p:nvCxnSpPr>
          <p:cNvPr id="14" name="Conector de seta reta 13"/>
          <p:cNvCxnSpPr/>
          <p:nvPr/>
        </p:nvCxnSpPr>
        <p:spPr>
          <a:xfrm rot="16200000" flipH="1">
            <a:off x="3117773" y="1839816"/>
            <a:ext cx="539827" cy="110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 rot="16200000" flipH="1">
            <a:off x="4124958" y="1839815"/>
            <a:ext cx="539827" cy="110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/>
          <p:cNvCxnSpPr/>
          <p:nvPr/>
        </p:nvCxnSpPr>
        <p:spPr>
          <a:xfrm rot="16200000" flipH="1">
            <a:off x="5089792" y="1839815"/>
            <a:ext cx="539827" cy="110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/>
          <p:cNvCxnSpPr/>
          <p:nvPr/>
        </p:nvCxnSpPr>
        <p:spPr>
          <a:xfrm rot="16200000" flipH="1">
            <a:off x="4113941" y="4072415"/>
            <a:ext cx="539827" cy="1101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/>
          <p:cNvSpPr txBox="1"/>
          <p:nvPr/>
        </p:nvSpPr>
        <p:spPr>
          <a:xfrm>
            <a:off x="3084722" y="1206078"/>
            <a:ext cx="594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a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4080890" y="1158423"/>
            <a:ext cx="594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b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5056741" y="1175300"/>
            <a:ext cx="5949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c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3962029" y="4347837"/>
            <a:ext cx="8326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dirty="0"/>
              <a:t>delta</a:t>
            </a:r>
          </a:p>
        </p:txBody>
      </p:sp>
      <p:sp>
        <p:nvSpPr>
          <p:cNvPr id="15" name="Espaço Reservado para Rodapé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9557" y="95325"/>
            <a:ext cx="8229600" cy="466767"/>
          </a:xfrm>
        </p:spPr>
        <p:txBody>
          <a:bodyPr/>
          <a:lstStyle/>
          <a:p>
            <a:pPr algn="l"/>
            <a:r>
              <a:rPr lang="pt-BR" sz="4000" dirty="0"/>
              <a:t>Exemplo: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9</a:t>
            </a:fld>
            <a:endParaRPr lang="pt-BR" altLang="en-US" dirty="0"/>
          </a:p>
        </p:txBody>
      </p:sp>
      <p:sp>
        <p:nvSpPr>
          <p:cNvPr id="7" name="Retângulo 6"/>
          <p:cNvSpPr/>
          <p:nvPr/>
        </p:nvSpPr>
        <p:spPr>
          <a:xfrm>
            <a:off x="285720" y="720825"/>
            <a:ext cx="8143932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CalculaDelta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623888" algn="l"/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1600" dirty="0">
              <a:latin typeface="Consolas" panose="020B0609020204030204" pitchFamily="49" charset="0"/>
            </a:endParaRPr>
          </a:p>
          <a:p>
            <a:pPr indent="6238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"x: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"y: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"z: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delta(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Discriminante: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delta(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6238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- 4*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400" dirty="0"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13" name="Espaço Reservado para Rodapé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CEA31-3BC2-41BB-9AE4-3F48CFF5CB61}" type="slidenum">
              <a:rPr lang="pt-BR" altLang="en-US" smtClean="0"/>
              <a:pPr>
                <a:defRPr/>
              </a:pPr>
              <a:t>10</a:t>
            </a:fld>
            <a:endParaRPr lang="pt-BR" altLang="en-US"/>
          </a:p>
        </p:txBody>
      </p:sp>
      <p:sp>
        <p:nvSpPr>
          <p:cNvPr id="5" name="Retângulo 4"/>
          <p:cNvSpPr/>
          <p:nvPr/>
        </p:nvSpPr>
        <p:spPr>
          <a:xfrm>
            <a:off x="264406" y="1740665"/>
            <a:ext cx="3833870" cy="3525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4063" y="1875488"/>
            <a:ext cx="109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rgbClr val="FF0000"/>
                </a:solidFill>
              </a:rPr>
              <a:t>main</a:t>
            </a:r>
            <a:endParaRPr lang="pt-BR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457200" y="2661920"/>
          <a:ext cx="907567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4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etângulo 16"/>
          <p:cNvSpPr/>
          <p:nvPr/>
        </p:nvSpPr>
        <p:spPr>
          <a:xfrm>
            <a:off x="1348241" y="3791123"/>
            <a:ext cx="275003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bg1"/>
                </a:solidFill>
              </a:rPr>
              <a:t>int</a:t>
            </a:r>
            <a:r>
              <a:rPr lang="pt-BR" sz="1600" dirty="0">
                <a:solidFill>
                  <a:schemeClr val="bg1"/>
                </a:solidFill>
              </a:rPr>
              <a:t> x,y,z,d;</a:t>
            </a:r>
          </a:p>
          <a:p>
            <a:r>
              <a:rPr lang="pt-BR" sz="1600" dirty="0">
                <a:solidFill>
                  <a:schemeClr val="bg1"/>
                </a:solidFill>
              </a:rPr>
              <a:t>x = </a:t>
            </a:r>
            <a:r>
              <a:rPr lang="pt-BR" sz="1600" dirty="0" err="1">
                <a:solidFill>
                  <a:schemeClr val="bg1"/>
                </a:solidFill>
              </a:rPr>
              <a:t>le.nextInt</a:t>
            </a:r>
            <a:r>
              <a:rPr lang="pt-BR" sz="1600" dirty="0">
                <a:solidFill>
                  <a:schemeClr val="bg1"/>
                </a:solidFill>
              </a:rPr>
              <a:t>();</a:t>
            </a:r>
          </a:p>
          <a:p>
            <a:r>
              <a:rPr lang="pt-BR" sz="1600" dirty="0">
                <a:solidFill>
                  <a:schemeClr val="bg1"/>
                </a:solidFill>
              </a:rPr>
              <a:t>y = </a:t>
            </a:r>
            <a:r>
              <a:rPr lang="pt-BR" sz="1600" dirty="0" err="1">
                <a:solidFill>
                  <a:schemeClr val="bg1"/>
                </a:solidFill>
              </a:rPr>
              <a:t>le.nextInt</a:t>
            </a:r>
            <a:r>
              <a:rPr lang="pt-BR" sz="1600" dirty="0">
                <a:solidFill>
                  <a:schemeClr val="bg1"/>
                </a:solidFill>
              </a:rPr>
              <a:t>();</a:t>
            </a:r>
          </a:p>
          <a:p>
            <a:r>
              <a:rPr lang="pt-BR" sz="1600" dirty="0">
                <a:solidFill>
                  <a:schemeClr val="bg1"/>
                </a:solidFill>
              </a:rPr>
              <a:t>z = </a:t>
            </a:r>
            <a:r>
              <a:rPr lang="pt-BR" sz="1600" dirty="0" err="1">
                <a:solidFill>
                  <a:schemeClr val="bg1"/>
                </a:solidFill>
              </a:rPr>
              <a:t>le.nextInt</a:t>
            </a:r>
            <a:r>
              <a:rPr lang="pt-BR" sz="1600" dirty="0">
                <a:solidFill>
                  <a:schemeClr val="bg1"/>
                </a:solidFill>
              </a:rPr>
              <a:t>();</a:t>
            </a:r>
          </a:p>
          <a:p>
            <a:r>
              <a:rPr lang="pt-BR" sz="1600" dirty="0"/>
              <a:t>d=delta(x,y,z);</a:t>
            </a:r>
          </a:p>
        </p:txBody>
      </p:sp>
      <p:sp>
        <p:nvSpPr>
          <p:cNvPr id="9" name="Espaço Reservado para Rodapé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CEA31-3BC2-41BB-9AE4-3F48CFF5CB61}" type="slidenum">
              <a:rPr lang="pt-BR" altLang="en-US" smtClean="0"/>
              <a:pPr>
                <a:defRPr/>
              </a:pPr>
              <a:t>11</a:t>
            </a:fld>
            <a:endParaRPr lang="pt-BR" altLang="en-US"/>
          </a:p>
        </p:txBody>
      </p:sp>
      <p:sp>
        <p:nvSpPr>
          <p:cNvPr id="5" name="Retângulo 4"/>
          <p:cNvSpPr/>
          <p:nvPr/>
        </p:nvSpPr>
        <p:spPr>
          <a:xfrm>
            <a:off x="457200" y="1740665"/>
            <a:ext cx="3641075" cy="3525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03634" y="1740665"/>
            <a:ext cx="3641075" cy="3525398"/>
          </a:xfrm>
          <a:prstGeom prst="rect">
            <a:avLst/>
          </a:prstGeom>
          <a:solidFill>
            <a:srgbClr val="92D050">
              <a:alpha val="4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4063" y="1875488"/>
            <a:ext cx="109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rgbClr val="FF0000"/>
                </a:solidFill>
              </a:rPr>
              <a:t>main</a:t>
            </a:r>
            <a:endParaRPr lang="pt-BR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94063" y="2661920"/>
          <a:ext cx="70507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5462530" y="2027888"/>
            <a:ext cx="1966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delta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4548128" y="2661920"/>
          <a:ext cx="200507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6553200" y="2851110"/>
            <a:ext cx="2341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int</a:t>
            </a:r>
            <a:r>
              <a:rPr lang="pt-BR" dirty="0">
                <a:solidFill>
                  <a:schemeClr val="bg1"/>
                </a:solidFill>
              </a:rPr>
              <a:t> d;</a:t>
            </a:r>
          </a:p>
          <a:p>
            <a:r>
              <a:rPr lang="pt-BR" dirty="0"/>
              <a:t>d = b*b – 4*a*c</a:t>
            </a:r>
          </a:p>
          <a:p>
            <a:r>
              <a:rPr lang="pt-BR" dirty="0" err="1"/>
              <a:t>return</a:t>
            </a:r>
            <a:r>
              <a:rPr lang="pt-BR" dirty="0"/>
              <a:t> (d);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251989" y="1321609"/>
            <a:ext cx="4076527" cy="4351663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348241" y="3899059"/>
            <a:ext cx="27500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...</a:t>
            </a:r>
          </a:p>
          <a:p>
            <a:r>
              <a:rPr lang="pt-BR" sz="1600" dirty="0"/>
              <a:t>d=</a:t>
            </a:r>
            <a:r>
              <a:rPr lang="pt-BR" sz="1600" dirty="0">
                <a:solidFill>
                  <a:schemeClr val="bg1"/>
                </a:solidFill>
              </a:rPr>
              <a:t>delta(x,y,z);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6681729" y="3789802"/>
          <a:ext cx="2005071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478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928939" y="6149975"/>
            <a:ext cx="2274696" cy="571500"/>
          </a:xfrm>
        </p:spPr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672AD1-1CC5-D653-B20F-E403B99FB3EF}"/>
              </a:ext>
            </a:extLst>
          </p:cNvPr>
          <p:cNvSpPr txBox="1"/>
          <p:nvPr/>
        </p:nvSpPr>
        <p:spPr>
          <a:xfrm>
            <a:off x="4618905" y="14133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delta(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CEA31-3BC2-41BB-9AE4-3F48CFF5CB61}" type="slidenum">
              <a:rPr lang="pt-BR" altLang="en-US" smtClean="0"/>
              <a:pPr>
                <a:defRPr/>
              </a:pPr>
              <a:t>12</a:t>
            </a:fld>
            <a:endParaRPr lang="pt-BR" altLang="en-US"/>
          </a:p>
        </p:txBody>
      </p:sp>
      <p:sp>
        <p:nvSpPr>
          <p:cNvPr id="5" name="Retângulo 4"/>
          <p:cNvSpPr/>
          <p:nvPr/>
        </p:nvSpPr>
        <p:spPr>
          <a:xfrm>
            <a:off x="457200" y="1740665"/>
            <a:ext cx="3641075" cy="3525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03634" y="1740665"/>
            <a:ext cx="3641075" cy="3525398"/>
          </a:xfrm>
          <a:prstGeom prst="rect">
            <a:avLst/>
          </a:prstGeom>
          <a:solidFill>
            <a:srgbClr val="92D050">
              <a:alpha val="4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4063" y="1875488"/>
            <a:ext cx="109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rgbClr val="FF0000"/>
                </a:solidFill>
              </a:rPr>
              <a:t>main</a:t>
            </a:r>
            <a:endParaRPr lang="pt-BR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94063" y="2661920"/>
          <a:ext cx="70507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5462530" y="2027888"/>
            <a:ext cx="1966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delta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4548128" y="2661920"/>
          <a:ext cx="200507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6488332" y="2480270"/>
            <a:ext cx="2341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int</a:t>
            </a:r>
            <a:r>
              <a:rPr lang="pt-BR" dirty="0">
                <a:solidFill>
                  <a:schemeClr val="bg1"/>
                </a:solidFill>
              </a:rPr>
              <a:t> d;</a:t>
            </a:r>
          </a:p>
          <a:p>
            <a:r>
              <a:rPr lang="pt-BR" dirty="0">
                <a:solidFill>
                  <a:schemeClr val="bg1"/>
                </a:solidFill>
              </a:rPr>
              <a:t>d = b*b – 4*a*c</a:t>
            </a:r>
          </a:p>
          <a:p>
            <a:r>
              <a:rPr lang="pt-BR" dirty="0" err="1"/>
              <a:t>return</a:t>
            </a:r>
            <a:r>
              <a:rPr lang="pt-BR" dirty="0"/>
              <a:t> (d)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314584" y="1321609"/>
            <a:ext cx="4076527" cy="4351663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348241" y="3899059"/>
            <a:ext cx="27500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...</a:t>
            </a:r>
          </a:p>
          <a:p>
            <a:r>
              <a:rPr lang="pt-BR" sz="1600" dirty="0"/>
              <a:t>d=</a:t>
            </a:r>
            <a:r>
              <a:rPr lang="pt-BR" sz="1600" dirty="0">
                <a:solidFill>
                  <a:schemeClr val="bg1"/>
                </a:solidFill>
              </a:rPr>
              <a:t>delta(x,y,z);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6553199" y="3774440"/>
          <a:ext cx="200507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CEA31-3BC2-41BB-9AE4-3F48CFF5CB61}" type="slidenum">
              <a:rPr lang="pt-BR" altLang="en-US" smtClean="0"/>
              <a:pPr>
                <a:defRPr/>
              </a:pPr>
              <a:t>13</a:t>
            </a:fld>
            <a:endParaRPr lang="pt-BR" altLang="en-US" dirty="0"/>
          </a:p>
        </p:txBody>
      </p:sp>
      <p:sp>
        <p:nvSpPr>
          <p:cNvPr id="5" name="Retângulo 4"/>
          <p:cNvSpPr/>
          <p:nvPr/>
        </p:nvSpPr>
        <p:spPr>
          <a:xfrm>
            <a:off x="457200" y="1740665"/>
            <a:ext cx="3641075" cy="3525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03634" y="1740665"/>
            <a:ext cx="3641075" cy="3525398"/>
          </a:xfrm>
          <a:prstGeom prst="rect">
            <a:avLst/>
          </a:prstGeom>
          <a:solidFill>
            <a:srgbClr val="92D050">
              <a:alpha val="4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4063" y="1875488"/>
            <a:ext cx="109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rgbClr val="FF0000"/>
                </a:solidFill>
              </a:rPr>
              <a:t>main</a:t>
            </a:r>
            <a:endParaRPr lang="pt-BR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94063" y="2661920"/>
          <a:ext cx="705079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z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5462530" y="2027888"/>
            <a:ext cx="1966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delta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4548128" y="2661920"/>
          <a:ext cx="200507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CaixaDeTexto 15"/>
          <p:cNvSpPr txBox="1"/>
          <p:nvPr/>
        </p:nvSpPr>
        <p:spPr>
          <a:xfrm>
            <a:off x="6553200" y="2851110"/>
            <a:ext cx="23410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int</a:t>
            </a:r>
            <a:r>
              <a:rPr lang="pt-BR" dirty="0">
                <a:solidFill>
                  <a:schemeClr val="bg1"/>
                </a:solidFill>
              </a:rPr>
              <a:t> d;</a:t>
            </a:r>
          </a:p>
          <a:p>
            <a:r>
              <a:rPr lang="pt-BR" dirty="0">
                <a:solidFill>
                  <a:schemeClr val="bg1"/>
                </a:solidFill>
              </a:rPr>
              <a:t>d = b*b – 4*a*c</a:t>
            </a:r>
          </a:p>
          <a:p>
            <a:r>
              <a:rPr lang="pt-BR" dirty="0" err="1">
                <a:solidFill>
                  <a:schemeClr val="bg1"/>
                </a:solidFill>
              </a:rPr>
              <a:t>return</a:t>
            </a:r>
            <a:r>
              <a:rPr lang="pt-BR" dirty="0">
                <a:solidFill>
                  <a:schemeClr val="bg1"/>
                </a:solidFill>
              </a:rPr>
              <a:t> (d)</a:t>
            </a:r>
          </a:p>
        </p:txBody>
      </p:sp>
      <p:sp>
        <p:nvSpPr>
          <p:cNvPr id="15" name="Retângulo 14"/>
          <p:cNvSpPr/>
          <p:nvPr/>
        </p:nvSpPr>
        <p:spPr>
          <a:xfrm>
            <a:off x="234216" y="1200839"/>
            <a:ext cx="4076527" cy="4351663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1348241" y="3899059"/>
            <a:ext cx="275003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...</a:t>
            </a:r>
          </a:p>
          <a:p>
            <a:r>
              <a:rPr lang="pt-BR" sz="1600" dirty="0"/>
              <a:t>d=</a:t>
            </a:r>
            <a:r>
              <a:rPr lang="pt-BR" sz="1600" dirty="0">
                <a:solidFill>
                  <a:schemeClr val="bg1"/>
                </a:solidFill>
              </a:rPr>
              <a:t>delta(x,y,z);</a:t>
            </a:r>
          </a:p>
        </p:txBody>
      </p:sp>
      <p:graphicFrame>
        <p:nvGraphicFramePr>
          <p:cNvPr id="14" name="Tabela 13"/>
          <p:cNvGraphicFramePr>
            <a:graphicFrameLocks noGrp="1"/>
          </p:cNvGraphicFramePr>
          <p:nvPr/>
        </p:nvGraphicFramePr>
        <p:xfrm>
          <a:off x="6553199" y="3774440"/>
          <a:ext cx="200507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1CEA31-3BC2-41BB-9AE4-3F48CFF5CB61}" type="slidenum">
              <a:rPr lang="pt-BR" altLang="en-US" smtClean="0"/>
              <a:pPr>
                <a:defRPr/>
              </a:pPr>
              <a:t>14</a:t>
            </a:fld>
            <a:endParaRPr lang="pt-BR" altLang="en-US" dirty="0"/>
          </a:p>
        </p:txBody>
      </p:sp>
      <p:sp>
        <p:nvSpPr>
          <p:cNvPr id="5" name="Retângulo 4"/>
          <p:cNvSpPr/>
          <p:nvPr/>
        </p:nvSpPr>
        <p:spPr>
          <a:xfrm>
            <a:off x="457200" y="1740665"/>
            <a:ext cx="3641075" cy="352539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C04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 5"/>
          <p:cNvSpPr/>
          <p:nvPr/>
        </p:nvSpPr>
        <p:spPr>
          <a:xfrm>
            <a:off x="5203634" y="1740665"/>
            <a:ext cx="3641075" cy="3525398"/>
          </a:xfrm>
          <a:prstGeom prst="rect">
            <a:avLst/>
          </a:prstGeom>
          <a:solidFill>
            <a:srgbClr val="92D050">
              <a:alpha val="46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CaixaDeTexto 6"/>
          <p:cNvSpPr txBox="1"/>
          <p:nvPr/>
        </p:nvSpPr>
        <p:spPr>
          <a:xfrm>
            <a:off x="694063" y="1875488"/>
            <a:ext cx="10906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rgbClr val="FF0000"/>
                </a:solidFill>
              </a:rPr>
              <a:t>main</a:t>
            </a:r>
            <a:endParaRPr lang="pt-BR" sz="2000" b="1" dirty="0">
              <a:solidFill>
                <a:srgbClr val="FF0000"/>
              </a:solidFill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94063" y="2661920"/>
          <a:ext cx="863862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5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x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y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/>
                        <a:t>z</a:t>
                      </a:r>
                      <a:endParaRPr lang="pt-BR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5462530" y="2027888"/>
            <a:ext cx="19669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delta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4548128" y="2661920"/>
          <a:ext cx="2005071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delta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tângulo 11"/>
          <p:cNvSpPr/>
          <p:nvPr/>
        </p:nvSpPr>
        <p:spPr>
          <a:xfrm>
            <a:off x="510886" y="4116103"/>
            <a:ext cx="364107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...</a:t>
            </a:r>
          </a:p>
          <a:p>
            <a:r>
              <a:rPr lang="pt-BR" sz="1600" dirty="0">
                <a:solidFill>
                  <a:schemeClr val="bg1"/>
                </a:solidFill>
              </a:rPr>
              <a:t>d=delta(</a:t>
            </a:r>
            <a:r>
              <a:rPr lang="pt-BR" sz="1600" dirty="0" err="1">
                <a:solidFill>
                  <a:schemeClr val="bg1"/>
                </a:solidFill>
              </a:rPr>
              <a:t>x,y,z</a:t>
            </a:r>
            <a:r>
              <a:rPr lang="pt-BR" sz="1600" dirty="0">
                <a:solidFill>
                  <a:schemeClr val="bg1"/>
                </a:solidFill>
              </a:rPr>
              <a:t>);</a:t>
            </a:r>
          </a:p>
          <a:p>
            <a:r>
              <a:rPr lang="pt-BR" sz="1600" dirty="0" err="1">
                <a:solidFill>
                  <a:schemeClr val="bg1"/>
                </a:solidFill>
              </a:rPr>
              <a:t>System.out.println</a:t>
            </a:r>
            <a:r>
              <a:rPr lang="pt-BR" sz="1600" dirty="0">
                <a:solidFill>
                  <a:schemeClr val="bg1"/>
                </a:solidFill>
              </a:rPr>
              <a:t>(" Discriminante: " + d);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6553200" y="2851110"/>
            <a:ext cx="2341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d = b*b – 4*a*c</a:t>
            </a:r>
          </a:p>
          <a:p>
            <a:r>
              <a:rPr lang="pt-BR" dirty="0" err="1">
                <a:solidFill>
                  <a:schemeClr val="bg1"/>
                </a:solidFill>
              </a:rPr>
              <a:t>return</a:t>
            </a:r>
            <a:r>
              <a:rPr lang="pt-BR" dirty="0">
                <a:solidFill>
                  <a:schemeClr val="bg1"/>
                </a:solidFill>
              </a:rPr>
              <a:t> (d)</a:t>
            </a:r>
          </a:p>
        </p:txBody>
      </p:sp>
      <p:graphicFrame>
        <p:nvGraphicFramePr>
          <p:cNvPr id="17" name="Tabela 16"/>
          <p:cNvGraphicFramePr>
            <a:graphicFrameLocks noGrp="1"/>
          </p:cNvGraphicFramePr>
          <p:nvPr/>
        </p:nvGraphicFramePr>
        <p:xfrm>
          <a:off x="6553199" y="3774440"/>
          <a:ext cx="2005071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4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6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tângulo 14"/>
          <p:cNvSpPr/>
          <p:nvPr/>
        </p:nvSpPr>
        <p:spPr>
          <a:xfrm>
            <a:off x="4265219" y="1321609"/>
            <a:ext cx="4629065" cy="4351663"/>
          </a:xfrm>
          <a:prstGeom prst="rect">
            <a:avLst/>
          </a:prstGeom>
          <a:solidFill>
            <a:schemeClr val="bg1">
              <a:alpha val="5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spaço Reservado para Rodapé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9557" y="95325"/>
            <a:ext cx="8229600" cy="466767"/>
          </a:xfrm>
        </p:spPr>
        <p:txBody>
          <a:bodyPr/>
          <a:lstStyle/>
          <a:p>
            <a:pPr algn="l"/>
            <a:r>
              <a:rPr lang="pt-BR" sz="4000" dirty="0"/>
              <a:t>Exemplo: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15</a:t>
            </a:fld>
            <a:endParaRPr lang="pt-BR" altLang="en-US" dirty="0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C60186A-2965-49CE-AB7E-6F082237BBA0}"/>
              </a:ext>
            </a:extLst>
          </p:cNvPr>
          <p:cNvGrpSpPr/>
          <p:nvPr/>
        </p:nvGrpSpPr>
        <p:grpSpPr>
          <a:xfrm>
            <a:off x="3124200" y="4879022"/>
            <a:ext cx="6103391" cy="1477328"/>
            <a:chOff x="3055123" y="4896068"/>
            <a:chExt cx="6103391" cy="1477328"/>
          </a:xfrm>
        </p:grpSpPr>
        <p:sp>
          <p:nvSpPr>
            <p:cNvPr id="9" name="CaixaDeTexto 8"/>
            <p:cNvSpPr txBox="1"/>
            <p:nvPr/>
          </p:nvSpPr>
          <p:spPr>
            <a:xfrm>
              <a:off x="5331827" y="4896068"/>
              <a:ext cx="3826687" cy="147732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public</a:t>
              </a:r>
              <a:r>
                <a:rPr lang="pt-BR" dirty="0"/>
                <a:t> </a:t>
              </a:r>
              <a:r>
                <a:rPr lang="pt-BR" dirty="0" err="1"/>
                <a:t>static</a:t>
              </a:r>
              <a:r>
                <a:rPr lang="pt-BR" dirty="0"/>
                <a:t> </a:t>
              </a:r>
              <a:r>
                <a:rPr lang="pt-BR" dirty="0" err="1"/>
                <a:t>int</a:t>
              </a:r>
              <a:r>
                <a:rPr lang="pt-BR" dirty="0"/>
                <a:t> delta(</a:t>
              </a:r>
              <a:r>
                <a:rPr lang="pt-BR" dirty="0" err="1"/>
                <a:t>int</a:t>
              </a:r>
              <a:r>
                <a:rPr lang="pt-BR" dirty="0"/>
                <a:t> a, </a:t>
              </a:r>
              <a:r>
                <a:rPr lang="pt-BR" dirty="0" err="1"/>
                <a:t>int</a:t>
              </a:r>
              <a:r>
                <a:rPr lang="pt-BR" dirty="0"/>
                <a:t> b, </a:t>
              </a:r>
              <a:r>
                <a:rPr lang="pt-BR" dirty="0" err="1"/>
                <a:t>int</a:t>
              </a:r>
              <a:r>
                <a:rPr lang="pt-BR" dirty="0"/>
                <a:t> c)</a:t>
              </a:r>
            </a:p>
            <a:p>
              <a:r>
                <a:rPr lang="pt-BR" dirty="0"/>
                <a:t>{</a:t>
              </a:r>
            </a:p>
            <a:p>
              <a:r>
                <a:rPr lang="pt-BR" dirty="0" err="1"/>
                <a:t>return</a:t>
              </a:r>
              <a:r>
                <a:rPr lang="pt-BR" dirty="0"/>
                <a:t>(b*b-4*a*c);</a:t>
              </a:r>
            </a:p>
            <a:p>
              <a:r>
                <a:rPr lang="pt-BR" dirty="0"/>
                <a:t>}</a:t>
              </a:r>
            </a:p>
            <a:p>
              <a:endParaRPr lang="pt-BR" dirty="0"/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3581833" y="5397266"/>
              <a:ext cx="13573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FF0000"/>
                  </a:solidFill>
                </a:rPr>
                <a:t>Forma</a:t>
              </a:r>
            </a:p>
            <a:p>
              <a:r>
                <a:rPr lang="pt-BR" dirty="0">
                  <a:solidFill>
                    <a:srgbClr val="FF0000"/>
                  </a:solidFill>
                </a:rPr>
                <a:t>Alternativa</a:t>
              </a:r>
            </a:p>
          </p:txBody>
        </p:sp>
        <p:sp>
          <p:nvSpPr>
            <p:cNvPr id="11" name="Seta para a direita 10"/>
            <p:cNvSpPr/>
            <p:nvPr/>
          </p:nvSpPr>
          <p:spPr>
            <a:xfrm>
              <a:off x="3055123" y="5683018"/>
              <a:ext cx="526710" cy="28575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 para a direita 11"/>
            <p:cNvSpPr/>
            <p:nvPr/>
          </p:nvSpPr>
          <p:spPr>
            <a:xfrm>
              <a:off x="4776088" y="5588488"/>
              <a:ext cx="401984" cy="28575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3" name="Espaço Reservado para Rodapé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C848AF5-D99F-4C1C-81C2-6517F3151B58}"/>
              </a:ext>
            </a:extLst>
          </p:cNvPr>
          <p:cNvSpPr/>
          <p:nvPr/>
        </p:nvSpPr>
        <p:spPr>
          <a:xfrm>
            <a:off x="0" y="814403"/>
            <a:ext cx="8143932" cy="5970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CalculaDelta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623888" algn="l"/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sz="1600" dirty="0">
              <a:latin typeface="Consolas" panose="020B0609020204030204" pitchFamily="49" charset="0"/>
            </a:endParaRPr>
          </a:p>
          <a:p>
            <a:pPr indent="6238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"x: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"y: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"z: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delta(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x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y</a:t>
            </a:r>
            <a:r>
              <a:rPr lang="pt-BR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pt-BR" sz="1600" i="1" dirty="0" err="1">
                <a:solidFill>
                  <a:srgbClr val="6A3E3E"/>
                </a:solidFill>
                <a:latin typeface="Consolas" panose="020B0609020204030204" pitchFamily="49" charset="0"/>
              </a:rPr>
              <a:t>z</a:t>
            </a:r>
            <a:r>
              <a:rPr lang="pt-BR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 Discriminante: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623888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62388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delta(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6238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b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- 4*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c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d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62388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pt-BR" sz="1400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08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600" dirty="0">
                <a:solidFill>
                  <a:srgbClr val="082AB8"/>
                </a:solidFill>
              </a:rPr>
              <a:t>Exercício 1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16</a:t>
            </a:fld>
            <a:endParaRPr lang="pt-BR" alt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469556" y="1143000"/>
            <a:ext cx="8174381" cy="3929063"/>
          </a:xfrm>
        </p:spPr>
        <p:txBody>
          <a:bodyPr>
            <a:normAutofit/>
          </a:bodyPr>
          <a:lstStyle/>
          <a:p>
            <a:r>
              <a:rPr lang="pt-BR" sz="2000" dirty="0"/>
              <a:t>Elaborar:</a:t>
            </a:r>
          </a:p>
          <a:p>
            <a:pPr lvl="1"/>
            <a:r>
              <a:rPr lang="pt-BR" sz="2000" dirty="0"/>
              <a:t>O método </a:t>
            </a:r>
            <a:r>
              <a:rPr lang="pt-BR" sz="2000" b="1" dirty="0" err="1"/>
              <a:t>media_com_pesos</a:t>
            </a:r>
            <a:r>
              <a:rPr lang="pt-BR" sz="2000" dirty="0"/>
              <a:t> para calcular a média de 2 notas com pesos diferentes:  4 para a primeira nota e peso 6 para a segunda. </a:t>
            </a:r>
          </a:p>
          <a:p>
            <a:pPr lvl="1"/>
            <a:r>
              <a:rPr lang="pt-BR" sz="2000" dirty="0"/>
              <a:t>O método </a:t>
            </a:r>
            <a:r>
              <a:rPr lang="pt-BR" sz="2000" dirty="0" err="1"/>
              <a:t>main</a:t>
            </a:r>
            <a:r>
              <a:rPr lang="pt-BR" sz="2000" dirty="0"/>
              <a:t> que lê as 2 notas de cada aluno (sala com 4 alunos) e invoca o método </a:t>
            </a:r>
            <a:r>
              <a:rPr lang="pt-BR" sz="2000" b="1" dirty="0" err="1"/>
              <a:t>media_com_pesos</a:t>
            </a:r>
            <a:r>
              <a:rPr lang="pt-BR" sz="2000" b="1" dirty="0"/>
              <a:t> </a:t>
            </a:r>
            <a:r>
              <a:rPr lang="pt-BR" sz="2000" dirty="0"/>
              <a:t>para calcular a média e depois apresentar a média de cada aluno.</a:t>
            </a:r>
          </a:p>
          <a:p>
            <a:pPr>
              <a:buNone/>
            </a:pPr>
            <a:endParaRPr lang="pt-BR" sz="2000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pt-BR" sz="3600" dirty="0">
                <a:solidFill>
                  <a:srgbClr val="082AB8"/>
                </a:solidFill>
              </a:rPr>
              <a:t>Exercício 2 </a:t>
            </a:r>
            <a:r>
              <a:rPr lang="pt-BR" sz="3600" dirty="0">
                <a:solidFill>
                  <a:srgbClr val="00B050"/>
                </a:solidFill>
              </a:rPr>
              <a:t>extra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17</a:t>
            </a:fld>
            <a:endParaRPr lang="pt-BR" alt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4294967295"/>
          </p:nvPr>
        </p:nvSpPr>
        <p:spPr>
          <a:xfrm>
            <a:off x="0" y="857250"/>
            <a:ext cx="8643938" cy="5643563"/>
          </a:xfrm>
        </p:spPr>
        <p:txBody>
          <a:bodyPr>
            <a:normAutofit/>
          </a:bodyPr>
          <a:lstStyle/>
          <a:p>
            <a:r>
              <a:rPr lang="pt-BR" sz="2000" dirty="0"/>
              <a:t>Alterar o programa do exercício anterior para:</a:t>
            </a:r>
          </a:p>
          <a:p>
            <a:pPr lvl="1"/>
            <a:r>
              <a:rPr lang="pt-BR" sz="2000" dirty="0"/>
              <a:t>Inserir  o método </a:t>
            </a:r>
            <a:r>
              <a:rPr lang="pt-BR" sz="2000" b="1" dirty="0"/>
              <a:t>conceito</a:t>
            </a:r>
            <a:r>
              <a:rPr lang="pt-BR" sz="2000" dirty="0"/>
              <a:t> que recebe a média de um aluno e retorna o conceito que pode ser: </a:t>
            </a:r>
          </a:p>
          <a:p>
            <a:pPr lvl="2"/>
            <a:r>
              <a:rPr lang="pt-BR" sz="2000" dirty="0"/>
              <a:t>E- excelente: acima ou igual a 8,5</a:t>
            </a:r>
          </a:p>
          <a:p>
            <a:pPr lvl="2"/>
            <a:r>
              <a:rPr lang="pt-BR" sz="2000" dirty="0"/>
              <a:t>B- bom: acima de 5 e menor que 8,5</a:t>
            </a:r>
          </a:p>
          <a:p>
            <a:pPr lvl="2"/>
            <a:r>
              <a:rPr lang="pt-BR" sz="2000" dirty="0"/>
              <a:t>R – ruim: abaixo de 5.</a:t>
            </a:r>
          </a:p>
          <a:p>
            <a:pPr lvl="1"/>
            <a:r>
              <a:rPr lang="pt-BR" sz="2000" dirty="0"/>
              <a:t>Alterar o método </a:t>
            </a:r>
            <a:r>
              <a:rPr lang="pt-BR" sz="2000" b="1" dirty="0" err="1"/>
              <a:t>main</a:t>
            </a:r>
            <a:r>
              <a:rPr lang="pt-BR" sz="2000" dirty="0"/>
              <a:t> para depois de calcular e apresentar a média de cada aluno apresentar também o conceito referente  à média obtida pelo aluno.</a:t>
            </a:r>
          </a:p>
          <a:p>
            <a:endParaRPr lang="pt-BR" sz="2000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7235371" cy="1143000"/>
          </a:xfrm>
        </p:spPr>
        <p:txBody>
          <a:bodyPr>
            <a:normAutofit fontScale="90000"/>
          </a:bodyPr>
          <a:lstStyle/>
          <a:p>
            <a:r>
              <a:rPr lang="pt-BR" sz="3200" dirty="0"/>
              <a:t>Exercícios Livro</a:t>
            </a:r>
            <a:br>
              <a:rPr lang="pt-BR" sz="3200" dirty="0"/>
            </a:br>
            <a:r>
              <a:rPr lang="pt-BR" sz="2200" dirty="0">
                <a:solidFill>
                  <a:schemeClr val="tx1"/>
                </a:solidFill>
                <a:latin typeface="+mn-lt"/>
              </a:rPr>
              <a:t>DEITEL, P.; DEITEL, H., JAVA: como programar - 6ª edição, Cap. 6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18</a:t>
            </a:fld>
            <a:endParaRPr lang="pt-BR" alt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3391418-19EC-F397-71F1-BBAA68D7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" y="2009775"/>
            <a:ext cx="9001125" cy="16192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CE8FCCB-CD57-B97F-535F-8D254A678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65762"/>
            <a:ext cx="9144000" cy="16735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7235371" cy="1143000"/>
          </a:xfrm>
        </p:spPr>
        <p:txBody>
          <a:bodyPr>
            <a:normAutofit fontScale="90000"/>
          </a:bodyPr>
          <a:lstStyle/>
          <a:p>
            <a:r>
              <a:rPr lang="pt-BR" sz="3200" dirty="0"/>
              <a:t>Exercícios Livro</a:t>
            </a:r>
            <a:br>
              <a:rPr lang="pt-BR" sz="3200" dirty="0"/>
            </a:br>
            <a:r>
              <a:rPr lang="pt-BR" sz="2200" dirty="0">
                <a:solidFill>
                  <a:schemeClr val="tx1"/>
                </a:solidFill>
                <a:latin typeface="+mn-lt"/>
              </a:rPr>
              <a:t>DEITEL, P.; DEITEL, H., JAVA: como programar - 6ª edição, Cap. 6 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7ED7B789-2478-4B84-ACAC-457A7E3D18C9}" type="slidenum">
              <a:rPr lang="pt-BR" altLang="en-US" smtClean="0"/>
              <a:pPr>
                <a:defRPr/>
              </a:pPr>
              <a:t>19</a:t>
            </a:fld>
            <a:endParaRPr lang="pt-BR" alt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>
              <a:defRPr/>
            </a:pPr>
            <a:r>
              <a:rPr lang="pt-BR" altLang="en-US" dirty="0" err="1"/>
              <a:t>Profa</a:t>
            </a:r>
            <a:r>
              <a:rPr lang="pt-BR" altLang="en-US" dirty="0"/>
              <a:t> Patrícia Magna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516CE2E-9DBE-64B0-E95D-DDAD25311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3303"/>
            <a:ext cx="9144000" cy="83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38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base"/>
            <a:r>
              <a:rPr lang="pt-BR" dirty="0"/>
              <a:t>DEITEL, P.; DEITEL, H., JAVA: como programar - 8ª edição.</a:t>
            </a:r>
            <a:endParaRPr lang="pt-BR" altLang="pt-BR" dirty="0"/>
          </a:p>
          <a:p>
            <a:r>
              <a:rPr lang="pt-BR" altLang="pt-BR" dirty="0"/>
              <a:t>ZIVIANI, </a:t>
            </a:r>
            <a:r>
              <a:rPr lang="pt-BR" altLang="pt-BR" dirty="0" err="1"/>
              <a:t>Nivio</a:t>
            </a:r>
            <a:r>
              <a:rPr lang="pt-BR" altLang="pt-BR" dirty="0"/>
              <a:t>. Projeto de algoritmos com implementações em Pascal e C. São Paulo: Pioneira,  2000.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2026</a:t>
            </a: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Algoritmos de Alta Perfomance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1547</TotalTime>
  <Words>1365</Words>
  <Application>Microsoft Office PowerPoint</Application>
  <PresentationFormat>Apresentação na tela (4:3)</PresentationFormat>
  <Paragraphs>275</Paragraphs>
  <Slides>21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21</vt:i4>
      </vt:variant>
    </vt:vector>
  </HeadingPairs>
  <TitlesOfParts>
    <vt:vector size="33" baseType="lpstr">
      <vt:lpstr>MS Mincho</vt:lpstr>
      <vt:lpstr>Arial</vt:lpstr>
      <vt:lpstr>Calibri</vt:lpstr>
      <vt:lpstr>Consolas</vt:lpstr>
      <vt:lpstr>Gotham HTF</vt:lpstr>
      <vt:lpstr>Gotham-Bold</vt:lpstr>
      <vt:lpstr>Gotham-Book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Definição de Função (Método) </vt:lpstr>
      <vt:lpstr>Razões para uso de Funções</vt:lpstr>
      <vt:lpstr>Funções Matemáticas</vt:lpstr>
      <vt:lpstr>Métodos em JAVA (Funções)</vt:lpstr>
      <vt:lpstr>Métodos em JAVA</vt:lpstr>
      <vt:lpstr>Parâmetros para um Método</vt:lpstr>
      <vt:lpstr>Exemplo1</vt:lpstr>
      <vt:lpstr>Exemplo: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Exemplo:</vt:lpstr>
      <vt:lpstr>Exercício 1</vt:lpstr>
      <vt:lpstr>Exercício 2 extra</vt:lpstr>
      <vt:lpstr>Exercícios Livro DEITEL, P.; DEITEL, H., JAVA: como programar - 6ª edição, Cap. 6 </vt:lpstr>
      <vt:lpstr>Exercícios Livro DEITEL, P.; DEITEL, H., JAVA: como programar - 6ª edição, Cap. 6 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Patrícia Magna</cp:lastModifiedBy>
  <cp:revision>219</cp:revision>
  <dcterms:created xsi:type="dcterms:W3CDTF">2015-01-30T10:46:50Z</dcterms:created>
  <dcterms:modified xsi:type="dcterms:W3CDTF">2026-03-18T18:10:56Z</dcterms:modified>
</cp:coreProperties>
</file>