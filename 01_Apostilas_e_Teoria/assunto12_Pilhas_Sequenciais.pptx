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38"/>
  </p:notesMasterIdLst>
  <p:sldIdLst>
    <p:sldId id="267" r:id="rId5"/>
    <p:sldId id="329" r:id="rId6"/>
    <p:sldId id="343" r:id="rId7"/>
    <p:sldId id="330" r:id="rId8"/>
    <p:sldId id="331" r:id="rId9"/>
    <p:sldId id="332" r:id="rId10"/>
    <p:sldId id="333" r:id="rId11"/>
    <p:sldId id="334" r:id="rId12"/>
    <p:sldId id="345" r:id="rId13"/>
    <p:sldId id="310" r:id="rId14"/>
    <p:sldId id="344" r:id="rId15"/>
    <p:sldId id="346" r:id="rId16"/>
    <p:sldId id="311" r:id="rId17"/>
    <p:sldId id="347" r:id="rId18"/>
    <p:sldId id="348" r:id="rId19"/>
    <p:sldId id="360" r:id="rId20"/>
    <p:sldId id="350" r:id="rId21"/>
    <p:sldId id="352" r:id="rId22"/>
    <p:sldId id="353" r:id="rId23"/>
    <p:sldId id="361" r:id="rId24"/>
    <p:sldId id="355" r:id="rId25"/>
    <p:sldId id="354" r:id="rId26"/>
    <p:sldId id="356" r:id="rId27"/>
    <p:sldId id="357" r:id="rId28"/>
    <p:sldId id="358" r:id="rId29"/>
    <p:sldId id="359" r:id="rId30"/>
    <p:sldId id="362" r:id="rId31"/>
    <p:sldId id="363" r:id="rId32"/>
    <p:sldId id="364" r:id="rId33"/>
    <p:sldId id="365" r:id="rId34"/>
    <p:sldId id="338" r:id="rId35"/>
    <p:sldId id="342" r:id="rId36"/>
    <p:sldId id="265" r:id="rId3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BAFB5"/>
    <a:srgbClr val="4444E6"/>
    <a:srgbClr val="F0E502"/>
    <a:srgbClr val="F0265D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9425" autoAdjust="0"/>
  </p:normalViewPr>
  <p:slideViewPr>
    <p:cSldViewPr snapToGrid="0" snapToObjects="1">
      <p:cViewPr varScale="1">
        <p:scale>
          <a:sx n="47" d="100"/>
          <a:sy n="47" d="100"/>
        </p:scale>
        <p:origin x="196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0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79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79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B0C9-5422-4DE7-8152-F87B936C5017}" type="datetime1">
              <a:rPr lang="pt-BR" smtClean="0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433638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 b="1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AB71-D6EB-4D1C-BF69-32E329BD2616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35200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F239-0CB1-4B6A-9646-7DBF433C2F05}" type="datetime1">
              <a:rPr lang="pt-BR" smtClean="0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547938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3C68-2F3E-4A89-B7C7-BE516DEFD57F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6000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CC9-0D4F-4C47-92EF-1FCB4249965A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90763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E8CD-D95C-4908-91A1-7826463AE427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519363" cy="365125"/>
          </a:xfrm>
        </p:spPr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AA5B-7ABC-4419-9E34-DFE8B4D6C7F1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90DA-FBDA-4316-9DF6-30781B6D8CE6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A2D2-94B5-474F-AFB8-44EEE27D7E67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B87D371-8D01-4EE1-850E-097F5FAEB3B5}" type="datetime1">
              <a:rPr lang="pt-BR" altLang="en-US" smtClean="0"/>
              <a:pPr/>
              <a:t>11/08/2025</a:t>
            </a:fld>
            <a:endParaRPr lang="en-US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490788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C400250-887D-42A4-9844-4914E7598DA4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775D9B-2EAF-4DD8-935A-F8D3EDFE5238}" type="datetime1">
              <a:rPr lang="pt-BR" altLang="en-US" smtClean="0"/>
              <a:pPr/>
              <a:t>11/08/2025</a:t>
            </a:fld>
            <a:endParaRPr lang="en-US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EF0C5-2879-425C-8A32-6061D40191ED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1881E-0494-4DB1-89C4-0071809A9E43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6F6EA-0E51-436C-8178-A79E103B81D6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67902-7F3F-4316-9CA1-EBF1AFDF8BEA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07AC-33E4-42CD-B69D-099CC4F78380}" type="datetime1">
              <a:rPr lang="pt-BR" smtClean="0"/>
              <a:pPr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447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293781"/>
            <a:ext cx="81437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Lista Linear Especial:  Pilha  </a:t>
            </a:r>
            <a:r>
              <a:rPr lang="pt-BR" sz="3200" dirty="0" err="1">
                <a:solidFill>
                  <a:srgbClr val="FFFF00"/>
                </a:solidFill>
                <a:latin typeface="Gotham-Bold"/>
                <a:cs typeface="Gotham-Bold"/>
              </a:rPr>
              <a:t>Sequencial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1" y="3977994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Pilha</a:t>
            </a:r>
            <a:endParaRPr lang="en-US" dirty="0"/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08196" cy="365125"/>
          </a:xfrm>
        </p:spPr>
        <p:txBody>
          <a:bodyPr/>
          <a:lstStyle/>
          <a:p>
            <a:r>
              <a:rPr lang="pt-BR" altLang="en-US" dirty="0"/>
              <a:t>Algoritmos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5BB3-6131-455D-A835-E19259A9F4C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018460"/>
            <a:ext cx="8305800" cy="3429000"/>
          </a:xfrm>
        </p:spPr>
        <p:txBody>
          <a:bodyPr>
            <a:normAutofit/>
          </a:bodyPr>
          <a:lstStyle/>
          <a:p>
            <a:r>
              <a:rPr lang="pt-BR" sz="2400" dirty="0"/>
              <a:t>Uma pilha (</a:t>
            </a:r>
            <a:r>
              <a:rPr lang="pt-BR" sz="2400" i="1" dirty="0" err="1"/>
              <a:t>stack</a:t>
            </a:r>
            <a:r>
              <a:rPr lang="pt-BR" sz="2400" dirty="0"/>
              <a:t>) é uma lista linear onde as operações de inserção e remoção são efetuadas apenas em uma extremidade, denominada </a:t>
            </a:r>
            <a:r>
              <a:rPr lang="pt-BR" sz="2400" u="sng" dirty="0"/>
              <a:t>topo da pilha</a:t>
            </a:r>
            <a:r>
              <a:rPr lang="pt-BR" sz="2400" dirty="0"/>
              <a:t>. </a:t>
            </a:r>
          </a:p>
          <a:p>
            <a:r>
              <a:rPr lang="pt-BR" sz="2400" dirty="0"/>
              <a:t>Estruturas deste tipo são conhecidas como LIFO (</a:t>
            </a:r>
            <a:r>
              <a:rPr lang="pt-BR" sz="2400" i="1" dirty="0" err="1"/>
              <a:t>last</a:t>
            </a:r>
            <a:r>
              <a:rPr lang="pt-BR" sz="2400" i="1" dirty="0"/>
              <a:t> in </a:t>
            </a:r>
            <a:r>
              <a:rPr lang="pt-BR" sz="2400" i="1" dirty="0" err="1"/>
              <a:t>first</a:t>
            </a:r>
            <a:r>
              <a:rPr lang="pt-BR" sz="2400" i="1" dirty="0"/>
              <a:t> out</a:t>
            </a:r>
            <a:r>
              <a:rPr lang="pt-BR" sz="2400" dirty="0"/>
              <a:t> – último a entrar primeiro a sair). </a:t>
            </a:r>
            <a:endParaRPr lang="en-US" sz="2400" dirty="0"/>
          </a:p>
        </p:txBody>
      </p:sp>
      <p:grpSp>
        <p:nvGrpSpPr>
          <p:cNvPr id="14" name="Grupo 13"/>
          <p:cNvGrpSpPr/>
          <p:nvPr/>
        </p:nvGrpSpPr>
        <p:grpSpPr>
          <a:xfrm>
            <a:off x="4343400" y="3115805"/>
            <a:ext cx="4048417" cy="2663310"/>
            <a:chOff x="647827" y="3177460"/>
            <a:chExt cx="3771773" cy="2410540"/>
          </a:xfrm>
        </p:grpSpPr>
        <p:pic>
          <p:nvPicPr>
            <p:cNvPr id="15" name="Imagem 14"/>
            <p:cNvPicPr/>
            <p:nvPr/>
          </p:nvPicPr>
          <p:blipFill rotWithShape="1">
            <a:blip r:embed="rId3"/>
            <a:srcRect l="15635" t="28002" r="57547" b="26808"/>
            <a:stretch/>
          </p:blipFill>
          <p:spPr bwMode="auto">
            <a:xfrm>
              <a:off x="1787652" y="3177460"/>
              <a:ext cx="2631948" cy="24105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647827" y="5030470"/>
              <a:ext cx="1371473" cy="4984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1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Calibri" pitchFamily="34" charset="0"/>
                  <a:cs typeface="Arial" pitchFamily="34" charset="0"/>
                </a:rPr>
                <a:t>topo da pilha</a:t>
              </a:r>
              <a:endParaRPr kumimoji="0" lang="pt-BR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937635" y="3103210"/>
            <a:ext cx="4877830" cy="811033"/>
            <a:chOff x="2858" y="6422"/>
            <a:chExt cx="5292" cy="461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2858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  <a:p>
              <a:pPr algn="ctr"/>
              <a:r>
                <a:rPr lang="en-US" dirty="0"/>
                <a:t>E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3851" y="6422"/>
              <a:ext cx="606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E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5429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  <a:p>
              <a:pPr algn="ctr"/>
              <a:r>
                <a:rPr lang="en-US"/>
                <a:t>E</a:t>
              </a:r>
              <a:r>
                <a:rPr lang="en-US" baseline="-25000"/>
                <a:t>n-1</a:t>
              </a:r>
              <a:endParaRPr lang="en-US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4673" y="6422"/>
              <a:ext cx="604" cy="30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/>
                <a:t>. . .</a:t>
              </a:r>
              <a:endParaRPr lang="en-US" sz="2000" dirty="0"/>
            </a:p>
          </p:txBody>
        </p:sp>
        <p:sp>
          <p:nvSpPr>
            <p:cNvPr id="22" name="Line 9"/>
            <p:cNvSpPr>
              <a:spLocks noChangeShapeType="1"/>
            </p:cNvSpPr>
            <p:nvPr/>
          </p:nvSpPr>
          <p:spPr bwMode="auto">
            <a:xfrm>
              <a:off x="6034" y="6575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 sz="1400"/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flipH="1">
              <a:off x="6034" y="6730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 sz="1400"/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6789" y="6422"/>
              <a:ext cx="1361" cy="4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/>
                <a:t>Topo da Pilha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Pilhas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65947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546AF-AA99-404D-A476-12C1BA408A8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701" y="1003300"/>
            <a:ext cx="8610600" cy="5187950"/>
          </a:xfrm>
        </p:spPr>
        <p:txBody>
          <a:bodyPr>
            <a:normAutofit/>
          </a:bodyPr>
          <a:lstStyle/>
          <a:p>
            <a:r>
              <a:rPr lang="pt-BR" sz="2400" dirty="0"/>
              <a:t>Pilha de livros pesados onde apenas pode-se ter acesso ao livro que estiver no topo da pilha;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Garagem estreita com apenas 1 portão, assim a entrada e saída de carros podem ser realizadas apenas nesse portão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>
              <a:buNone/>
            </a:pPr>
            <a:endParaRPr lang="pt-BR" sz="2400" dirty="0"/>
          </a:p>
        </p:txBody>
      </p:sp>
      <p:pic>
        <p:nvPicPr>
          <p:cNvPr id="14" name="Imagem 13" descr="pilha_de_livros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4700670" y="1625600"/>
            <a:ext cx="1378953" cy="1676400"/>
          </a:xfrm>
          <a:prstGeom prst="rect">
            <a:avLst/>
          </a:prstGeom>
        </p:spPr>
      </p:pic>
      <p:grpSp>
        <p:nvGrpSpPr>
          <p:cNvPr id="2" name="Grupo 24"/>
          <p:cNvGrpSpPr/>
          <p:nvPr/>
        </p:nvGrpSpPr>
        <p:grpSpPr>
          <a:xfrm>
            <a:off x="984910" y="4615016"/>
            <a:ext cx="6947243" cy="1460500"/>
            <a:chOff x="469557" y="4152900"/>
            <a:chExt cx="6947243" cy="1460500"/>
          </a:xfrm>
        </p:grpSpPr>
        <p:pic>
          <p:nvPicPr>
            <p:cNvPr id="32770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01278" y="4347681"/>
              <a:ext cx="5215522" cy="100695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cxnSp>
          <p:nvCxnSpPr>
            <p:cNvPr id="19" name="Conector reto 18"/>
            <p:cNvCxnSpPr/>
            <p:nvPr/>
          </p:nvCxnSpPr>
          <p:spPr>
            <a:xfrm>
              <a:off x="1460500" y="4152900"/>
              <a:ext cx="740778" cy="1778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>
            <a:xfrm flipV="1">
              <a:off x="1460500" y="5354638"/>
              <a:ext cx="740778" cy="258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Box 4"/>
            <p:cNvSpPr txBox="1">
              <a:spLocks noChangeArrowheads="1"/>
            </p:cNvSpPr>
            <p:nvPr/>
          </p:nvSpPr>
          <p:spPr bwMode="auto">
            <a:xfrm>
              <a:off x="469557" y="4439284"/>
              <a:ext cx="1172820" cy="4984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1" i="0" u="none" strike="noStrike" cap="none" normalizeH="0" baseline="0" dirty="0">
                  <a:ln>
                    <a:noFill/>
                  </a:ln>
                  <a:solidFill>
                    <a:srgbClr val="4444E6"/>
                  </a:solidFill>
                  <a:effectLst/>
                  <a:latin typeface="Calibri" pitchFamily="34" charset="0"/>
                  <a:cs typeface="Arial" pitchFamily="34" charset="0"/>
                </a:rPr>
                <a:t>topo da pilha</a:t>
              </a:r>
              <a:endParaRPr kumimoji="0" lang="pt-BR" sz="2400" b="1" i="0" u="none" strike="noStrike" cap="none" normalizeH="0" baseline="0" dirty="0">
                <a:ln>
                  <a:noFill/>
                </a:ln>
                <a:solidFill>
                  <a:srgbClr val="4444E6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Pilhas em Computação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546AF-AA99-404D-A476-12C1BA408A8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701" y="1003300"/>
            <a:ext cx="8610600" cy="5187950"/>
          </a:xfrm>
        </p:spPr>
        <p:txBody>
          <a:bodyPr>
            <a:normAutofit/>
          </a:bodyPr>
          <a:lstStyle/>
          <a:p>
            <a:r>
              <a:rPr lang="pt-BR" sz="2400" dirty="0"/>
              <a:t>Operação “desfazer” em um editor de texto</a:t>
            </a:r>
          </a:p>
          <a:p>
            <a:r>
              <a:rPr lang="pt-BR" sz="2400" dirty="0"/>
              <a:t>Operação </a:t>
            </a:r>
            <a:r>
              <a:rPr lang="pt-BR" sz="2400" dirty="0" err="1"/>
              <a:t>Rollback</a:t>
            </a:r>
            <a:r>
              <a:rPr lang="pt-BR" sz="2400" dirty="0"/>
              <a:t> em banco de dados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Chamada de funções </a:t>
            </a:r>
          </a:p>
        </p:txBody>
      </p:sp>
      <p:pic>
        <p:nvPicPr>
          <p:cNvPr id="32772" name="Picture 4" descr="Resultado de imagem para icone desfaz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1" y="795476"/>
            <a:ext cx="711200" cy="7112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8" name="Retângulo 27"/>
          <p:cNvSpPr/>
          <p:nvPr/>
        </p:nvSpPr>
        <p:spPr>
          <a:xfrm>
            <a:off x="3962401" y="1955300"/>
            <a:ext cx="4572000" cy="19389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* from </a:t>
            </a:r>
            <a:r>
              <a:rPr lang="en-US" sz="12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contas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begin transaction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insert into </a:t>
            </a:r>
            <a:r>
              <a:rPr lang="en-US" sz="12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contas</a:t>
            </a: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values('1000-x',500,0)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* from </a:t>
            </a:r>
            <a:r>
              <a:rPr lang="en-US" sz="12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contas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insert into </a:t>
            </a:r>
            <a:r>
              <a:rPr lang="en-US" sz="12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contas</a:t>
            </a: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values('2000-x',0,500)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@@ERROR &lt;&gt; 0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rollback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commit</a:t>
            </a:r>
            <a:b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* from </a:t>
            </a:r>
            <a:r>
              <a:rPr lang="en-US" sz="1200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contas</a:t>
            </a:r>
            <a:endParaRPr lang="en-US" sz="1200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1" y="4173200"/>
            <a:ext cx="7369676" cy="222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Operações sobre o Tipo de Dado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83569" y="6356350"/>
            <a:ext cx="2314073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9E05D-268A-4BBA-ABA5-CA6DC813267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00200"/>
            <a:ext cx="8229600" cy="4525963"/>
          </a:xfrm>
        </p:spPr>
        <p:txBody>
          <a:bodyPr/>
          <a:lstStyle/>
          <a:p>
            <a:r>
              <a:rPr lang="pt-BR" dirty="0"/>
              <a:t>Básicas: </a:t>
            </a:r>
          </a:p>
          <a:p>
            <a:pPr lvl="1"/>
            <a:r>
              <a:rPr lang="pt-BR" dirty="0"/>
              <a:t>Inserção</a:t>
            </a:r>
          </a:p>
          <a:p>
            <a:pPr lvl="1"/>
            <a:r>
              <a:rPr lang="pt-BR" dirty="0"/>
              <a:t>remoção </a:t>
            </a:r>
          </a:p>
          <a:p>
            <a:pPr lvl="1"/>
            <a:r>
              <a:rPr lang="pt-BR" dirty="0"/>
              <a:t>leitura do elemento que está no topo</a:t>
            </a:r>
          </a:p>
          <a:p>
            <a:r>
              <a:rPr lang="pt-BR" dirty="0"/>
              <a:t>Auxiliares:</a:t>
            </a:r>
          </a:p>
          <a:p>
            <a:pPr lvl="1"/>
            <a:r>
              <a:rPr lang="pt-BR" dirty="0"/>
              <a:t>verificação do estado da pilha: vazia, cheia</a:t>
            </a:r>
          </a:p>
          <a:p>
            <a:pPr lvl="1"/>
            <a:r>
              <a:rPr lang="pt-BR" dirty="0"/>
              <a:t>inicialização da pilha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Operações Básicas sobre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27446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17ED5-DB78-4DCA-BC2E-FFCEC9A73AC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5722"/>
            <a:ext cx="8686800" cy="4780442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pt-BR" dirty="0"/>
              <a:t>Inserção (PUSH)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PUSH(P, v) 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armazena no topo da pilha  P o elemento v, aumentando a pilha</a:t>
            </a:r>
          </a:p>
          <a:p>
            <a:pPr>
              <a:lnSpc>
                <a:spcPct val="90000"/>
              </a:lnSpc>
            </a:pPr>
            <a:r>
              <a:rPr lang="pt-BR" dirty="0"/>
              <a:t>Remoção (POP)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POP(P, v): 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retira do topo da pilha P o elemento e armazena em v, diminuindo o tamanho da pilha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Retorna verdade se a remoção ocorrer e falso caso contrário</a:t>
            </a:r>
          </a:p>
          <a:p>
            <a:pPr>
              <a:lnSpc>
                <a:spcPct val="90000"/>
              </a:lnSpc>
            </a:pPr>
            <a:r>
              <a:rPr lang="pt-BR" dirty="0"/>
              <a:t>Leitura do valor do elemento que está no topo (TOP)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TOP(P, v) : 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lê o elemento que está no topo da pilha P e armazena em 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Auxiliares sobre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37072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6C42-7E49-4F28-A1D3-EEA97D9057F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287" y="1417638"/>
            <a:ext cx="8686800" cy="47085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dirty="0"/>
              <a:t>Inicialização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INIT(P):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inicia a pilha P deixando-a vazia</a:t>
            </a:r>
          </a:p>
          <a:p>
            <a:pPr>
              <a:lnSpc>
                <a:spcPct val="90000"/>
              </a:lnSpc>
            </a:pPr>
            <a:r>
              <a:rPr lang="pt-BR" dirty="0"/>
              <a:t>Verificação se pilha está vazia</a:t>
            </a:r>
          </a:p>
          <a:p>
            <a:pPr lvl="1">
              <a:lnSpc>
                <a:spcPct val="90000"/>
              </a:lnSpc>
            </a:pPr>
            <a:r>
              <a:rPr lang="pt-BR" dirty="0" err="1">
                <a:solidFill>
                  <a:srgbClr val="0033CC"/>
                </a:solidFill>
              </a:rPr>
              <a:t>IsEmpty</a:t>
            </a:r>
            <a:r>
              <a:rPr lang="pt-BR" dirty="0">
                <a:solidFill>
                  <a:srgbClr val="0033CC"/>
                </a:solidFill>
              </a:rPr>
              <a:t> (P) 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verifica se a pilha P está vazia, retornando verdade se a pilha estiver vazia e falso, caso contrário</a:t>
            </a:r>
          </a:p>
          <a:p>
            <a:pPr>
              <a:lnSpc>
                <a:spcPct val="90000"/>
              </a:lnSpc>
            </a:pPr>
            <a:r>
              <a:rPr lang="pt-BR" dirty="0"/>
              <a:t>Verificação se pilha está cheia</a:t>
            </a:r>
          </a:p>
          <a:p>
            <a:pPr lvl="1">
              <a:lnSpc>
                <a:spcPct val="90000"/>
              </a:lnSpc>
            </a:pPr>
            <a:r>
              <a:rPr lang="pt-BR" dirty="0" err="1">
                <a:solidFill>
                  <a:srgbClr val="0033CC"/>
                </a:solidFill>
              </a:rPr>
              <a:t>IsFull</a:t>
            </a:r>
            <a:r>
              <a:rPr lang="pt-BR" dirty="0">
                <a:solidFill>
                  <a:srgbClr val="0033CC"/>
                </a:solidFill>
              </a:rPr>
              <a:t>(P):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verifica se a pilha P está cheia, retornando verdade se estiver a pilha cheia e falso, caso contrário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800" dirty="0"/>
              <a:t>Exemplo: Uso das Operações sobre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27446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4B85-6859-455A-B292-8CD3018AC206}" type="slidenum">
              <a:rPr lang="en-US" altLang="en-US"/>
              <a:pPr/>
              <a:t>8</a:t>
            </a:fld>
            <a:endParaRPr lang="en-US" altLang="en-US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17602"/>
              </p:ext>
            </p:extLst>
          </p:nvPr>
        </p:nvGraphicFramePr>
        <p:xfrm>
          <a:off x="457199" y="1601470"/>
          <a:ext cx="8229602" cy="3291840"/>
        </p:xfrm>
        <a:graphic>
          <a:graphicData uri="http://schemas.openxmlformats.org/drawingml/2006/table">
            <a:tbl>
              <a:tblPr/>
              <a:tblGrid>
                <a:gridCol w="309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0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Calibri"/>
                          <a:ea typeface="Calibri"/>
                          <a:cs typeface="Times New Roman"/>
                        </a:rPr>
                        <a:t>Operações</a:t>
                      </a:r>
                      <a:endParaRPr lang="en-US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Calibri"/>
                          <a:ea typeface="Calibri"/>
                          <a:cs typeface="Times New Roman"/>
                        </a:rPr>
                        <a:t>Pilha</a:t>
                      </a: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 P</a:t>
                      </a:r>
                      <a:endParaRPr lang="pt-BR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v</a:t>
                      </a:r>
                      <a:endParaRPr lang="pt-BR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INIT (P)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PUSH (P,3)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PUSH (P,4)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{3, 4}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TOP(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P,v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{3, 4}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v = 4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POP (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P,v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v = 4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PUSH (P,5)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{3, 5}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POP (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P,v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{3}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v = 5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dirty="0">
                          <a:latin typeface="Calibri"/>
                          <a:ea typeface="Calibri"/>
                          <a:cs typeface="Times New Roman"/>
                        </a:rPr>
                        <a:t>POP (P,v)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{}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v = 3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implementar o tipo de dado Pilha?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24287" y="1417638"/>
            <a:ext cx="8686800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BR" sz="2800" dirty="0"/>
              <a:t>Implementação </a:t>
            </a:r>
            <a:r>
              <a:rPr lang="pt-BR" sz="2800" dirty="0" err="1"/>
              <a:t>sequencial</a:t>
            </a:r>
            <a:endParaRPr lang="pt-BR" sz="2800" dirty="0"/>
          </a:p>
          <a:p>
            <a:pPr marL="800100" lvl="1" indent="-342900" defTabSz="4572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</a:t>
            </a:r>
            <a:r>
              <a:rPr kumimoji="0" lang="pt-BR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um vetor para armazenar elementos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BR" sz="2800" dirty="0"/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Encadeada</a:t>
            </a:r>
          </a:p>
          <a:p>
            <a:pPr marL="800100" lvl="1" indent="-342900" defTabSz="4572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pt-BR" sz="2800" dirty="0"/>
              <a:t>Faz alocação dinâmica na memória para cada elemento a ser armazenado na pilha</a:t>
            </a:r>
          </a:p>
        </p:txBody>
      </p:sp>
      <p:sp>
        <p:nvSpPr>
          <p:cNvPr id="14" name="Rosto feliz 13"/>
          <p:cNvSpPr/>
          <p:nvPr/>
        </p:nvSpPr>
        <p:spPr>
          <a:xfrm>
            <a:off x="7607300" y="1524000"/>
            <a:ext cx="1079500" cy="1143000"/>
          </a:xfrm>
          <a:prstGeom prst="smileyFace">
            <a:avLst/>
          </a:prstGeom>
          <a:solidFill>
            <a:srgbClr val="F0E50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</a:t>
            </a:r>
            <a:endParaRPr lang="en-US"/>
          </a:p>
        </p:txBody>
      </p:sp>
      <p:sp>
        <p:nvSpPr>
          <p:cNvPr id="5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94823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F32C-FD7F-4239-B446-511910DB3BAC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7827" y="1219200"/>
            <a:ext cx="7937157" cy="1958260"/>
          </a:xfrm>
        </p:spPr>
        <p:txBody>
          <a:bodyPr>
            <a:normAutofit/>
          </a:bodyPr>
          <a:lstStyle/>
          <a:p>
            <a:r>
              <a:rPr lang="pt-BR" sz="2800" dirty="0"/>
              <a:t>Uma pilha </a:t>
            </a:r>
            <a:r>
              <a:rPr lang="pt-BR" sz="2800" dirty="0" err="1"/>
              <a:t>sequencial</a:t>
            </a:r>
            <a:r>
              <a:rPr lang="pt-BR" sz="2800" dirty="0"/>
              <a:t> é uma estrutura de dados onde elementos são armazenados em um vetor (alocação estática) e que podem apenas usar as operações de pilha para manipular os elementos.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4757353" y="3429000"/>
          <a:ext cx="1323340" cy="1601470"/>
        </p:xfrm>
        <a:graphic>
          <a:graphicData uri="http://schemas.openxmlformats.org/drawingml/2006/table">
            <a:tbl>
              <a:tblPr/>
              <a:tblGrid>
                <a:gridCol w="132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1° Carro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2° Carro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Calibri"/>
                          <a:ea typeface="Calibri"/>
                          <a:cs typeface="Times New Roman"/>
                        </a:rPr>
                        <a:t>3° Carro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625" name="Group 1"/>
          <p:cNvGrpSpPr>
            <a:grpSpLocks/>
          </p:cNvGrpSpPr>
          <p:nvPr/>
        </p:nvGrpSpPr>
        <p:grpSpPr bwMode="auto">
          <a:xfrm>
            <a:off x="6151905" y="4439285"/>
            <a:ext cx="1962150" cy="498475"/>
            <a:chOff x="7950" y="4235"/>
            <a:chExt cx="1668" cy="785"/>
          </a:xfrm>
        </p:grpSpPr>
        <p:cxnSp>
          <p:nvCxnSpPr>
            <p:cNvPr id="26626" name="AutoShape 2"/>
            <p:cNvCxnSpPr>
              <a:cxnSpLocks noChangeShapeType="1"/>
            </p:cNvCxnSpPr>
            <p:nvPr/>
          </p:nvCxnSpPr>
          <p:spPr bwMode="auto">
            <a:xfrm>
              <a:off x="7978" y="4874"/>
              <a:ext cx="593" cy="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26627" name="AutoShape 3"/>
            <p:cNvCxnSpPr>
              <a:cxnSpLocks noChangeShapeType="1"/>
            </p:cNvCxnSpPr>
            <p:nvPr/>
          </p:nvCxnSpPr>
          <p:spPr bwMode="auto">
            <a:xfrm>
              <a:off x="7950" y="4581"/>
              <a:ext cx="567" cy="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/>
            </a:ln>
          </p:spPr>
        </p:cxnSp>
        <p:sp>
          <p:nvSpPr>
            <p:cNvPr id="81" name="Text Box 4"/>
            <p:cNvSpPr txBox="1">
              <a:spLocks noChangeArrowheads="1"/>
            </p:cNvSpPr>
            <p:nvPr/>
          </p:nvSpPr>
          <p:spPr bwMode="auto">
            <a:xfrm>
              <a:off x="8621" y="4235"/>
              <a:ext cx="997" cy="7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1" i="0" u="none" strike="noStrike" cap="none" normalizeH="0" baseline="0" dirty="0">
                  <a:ln>
                    <a:noFill/>
                  </a:ln>
                  <a:solidFill>
                    <a:srgbClr val="4444E6"/>
                  </a:solidFill>
                  <a:effectLst/>
                  <a:latin typeface="Calibri" pitchFamily="34" charset="0"/>
                  <a:cs typeface="Arial" pitchFamily="34" charset="0"/>
                </a:rPr>
                <a:t>topo da pilha</a:t>
              </a:r>
              <a:endParaRPr kumimoji="0" lang="pt-BR" sz="2400" b="1" i="0" u="none" strike="noStrike" cap="none" normalizeH="0" baseline="0" dirty="0">
                <a:ln>
                  <a:noFill/>
                </a:ln>
                <a:solidFill>
                  <a:srgbClr val="4444E6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647827" y="3177460"/>
            <a:ext cx="3771773" cy="2410540"/>
            <a:chOff x="647827" y="3177460"/>
            <a:chExt cx="3771773" cy="2410540"/>
          </a:xfrm>
        </p:grpSpPr>
        <p:pic>
          <p:nvPicPr>
            <p:cNvPr id="7" name="Imagem 6"/>
            <p:cNvPicPr/>
            <p:nvPr/>
          </p:nvPicPr>
          <p:blipFill rotWithShape="1">
            <a:blip r:embed="rId2"/>
            <a:srcRect l="15635" t="28002" r="57547" b="26808"/>
            <a:stretch/>
          </p:blipFill>
          <p:spPr bwMode="auto">
            <a:xfrm>
              <a:off x="1787652" y="3177460"/>
              <a:ext cx="2631948" cy="24105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" name="Text Box 5"/>
            <p:cNvSpPr txBox="1">
              <a:spLocks noChangeArrowheads="1"/>
            </p:cNvSpPr>
            <p:nvPr/>
          </p:nvSpPr>
          <p:spPr bwMode="auto">
            <a:xfrm>
              <a:off x="647827" y="5030470"/>
              <a:ext cx="1371473" cy="4984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sz="1400" b="1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Calibri" pitchFamily="34" charset="0"/>
                  <a:cs typeface="Arial" pitchFamily="34" charset="0"/>
                </a:rPr>
                <a:t>topo da pilha</a:t>
              </a:r>
              <a:endParaRPr kumimoji="0" lang="pt-BR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8901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pt-BR" sz="2400" dirty="0">
                <a:solidFill>
                  <a:srgbClr val="FF0000"/>
                </a:solidFill>
                <a:latin typeface="+mn-lt"/>
                <a:ea typeface="Calibri" pitchFamily="34" charset="0"/>
                <a:cs typeface="Times New Roman" pitchFamily="18" charset="0"/>
              </a:rPr>
              <a:t>Diferença</a:t>
            </a:r>
            <a:r>
              <a:rPr lang="pt-BR" sz="2400" b="0" dirty="0">
                <a:latin typeface="+mn-lt"/>
                <a:ea typeface="Calibri" pitchFamily="34" charset="0"/>
                <a:cs typeface="Times New Roman" pitchFamily="18" charset="0"/>
              </a:rPr>
              <a:t> entre os conceitos de </a:t>
            </a:r>
            <a:r>
              <a:rPr lang="pt-BR" sz="2400" dirty="0">
                <a:solidFill>
                  <a:srgbClr val="4444E6"/>
                </a:solidFill>
                <a:latin typeface="+mn-lt"/>
                <a:ea typeface="Calibri" pitchFamily="34" charset="0"/>
                <a:cs typeface="Times New Roman" pitchFamily="18" charset="0"/>
              </a:rPr>
              <a:t>VETOR</a:t>
            </a:r>
            <a:r>
              <a:rPr lang="pt-BR" sz="2400" b="0" dirty="0">
                <a:latin typeface="+mn-lt"/>
                <a:ea typeface="Calibri" pitchFamily="34" charset="0"/>
                <a:cs typeface="Times New Roman" pitchFamily="18" charset="0"/>
              </a:rPr>
              <a:t> e </a:t>
            </a:r>
            <a:r>
              <a:rPr lang="pt-BR" sz="2400" dirty="0">
                <a:solidFill>
                  <a:srgbClr val="4444E6"/>
                </a:solidFill>
                <a:latin typeface="+mn-lt"/>
                <a:ea typeface="Calibri" pitchFamily="34" charset="0"/>
                <a:cs typeface="Times New Roman" pitchFamily="18" charset="0"/>
              </a:rPr>
              <a:t>PILHA</a:t>
            </a:r>
            <a:endParaRPr lang="pt-BR" sz="4800" dirty="0"/>
          </a:p>
        </p:txBody>
      </p:sp>
      <p:sp>
        <p:nvSpPr>
          <p:cNvPr id="9" name="Espaço Reservado para Conteúdo 8"/>
          <p:cNvSpPr>
            <a:spLocks noGrp="1"/>
          </p:cNvSpPr>
          <p:nvPr>
            <p:ph sz="half" idx="1"/>
          </p:nvPr>
        </p:nvSpPr>
        <p:spPr>
          <a:xfrm>
            <a:off x="609600" y="1231901"/>
            <a:ext cx="4038600" cy="29845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dirty="0">
                <a:ea typeface="Calibri" pitchFamily="34" charset="0"/>
                <a:cs typeface="Times New Roman" pitchFamily="18" charset="0"/>
              </a:rPr>
              <a:t>	</a:t>
            </a:r>
            <a:r>
              <a:rPr lang="pt-BR" sz="2000" b="1" dirty="0">
                <a:ea typeface="Calibri" pitchFamily="34" charset="0"/>
                <a:cs typeface="Times New Roman" pitchFamily="18" charset="0"/>
              </a:rPr>
              <a:t>VETOR</a:t>
            </a:r>
          </a:p>
          <a:p>
            <a:r>
              <a:rPr lang="pt-BR" sz="2000" dirty="0">
                <a:ea typeface="Calibri" pitchFamily="34" charset="0"/>
                <a:cs typeface="Times New Roman" pitchFamily="18" charset="0"/>
              </a:rPr>
              <a:t>Equivale a um estacionamento térreo, cada carro poderá ocupar qualquer vaga disponível do estacionamento.</a:t>
            </a:r>
          </a:p>
          <a:p>
            <a:r>
              <a:rPr lang="pt-BR" sz="2000" dirty="0">
                <a:ea typeface="Calibri" pitchFamily="34" charset="0"/>
                <a:cs typeface="Times New Roman" pitchFamily="18" charset="0"/>
              </a:rPr>
              <a:t>Não se pode saber qual carro foi o primeiro e nem qual foi o último a entrar no estacionamento.</a:t>
            </a:r>
            <a:endParaRPr lang="pt-BR" sz="200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62466" name="Imagem 120"/>
          <p:cNvPicPr>
            <a:picLocks noChangeAspect="1" noChangeArrowheads="1"/>
          </p:cNvPicPr>
          <p:nvPr/>
        </p:nvPicPr>
        <p:blipFill>
          <a:blip r:embed="rId2"/>
          <a:srcRect r="22693" b="17226"/>
          <a:stretch>
            <a:fillRect/>
          </a:stretch>
        </p:blipFill>
        <p:spPr bwMode="auto">
          <a:xfrm>
            <a:off x="4683124" y="1473200"/>
            <a:ext cx="3190875" cy="1733550"/>
          </a:xfrm>
          <a:prstGeom prst="rect">
            <a:avLst/>
          </a:prstGeom>
          <a:noFill/>
        </p:spPr>
      </p:pic>
      <p:pic>
        <p:nvPicPr>
          <p:cNvPr id="62465" name="Imagem 114" descr="https://encrypted-tbn0.gstatic.com/images?q=tbn:ANd9GcRRRoXbPFoIGSH_I8tBiCn2oouYkKR3Jr35yLlq2NVCHw53dRD_cR3WNB4"/>
          <p:cNvPicPr>
            <a:picLocks noChangeAspect="1" noChangeArrowheads="1"/>
          </p:cNvPicPr>
          <p:nvPr/>
        </p:nvPicPr>
        <p:blipFill>
          <a:blip r:embed="rId3"/>
          <a:srcRect r="17558" b="11386"/>
          <a:stretch>
            <a:fillRect/>
          </a:stretch>
        </p:blipFill>
        <p:spPr bwMode="auto">
          <a:xfrm>
            <a:off x="5935226" y="4063636"/>
            <a:ext cx="2612000" cy="2089600"/>
          </a:xfrm>
          <a:prstGeom prst="rect">
            <a:avLst/>
          </a:prstGeom>
          <a:noFill/>
        </p:spPr>
      </p:pic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313174" y="4754493"/>
            <a:ext cx="56220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E se por engano se tratar pilha como vetor?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Construção do </a:t>
            </a:r>
            <a:r>
              <a:rPr lang="pt-BR" dirty="0" err="1"/>
              <a:t>TipoPilha</a:t>
            </a:r>
            <a:endParaRPr lang="pt-BR" dirty="0"/>
          </a:p>
        </p:txBody>
      </p:sp>
      <p:sp>
        <p:nvSpPr>
          <p:cNvPr id="10" name="Subtítulo 9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7391400" cy="1752600"/>
          </a:xfrm>
        </p:spPr>
        <p:txBody>
          <a:bodyPr/>
          <a:lstStyle/>
          <a:p>
            <a:r>
              <a:rPr lang="pt-BR" dirty="0">
                <a:solidFill>
                  <a:srgbClr val="4444E6"/>
                </a:solidFill>
              </a:rPr>
              <a:t>Especificação do Tipo Abstrato de Dado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63490" name="Picture 2" descr="Resultado de imagem para icone em construçã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74625"/>
            <a:ext cx="216535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um Pilha </a:t>
            </a:r>
            <a:r>
              <a:rPr lang="pt-BR" dirty="0" err="1"/>
              <a:t>Sequencial</a:t>
            </a:r>
            <a:r>
              <a:rPr lang="pt-BR" dirty="0"/>
              <a:t> Vazia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00200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A pilha </a:t>
            </a:r>
            <a:r>
              <a:rPr lang="pt-BR" sz="2400" dirty="0" err="1"/>
              <a:t>sequencial</a:t>
            </a:r>
            <a:r>
              <a:rPr lang="pt-BR" sz="2400" dirty="0"/>
              <a:t> com um vetor para armazenar seus elementos.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Uma indicação da posição que representa o topo da pilha.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28575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606" name="Group 33"/>
          <p:cNvGrpSpPr>
            <a:grpSpLocks/>
          </p:cNvGrpSpPr>
          <p:nvPr/>
        </p:nvGrpSpPr>
        <p:grpSpPr bwMode="auto">
          <a:xfrm>
            <a:off x="2344089" y="397510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3555546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A definição do tipo de dado pilha, então, deve agrupar esses 2 componentes. Assim a definição do tipo pilha seria: 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12573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379372" y="237490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965200" y="4547106"/>
            <a:ext cx="7061200" cy="147732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tipopilha</a:t>
            </a:r>
            <a:endParaRPr kumimoji="0" 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   Início </a:t>
            </a:r>
            <a:endParaRPr kumimoji="0" 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     </a:t>
            </a:r>
            <a:r>
              <a:rPr kumimoji="0" 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dados</a:t>
            </a: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: vetor de N elementos do </a:t>
            </a:r>
            <a:r>
              <a:rPr kumimoji="0" lang="pt-BR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tipo</a:t>
            </a:r>
            <a:r>
              <a:rPr lang="pt-BR" b="1" i="1" baseline="0" dirty="0" err="1">
                <a:solidFill>
                  <a:srgbClr val="0000FF"/>
                </a:solidFill>
                <a:latin typeface="Consolas" pitchFamily="49" charset="0"/>
                <a:ea typeface="Times New Roman" pitchFamily="18" charset="0"/>
                <a:cs typeface="Consolas" pitchFamily="49" charset="0"/>
              </a:rPr>
              <a:t>_da_aplicação</a:t>
            </a:r>
            <a:endParaRPr kumimoji="0" lang="pt-BR" sz="1100" b="1" i="1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     </a:t>
            </a:r>
            <a:r>
              <a:rPr kumimoji="0" 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topo</a:t>
            </a: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: inteiro</a:t>
            </a:r>
            <a:endParaRPr kumimoji="0" 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Times New Roman" pitchFamily="18" charset="0"/>
                <a:cs typeface="Consolas" pitchFamily="49" charset="0"/>
              </a:rPr>
              <a:t>   Fim</a:t>
            </a:r>
            <a:endParaRPr kumimoji="0" lang="pt-B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init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2257" y="2837996"/>
            <a:ext cx="8229600" cy="169590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A pilha deve estar vazia no momento de sua criação. 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Para tanto, o topo da pilha deve apontar para o índice mais baixo do vetor.</a:t>
            </a:r>
          </a:p>
          <a:p>
            <a:pPr>
              <a:lnSpc>
                <a:spcPct val="90000"/>
              </a:lnSpc>
            </a:pPr>
            <a:endParaRPr lang="pt-BR" sz="2000" dirty="0"/>
          </a:p>
          <a:p>
            <a:pPr>
              <a:lnSpc>
                <a:spcPct val="90000"/>
              </a:lnSpc>
            </a:pPr>
            <a:r>
              <a:rPr lang="pt-BR" sz="2400" dirty="0"/>
              <a:t>Desta forma, o algoritmo que representa a operação </a:t>
            </a:r>
            <a:r>
              <a:rPr lang="pt-BR" sz="2400" b="1" dirty="0" err="1"/>
              <a:t>init</a:t>
            </a:r>
            <a:r>
              <a:rPr lang="pt-BR" sz="2400" dirty="0"/>
              <a:t> será: 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9906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379372" y="210820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2956438" y="4800600"/>
            <a:ext cx="3568700" cy="1200329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Módulo </a:t>
            </a:r>
            <a:r>
              <a:rPr lang="pt-BR" dirty="0" err="1">
                <a:latin typeface="Consolas" pitchFamily="49" charset="0"/>
                <a:ea typeface="Times New Roman" pitchFamily="18" charset="0"/>
                <a:cs typeface="Consolas" pitchFamily="49" charset="0"/>
              </a:rPr>
              <a:t>init</a:t>
            </a: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()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início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topo = 0;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fim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ea typeface="Times New Roman" pitchFamily="18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isEmpty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2837996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Retorna verdade se a pilha estiver vazia e falso, caso contrário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Utiliza-se a convenção de iniciação da pilha vazia. 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O algoritmo que representa a operação </a:t>
            </a:r>
            <a:r>
              <a:rPr lang="pt-BR" sz="2400" b="1" dirty="0" err="1"/>
              <a:t>isEmpty</a:t>
            </a:r>
            <a:r>
              <a:rPr lang="pt-BR" sz="2400" dirty="0"/>
              <a:t> é: 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9906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379372" y="210820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2115151" y="4076700"/>
            <a:ext cx="4771725" cy="20313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Módulo </a:t>
            </a:r>
            <a:r>
              <a:rPr lang="pt-BR" dirty="0" err="1">
                <a:latin typeface="Consolas" pitchFamily="49" charset="0"/>
                <a:ea typeface="Times New Roman" pitchFamily="18" charset="0"/>
                <a:cs typeface="Consolas" pitchFamily="49" charset="0"/>
              </a:rPr>
              <a:t>isEmpty</a:t>
            </a: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 ()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início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se (topo == 0) então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	retorna(verdade)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senão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	retorna(falso)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fim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push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1475" y="2963748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Se efetuarmos a operação </a:t>
            </a:r>
            <a:r>
              <a:rPr lang="pt-BR" sz="2400" b="1" dirty="0" err="1"/>
              <a:t>push</a:t>
            </a:r>
            <a:r>
              <a:rPr lang="pt-BR" sz="2400" b="1" dirty="0"/>
              <a:t> </a:t>
            </a:r>
            <a:r>
              <a:rPr lang="pt-BR" sz="2400" dirty="0"/>
              <a:t>(empilhar): </a:t>
            </a:r>
            <a:r>
              <a:rPr lang="pt-BR" sz="2400" dirty="0" err="1"/>
              <a:t>push</a:t>
            </a:r>
            <a:r>
              <a:rPr lang="pt-BR" sz="2400" dirty="0"/>
              <a:t>(10)</a:t>
            </a:r>
            <a:endParaRPr lang="pt-BR" sz="2400" b="1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9906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309134" y="449580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5457524" y="4813300"/>
            <a:ext cx="3142649" cy="64633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dados[topo] = 10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topo = topo + 1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1933875" y="33782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Group 33"/>
          <p:cNvGrpSpPr>
            <a:grpSpLocks/>
          </p:cNvGrpSpPr>
          <p:nvPr/>
        </p:nvGrpSpPr>
        <p:grpSpPr bwMode="auto">
          <a:xfrm>
            <a:off x="2305834" y="2138813"/>
            <a:ext cx="1155700" cy="699183"/>
            <a:chOff x="4876" y="7785"/>
            <a:chExt cx="737" cy="687"/>
          </a:xfrm>
        </p:grpSpPr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15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push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4029" y="2977928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pt-BR" sz="2400" dirty="0"/>
          </a:p>
          <a:p>
            <a:pPr>
              <a:lnSpc>
                <a:spcPct val="90000"/>
              </a:lnSpc>
            </a:pPr>
            <a:endParaRPr lang="pt-BR" sz="2400" dirty="0"/>
          </a:p>
          <a:p>
            <a:pPr>
              <a:lnSpc>
                <a:spcPct val="90000"/>
              </a:lnSpc>
            </a:pPr>
            <a:r>
              <a:rPr lang="pt-BR" sz="2400" dirty="0"/>
              <a:t>Se efetuarmos a operação </a:t>
            </a:r>
            <a:r>
              <a:rPr lang="pt-BR" sz="2400" b="1" dirty="0" err="1"/>
              <a:t>push</a:t>
            </a:r>
            <a:r>
              <a:rPr lang="pt-BR" sz="2400" b="1" dirty="0"/>
              <a:t> </a:t>
            </a:r>
            <a:r>
              <a:rPr lang="pt-BR" sz="2400" dirty="0"/>
              <a:t>(empilhar): </a:t>
            </a:r>
            <a:r>
              <a:rPr lang="pt-BR" sz="2400" dirty="0" err="1"/>
              <a:t>push</a:t>
            </a:r>
            <a:r>
              <a:rPr lang="pt-BR" sz="2400" dirty="0"/>
              <a:t>(12)</a:t>
            </a:r>
            <a:endParaRPr lang="pt-BR" sz="2400" b="1" dirty="0"/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4653642" y="5029640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665660" y="5379232"/>
            <a:ext cx="3142649" cy="64633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dados[topo] = 12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topo = topo + 1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80552"/>
              </p:ext>
            </p:extLst>
          </p:nvPr>
        </p:nvGraphicFramePr>
        <p:xfrm>
          <a:off x="2539092" y="3840695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3308350" y="2118967"/>
            <a:ext cx="1155700" cy="699183"/>
            <a:chOff x="4876" y="7785"/>
            <a:chExt cx="737" cy="687"/>
          </a:xfrm>
        </p:grpSpPr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15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1933875" y="1021213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push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457" y="1371600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O algoritmo da operação </a:t>
            </a:r>
            <a:r>
              <a:rPr lang="pt-BR" sz="2400" b="1" dirty="0" err="1"/>
              <a:t>push</a:t>
            </a:r>
            <a:r>
              <a:rPr lang="pt-BR" sz="2400" b="1" dirty="0"/>
              <a:t> </a:t>
            </a:r>
            <a:r>
              <a:rPr lang="pt-BR" sz="2400" dirty="0"/>
              <a:t>é:</a:t>
            </a:r>
            <a:endParaRPr lang="pt-BR" sz="2400" b="1" dirty="0"/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2362201" y="1929537"/>
            <a:ext cx="4851399" cy="147732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Módulo </a:t>
            </a:r>
            <a:r>
              <a:rPr lang="pt-BR" dirty="0" err="1">
                <a:latin typeface="Consolas" pitchFamily="49" charset="0"/>
                <a:ea typeface="Times New Roman" pitchFamily="18" charset="0"/>
                <a:cs typeface="Consolas" pitchFamily="49" charset="0"/>
              </a:rPr>
              <a:t>push</a:t>
            </a: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(elem)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início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dados[topo] = elem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topo = topo + 1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fim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 err="1">
                <a:solidFill>
                  <a:srgbClr val="0000FF"/>
                </a:solidFill>
              </a:rPr>
              <a:t>isFull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2837996"/>
            <a:ext cx="8229600" cy="14351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Retorna verdade se a pilha estiver cheia e falso, caso contrário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A pilha está completamente ocupada quando topo estiver no maior índice do vetor. </a:t>
            </a:r>
          </a:p>
          <a:p>
            <a:pPr>
              <a:lnSpc>
                <a:spcPct val="90000"/>
              </a:lnSpc>
            </a:pPr>
            <a:r>
              <a:rPr lang="pt-BR" sz="2400" dirty="0"/>
              <a:t>O algoritmo que representa a operação </a:t>
            </a:r>
            <a:r>
              <a:rPr lang="pt-BR" sz="2400" b="1" dirty="0" err="1"/>
              <a:t>isFull</a:t>
            </a:r>
            <a:r>
              <a:rPr lang="pt-BR" sz="2400" dirty="0"/>
              <a:t> é: 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9906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898637" y="2138813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2115151" y="4325025"/>
            <a:ext cx="4771725" cy="20313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Módulo </a:t>
            </a:r>
            <a:r>
              <a:rPr lang="pt-BR" dirty="0" err="1">
                <a:latin typeface="Consolas" pitchFamily="49" charset="0"/>
                <a:ea typeface="Times New Roman" pitchFamily="18" charset="0"/>
                <a:cs typeface="Consolas" pitchFamily="49" charset="0"/>
              </a:rPr>
              <a:t>isFull</a:t>
            </a: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 ()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início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se (topo == N) então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	retorna(verdade)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senão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	retorna(falso)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fim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>
                <a:solidFill>
                  <a:srgbClr val="0000FF"/>
                </a:solidFill>
              </a:rPr>
              <a:t>pop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3060700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Se efetuarmos a operação </a:t>
            </a:r>
            <a:r>
              <a:rPr lang="pt-BR" sz="2400" b="1" dirty="0"/>
              <a:t>pop</a:t>
            </a:r>
            <a:r>
              <a:rPr lang="pt-BR" sz="2400" dirty="0"/>
              <a:t>(desempilhar): </a:t>
            </a:r>
            <a:endParaRPr lang="pt-BR" sz="2400" b="1" dirty="0"/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319327" y="4772694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5556508" y="5102440"/>
            <a:ext cx="3142649" cy="64633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topo = topo - 1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elem = dados[topo]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79991"/>
              </p:ext>
            </p:extLst>
          </p:nvPr>
        </p:nvGraphicFramePr>
        <p:xfrm>
          <a:off x="1879599" y="1058627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3982389" y="2176227"/>
            <a:ext cx="1155700" cy="699183"/>
            <a:chOff x="4876" y="7785"/>
            <a:chExt cx="737" cy="687"/>
          </a:xfrm>
        </p:grpSpPr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15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1795171" y="35433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>
                <a:solidFill>
                  <a:srgbClr val="0000FF"/>
                </a:solidFill>
              </a:rPr>
              <a:t>pop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3060700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Se efetuarmos a operação </a:t>
            </a:r>
            <a:r>
              <a:rPr lang="pt-BR" sz="2400" b="1" dirty="0"/>
              <a:t>pop</a:t>
            </a:r>
            <a:r>
              <a:rPr lang="pt-BR" sz="2400" dirty="0"/>
              <a:t>(desempilhar)</a:t>
            </a:r>
            <a:endParaRPr lang="pt-BR" sz="2400" b="1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81475" y="990600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305050" y="4845391"/>
            <a:ext cx="1155700" cy="699183"/>
            <a:chOff x="4876" y="7785"/>
            <a:chExt cx="737" cy="687"/>
          </a:xfrm>
        </p:grpSpPr>
        <p:sp>
          <p:nvSpPr>
            <p:cNvPr id="2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3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1772433" y="3707946"/>
          <a:ext cx="5384801" cy="1117600"/>
        </p:xfrm>
        <a:graphic>
          <a:graphicData uri="http://schemas.openxmlformats.org/drawingml/2006/table">
            <a:tbl>
              <a:tblPr/>
              <a:tblGrid>
                <a:gridCol w="76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dados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18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3135961" y="2108200"/>
            <a:ext cx="1155700" cy="699183"/>
            <a:chOff x="4876" y="7785"/>
            <a:chExt cx="737" cy="687"/>
          </a:xfrm>
        </p:grpSpPr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4876" y="8109"/>
              <a:ext cx="737" cy="3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pt-B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topo</a:t>
              </a:r>
              <a:endPara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15" name="AutoShape 35"/>
            <p:cNvCxnSpPr>
              <a:cxnSpLocks noChangeShapeType="1"/>
            </p:cNvCxnSpPr>
            <p:nvPr/>
          </p:nvCxnSpPr>
          <p:spPr bwMode="auto">
            <a:xfrm flipH="1" flipV="1">
              <a:off x="5244" y="7785"/>
              <a:ext cx="8" cy="3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5544151" y="5471877"/>
            <a:ext cx="3142649" cy="64633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topo = topo - 1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elem = dados[topo]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 do Tipo Abstrato Pilha - </a:t>
            </a:r>
            <a:r>
              <a:rPr lang="pt-BR" dirty="0">
                <a:solidFill>
                  <a:srgbClr val="0000FF"/>
                </a:solidFill>
              </a:rPr>
              <a:t>pop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457" y="1371600"/>
            <a:ext cx="8229600" cy="1435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400" dirty="0"/>
              <a:t>O algoritmo da operação </a:t>
            </a:r>
            <a:r>
              <a:rPr lang="pt-BR" sz="2400" b="1" dirty="0"/>
              <a:t>pop </a:t>
            </a:r>
            <a:r>
              <a:rPr lang="pt-BR" sz="2400" dirty="0"/>
              <a:t>é:</a:t>
            </a:r>
            <a:endParaRPr lang="pt-BR" sz="2400" b="1" dirty="0"/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2362201" y="1929537"/>
            <a:ext cx="4851399" cy="147732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0459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Módulo pop()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início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topo = topo - 1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retorna (dados[topo])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latin typeface="Consolas" pitchFamily="49" charset="0"/>
                <a:ea typeface="Times New Roman" pitchFamily="18" charset="0"/>
                <a:cs typeface="Consolas" pitchFamily="49" charset="0"/>
              </a:rPr>
              <a:t>	fim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/>
          <a:p>
            <a:r>
              <a:rPr lang="pt-BR" dirty="0"/>
              <a:t>Criando uma pilha de elementos inteiros</a:t>
            </a:r>
          </a:p>
        </p:txBody>
      </p:sp>
      <p:sp>
        <p:nvSpPr>
          <p:cNvPr id="10" name="Subtítulo 9"/>
          <p:cNvSpPr>
            <a:spLocks noGrp="1"/>
          </p:cNvSpPr>
          <p:nvPr>
            <p:ph type="subTitle" idx="1"/>
          </p:nvPr>
        </p:nvSpPr>
        <p:spPr>
          <a:xfrm>
            <a:off x="1066800" y="3492500"/>
            <a:ext cx="7391400" cy="1752600"/>
          </a:xfrm>
        </p:spPr>
        <p:txBody>
          <a:bodyPr/>
          <a:lstStyle/>
          <a:p>
            <a:r>
              <a:rPr lang="pt-BR" dirty="0">
                <a:solidFill>
                  <a:srgbClr val="4444E6"/>
                </a:solidFill>
              </a:rPr>
              <a:t>Especificação do Tipo Concreto de Dado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70658" name="AutoShape 2" descr="Resultado de imagem para icone teclad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0660" name="AutoShape 4" descr="Resultado de imagem para icone teclad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9500" y="4950862"/>
            <a:ext cx="2159000" cy="140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classe </a:t>
            </a:r>
            <a:r>
              <a:rPr lang="pt-BR" dirty="0" err="1"/>
              <a:t>pilhaSequencial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104900" y="939482"/>
            <a:ext cx="57531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class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PilhaInt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final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 N = 6;</a:t>
            </a:r>
          </a:p>
          <a:p>
            <a:pPr indent="723900"/>
            <a:endParaRPr lang="pt-BR" dirty="0">
              <a:latin typeface="Consolas" pitchFamily="49" charset="0"/>
              <a:cs typeface="Consolas" pitchFamily="49" charset="0"/>
            </a:endParaRP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dados[] =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new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[N];</a:t>
            </a: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topo;</a:t>
            </a:r>
          </a:p>
          <a:p>
            <a:pPr indent="723900"/>
            <a:endParaRPr lang="pt-BR" dirty="0">
              <a:latin typeface="Consolas" pitchFamily="49" charset="0"/>
              <a:cs typeface="Consolas" pitchFamily="49" charset="0"/>
            </a:endParaRP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init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 {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	topo = 0;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indent="723900"/>
            <a:endParaRPr lang="pt-BR" dirty="0">
              <a:latin typeface="Consolas" pitchFamily="49" charset="0"/>
              <a:cs typeface="Consolas" pitchFamily="49" charset="0"/>
            </a:endParaRP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push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elem) {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	dados[topo]=elem;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	topo++;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indent="723900"/>
            <a:endParaRPr lang="pt-BR" dirty="0">
              <a:latin typeface="Consolas" pitchFamily="49" charset="0"/>
              <a:cs typeface="Consolas" pitchFamily="49" charset="0"/>
            </a:endParaRPr>
          </a:p>
          <a:p>
            <a:pPr indent="723900"/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pop() {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	topo--;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return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dados[topo];</a:t>
            </a:r>
          </a:p>
          <a:p>
            <a:pPr indent="723900"/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Texto Explicativo 2 (Sem Bordas) 5"/>
          <p:cNvSpPr/>
          <p:nvPr/>
        </p:nvSpPr>
        <p:spPr>
          <a:xfrm>
            <a:off x="5021943" y="939482"/>
            <a:ext cx="3265714" cy="657089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5993"/>
              <a:gd name="adj6" fmla="val -24000"/>
            </a:avLst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Número máximo de elementos na pilha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5021943" y="1748971"/>
            <a:ext cx="3889828" cy="994229"/>
            <a:chOff x="5021943" y="1748971"/>
            <a:chExt cx="3889828" cy="994229"/>
          </a:xfrm>
        </p:grpSpPr>
        <p:sp>
          <p:nvSpPr>
            <p:cNvPr id="7" name="Chave direita 6"/>
            <p:cNvSpPr/>
            <p:nvPr/>
          </p:nvSpPr>
          <p:spPr>
            <a:xfrm>
              <a:off x="5021943" y="1915886"/>
              <a:ext cx="337457" cy="82731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Texto Explicativo 2 (Sem Bordas) 7"/>
            <p:cNvSpPr/>
            <p:nvPr/>
          </p:nvSpPr>
          <p:spPr>
            <a:xfrm>
              <a:off x="6117771" y="1748971"/>
              <a:ext cx="2794000" cy="657089"/>
            </a:xfrm>
            <a:prstGeom prst="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85993"/>
                <a:gd name="adj6" fmla="val -27636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rgbClr val="FF0000"/>
                  </a:solidFill>
                </a:rPr>
                <a:t>Atributos necessários:</a:t>
              </a:r>
            </a:p>
            <a:p>
              <a:pPr algn="ctr"/>
              <a:r>
                <a:rPr lang="pt-BR" dirty="0">
                  <a:solidFill>
                    <a:srgbClr val="FF0000"/>
                  </a:solidFill>
                </a:rPr>
                <a:t>vetor de elementos + topo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5689600" y="2743200"/>
            <a:ext cx="3454400" cy="3613150"/>
            <a:chOff x="5689600" y="2743200"/>
            <a:chExt cx="3454400" cy="3613150"/>
          </a:xfrm>
        </p:grpSpPr>
        <p:sp>
          <p:nvSpPr>
            <p:cNvPr id="9" name="Chave direita 8"/>
            <p:cNvSpPr/>
            <p:nvPr/>
          </p:nvSpPr>
          <p:spPr>
            <a:xfrm>
              <a:off x="5689600" y="2743200"/>
              <a:ext cx="428171" cy="361315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exto Explicativo 2 (Sem Bordas) 9"/>
            <p:cNvSpPr/>
            <p:nvPr/>
          </p:nvSpPr>
          <p:spPr>
            <a:xfrm>
              <a:off x="6553200" y="4586514"/>
              <a:ext cx="2590800" cy="657089"/>
            </a:xfrm>
            <a:prstGeom prst="callout2">
              <a:avLst>
                <a:gd name="adj1" fmla="val 47465"/>
                <a:gd name="adj2" fmla="val 1538"/>
                <a:gd name="adj3" fmla="val 34212"/>
                <a:gd name="adj4" fmla="val -10433"/>
                <a:gd name="adj5" fmla="val -153"/>
                <a:gd name="adj6" fmla="val -17369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rgbClr val="FF0000"/>
                  </a:solidFill>
                </a:rPr>
                <a:t>Operações definidas no tipo de dado PILHA</a:t>
              </a: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0" y="795476"/>
            <a:ext cx="3962400" cy="2832420"/>
            <a:chOff x="0" y="795476"/>
            <a:chExt cx="3962400" cy="2832420"/>
          </a:xfrm>
        </p:grpSpPr>
        <p:sp>
          <p:nvSpPr>
            <p:cNvPr id="13" name="Elipse 12"/>
            <p:cNvSpPr/>
            <p:nvPr/>
          </p:nvSpPr>
          <p:spPr>
            <a:xfrm>
              <a:off x="1104900" y="795476"/>
              <a:ext cx="2857500" cy="583381"/>
            </a:xfrm>
            <a:prstGeom prst="ellipse">
              <a:avLst/>
            </a:prstGeom>
            <a:noFill/>
            <a:ln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0" y="1596571"/>
              <a:ext cx="1553029" cy="2031325"/>
            </a:xfrm>
            <a:prstGeom prst="rect">
              <a:avLst/>
            </a:prstGeom>
            <a:noFill/>
            <a:ln cmpd="sng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Classe </a:t>
              </a:r>
              <a:r>
                <a:rPr lang="pt-BR" b="1" dirty="0" err="1"/>
                <a:t>PilhaInt</a:t>
              </a:r>
              <a:r>
                <a:rPr lang="pt-BR" b="1" dirty="0"/>
                <a:t> </a:t>
              </a:r>
            </a:p>
            <a:p>
              <a:r>
                <a:rPr lang="pt-BR" b="1" dirty="0"/>
                <a:t>Cria o novo tipo de dado:</a:t>
              </a:r>
            </a:p>
            <a:p>
              <a:r>
                <a:rPr lang="pt-BR" b="1" dirty="0"/>
                <a:t>Pilha de elementos inteiros</a:t>
              </a:r>
            </a:p>
            <a:p>
              <a:endParaRPr lang="pt-BR" b="1" dirty="0"/>
            </a:p>
          </p:txBody>
        </p:sp>
        <p:cxnSp>
          <p:nvCxnSpPr>
            <p:cNvPr id="16" name="Conector de seta reta 15"/>
            <p:cNvCxnSpPr>
              <a:stCxn id="13" idx="3"/>
              <a:endCxn id="14" idx="0"/>
            </p:cNvCxnSpPr>
            <p:nvPr/>
          </p:nvCxnSpPr>
          <p:spPr>
            <a:xfrm rot="5400000">
              <a:off x="998369" y="1071569"/>
              <a:ext cx="303148" cy="74685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classe </a:t>
            </a:r>
            <a:r>
              <a:rPr lang="pt-BR" dirty="0" err="1"/>
              <a:t>pilhaSequencial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104900" y="939482"/>
            <a:ext cx="71501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Consolas" pitchFamily="49" charset="0"/>
                <a:cs typeface="Consolas" pitchFamily="49" charset="0"/>
              </a:rPr>
              <a:t> 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static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main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(String[]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args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PilhaInt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pilha =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new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PilhaInt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pilha.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init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Scanner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le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new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Scanner(System.in);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valor;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System.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out.print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("Digite um valor inteiro: ");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valor =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le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nextInt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pilha.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push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(valor);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valor = pilha.pop();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System.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out.println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("Retirado valor: " + valor);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Ainda podemos melhorar nossa implementação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69557" y="952500"/>
            <a:ext cx="8229600" cy="2273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342900" defTabSz="457200">
              <a:lnSpc>
                <a:spcPct val="90000"/>
              </a:lnSpc>
              <a:spcBef>
                <a:spcPct val="20000"/>
              </a:spcBef>
            </a:pPr>
            <a:r>
              <a:rPr lang="pt-BR" sz="2800" dirty="0"/>
              <a:t> E se ...</a:t>
            </a:r>
          </a:p>
          <a:p>
            <a:pPr indent="-342900" defTabSz="457200">
              <a:lnSpc>
                <a:spcPct val="90000"/>
              </a:lnSpc>
              <a:spcBef>
                <a:spcPct val="20000"/>
              </a:spcBef>
            </a:pPr>
            <a:endParaRPr lang="pt-BR" sz="2800" dirty="0"/>
          </a:p>
          <a:p>
            <a:pPr indent="-342900" defTabSz="4572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pt-BR" sz="2800" dirty="0"/>
              <a:t> Tentar retirar um elemento de uma pilha vazia?</a:t>
            </a:r>
          </a:p>
          <a:p>
            <a:pPr indent="-342900" defTabSz="4572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pt-BR" sz="2800" dirty="0"/>
              <a:t> Tentar inserir um elemento em uma pilha cheia?</a:t>
            </a:r>
          </a:p>
          <a:p>
            <a:pPr indent="-342900" defTabSz="457200">
              <a:lnSpc>
                <a:spcPct val="90000"/>
              </a:lnSpc>
              <a:spcBef>
                <a:spcPct val="20000"/>
              </a:spcBef>
            </a:pPr>
            <a:endParaRPr lang="pt-BR" sz="28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1930400" y="3225800"/>
            <a:ext cx="5245100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Precisamos testar usando as operações </a:t>
            </a:r>
            <a:r>
              <a:rPr lang="pt-BR" sz="2800" dirty="0" err="1"/>
              <a:t>isEmpty</a:t>
            </a:r>
            <a:r>
              <a:rPr lang="pt-BR" sz="2800" dirty="0"/>
              <a:t> e </a:t>
            </a:r>
            <a:r>
              <a:rPr lang="pt-BR" sz="2800" dirty="0" err="1"/>
              <a:t>isFull</a:t>
            </a:r>
            <a:endParaRPr lang="pt-BR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isEmpty</a:t>
            </a:r>
            <a:r>
              <a:rPr lang="pt-BR" dirty="0"/>
              <a:t> e </a:t>
            </a:r>
            <a:r>
              <a:rPr lang="pt-BR" dirty="0" err="1"/>
              <a:t>isFull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469557" y="1582341"/>
            <a:ext cx="63884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boolean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isEmpty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 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if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(topo == 0)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return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true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else</a:t>
            </a:r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return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false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boolean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isFull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 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if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(topo == N)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return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true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else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return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false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Alterando </a:t>
            </a:r>
            <a:r>
              <a:rPr lang="pt-BR" dirty="0" err="1"/>
              <a:t>push</a:t>
            </a: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469557" y="1582341"/>
            <a:ext cx="71250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latin typeface="Consolas" pitchFamily="49" charset="0"/>
                <a:cs typeface="Consolas" pitchFamily="49" charset="0"/>
              </a:rPr>
              <a:t>public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push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elem) 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if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(!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isFull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()) 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dados[topo]=elem;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topo++;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else</a:t>
            </a:r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System.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out.println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("</a:t>
            </a:r>
            <a:r>
              <a:rPr lang="pt-BR" dirty="0" err="1">
                <a:latin typeface="Consolas" pitchFamily="49" charset="0"/>
                <a:cs typeface="Consolas" pitchFamily="49" charset="0"/>
              </a:rPr>
              <a:t>stack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overflow");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	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816C2-000B-49CA-8814-F3449C48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pop()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A320BF-3B3A-4CCE-87CA-2E24E6E3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C78977-D706-4F8B-ACAE-1FED5076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6F7718-8441-4D2E-A155-80347D22A63B}"/>
              </a:ext>
            </a:extLst>
          </p:cNvPr>
          <p:cNvSpPr txBox="1"/>
          <p:nvPr/>
        </p:nvSpPr>
        <p:spPr>
          <a:xfrm>
            <a:off x="1008993" y="1763791"/>
            <a:ext cx="7126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Esse método não será alterado, mas cada vez que for executado deverá ser verificado antes, usando o método </a:t>
            </a:r>
            <a:r>
              <a:rPr lang="pt-BR" sz="2000" b="1" dirty="0" err="1"/>
              <a:t>isEmpty</a:t>
            </a:r>
            <a:r>
              <a:rPr lang="pt-BR" sz="2000" dirty="0"/>
              <a:t>() que a pilha não está vazia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68361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08196" cy="365125"/>
          </a:xfrm>
        </p:spPr>
        <p:txBody>
          <a:bodyPr/>
          <a:lstStyle/>
          <a:p>
            <a:r>
              <a:rPr lang="pt-BR" dirty="0"/>
              <a:t>Algoritmos</a:t>
            </a:r>
            <a:r>
              <a:rPr lang="pt-BR" altLang="en-US" dirty="0"/>
              <a:t>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09B-543A-4A23-8F72-67CF88139CF6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5269" y="1028700"/>
            <a:ext cx="8674443" cy="4953000"/>
          </a:xfrm>
        </p:spPr>
        <p:txBody>
          <a:bodyPr>
            <a:normAutofit/>
          </a:bodyPr>
          <a:lstStyle/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Modifique o método </a:t>
            </a:r>
            <a:r>
              <a:rPr lang="pt-BR" sz="2000" dirty="0" err="1"/>
              <a:t>main</a:t>
            </a:r>
            <a:r>
              <a:rPr lang="pt-BR" sz="2000" dirty="0"/>
              <a:t>() para considerar as alterações realizada no método </a:t>
            </a:r>
            <a:r>
              <a:rPr lang="pt-BR" sz="2000" dirty="0" err="1"/>
              <a:t>push</a:t>
            </a:r>
            <a:r>
              <a:rPr lang="pt-BR" sz="2000" dirty="0"/>
              <a:t>() e também a verificação que pilha não está vazia antes de invocar o método pop().</a:t>
            </a:r>
          </a:p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Implemente o método top() da operação TOP (apenas retorna o valor que está no topo da pilha sem remover).</a:t>
            </a:r>
          </a:p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Elabore um método que esvazie toda a pilha, apresentando cada valor retirado na tela de saída, deixando-a vazia.</a:t>
            </a:r>
          </a:p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Construa um programa principal que converta um número representado em decimal em binário. Use as funções já implementadas de pilha de inteiros.</a:t>
            </a:r>
          </a:p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Escreva um programa que use a pilha de inteiros positivos para verificar se a sequência digitada é um palíndromo.  O programa deve inserir valor inteiro na pilha enquanto não for digitado um valor negativo.</a:t>
            </a:r>
          </a:p>
          <a:p>
            <a:pPr marL="971550" lvl="1" indent="-571500">
              <a:spcAft>
                <a:spcPts val="600"/>
              </a:spcAft>
              <a:buClr>
                <a:srgbClr val="CC3300"/>
              </a:buClr>
              <a:buSzPct val="80000"/>
              <a:buNone/>
            </a:pPr>
            <a:r>
              <a:rPr lang="pt-BR" sz="1800" dirty="0"/>
              <a:t>   Exemplos de palíndromos: 1221, 02022020, 1001, etc.</a:t>
            </a:r>
          </a:p>
          <a:p>
            <a:pPr marL="971550" lvl="1" indent="-571500">
              <a:buClr>
                <a:srgbClr val="CC3300"/>
              </a:buClr>
              <a:buSzPct val="80000"/>
              <a:buNone/>
            </a:pPr>
            <a:endParaRPr lang="pt-BR" sz="1800" dirty="0"/>
          </a:p>
          <a:p>
            <a:pPr marL="571500" indent="-571500">
              <a:buClr>
                <a:srgbClr val="CC3300"/>
              </a:buClr>
              <a:buSzPct val="80000"/>
              <a:buFont typeface="Wingdings" pitchFamily="2" charset="2"/>
              <a:buAutoNum type="arabicPeriod"/>
            </a:pP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5198" cy="365125"/>
          </a:xfrm>
        </p:spPr>
        <p:txBody>
          <a:bodyPr/>
          <a:lstStyle/>
          <a:p>
            <a:r>
              <a:rPr lang="pt-BR"/>
              <a:t>Algoritmos </a:t>
            </a:r>
            <a:r>
              <a:rPr lang="pt-BR" dirty="0"/>
              <a:t>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741872" y="1155940"/>
            <a:ext cx="79449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000" dirty="0"/>
              <a:t>ASCÊNCIO, </a:t>
            </a:r>
            <a:r>
              <a:rPr lang="pt-BR" sz="2000" dirty="0" err="1"/>
              <a:t>A.F.</a:t>
            </a:r>
            <a:r>
              <a:rPr lang="pt-BR" sz="2000" dirty="0"/>
              <a:t>G; ARAUJO, </a:t>
            </a:r>
            <a:r>
              <a:rPr lang="pt-BR" sz="2000" dirty="0" err="1"/>
              <a:t>G.S.</a:t>
            </a:r>
            <a:r>
              <a:rPr lang="pt-BR" sz="2000" dirty="0"/>
              <a:t> </a:t>
            </a:r>
            <a:r>
              <a:rPr lang="pt-BR" sz="2000" b="1" dirty="0"/>
              <a:t>Estruturas de Dados: Algoritmos, Análise de Complexidade e Implementações em JAVA e C/C++.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PEREIRA, </a:t>
            </a:r>
            <a:r>
              <a:rPr lang="pt-BR" sz="2000" dirty="0" err="1"/>
              <a:t>S.L.</a:t>
            </a:r>
            <a:r>
              <a:rPr lang="pt-BR" sz="2000" dirty="0"/>
              <a:t>; </a:t>
            </a:r>
            <a:r>
              <a:rPr lang="pt-BR" sz="2000" b="1" dirty="0"/>
              <a:t>Estruturas de Dados Fundamentais: Conceitos e Aplicações. São Paulo, Ed. Érica, 1996.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TENEMBAUM, A.M </a:t>
            </a:r>
            <a:r>
              <a:rPr lang="pt-BR" sz="2000" dirty="0" err="1"/>
              <a:t>et</a:t>
            </a:r>
            <a:r>
              <a:rPr lang="pt-BR" sz="2000" dirty="0"/>
              <a:t> al.; </a:t>
            </a:r>
            <a:r>
              <a:rPr lang="pt-BR" sz="2000" b="1" dirty="0"/>
              <a:t>Estruturas de Dados usando C. </a:t>
            </a:r>
            <a:r>
              <a:rPr lang="pt-BR" sz="2000" b="1" dirty="0" err="1"/>
              <a:t>Makron</a:t>
            </a:r>
            <a:r>
              <a:rPr lang="pt-BR" sz="2000" b="1" dirty="0"/>
              <a:t> Books </a:t>
            </a:r>
            <a:r>
              <a:rPr lang="pt-BR" sz="2000" b="1" dirty="0" err="1"/>
              <a:t>Ltda</a:t>
            </a:r>
            <a:r>
              <a:rPr lang="pt-BR" sz="2000" b="1" dirty="0"/>
              <a:t>, 1995.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DEITEL, P; J.; </a:t>
            </a:r>
            <a:r>
              <a:rPr lang="pt-BR" sz="2000" dirty="0" err="1"/>
              <a:t>Deitel</a:t>
            </a:r>
            <a:r>
              <a:rPr lang="pt-BR" sz="2000" dirty="0"/>
              <a:t>, </a:t>
            </a:r>
            <a:r>
              <a:rPr lang="pt-BR" sz="2000" dirty="0" err="1"/>
              <a:t>H.M.</a:t>
            </a:r>
            <a:r>
              <a:rPr lang="pt-BR" sz="2000" dirty="0"/>
              <a:t>, </a:t>
            </a:r>
            <a:r>
              <a:rPr lang="pt-BR" sz="2000" b="1" dirty="0"/>
              <a:t>Java: como programar - 8ª edição,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2025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;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3E4AAA4-6363-4581-962D-1ACCC2D600C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1968</TotalTime>
  <Words>2145</Words>
  <Application>Microsoft Office PowerPoint</Application>
  <PresentationFormat>Apresentação na tela (4:3)</PresentationFormat>
  <Paragraphs>462</Paragraphs>
  <Slides>33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Consolas</vt:lpstr>
      <vt:lpstr>Gotham-Bold</vt:lpstr>
      <vt:lpstr>Tahoma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Definição de Pilha</vt:lpstr>
      <vt:lpstr>Exemplos de Pilhas</vt:lpstr>
      <vt:lpstr>Exemplos de Pilhas em Computação</vt:lpstr>
      <vt:lpstr>Operações sobre o Tipo de Dado Pilha</vt:lpstr>
      <vt:lpstr>Operações Básicas sobre Pilha</vt:lpstr>
      <vt:lpstr>Operações Auxiliares sobre Pilha</vt:lpstr>
      <vt:lpstr>Exemplo: Uso das Operações sobre Pilha</vt:lpstr>
      <vt:lpstr>Como implementar o tipo de dado Pilha?</vt:lpstr>
      <vt:lpstr>Definição</vt:lpstr>
      <vt:lpstr>Diferença entre os conceitos de VETOR e PILHA</vt:lpstr>
      <vt:lpstr>Construção do TipoPilha</vt:lpstr>
      <vt:lpstr>Representação de um Pilha Sequencial Vazia</vt:lpstr>
      <vt:lpstr>Especificação do Tipo Abstrato Pilha</vt:lpstr>
      <vt:lpstr>Especificação do Tipo Abstrato Pilha - init</vt:lpstr>
      <vt:lpstr>Especificação do Tipo Abstrato Pilha - isEmpty</vt:lpstr>
      <vt:lpstr>Especificação do Tipo Abstrato Pilha - push</vt:lpstr>
      <vt:lpstr>Especificação do Tipo Abstrato Pilha - push</vt:lpstr>
      <vt:lpstr>Especificação do Tipo Abstrato Pilha - push</vt:lpstr>
      <vt:lpstr>Especificação do Tipo Abstrato Pilha - isFull</vt:lpstr>
      <vt:lpstr>Especificação do Tipo Abstrato Pilha - pop</vt:lpstr>
      <vt:lpstr>Especificação do Tipo Abstrato Pilha - pop</vt:lpstr>
      <vt:lpstr>Especificação do Tipo Abstrato Pilha - pop</vt:lpstr>
      <vt:lpstr>Criando uma pilha de elementos inteiros</vt:lpstr>
      <vt:lpstr>Definindo uma classe pilhaSequencial</vt:lpstr>
      <vt:lpstr>Definindo uma classe pilhaSequencial</vt:lpstr>
      <vt:lpstr>Ainda podemos melhorar nossa implementação</vt:lpstr>
      <vt:lpstr>Métodos isEmpty e isFull</vt:lpstr>
      <vt:lpstr>Alterando push</vt:lpstr>
      <vt:lpstr>Método pop()</vt:lpstr>
      <vt:lpstr>Exercícios</vt:lpstr>
      <vt:lpstr>Referências Bibliográficas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261</cp:revision>
  <dcterms:created xsi:type="dcterms:W3CDTF">2015-01-30T10:46:50Z</dcterms:created>
  <dcterms:modified xsi:type="dcterms:W3CDTF">2025-08-11T20:44:16Z</dcterms:modified>
</cp:coreProperties>
</file>