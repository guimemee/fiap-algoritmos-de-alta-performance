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19"/>
  </p:notesMasterIdLst>
  <p:sldIdLst>
    <p:sldId id="322" r:id="rId2"/>
    <p:sldId id="326" r:id="rId3"/>
    <p:sldId id="327" r:id="rId4"/>
    <p:sldId id="328" r:id="rId5"/>
    <p:sldId id="329" r:id="rId6"/>
    <p:sldId id="283" r:id="rId7"/>
    <p:sldId id="340" r:id="rId8"/>
    <p:sldId id="331" r:id="rId9"/>
    <p:sldId id="332" r:id="rId10"/>
    <p:sldId id="284" r:id="rId11"/>
    <p:sldId id="335" r:id="rId12"/>
    <p:sldId id="343" r:id="rId13"/>
    <p:sldId id="345" r:id="rId14"/>
    <p:sldId id="287" r:id="rId15"/>
    <p:sldId id="289" r:id="rId16"/>
    <p:sldId id="263" r:id="rId17"/>
    <p:sldId id="325" r:id="rId18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3300"/>
    <a:srgbClr val="0E9648"/>
    <a:srgbClr val="082AB8"/>
    <a:srgbClr val="006600"/>
    <a:srgbClr val="FFC91D"/>
    <a:srgbClr val="0000FF"/>
    <a:srgbClr val="EC130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Estilo Claro 3 - Ênfas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DA37D80-6434-44D0-A028-1B22A696006F}" styleName="Estilo Claro 3 - Ênfase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1782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ACA2255C-8CFF-4D1F-9362-97681C3AADAA}" type="datetimeFigureOut">
              <a:rPr lang="pt-BR"/>
              <a:pPr>
                <a:defRPr/>
              </a:pPr>
              <a:t>17/03/2025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noProof="0"/>
              <a:t>Clique para editar os estilos do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F4219D76-E73E-4582-957E-640DA26C75A6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360123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4219D76-E73E-4582-957E-640DA26C75A6}" type="slidenum">
              <a:rPr lang="pt-BR" altLang="pt-BR" smtClean="0"/>
              <a:pPr>
                <a:defRPr/>
              </a:pPr>
              <a:t>2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155655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213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0213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2012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188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FF0000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rgbClr val="0070C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143240" y="6357938"/>
            <a:ext cx="2643206" cy="363537"/>
          </a:xfrm>
        </p:spPr>
        <p:txBody>
          <a:bodyPr/>
          <a:lstStyle>
            <a:lvl1pPr algn="ctr"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fld id="{410FC19D-3417-40C5-B677-EA271E2DB6D3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713119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775" y="214313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972320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286116" y="6286500"/>
            <a:ext cx="2643206" cy="5715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FA70AE2-C52A-487E-82EC-B4E213515206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258118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500430" y="6357938"/>
            <a:ext cx="2571768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601B60D-8F34-4FC3-9ECD-DD8C34184A3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984817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dirty="0"/>
              <a:t>Clique para editar os estilos do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3214678" y="6356350"/>
            <a:ext cx="2357454" cy="501650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A6A6A6"/>
                </a:solidFill>
              </a:defRPr>
            </a:lvl1pPr>
          </a:lstStyle>
          <a:p>
            <a:pPr>
              <a:defRPr/>
            </a:pPr>
            <a:fld id="{4F9D7B0E-6DF5-42FE-9407-370595370C8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05149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2928926" y="6356350"/>
            <a:ext cx="2643206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94E8A36-260A-44F0-8C15-F9F9C5DA95A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819723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6" descr="logo fiap novo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9500" y="0"/>
            <a:ext cx="1546225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72254" cy="1143000"/>
          </a:xfrm>
        </p:spPr>
        <p:txBody>
          <a:bodyPr/>
          <a:lstStyle>
            <a:lvl1pPr>
              <a:defRPr>
                <a:solidFill>
                  <a:srgbClr val="082AB8"/>
                </a:solidFill>
              </a:defRPr>
            </a:lvl1pPr>
          </a:lstStyle>
          <a:p>
            <a:r>
              <a:rPr lang="pt-BR" dirty="0"/>
              <a:t>Clique para editar o estilo do título mestre</a:t>
            </a:r>
          </a:p>
        </p:txBody>
      </p:sp>
      <p:sp>
        <p:nvSpPr>
          <p:cNvPr id="4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3214678" y="6357938"/>
            <a:ext cx="2428892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82657340-78B5-4426-9B2B-5CE25F8DC69D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0768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071802" y="6356350"/>
            <a:ext cx="2571755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5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EF6CA55-B9A3-4C41-A473-693762DE17E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26163271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2643188" y="6356350"/>
            <a:ext cx="2500316" cy="5016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F7696E4-64A4-4C3D-A8E8-0811A33CBA02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223556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6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3000364" y="6357938"/>
            <a:ext cx="2643206" cy="363537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7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7658760-AADC-4109-A6AE-7E9B08F44EA2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36349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171A860-A07B-4DF7-99A9-4AEE24DC3830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66275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CEEADA1-E5DE-4917-9030-651A831A033C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19443924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4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4A9123-D83F-4E0F-9ED0-944EC780F83B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  <p:extLst>
      <p:ext uri="{BB962C8B-B14F-4D97-AF65-F5344CB8AC3E}">
        <p14:creationId xmlns:p14="http://schemas.microsoft.com/office/powerpoint/2010/main" val="3532547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F5E264D-F4D9-4AE5-A8E3-27EF1AD7CF97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11863818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ítulo e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abela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pt-BR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Algoritmos de Alta Performance - Profa Patrícia Magna</a:t>
            </a: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3DA464-4495-4077-9091-A744F10609C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1915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9918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/>
                <a:cs typeface="Kokila" panose="020B0604020202020204" pitchFamily="34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/>
                <a:cs typeface="Kokila" panose="020B0604020202020204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Espaço Reservado para Texto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hangingPunct="1">
              <a:defRPr sz="1200">
                <a:solidFill>
                  <a:schemeClr val="tx1">
                    <a:tint val="7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endParaRPr lang="pt-BR" altLang="en-US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2714625" y="6357938"/>
            <a:ext cx="3305175" cy="3635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hangingPunct="1">
              <a:defRPr sz="1200">
                <a:solidFill>
                  <a:schemeClr val="bg1">
                    <a:lumMod val="65000"/>
                  </a:schemeClr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BFFDCA17-8283-47AE-BAEA-029F589A4715}" type="slidenum">
              <a:rPr lang="pt-BR" altLang="en-US"/>
              <a:pPr>
                <a:defRPr/>
              </a:pPr>
              <a:t>‹nº›</a:t>
            </a:fld>
            <a:endParaRPr lang="pt-B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  <p:sldLayoutId id="2147483984" r:id="rId2"/>
    <p:sldLayoutId id="2147483985" r:id="rId3"/>
    <p:sldLayoutId id="2147483986" r:id="rId4"/>
    <p:sldLayoutId id="2147483987" r:id="rId5"/>
    <p:sldLayoutId id="2147483988" r:id="rId6"/>
    <p:sldLayoutId id="2147483989" r:id="rId7"/>
    <p:sldLayoutId id="2147483990" r:id="rId8"/>
    <p:sldLayoutId id="2147483991" r:id="rId9"/>
    <p:sldLayoutId id="2147483992" r:id="rId10"/>
    <p:sldLayoutId id="2147483993" r:id="rId11"/>
    <p:sldLayoutId id="2147483982" r:id="rId12"/>
    <p:sldLayoutId id="2147483994" r:id="rId13"/>
    <p:sldLayoutId id="2147483995" r:id="rId14"/>
    <p:sldLayoutId id="2147483996" r:id="rId15"/>
    <p:sldLayoutId id="2147483997" r:id="rId16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82AB8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82AB8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 cstate="print"/>
          <a:srcRect l="21776" r="21705"/>
          <a:stretch/>
        </p:blipFill>
        <p:spPr>
          <a:xfrm>
            <a:off x="-11651" y="2643182"/>
            <a:ext cx="9155651" cy="2789855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000230" y="2714620"/>
            <a:ext cx="8143770" cy="1311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pt-BR" sz="3200" b="1" dirty="0">
                <a:solidFill>
                  <a:srgbClr val="FFFF00"/>
                </a:solidFill>
                <a:latin typeface="Gotham-Bold"/>
                <a:cs typeface="Gotham-Bold"/>
              </a:rPr>
              <a:t>Estruturas de Dados Homogêneas</a:t>
            </a:r>
          </a:p>
          <a:p>
            <a:pPr>
              <a:lnSpc>
                <a:spcPct val="90000"/>
              </a:lnSpc>
            </a:pPr>
            <a:endParaRPr lang="pt-BR" sz="2800" dirty="0">
              <a:solidFill>
                <a:srgbClr val="FFFF00"/>
              </a:solidFill>
              <a:latin typeface="Gotham-Bold"/>
              <a:cs typeface="Gotham-Bold"/>
            </a:endParaRPr>
          </a:p>
          <a:p>
            <a:pPr>
              <a:lnSpc>
                <a:spcPct val="90000"/>
              </a:lnSpc>
            </a:pPr>
            <a:r>
              <a:rPr lang="pt-BR" sz="2800" dirty="0">
                <a:solidFill>
                  <a:srgbClr val="FFFF00"/>
                </a:solidFill>
                <a:latin typeface="Gotham-Bold"/>
                <a:cs typeface="Gotham-Bold"/>
              </a:rPr>
              <a:t>Vetores</a:t>
            </a:r>
            <a:endParaRPr lang="en-US" sz="2800" dirty="0">
              <a:solidFill>
                <a:srgbClr val="FFFF00"/>
              </a:solidFill>
              <a:latin typeface="Gotham-Bold"/>
              <a:cs typeface="Gotham-Bol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71538" y="4214818"/>
            <a:ext cx="55413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solidFill>
                  <a:schemeClr val="bg2"/>
                </a:solidFill>
                <a:latin typeface="Gotham-Bold"/>
              </a:rPr>
              <a:t>Algoritmos de Alta Performance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1538" y="4714884"/>
            <a:ext cx="6817135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dirty="0" err="1">
                <a:solidFill>
                  <a:srgbClr val="FFFFFF"/>
                </a:solidFill>
                <a:latin typeface="Gotham-Bold"/>
                <a:cs typeface="Gotham-Bold"/>
              </a:rPr>
              <a:t>PROFa</a:t>
            </a:r>
            <a:r>
              <a:rPr lang="en-US" dirty="0">
                <a:solidFill>
                  <a:srgbClr val="FFFFFF"/>
                </a:solidFill>
                <a:latin typeface="Gotham-Bold"/>
                <a:cs typeface="Gotham-Bold"/>
              </a:rPr>
              <a:t>. PATRÍCIA MAGNA  - profpatricia.magna@fiap.com.br</a:t>
            </a:r>
          </a:p>
        </p:txBody>
      </p:sp>
      <p:sp>
        <p:nvSpPr>
          <p:cNvPr id="23" name="Rectangle 22"/>
          <p:cNvSpPr/>
          <p:nvPr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Espaço Reservado para Rodapé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16684445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2378FE8-5AA8-4061-9C01-F053900C1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Afinal...por que precisamos de Estruturas de Dados???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0C8FEC-DC43-437A-BFD0-74A4403C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5D7A67-DA6D-4035-AC12-DFB633F92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6CA55-B9A3-4C41-A473-693762DE17EC}" type="slidenum">
              <a:rPr lang="pt-BR" altLang="en-US" smtClean="0"/>
              <a:pPr>
                <a:defRPr/>
              </a:pPr>
              <a:t>2</a:t>
            </a:fld>
            <a:endParaRPr lang="pt-B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77BF432-7005-4814-B1C5-664782C61A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1332" y="1482632"/>
            <a:ext cx="1476375" cy="14763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EB6C062-AFF9-4DA3-99DC-4C07D19AC318}"/>
              </a:ext>
            </a:extLst>
          </p:cNvPr>
          <p:cNvSpPr/>
          <p:nvPr/>
        </p:nvSpPr>
        <p:spPr>
          <a:xfrm>
            <a:off x="445281" y="1052736"/>
            <a:ext cx="7571184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java.util.Scanner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AulaVetor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endParaRPr lang="pt-BR" dirty="0">
              <a:latin typeface="Consolas" panose="020B0609020204030204" pitchFamily="49" charset="0"/>
            </a:endParaRPr>
          </a:p>
          <a:p>
            <a:pPr indent="263525"/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263525"/>
            <a:endParaRPr lang="pt-BR" dirty="0">
              <a:latin typeface="Consolas" panose="020B0609020204030204" pitchFamily="49" charset="0"/>
            </a:endParaRPr>
          </a:p>
          <a:p>
            <a:pPr indent="542925"/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pt-BR" dirty="0">
              <a:latin typeface="Consolas" panose="020B0609020204030204" pitchFamily="49" charset="0"/>
            </a:endParaRPr>
          </a:p>
          <a:p>
            <a:pPr indent="542925"/>
            <a:r>
              <a:rPr lang="pt-BR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5;</a:t>
            </a:r>
          </a:p>
          <a:p>
            <a:pPr indent="542925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b="1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indent="542925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542925"/>
            <a:r>
              <a:rPr lang="pt-BR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542925"/>
            <a:r>
              <a:rPr lang="nn-NO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898525"/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"Idade? "</a:t>
            </a:r>
            <a:r>
              <a:rPr lang="pt-BR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898525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898525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898525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542925"/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pt-BR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542925"/>
            <a:r>
              <a:rPr lang="es-ES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s-ES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b="1" i="1" dirty="0">
                <a:solidFill>
                  <a:srgbClr val="2A00FF"/>
                </a:solidFill>
                <a:latin typeface="Consolas" panose="020B0609020204030204" pitchFamily="49" charset="0"/>
              </a:rPr>
              <a:t>"A media de </a:t>
            </a:r>
            <a:r>
              <a:rPr lang="es-ES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idades</a:t>
            </a:r>
            <a:r>
              <a:rPr lang="es-ES" b="1" i="1" dirty="0">
                <a:solidFill>
                  <a:srgbClr val="2A00FF"/>
                </a:solidFill>
                <a:latin typeface="Consolas" panose="020B0609020204030204" pitchFamily="49" charset="0"/>
              </a:rPr>
              <a:t> = "</a:t>
            </a:r>
            <a:r>
              <a:rPr lang="es-ES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s-ES" b="1" i="1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es-ES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542925"/>
            <a:r>
              <a:rPr lang="pt-BR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542925"/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  <p:sp>
        <p:nvSpPr>
          <p:cNvPr id="8" name="CaixaDeTexto 7"/>
          <p:cNvSpPr txBox="1"/>
          <p:nvPr/>
        </p:nvSpPr>
        <p:spPr>
          <a:xfrm>
            <a:off x="6214452" y="3212976"/>
            <a:ext cx="214314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000" b="1" dirty="0"/>
              <a:t>EXEMPLO:</a:t>
            </a:r>
          </a:p>
          <a:p>
            <a:pPr algn="ctr"/>
            <a:r>
              <a:rPr lang="pt-BR" sz="2000" dirty="0"/>
              <a:t>Programa que calcula a idade média de um grupo de N pessoas</a:t>
            </a:r>
          </a:p>
        </p:txBody>
      </p:sp>
    </p:spTree>
    <p:extLst>
      <p:ext uri="{BB962C8B-B14F-4D97-AF65-F5344CB8AC3E}">
        <p14:creationId xmlns:p14="http://schemas.microsoft.com/office/powerpoint/2010/main" val="4075318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C63533-92BF-4554-A768-EC4288235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1538" y="1142984"/>
            <a:ext cx="7358115" cy="4525963"/>
          </a:xfrm>
        </p:spPr>
        <p:txBody>
          <a:bodyPr/>
          <a:lstStyle/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endParaRPr lang="pt-BR" sz="2800" dirty="0"/>
          </a:p>
          <a:p>
            <a:pPr marL="0" indent="0">
              <a:buNone/>
            </a:pPr>
            <a:r>
              <a:rPr lang="pt-BR" sz="2800" dirty="0"/>
              <a:t>E se além de calcular a média das idades das pessoas quisermos também apresentar todas as idades que estão acima da média calculada, </a:t>
            </a:r>
            <a:r>
              <a:rPr lang="pt-BR" sz="2800" b="1" dirty="0"/>
              <a:t>como fazer</a:t>
            </a:r>
            <a:r>
              <a:rPr lang="pt-BR" sz="2800" dirty="0"/>
              <a:t>?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C0C8FEC-DC43-437A-BFD0-74A4403CE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55D7A67-DA6D-4035-AC12-DFB633F922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F6CA55-B9A3-4C41-A473-693762DE17EC}" type="slidenum">
              <a:rPr lang="pt-BR" altLang="en-US" smtClean="0"/>
              <a:pPr>
                <a:defRPr/>
              </a:pPr>
              <a:t>3</a:t>
            </a:fld>
            <a:endParaRPr lang="pt-BR" alt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399E6F-A594-4827-B5AC-46DA0984E4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44" y="3643314"/>
            <a:ext cx="1971675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88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BDF54-0E1D-4E9E-97C8-8AEA71B9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7719" y="1179338"/>
            <a:ext cx="4714876" cy="1143000"/>
          </a:xfrm>
        </p:spPr>
        <p:txBody>
          <a:bodyPr/>
          <a:lstStyle/>
          <a:p>
            <a:r>
              <a:rPr lang="pt-BR" dirty="0"/>
              <a:t>Já sei!!!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89219-B3D6-483D-8FC7-02AE96B6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BD77C-26A1-49FF-BDE5-D00ACEF3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4</a:t>
            </a:fld>
            <a:endParaRPr lang="pt-BR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E73445-0315-40EC-A145-3938F41CB90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52233" y="149264"/>
            <a:ext cx="1212924" cy="143188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58F3636-C68C-4841-A51A-2D49E47FF155}"/>
              </a:ext>
            </a:extLst>
          </p:cNvPr>
          <p:cNvSpPr/>
          <p:nvPr/>
        </p:nvSpPr>
        <p:spPr>
          <a:xfrm>
            <a:off x="206233" y="258901"/>
            <a:ext cx="640080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AulaVetor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pt-BR" sz="1400" dirty="0">
              <a:latin typeface="Consolas" panose="020B0609020204030204" pitchFamily="49" charset="0"/>
            </a:endParaRPr>
          </a:p>
          <a:p>
            <a:pPr algn="l"/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4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algn="l"/>
            <a:endParaRPr lang="pt-BR" sz="1400" dirty="0">
              <a:latin typeface="Consolas" panose="020B0609020204030204" pitchFamily="49" charset="0"/>
            </a:endParaRPr>
          </a:p>
          <a:p>
            <a:pPr indent="263525" algn="l"/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4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4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263525" algn="l"/>
            <a:endParaRPr lang="pt-BR" sz="1400" dirty="0">
              <a:latin typeface="Consolas" panose="020B0609020204030204" pitchFamily="49" charset="0"/>
            </a:endParaRPr>
          </a:p>
          <a:p>
            <a:pPr indent="263525" algn="l"/>
            <a:r>
              <a:rPr lang="pt-BR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5;</a:t>
            </a:r>
          </a:p>
          <a:p>
            <a:pPr indent="263525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indent="263525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263525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263525" algn="l"/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542925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"Idade?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542925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542925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542925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263525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263525" algn="l"/>
            <a:r>
              <a:rPr lang="es-E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"A media de </a:t>
            </a:r>
            <a:r>
              <a:rPr lang="es-ES" sz="14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idades</a:t>
            </a:r>
            <a:r>
              <a:rPr lang="es-ES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= "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s-ES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es-ES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263525" algn="l"/>
            <a:endParaRPr lang="pt-BR" sz="1400" dirty="0">
              <a:latin typeface="Consolas" panose="020B0609020204030204" pitchFamily="49" charset="0"/>
            </a:endParaRPr>
          </a:p>
          <a:p>
            <a:pPr indent="263525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"\n\n Idades acima da media"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263525" algn="l"/>
            <a:r>
              <a:rPr lang="nn-NO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= 1;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&lt;=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nn-NO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542925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"Idade?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542925" algn="l"/>
            <a:r>
              <a:rPr lang="pt-BR" sz="14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542925" algn="l"/>
            <a:r>
              <a:rPr lang="pt-BR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  <a:r>
              <a:rPr lang="pt-BR" sz="1400" b="1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pt-BR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indent="542925" algn="l"/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4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4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4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Idade acima da média: "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4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542925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263525" algn="l"/>
            <a:r>
              <a:rPr lang="pt-BR" sz="14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263525"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pt-BR" sz="1400" dirty="0">
              <a:latin typeface="Consolas" panose="020B0609020204030204" pitchFamily="49" charset="0"/>
            </a:endParaRPr>
          </a:p>
          <a:p>
            <a:pPr algn="l"/>
            <a:r>
              <a:rPr lang="pt-BR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1400" dirty="0">
              <a:latin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82B71-C65A-4C0A-B1C4-2AE70002B474}"/>
              </a:ext>
            </a:extLst>
          </p:cNvPr>
          <p:cNvSpPr txBox="1"/>
          <p:nvPr/>
        </p:nvSpPr>
        <p:spPr>
          <a:xfrm>
            <a:off x="4469930" y="2766817"/>
            <a:ext cx="45993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>
                <a:highlight>
                  <a:srgbClr val="FFC91D"/>
                </a:highlight>
              </a:rPr>
              <a:t>Acho que não ficou muito bom...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F9F089DF-449B-DA75-5006-69784704F59A}"/>
              </a:ext>
            </a:extLst>
          </p:cNvPr>
          <p:cNvSpPr/>
          <p:nvPr/>
        </p:nvSpPr>
        <p:spPr>
          <a:xfrm>
            <a:off x="206233" y="4005064"/>
            <a:ext cx="6021951" cy="167359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502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Solução mais adequada é usar uma estrutura de dados conhecida como </a:t>
            </a:r>
            <a:r>
              <a:rPr lang="pt-BR" b="1" dirty="0"/>
              <a:t>vetor.</a:t>
            </a:r>
          </a:p>
          <a:p>
            <a:r>
              <a:rPr lang="pt-BR" b="1" dirty="0"/>
              <a:t>Então, vamos estudar esse novo  tipo de dado!!!</a:t>
            </a:r>
          </a:p>
          <a:p>
            <a:endParaRPr lang="pt-BR" b="1" dirty="0"/>
          </a:p>
          <a:p>
            <a:endParaRPr lang="pt-BR" b="1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5</a:t>
            </a:fld>
            <a:endParaRPr lang="pt-B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ítulo 1"/>
          <p:cNvSpPr>
            <a:spLocks noGrp="1"/>
          </p:cNvSpPr>
          <p:nvPr>
            <p:ph type="title"/>
          </p:nvPr>
        </p:nvSpPr>
        <p:spPr>
          <a:xfrm>
            <a:off x="357158" y="285728"/>
            <a:ext cx="7758112" cy="1143000"/>
          </a:xfrm>
        </p:spPr>
        <p:txBody>
          <a:bodyPr>
            <a:normAutofit/>
          </a:bodyPr>
          <a:lstStyle/>
          <a:p>
            <a:r>
              <a:rPr lang="pt-BR" altLang="pt-BR" sz="3200" b="1" dirty="0">
                <a:solidFill>
                  <a:srgbClr val="014EBF"/>
                </a:solidFill>
              </a:rPr>
              <a:t>Estruturas de Dados Homogêneas</a:t>
            </a:r>
            <a:br>
              <a:rPr lang="pt-BR" altLang="pt-BR" sz="3200" b="1" dirty="0">
                <a:solidFill>
                  <a:srgbClr val="014EBF"/>
                </a:solidFill>
              </a:rPr>
            </a:br>
            <a:r>
              <a:rPr lang="pt-BR" altLang="pt-BR" sz="3200" b="1" dirty="0">
                <a:solidFill>
                  <a:srgbClr val="014EBF"/>
                </a:solidFill>
              </a:rPr>
              <a:t>Vetores</a:t>
            </a:r>
          </a:p>
        </p:txBody>
      </p:sp>
      <p:sp>
        <p:nvSpPr>
          <p:cNvPr id="55299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643051"/>
            <a:ext cx="8229600" cy="2214578"/>
          </a:xfrm>
        </p:spPr>
        <p:txBody>
          <a:bodyPr/>
          <a:lstStyle/>
          <a:p>
            <a:pPr>
              <a:buNone/>
            </a:pPr>
            <a:r>
              <a:rPr lang="pt-BR" altLang="pt-BR" sz="2800" b="1" dirty="0"/>
              <a:t>Definição</a:t>
            </a:r>
          </a:p>
          <a:p>
            <a:pPr>
              <a:buNone/>
            </a:pPr>
            <a:endParaRPr lang="pt-BR" altLang="pt-BR" sz="2800" b="1" dirty="0"/>
          </a:p>
          <a:p>
            <a:r>
              <a:rPr lang="pt-BR" altLang="pt-BR" sz="2800" dirty="0"/>
              <a:t>É um tipo de dado que agrega mais de um valor em variável, ou seja, é uma coleção de valores em  uma mesma variável.</a:t>
            </a:r>
          </a:p>
          <a:p>
            <a:endParaRPr lang="pt-BR" altLang="pt-BR" sz="2800" dirty="0"/>
          </a:p>
        </p:txBody>
      </p:sp>
      <p:sp>
        <p:nvSpPr>
          <p:cNvPr id="55301" name="Espaço Reservado para Número de Slid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D50EDC-2925-4EBD-AC76-D4BBDF290984}" type="slidenum">
              <a:rPr lang="pt-BR" altLang="en-US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pt-BR" altLang="en-US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8674" name="AutoShape 2" descr="Resultado de imagem para vetor velocidad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28677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143240" y="4429132"/>
            <a:ext cx="3419475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51864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ítulo 1"/>
          <p:cNvSpPr>
            <a:spLocks noGrp="1"/>
          </p:cNvSpPr>
          <p:nvPr>
            <p:ph type="title"/>
          </p:nvPr>
        </p:nvSpPr>
        <p:spPr>
          <a:xfrm>
            <a:off x="571472" y="214290"/>
            <a:ext cx="7758112" cy="1143000"/>
          </a:xfrm>
        </p:spPr>
        <p:txBody>
          <a:bodyPr>
            <a:normAutofit/>
          </a:bodyPr>
          <a:lstStyle/>
          <a:p>
            <a:pPr algn="l"/>
            <a:r>
              <a:rPr lang="pt-BR" altLang="pt-BR" sz="3200" b="1" dirty="0">
                <a:solidFill>
                  <a:srgbClr val="014EBF"/>
                </a:solidFill>
              </a:rPr>
              <a:t>Vetores</a:t>
            </a:r>
            <a:br>
              <a:rPr lang="pt-BR" altLang="pt-BR" sz="3200" b="1" dirty="0">
                <a:solidFill>
                  <a:srgbClr val="014EBF"/>
                </a:solidFill>
              </a:rPr>
            </a:br>
            <a:r>
              <a:rPr lang="pt-BR" altLang="pt-BR" sz="3200" b="1" dirty="0">
                <a:solidFill>
                  <a:srgbClr val="014EBF"/>
                </a:solidFill>
              </a:rPr>
              <a:t>De uma forma mais simples...</a:t>
            </a:r>
          </a:p>
        </p:txBody>
      </p:sp>
      <p:sp>
        <p:nvSpPr>
          <p:cNvPr id="55299" name="Espaço Reservado para Conteúdo 2"/>
          <p:cNvSpPr>
            <a:spLocks noGrp="1"/>
          </p:cNvSpPr>
          <p:nvPr>
            <p:ph idx="1"/>
          </p:nvPr>
        </p:nvSpPr>
        <p:spPr>
          <a:xfrm>
            <a:off x="428596" y="1643051"/>
            <a:ext cx="8229600" cy="3143272"/>
          </a:xfrm>
        </p:spPr>
        <p:txBody>
          <a:bodyPr/>
          <a:lstStyle/>
          <a:p>
            <a:r>
              <a:rPr lang="pt-BR" altLang="pt-BR" sz="2800" dirty="0"/>
              <a:t>Um vetor é uma variável capaz de armazenar vários elementos (valores).</a:t>
            </a:r>
          </a:p>
          <a:p>
            <a:pPr>
              <a:buNone/>
            </a:pPr>
            <a:endParaRPr lang="pt-BR" altLang="pt-BR" sz="2800" dirty="0"/>
          </a:p>
          <a:p>
            <a:r>
              <a:rPr lang="pt-BR" altLang="pt-BR" sz="2800" dirty="0"/>
              <a:t>Por poder armazenar apenas valores do mesmo tipo são conhecidos também como estruturas de dados homogêneas.</a:t>
            </a:r>
          </a:p>
          <a:p>
            <a:endParaRPr lang="pt-BR" altLang="pt-BR" sz="2800" dirty="0"/>
          </a:p>
        </p:txBody>
      </p:sp>
      <p:sp>
        <p:nvSpPr>
          <p:cNvPr id="55301" name="Espaço Reservado para Número de Slid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FD50EDC-2925-4EBD-AC76-D4BBDF290984}" type="slidenum">
              <a:rPr lang="pt-BR" altLang="en-US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pt-BR" altLang="en-US" sz="1200">
              <a:solidFill>
                <a:srgbClr val="898989"/>
              </a:solidFill>
              <a:latin typeface="Arial" pitchFamily="34" charset="0"/>
            </a:endParaRPr>
          </a:p>
        </p:txBody>
      </p:sp>
      <p:sp>
        <p:nvSpPr>
          <p:cNvPr id="28674" name="AutoShape 2" descr="Resultado de imagem para vetor velocidade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10464"/>
              </p:ext>
            </p:extLst>
          </p:nvPr>
        </p:nvGraphicFramePr>
        <p:xfrm>
          <a:off x="1643042" y="2643182"/>
          <a:ext cx="6096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</a:t>
                      </a:r>
                      <a:r>
                        <a:rPr lang="pt-BR" baseline="0" dirty="0"/>
                        <a:t>1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CaixaDeTexto 8"/>
          <p:cNvSpPr txBox="1"/>
          <p:nvPr/>
        </p:nvSpPr>
        <p:spPr>
          <a:xfrm>
            <a:off x="1000100" y="4643446"/>
            <a:ext cx="67151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82AB8"/>
                </a:solidFill>
                <a:latin typeface="+mn-lt"/>
              </a:rPr>
              <a:t>Como poderemos ter acesso a cada posição </a:t>
            </a:r>
            <a:r>
              <a:rPr lang="pt-BR" altLang="pt-BR" sz="2800" dirty="0">
                <a:solidFill>
                  <a:srgbClr val="082AB8"/>
                </a:solidFill>
                <a:latin typeface="+mn-lt"/>
              </a:rPr>
              <a:t>de</a:t>
            </a:r>
            <a:r>
              <a:rPr lang="pt-BR" sz="2800" dirty="0">
                <a:solidFill>
                  <a:srgbClr val="082AB8"/>
                </a:solidFill>
                <a:latin typeface="+mn-lt"/>
              </a:rPr>
              <a:t> um vetor?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1214414" y="5500702"/>
            <a:ext cx="67151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+mn-lt"/>
              </a:rPr>
              <a:t>Resposta:  usando índices!</a:t>
            </a:r>
          </a:p>
        </p:txBody>
      </p:sp>
    </p:spTree>
    <p:extLst>
      <p:ext uri="{BB962C8B-B14F-4D97-AF65-F5344CB8AC3E}">
        <p14:creationId xmlns:p14="http://schemas.microsoft.com/office/powerpoint/2010/main" val="3518641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Vetores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4294967295"/>
          </p:nvPr>
        </p:nvSpPr>
        <p:spPr>
          <a:xfrm>
            <a:off x="1214982" y="1384540"/>
            <a:ext cx="7483475" cy="639762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ÍNDICES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4294967295"/>
          </p:nvPr>
        </p:nvSpPr>
        <p:spPr>
          <a:xfrm>
            <a:off x="899592" y="2055699"/>
            <a:ext cx="7618412" cy="42830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/>
              <a:t>Os dados são localizados sequencialmente dentro do vetor. Cada posição é identificada por um índice.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r>
              <a:rPr lang="pt-BR" sz="2400" dirty="0"/>
              <a:t>Um índice é uma variável do tipo </a:t>
            </a:r>
            <a:r>
              <a:rPr lang="pt-BR" sz="2400" b="1" dirty="0" err="1">
                <a:solidFill>
                  <a:srgbClr val="082AB8"/>
                </a:solidFill>
              </a:rPr>
              <a:t>int</a:t>
            </a:r>
            <a:r>
              <a:rPr lang="pt-BR" sz="2400" b="1" dirty="0">
                <a:solidFill>
                  <a:srgbClr val="082AB8"/>
                </a:solidFill>
              </a:rPr>
              <a:t> </a:t>
            </a:r>
            <a:r>
              <a:rPr lang="pt-BR" sz="2400" dirty="0"/>
              <a:t>que serve para fazer a identificação de cada posição no vetor.</a:t>
            </a:r>
          </a:p>
        </p:txBody>
      </p:sp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5972885"/>
              </p:ext>
            </p:extLst>
          </p:nvPr>
        </p:nvGraphicFramePr>
        <p:xfrm>
          <a:off x="1459115" y="4672339"/>
          <a:ext cx="6096000" cy="11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rgbClr val="FF0000"/>
                          </a:solidFill>
                        </a:rPr>
                        <a:t>VETOR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</a:t>
                      </a:r>
                      <a:r>
                        <a:rPr lang="pt-BR" baseline="0" dirty="0"/>
                        <a:t>1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240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 Vetores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2400" dirty="0"/>
              <a:t>Na declaração da variável vetor é preciso especificar o tamanho do vetor, ou seja, a quantidade de elementos que ele é capaz de conter.</a:t>
            </a:r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F966B5A6-8337-7EB4-9B17-A7535EDD49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201671"/>
              </p:ext>
            </p:extLst>
          </p:nvPr>
        </p:nvGraphicFramePr>
        <p:xfrm>
          <a:off x="1524000" y="4119880"/>
          <a:ext cx="6096000" cy="113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solidFill>
                            <a:srgbClr val="FF0000"/>
                          </a:solidFill>
                        </a:rPr>
                        <a:t>VETOR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</a:t>
                      </a:r>
                      <a:r>
                        <a:rPr lang="pt-BR" baseline="0" dirty="0"/>
                        <a:t>1</a:t>
                      </a:r>
                      <a:endParaRPr lang="pt-B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/>
                        <a:t>Dado5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8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ítulo 1"/>
          <p:cNvSpPr>
            <a:spLocks noGrp="1"/>
          </p:cNvSpPr>
          <p:nvPr>
            <p:ph type="title"/>
          </p:nvPr>
        </p:nvSpPr>
        <p:spPr>
          <a:xfrm>
            <a:off x="571472" y="285728"/>
            <a:ext cx="6972300" cy="1143000"/>
          </a:xfrm>
        </p:spPr>
        <p:txBody>
          <a:bodyPr>
            <a:normAutofit/>
          </a:bodyPr>
          <a:lstStyle/>
          <a:p>
            <a:pPr algn="l"/>
            <a:r>
              <a:rPr lang="pt-BR" altLang="pt-BR" sz="3200" b="1" dirty="0">
                <a:solidFill>
                  <a:srgbClr val="014EBF"/>
                </a:solidFill>
              </a:rPr>
              <a:t>Declaração de uma variável do tipo</a:t>
            </a:r>
            <a:br>
              <a:rPr lang="pt-BR" altLang="pt-BR" sz="3200" b="1" dirty="0">
                <a:solidFill>
                  <a:srgbClr val="014EBF"/>
                </a:solidFill>
              </a:rPr>
            </a:br>
            <a:r>
              <a:rPr lang="pt-BR" altLang="pt-BR" sz="3200" b="1" dirty="0">
                <a:solidFill>
                  <a:srgbClr val="014EBF"/>
                </a:solidFill>
              </a:rPr>
              <a:t>			Vetor</a:t>
            </a:r>
          </a:p>
        </p:txBody>
      </p:sp>
      <p:sp>
        <p:nvSpPr>
          <p:cNvPr id="56323" name="Espaço Reservado para Conteúdo 2"/>
          <p:cNvSpPr>
            <a:spLocks noGrp="1"/>
          </p:cNvSpPr>
          <p:nvPr>
            <p:ph idx="1"/>
          </p:nvPr>
        </p:nvSpPr>
        <p:spPr>
          <a:xfrm>
            <a:off x="0" y="1285875"/>
            <a:ext cx="9215438" cy="3571875"/>
          </a:xfrm>
        </p:spPr>
        <p:txBody>
          <a:bodyPr/>
          <a:lstStyle/>
          <a:p>
            <a:endParaRPr lang="pt-BR" altLang="pt-BR" sz="2000" dirty="0"/>
          </a:p>
          <a:p>
            <a:pPr>
              <a:buFont typeface="Arial" pitchFamily="34" charset="0"/>
              <a:buNone/>
            </a:pPr>
            <a:r>
              <a:rPr lang="pt-BR" altLang="pt-BR" sz="2000" dirty="0">
                <a:solidFill>
                  <a:srgbClr val="082AB8"/>
                </a:solidFill>
              </a:rPr>
              <a:t>&lt;Tipo do dado&gt;   </a:t>
            </a:r>
            <a:r>
              <a:rPr lang="pt-BR" altLang="pt-BR" sz="2000" b="1" dirty="0" err="1">
                <a:solidFill>
                  <a:srgbClr val="FF0000"/>
                </a:solidFill>
              </a:rPr>
              <a:t>nome_da_variável</a:t>
            </a:r>
            <a:r>
              <a:rPr lang="pt-BR" altLang="pt-BR" sz="2000" dirty="0">
                <a:solidFill>
                  <a:srgbClr val="082AB8"/>
                </a:solidFill>
              </a:rPr>
              <a:t> </a:t>
            </a:r>
            <a:r>
              <a:rPr lang="pt-BR" altLang="pt-BR" sz="2000" b="1" dirty="0"/>
              <a:t>[]</a:t>
            </a:r>
            <a:r>
              <a:rPr lang="pt-BR" altLang="pt-BR" sz="2000" dirty="0">
                <a:solidFill>
                  <a:srgbClr val="082AB8"/>
                </a:solidFill>
              </a:rPr>
              <a:t> </a:t>
            </a:r>
            <a:r>
              <a:rPr lang="pt-BR" altLang="pt-BR" sz="2000" dirty="0"/>
              <a:t>= </a:t>
            </a:r>
            <a:r>
              <a:rPr lang="pt-BR" altLang="pt-BR" sz="2000" b="1" dirty="0"/>
              <a:t>new </a:t>
            </a:r>
            <a:r>
              <a:rPr lang="pt-BR" altLang="pt-BR" sz="2000" dirty="0">
                <a:solidFill>
                  <a:srgbClr val="082AB8"/>
                </a:solidFill>
              </a:rPr>
              <a:t>&lt;Tipo do dado&gt;</a:t>
            </a:r>
            <a:r>
              <a:rPr lang="pt-BR" altLang="pt-BR" sz="2000" b="1" dirty="0"/>
              <a:t>[</a:t>
            </a:r>
            <a:r>
              <a:rPr lang="pt-BR" altLang="pt-BR" sz="2000" b="1" dirty="0">
                <a:solidFill>
                  <a:srgbClr val="0E9648"/>
                </a:solidFill>
              </a:rPr>
              <a:t>número de elementos</a:t>
            </a:r>
            <a:r>
              <a:rPr lang="pt-BR" altLang="pt-BR" sz="2000" b="1" dirty="0"/>
              <a:t>]</a:t>
            </a:r>
            <a:r>
              <a:rPr lang="pt-BR" altLang="pt-BR" sz="2000" dirty="0">
                <a:solidFill>
                  <a:srgbClr val="082AB8"/>
                </a:solidFill>
              </a:rPr>
              <a:t>; </a:t>
            </a:r>
          </a:p>
          <a:p>
            <a:pPr>
              <a:buFont typeface="Arial" pitchFamily="34" charset="0"/>
              <a:buNone/>
            </a:pPr>
            <a:endParaRPr lang="pt-BR" altLang="pt-BR" sz="2000" dirty="0"/>
          </a:p>
          <a:p>
            <a:pPr>
              <a:buNone/>
            </a:pPr>
            <a:r>
              <a:rPr lang="pt-BR" altLang="pt-BR" sz="2000" dirty="0"/>
              <a:t>	</a:t>
            </a:r>
            <a:r>
              <a:rPr lang="pt-BR" altLang="pt-BR" sz="2000" b="1" dirty="0"/>
              <a:t>Exemplos:</a:t>
            </a:r>
          </a:p>
          <a:p>
            <a:pPr>
              <a:buFont typeface="Arial" pitchFamily="34" charset="0"/>
              <a:buNone/>
            </a:pPr>
            <a:r>
              <a:rPr lang="pt-BR" altLang="pt-BR" sz="2000" dirty="0"/>
              <a:t>		</a:t>
            </a:r>
            <a:r>
              <a:rPr lang="pt-BR" altLang="pt-BR" sz="2000" dirty="0" err="1"/>
              <a:t>int</a:t>
            </a:r>
            <a:r>
              <a:rPr lang="pt-BR" altLang="pt-BR" sz="2000" dirty="0"/>
              <a:t> x[] =  new </a:t>
            </a:r>
            <a:r>
              <a:rPr lang="pt-BR" altLang="pt-BR" sz="2000" dirty="0" err="1"/>
              <a:t>int</a:t>
            </a:r>
            <a:r>
              <a:rPr lang="pt-BR" altLang="pt-BR" sz="2000" dirty="0"/>
              <a:t>[3]; </a:t>
            </a:r>
          </a:p>
          <a:p>
            <a:pPr>
              <a:buFont typeface="Arial" pitchFamily="34" charset="0"/>
              <a:buNone/>
            </a:pPr>
            <a:endParaRPr lang="pt-BR" altLang="pt-BR" sz="2000" dirty="0"/>
          </a:p>
          <a:p>
            <a:pPr>
              <a:buFont typeface="Arial" pitchFamily="34" charset="0"/>
              <a:buNone/>
            </a:pPr>
            <a:endParaRPr lang="pt-BR" altLang="pt-BR" sz="2000" dirty="0"/>
          </a:p>
          <a:p>
            <a:pPr>
              <a:buFont typeface="Arial" pitchFamily="34" charset="0"/>
              <a:buNone/>
            </a:pPr>
            <a:endParaRPr lang="pt-BR" altLang="pt-BR" sz="2000" dirty="0"/>
          </a:p>
          <a:p>
            <a:pPr>
              <a:buFont typeface="Arial" pitchFamily="34" charset="0"/>
              <a:buNone/>
            </a:pPr>
            <a:r>
              <a:rPr lang="pt-BR" altLang="pt-BR" sz="2000" dirty="0"/>
              <a:t>		</a:t>
            </a:r>
            <a:r>
              <a:rPr lang="pt-BR" altLang="pt-BR" sz="2000" dirty="0" err="1">
                <a:solidFill>
                  <a:srgbClr val="082AB8"/>
                </a:solidFill>
              </a:rPr>
              <a:t>double</a:t>
            </a:r>
            <a:r>
              <a:rPr lang="pt-BR" altLang="pt-BR" sz="2000" dirty="0">
                <a:solidFill>
                  <a:srgbClr val="082AB8"/>
                </a:solidFill>
              </a:rPr>
              <a:t> valores[] = new </a:t>
            </a:r>
            <a:r>
              <a:rPr lang="pt-BR" altLang="pt-BR" sz="2000" dirty="0" err="1">
                <a:solidFill>
                  <a:srgbClr val="082AB8"/>
                </a:solidFill>
              </a:rPr>
              <a:t>double</a:t>
            </a:r>
            <a:r>
              <a:rPr lang="pt-BR" altLang="pt-BR" sz="2000" dirty="0">
                <a:solidFill>
                  <a:srgbClr val="082AB8"/>
                </a:solidFill>
              </a:rPr>
              <a:t> [5];</a:t>
            </a:r>
          </a:p>
          <a:p>
            <a:pPr>
              <a:buFont typeface="Arial" pitchFamily="34" charset="0"/>
              <a:buNone/>
            </a:pPr>
            <a:r>
              <a:rPr lang="pt-BR" altLang="pt-BR" sz="2000" dirty="0"/>
              <a:t>		</a:t>
            </a:r>
          </a:p>
        </p:txBody>
      </p:sp>
      <p:sp>
        <p:nvSpPr>
          <p:cNvPr id="56325" name="Espaço Reservado para Número de Slid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D72895-BB7F-4DEA-AF86-1391C42C094A}" type="slidenum">
              <a:rPr lang="pt-BR" altLang="en-US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pt-BR" altLang="en-US" sz="1200">
              <a:solidFill>
                <a:srgbClr val="898989"/>
              </a:solidFill>
              <a:latin typeface="Arial" pitchFamily="34" charset="0"/>
            </a:endParaRPr>
          </a:p>
        </p:txBody>
      </p:sp>
      <p:graphicFrame>
        <p:nvGraphicFramePr>
          <p:cNvPr id="11" name="Tabela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8910320"/>
              </p:ext>
            </p:extLst>
          </p:nvPr>
        </p:nvGraphicFramePr>
        <p:xfrm>
          <a:off x="3275856" y="2480468"/>
          <a:ext cx="3715023" cy="1182688"/>
        </p:xfrm>
        <a:graphic>
          <a:graphicData uri="http://schemas.openxmlformats.org/drawingml/2006/table">
            <a:tbl>
              <a:tblPr/>
              <a:tblGrid>
                <a:gridCol w="1143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0</a:t>
                      </a: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1</a:t>
                      </a: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2</a:t>
                      </a: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>
                          <a:latin typeface="Calibri"/>
                          <a:ea typeface="Times New Roman"/>
                          <a:cs typeface="Tahoma"/>
                        </a:rPr>
                        <a:t>x</a:t>
                      </a:r>
                      <a:endParaRPr lang="pt-BR" sz="120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6" name="Tabela 5"/>
          <p:cNvGraphicFramePr>
            <a:graphicFrameLocks noGrp="1"/>
          </p:cNvGraphicFramePr>
          <p:nvPr/>
        </p:nvGraphicFramePr>
        <p:xfrm>
          <a:off x="2000232" y="5000636"/>
          <a:ext cx="5567363" cy="1182688"/>
        </p:xfrm>
        <a:graphic>
          <a:graphicData uri="http://schemas.openxmlformats.org/drawingml/2006/table">
            <a:tbl>
              <a:tblPr/>
              <a:tblGrid>
                <a:gridCol w="1143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2875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2358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9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solidFill>
                          <a:srgbClr val="082AB8"/>
                        </a:solidFill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solidFill>
                            <a:srgbClr val="082AB8"/>
                          </a:solidFill>
                          <a:latin typeface="Calibri"/>
                          <a:ea typeface="Times New Roman"/>
                          <a:cs typeface="Tahoma"/>
                        </a:rPr>
                        <a:t>0</a:t>
                      </a:r>
                      <a:endParaRPr lang="pt-BR" sz="1200" dirty="0">
                        <a:solidFill>
                          <a:srgbClr val="082AB8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solidFill>
                            <a:srgbClr val="082AB8"/>
                          </a:solidFill>
                          <a:latin typeface="Calibri"/>
                          <a:ea typeface="Times New Roman"/>
                          <a:cs typeface="Tahoma"/>
                        </a:rPr>
                        <a:t>1</a:t>
                      </a:r>
                      <a:endParaRPr lang="pt-BR" sz="1200" dirty="0">
                        <a:solidFill>
                          <a:srgbClr val="082AB8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solidFill>
                            <a:srgbClr val="082AB8"/>
                          </a:solidFill>
                          <a:latin typeface="Calibri"/>
                          <a:ea typeface="Times New Roman"/>
                          <a:cs typeface="Tahoma"/>
                        </a:rPr>
                        <a:t>2</a:t>
                      </a:r>
                      <a:endParaRPr lang="pt-BR" sz="1200" dirty="0">
                        <a:solidFill>
                          <a:srgbClr val="082AB8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solidFill>
                            <a:srgbClr val="082AB8"/>
                          </a:solidFill>
                          <a:latin typeface="Calibri"/>
                          <a:ea typeface="Times New Roman"/>
                          <a:cs typeface="Tahoma"/>
                        </a:rPr>
                        <a:t>3</a:t>
                      </a:r>
                      <a:endParaRPr lang="pt-BR" sz="1200" dirty="0">
                        <a:solidFill>
                          <a:srgbClr val="082AB8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solidFill>
                            <a:srgbClr val="082AB8"/>
                          </a:solidFill>
                          <a:latin typeface="Calibri"/>
                          <a:ea typeface="Times New Roman"/>
                          <a:cs typeface="Tahoma"/>
                        </a:rPr>
                        <a:t>4</a:t>
                      </a:r>
                      <a:endParaRPr lang="pt-BR" sz="1200" dirty="0">
                        <a:solidFill>
                          <a:srgbClr val="082AB8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solidFill>
                            <a:srgbClr val="082AB8"/>
                          </a:solidFill>
                          <a:latin typeface="Calibri"/>
                          <a:ea typeface="Times New Roman"/>
                          <a:cs typeface="Tahoma"/>
                        </a:rPr>
                        <a:t>valores</a:t>
                      </a:r>
                      <a:endParaRPr lang="pt-BR" sz="1200" dirty="0">
                        <a:solidFill>
                          <a:srgbClr val="082AB8"/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>
                        <a:solidFill>
                          <a:srgbClr val="082AB8"/>
                        </a:solidFill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solidFill>
                          <a:srgbClr val="082AB8"/>
                        </a:solidFill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solidFill>
                          <a:srgbClr val="082AB8"/>
                        </a:solidFill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solidFill>
                          <a:srgbClr val="082AB8"/>
                        </a:solidFill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solidFill>
                          <a:srgbClr val="082AB8"/>
                        </a:solidFill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5418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/>
              <a:t>Comentários sobre a declaração e uso de vetores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sz="2800" dirty="0"/>
              <a:t>Na linguagem JAVA sempre precisamos definir o tamanho do vetor no momento da criação (número de elementos).</a:t>
            </a:r>
          </a:p>
          <a:p>
            <a:endParaRPr lang="pt-BR" sz="2800" dirty="0"/>
          </a:p>
          <a:p>
            <a:r>
              <a:rPr lang="pt-BR" sz="2800" dirty="0"/>
              <a:t>Quando declaramos um vetor: </a:t>
            </a:r>
            <a:r>
              <a:rPr lang="en-US" sz="2800" b="1" i="1" dirty="0">
                <a:solidFill>
                  <a:srgbClr val="082AB8"/>
                </a:solidFill>
              </a:rPr>
              <a:t>int x[] = new int[3]; </a:t>
            </a:r>
            <a:r>
              <a:rPr lang="pt-BR" sz="2800" dirty="0"/>
              <a:t>cria um vetor com 3 posições onde cada elemento terá um valor do tipo int.</a:t>
            </a:r>
          </a:p>
          <a:p>
            <a:pPr>
              <a:buNone/>
            </a:pPr>
            <a:endParaRPr lang="pt-BR" sz="2800" dirty="0"/>
          </a:p>
          <a:p>
            <a:r>
              <a:rPr lang="pt-BR" sz="2800" dirty="0"/>
              <a:t>É importante observar que em JAVA (e diversas outras linguagens), a primeira posição do vetor tem índice ZERO. </a:t>
            </a:r>
          </a:p>
        </p:txBody>
      </p:sp>
    </p:spTree>
    <p:extLst>
      <p:ext uri="{BB962C8B-B14F-4D97-AF65-F5344CB8AC3E}">
        <p14:creationId xmlns:p14="http://schemas.microsoft.com/office/powerpoint/2010/main" val="569275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3" name="Espaço Reservado para Conteúdo 2"/>
          <p:cNvSpPr>
            <a:spLocks noGrp="1"/>
          </p:cNvSpPr>
          <p:nvPr>
            <p:ph idx="1"/>
          </p:nvPr>
        </p:nvSpPr>
        <p:spPr>
          <a:xfrm>
            <a:off x="0" y="1285875"/>
            <a:ext cx="9215438" cy="3571875"/>
          </a:xfrm>
        </p:spPr>
        <p:txBody>
          <a:bodyPr/>
          <a:lstStyle/>
          <a:p>
            <a:pPr>
              <a:buFont typeface="Arial" pitchFamily="34" charset="0"/>
              <a:buNone/>
            </a:pPr>
            <a:r>
              <a:rPr lang="pt-BR" altLang="pt-BR" sz="2800" dirty="0"/>
              <a:t>		</a:t>
            </a:r>
            <a:r>
              <a:rPr lang="en-US" sz="2400" dirty="0"/>
              <a:t>int vet[] = new int[3];</a:t>
            </a:r>
            <a:endParaRPr lang="pt-BR" altLang="pt-BR" sz="3600" dirty="0"/>
          </a:p>
          <a:p>
            <a:pPr>
              <a:buFont typeface="Arial" pitchFamily="34" charset="0"/>
              <a:buNone/>
            </a:pPr>
            <a:endParaRPr lang="pt-BR" altLang="pt-BR" sz="2800" dirty="0"/>
          </a:p>
          <a:p>
            <a:pPr>
              <a:buFont typeface="Arial" pitchFamily="34" charset="0"/>
              <a:buNone/>
            </a:pPr>
            <a:endParaRPr lang="pt-BR" altLang="pt-BR" sz="2800" dirty="0"/>
          </a:p>
          <a:p>
            <a:pPr>
              <a:buFont typeface="Arial" pitchFamily="34" charset="0"/>
              <a:buNone/>
            </a:pPr>
            <a:r>
              <a:rPr lang="pt-BR" altLang="pt-BR" sz="2800" dirty="0"/>
              <a:t>		</a:t>
            </a:r>
            <a:r>
              <a:rPr lang="pt-BR" altLang="pt-BR" sz="2400" dirty="0" err="1"/>
              <a:t>vet</a:t>
            </a:r>
            <a:r>
              <a:rPr lang="pt-BR" altLang="pt-BR" sz="2400" dirty="0"/>
              <a:t>[2] = 45;</a:t>
            </a:r>
          </a:p>
          <a:p>
            <a:pPr>
              <a:buFont typeface="Arial" pitchFamily="34" charset="0"/>
              <a:buNone/>
            </a:pPr>
            <a:endParaRPr lang="pt-BR" altLang="pt-BR" sz="2800" dirty="0"/>
          </a:p>
          <a:p>
            <a:pPr>
              <a:buFont typeface="Arial" pitchFamily="34" charset="0"/>
              <a:buNone/>
            </a:pPr>
            <a:endParaRPr lang="pt-BR" altLang="pt-BR" sz="2800" dirty="0"/>
          </a:p>
          <a:p>
            <a:pPr>
              <a:buNone/>
            </a:pPr>
            <a:r>
              <a:rPr lang="pt-BR" altLang="pt-BR" sz="2800" dirty="0"/>
              <a:t>		</a:t>
            </a:r>
            <a:r>
              <a:rPr lang="pt-BR" altLang="pt-BR" sz="2400" dirty="0" err="1"/>
              <a:t>vet</a:t>
            </a:r>
            <a:r>
              <a:rPr lang="pt-BR" altLang="pt-BR" sz="2400" dirty="0"/>
              <a:t>[0] = 10;</a:t>
            </a:r>
          </a:p>
          <a:p>
            <a:pPr>
              <a:buFont typeface="Arial" pitchFamily="34" charset="0"/>
              <a:buNone/>
            </a:pPr>
            <a:endParaRPr lang="pt-BR" altLang="pt-BR" sz="2800" dirty="0"/>
          </a:p>
          <a:p>
            <a:pPr>
              <a:buFont typeface="Arial" pitchFamily="34" charset="0"/>
              <a:buNone/>
            </a:pPr>
            <a:endParaRPr lang="pt-BR" altLang="pt-BR" sz="2800" dirty="0"/>
          </a:p>
          <a:p>
            <a:pPr>
              <a:buFont typeface="Arial" pitchFamily="34" charset="0"/>
              <a:buNone/>
            </a:pPr>
            <a:r>
              <a:rPr lang="pt-BR" altLang="pt-BR" sz="2800" dirty="0"/>
              <a:t>		</a:t>
            </a:r>
            <a:r>
              <a:rPr lang="pt-BR" altLang="pt-BR" sz="2400" dirty="0" err="1"/>
              <a:t>vet</a:t>
            </a:r>
            <a:r>
              <a:rPr lang="pt-BR" altLang="pt-BR" sz="2400" dirty="0"/>
              <a:t>[1] = </a:t>
            </a:r>
            <a:r>
              <a:rPr lang="pt-BR" altLang="pt-BR" sz="2400" dirty="0" err="1"/>
              <a:t>vet</a:t>
            </a:r>
            <a:r>
              <a:rPr lang="pt-BR" altLang="pt-BR" sz="2400" dirty="0"/>
              <a:t>[0] + </a:t>
            </a:r>
            <a:r>
              <a:rPr lang="pt-BR" altLang="pt-BR" sz="2400" dirty="0" err="1"/>
              <a:t>vet</a:t>
            </a:r>
            <a:r>
              <a:rPr lang="pt-BR" altLang="pt-BR" sz="2400" dirty="0"/>
              <a:t>[2]; </a:t>
            </a:r>
          </a:p>
          <a:p>
            <a:pPr>
              <a:buFont typeface="Arial" pitchFamily="34" charset="0"/>
              <a:buNone/>
            </a:pPr>
            <a:endParaRPr lang="pt-BR" altLang="pt-BR" sz="2800" dirty="0"/>
          </a:p>
          <a:p>
            <a:pPr>
              <a:buFont typeface="Arial" pitchFamily="34" charset="0"/>
              <a:buNone/>
            </a:pPr>
            <a:r>
              <a:rPr lang="pt-BR" altLang="pt-BR" sz="2800" dirty="0"/>
              <a:t>		</a:t>
            </a:r>
            <a:endParaRPr lang="pt-BR" altLang="pt-BR" sz="2800" dirty="0">
              <a:solidFill>
                <a:srgbClr val="082AB8"/>
              </a:solidFill>
            </a:endParaRPr>
          </a:p>
          <a:p>
            <a:pPr>
              <a:buFont typeface="Arial" pitchFamily="34" charset="0"/>
              <a:buNone/>
            </a:pPr>
            <a:r>
              <a:rPr lang="pt-BR" altLang="pt-BR" sz="2800" dirty="0"/>
              <a:t>		</a:t>
            </a:r>
          </a:p>
        </p:txBody>
      </p:sp>
      <p:sp>
        <p:nvSpPr>
          <p:cNvPr id="56325" name="Espaço Reservado para Número de Slid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3D72895-BB7F-4DEA-AF86-1391C42C094A}" type="slidenum">
              <a:rPr lang="pt-BR" altLang="en-US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pt-BR" altLang="en-US" sz="1200" dirty="0">
              <a:solidFill>
                <a:srgbClr val="898989"/>
              </a:solidFill>
              <a:latin typeface="Arial" pitchFamily="34" charset="0"/>
            </a:endParaRPr>
          </a:p>
        </p:txBody>
      </p:sp>
      <p:graphicFrame>
        <p:nvGraphicFramePr>
          <p:cNvPr id="11" name="Tabela 10"/>
          <p:cNvGraphicFramePr>
            <a:graphicFrameLocks noGrp="1"/>
          </p:cNvGraphicFramePr>
          <p:nvPr/>
        </p:nvGraphicFramePr>
        <p:xfrm>
          <a:off x="3786182" y="785794"/>
          <a:ext cx="3715023" cy="1182688"/>
        </p:xfrm>
        <a:graphic>
          <a:graphicData uri="http://schemas.openxmlformats.org/drawingml/2006/table">
            <a:tbl>
              <a:tblPr/>
              <a:tblGrid>
                <a:gridCol w="1143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dirty="0">
                          <a:latin typeface="Calibri"/>
                          <a:ea typeface="Times New Roman"/>
                          <a:cs typeface="Tahoma"/>
                        </a:rPr>
                        <a:t>0</a:t>
                      </a:r>
                      <a:endParaRPr lang="pt-BR" sz="11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dirty="0">
                          <a:latin typeface="Calibri"/>
                          <a:ea typeface="Times New Roman"/>
                          <a:cs typeface="Tahoma"/>
                        </a:rPr>
                        <a:t>1</a:t>
                      </a:r>
                      <a:endParaRPr lang="pt-BR" sz="11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dirty="0">
                          <a:latin typeface="Calibri"/>
                          <a:ea typeface="Times New Roman"/>
                          <a:cs typeface="Tahoma"/>
                        </a:rPr>
                        <a:t>2</a:t>
                      </a:r>
                      <a:endParaRPr lang="pt-BR" sz="11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4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 err="1">
                          <a:latin typeface="Calibri"/>
                          <a:ea typeface="Times New Roman"/>
                          <a:cs typeface="Tahoma"/>
                        </a:rPr>
                        <a:t>vet</a:t>
                      </a: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" name="Tabela 8"/>
          <p:cNvGraphicFramePr>
            <a:graphicFrameLocks noGrp="1"/>
          </p:cNvGraphicFramePr>
          <p:nvPr/>
        </p:nvGraphicFramePr>
        <p:xfrm>
          <a:off x="3786182" y="2214554"/>
          <a:ext cx="3715023" cy="1182688"/>
        </p:xfrm>
        <a:graphic>
          <a:graphicData uri="http://schemas.openxmlformats.org/drawingml/2006/table">
            <a:tbl>
              <a:tblPr/>
              <a:tblGrid>
                <a:gridCol w="1143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ahoma"/>
                        </a:rPr>
                        <a:t>0</a:t>
                      </a: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ahoma"/>
                        </a:rPr>
                        <a:t>1</a:t>
                      </a: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ahoma"/>
                        </a:rPr>
                        <a:t>2</a:t>
                      </a: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4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 err="1">
                          <a:latin typeface="Calibri"/>
                          <a:ea typeface="Times New Roman"/>
                          <a:cs typeface="Tahoma"/>
                        </a:rPr>
                        <a:t>vet</a:t>
                      </a: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45</a:t>
                      </a: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0" name="Tabela 9"/>
          <p:cNvGraphicFramePr>
            <a:graphicFrameLocks noGrp="1"/>
          </p:cNvGraphicFramePr>
          <p:nvPr/>
        </p:nvGraphicFramePr>
        <p:xfrm>
          <a:off x="3929058" y="3643314"/>
          <a:ext cx="3715023" cy="1182688"/>
        </p:xfrm>
        <a:graphic>
          <a:graphicData uri="http://schemas.openxmlformats.org/drawingml/2006/table">
            <a:tbl>
              <a:tblPr/>
              <a:tblGrid>
                <a:gridCol w="1143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ahoma"/>
                        </a:rPr>
                        <a:t>0</a:t>
                      </a: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ahoma"/>
                        </a:rPr>
                        <a:t>1</a:t>
                      </a: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kern="1200" dirty="0">
                          <a:solidFill>
                            <a:schemeClr val="tx1"/>
                          </a:solidFill>
                          <a:latin typeface="Calibri"/>
                          <a:ea typeface="Times New Roman"/>
                          <a:cs typeface="Tahoma"/>
                        </a:rPr>
                        <a:t>2</a:t>
                      </a: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4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 err="1">
                          <a:latin typeface="Calibri"/>
                          <a:ea typeface="Times New Roman"/>
                          <a:cs typeface="Tahoma"/>
                        </a:rPr>
                        <a:t>vet</a:t>
                      </a: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10</a:t>
                      </a: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45</a:t>
                      </a: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2" name="Tabela 11"/>
          <p:cNvGraphicFramePr>
            <a:graphicFrameLocks noGrp="1"/>
          </p:cNvGraphicFramePr>
          <p:nvPr/>
        </p:nvGraphicFramePr>
        <p:xfrm>
          <a:off x="4000496" y="5286388"/>
          <a:ext cx="3715023" cy="1182688"/>
        </p:xfrm>
        <a:graphic>
          <a:graphicData uri="http://schemas.openxmlformats.org/drawingml/2006/table">
            <a:tbl>
              <a:tblPr/>
              <a:tblGrid>
                <a:gridCol w="1143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1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1344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600" dirty="0"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dirty="0">
                          <a:latin typeface="Calibri"/>
                          <a:ea typeface="Times New Roman"/>
                          <a:cs typeface="Tahoma"/>
                        </a:rPr>
                        <a:t>0</a:t>
                      </a:r>
                      <a:endParaRPr lang="pt-BR" sz="11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dirty="0">
                          <a:latin typeface="Calibri"/>
                          <a:ea typeface="Times New Roman"/>
                          <a:cs typeface="Tahoma"/>
                        </a:rPr>
                        <a:t>1</a:t>
                      </a:r>
                      <a:endParaRPr lang="pt-BR" sz="11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dirty="0">
                          <a:latin typeface="Calibri"/>
                          <a:ea typeface="Times New Roman"/>
                          <a:cs typeface="Tahoma"/>
                        </a:rPr>
                        <a:t>2</a:t>
                      </a:r>
                      <a:endParaRPr lang="pt-BR" sz="11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134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 err="1">
                          <a:latin typeface="Calibri"/>
                          <a:ea typeface="Times New Roman"/>
                          <a:cs typeface="Tahoma"/>
                        </a:rPr>
                        <a:t>vet</a:t>
                      </a:r>
                      <a:endParaRPr lang="pt-BR" sz="1200" dirty="0"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10</a:t>
                      </a: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55</a:t>
                      </a: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600" dirty="0">
                          <a:latin typeface="Calibri"/>
                          <a:ea typeface="Times New Roman"/>
                          <a:cs typeface="Tahoma"/>
                        </a:rPr>
                        <a:t>45</a:t>
                      </a: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itle 1">
            <a:extLst>
              <a:ext uri="{FF2B5EF4-FFF2-40B4-BE49-F238E27FC236}">
                <a16:creationId xmlns:a16="http://schemas.microsoft.com/office/drawing/2014/main" id="{293BDF54-0E1D-4E9E-97C8-8AEA71B93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662" y="142852"/>
            <a:ext cx="6643734" cy="785818"/>
          </a:xfrm>
        </p:spPr>
        <p:txBody>
          <a:bodyPr/>
          <a:lstStyle/>
          <a:p>
            <a:r>
              <a:rPr lang="pt-BR" sz="2400" b="1" dirty="0">
                <a:latin typeface="+mn-lt"/>
              </a:rPr>
              <a:t>Como declarar e usar uma variável do tipo vetor</a:t>
            </a:r>
          </a:p>
        </p:txBody>
      </p:sp>
    </p:spTree>
    <p:extLst>
      <p:ext uri="{BB962C8B-B14F-4D97-AF65-F5344CB8AC3E}">
        <p14:creationId xmlns:p14="http://schemas.microsoft.com/office/powerpoint/2010/main" val="7454187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289219-B3D6-483D-8FC7-02AE96B6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  <a:endParaRPr lang="pt-BR" alt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9BD77C-26A1-49FF-BDE5-D00ACEF35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FA70AE2-C52A-487E-82EC-B4E213515206}" type="slidenum">
              <a:rPr lang="pt-BR" altLang="en-US" smtClean="0"/>
              <a:pPr>
                <a:defRPr/>
              </a:pPr>
              <a:t>13</a:t>
            </a:fld>
            <a:endParaRPr lang="pt-BR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8F3636-C68C-4841-A51A-2D49E47FF155}"/>
              </a:ext>
            </a:extLst>
          </p:cNvPr>
          <p:cNvSpPr/>
          <p:nvPr/>
        </p:nvSpPr>
        <p:spPr>
          <a:xfrm>
            <a:off x="0" y="287299"/>
            <a:ext cx="8391876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AulaVetor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main(String[]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args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indent="357188" algn="l"/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Scanner </a:t>
            </a:r>
            <a:r>
              <a:rPr lang="fr-FR" sz="1600" dirty="0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fr-F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r-F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fr-F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Scanner(System.</a:t>
            </a:r>
            <a:r>
              <a:rPr lang="fr-FR" sz="1600" b="1" i="1" dirty="0">
                <a:solidFill>
                  <a:srgbClr val="0000C0"/>
                </a:solidFill>
                <a:latin typeface="Consolas" panose="020B0609020204030204" pitchFamily="49" charset="0"/>
              </a:rPr>
              <a:t>in</a:t>
            </a:r>
            <a:r>
              <a:rPr lang="fr-F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7188" algn="l"/>
            <a:r>
              <a:rPr lang="pt-BR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final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5;</a:t>
            </a:r>
          </a:p>
          <a:p>
            <a:pPr indent="357188" algn="l"/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 err="1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 =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en-US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]; </a:t>
            </a:r>
          </a:p>
          <a:p>
            <a:pPr indent="3571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= 0;</a:t>
            </a:r>
          </a:p>
          <a:p>
            <a:pPr indent="3571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357188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357188" algn="l"/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b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&lt; </a:t>
            </a:r>
            <a:r>
              <a:rPr lang="nn-NO" sz="1600" b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7127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"Idade?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7127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.nextInt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7127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</a:p>
          <a:p>
            <a:pPr indent="712788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357188" algn="l"/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soma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/</a:t>
            </a:r>
            <a:r>
              <a:rPr lang="pt-BR" sz="1600" dirty="0">
                <a:solidFill>
                  <a:srgbClr val="6A3E3E"/>
                </a:solidFill>
                <a:latin typeface="Consolas" panose="020B0609020204030204" pitchFamily="49" charset="0"/>
              </a:rPr>
              <a:t>N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indent="357188" algn="l"/>
            <a:r>
              <a:rPr lang="es-ES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s-ES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s-ES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s-ES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"A media de </a:t>
            </a:r>
            <a:r>
              <a:rPr lang="es-ES" sz="1600" b="1" i="1" dirty="0" err="1">
                <a:solidFill>
                  <a:srgbClr val="2A00FF"/>
                </a:solidFill>
                <a:latin typeface="Consolas" panose="020B0609020204030204" pitchFamily="49" charset="0"/>
              </a:rPr>
              <a:t>idades</a:t>
            </a:r>
            <a:r>
              <a:rPr lang="es-ES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 = "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 </a:t>
            </a:r>
            <a:r>
              <a:rPr lang="es-ES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es-ES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7188" algn="l"/>
            <a:endParaRPr lang="pt-BR" sz="1600" dirty="0">
              <a:latin typeface="Consolas" panose="020B0609020204030204" pitchFamily="49" charset="0"/>
            </a:endParaRPr>
          </a:p>
          <a:p>
            <a:pPr indent="357188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"\n\n Idades acima da media"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indent="357188" algn="l"/>
            <a:r>
              <a:rPr lang="nn-NO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nn-NO" sz="1600" b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= 0; </a:t>
            </a:r>
            <a:r>
              <a:rPr lang="nn-NO" sz="1600" b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&lt;</a:t>
            </a:r>
            <a:r>
              <a:rPr lang="nn-NO" sz="1600" b="1" dirty="0">
                <a:solidFill>
                  <a:srgbClr val="6A3E3E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</a:t>
            </a:r>
            <a:r>
              <a:rPr lang="nn-NO" sz="1600" b="1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; </a:t>
            </a:r>
            <a:r>
              <a:rPr lang="nn-NO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nn-NO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++) {</a:t>
            </a:r>
          </a:p>
          <a:p>
            <a:pPr indent="806450" algn="l"/>
            <a:r>
              <a:rPr lang="pt-BR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] &gt; </a:t>
            </a:r>
            <a:r>
              <a:rPr lang="pt-BR" sz="1600" b="1" dirty="0">
                <a:solidFill>
                  <a:srgbClr val="6A3E3E"/>
                </a:solidFill>
                <a:latin typeface="Consolas" panose="020B0609020204030204" pitchFamily="49" charset="0"/>
              </a:rPr>
              <a:t>media</a:t>
            </a:r>
            <a:r>
              <a:rPr lang="pt-BR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pPr indent="1255713" algn="l"/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pt-BR" sz="1600" b="1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pt-BR" sz="1600" b="1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pt-BR" sz="1600" b="1" i="1" dirty="0">
                <a:solidFill>
                  <a:srgbClr val="2A00FF"/>
                </a:solidFill>
                <a:latin typeface="Consolas" panose="020B0609020204030204" pitchFamily="49" charset="0"/>
              </a:rPr>
              <a:t>"\t Idade acima da média: "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pt-BR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idade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pt-BR" sz="1600" b="1" i="1" dirty="0">
                <a:solidFill>
                  <a:srgbClr val="6A3E3E"/>
                </a:solidFill>
                <a:latin typeface="Consolas" panose="020B0609020204030204" pitchFamily="49" charset="0"/>
              </a:rPr>
              <a:t>i</a:t>
            </a:r>
            <a:r>
              <a:rPr lang="pt-BR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indent="806450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indent="357188" algn="l"/>
            <a:r>
              <a:rPr lang="pt-BR" sz="1600" dirty="0" err="1">
                <a:solidFill>
                  <a:srgbClr val="6A3E3E"/>
                </a:solidFill>
                <a:latin typeface="Consolas" panose="020B0609020204030204" pitchFamily="49" charset="0"/>
              </a:rPr>
              <a:t>le</a:t>
            </a:r>
            <a:r>
              <a:rPr lang="pt-BR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.close</a:t>
            </a:r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indent="357188"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algn="l"/>
            <a:endParaRPr lang="pt-BR" sz="1600" dirty="0">
              <a:latin typeface="Consolas" panose="020B0609020204030204" pitchFamily="49" charset="0"/>
            </a:endParaRPr>
          </a:p>
          <a:p>
            <a:pPr algn="l"/>
            <a:r>
              <a:rPr lang="pt-BR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r>
              <a:rPr lang="pt-BR" sz="1600" dirty="0">
                <a:solidFill>
                  <a:srgbClr val="0000FF"/>
                </a:solidFill>
                <a:latin typeface="+mn-lt"/>
              </a:rPr>
              <a:t>    </a:t>
            </a:r>
            <a:endParaRPr lang="pt-BR" sz="1600" dirty="0"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41A06D-6B34-DA6B-1F9D-627AA0B47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3382" y="1140229"/>
            <a:ext cx="4900618" cy="1143000"/>
          </a:xfrm>
        </p:spPr>
        <p:txBody>
          <a:bodyPr/>
          <a:lstStyle/>
          <a:p>
            <a:r>
              <a:rPr lang="pt-BR" sz="2000" b="1" dirty="0">
                <a:latin typeface="+mn-lt"/>
              </a:rPr>
              <a:t>Vamos voltar ao nosso problema da média das idades, agora usando VETOR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8921E03E-C5E2-6919-B7BD-3BFB6CDBB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5340038"/>
              </p:ext>
            </p:extLst>
          </p:nvPr>
        </p:nvGraphicFramePr>
        <p:xfrm>
          <a:off x="4358601" y="1999788"/>
          <a:ext cx="4798763" cy="803515"/>
        </p:xfrm>
        <a:graphic>
          <a:graphicData uri="http://schemas.openxmlformats.org/drawingml/2006/table">
            <a:tbl>
              <a:tblPr/>
              <a:tblGrid>
                <a:gridCol w="9852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3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73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2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5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60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092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Times New Roman"/>
                          <a:cs typeface="Tahoma"/>
                        </a:rPr>
                        <a:t>0</a:t>
                      </a:r>
                      <a:endParaRPr lang="pt-B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Times New Roman"/>
                          <a:cs typeface="Tahoma"/>
                        </a:rPr>
                        <a:t>1</a:t>
                      </a:r>
                      <a:endParaRPr lang="pt-B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Times New Roman"/>
                          <a:cs typeface="Tahoma"/>
                        </a:rPr>
                        <a:t>2</a:t>
                      </a:r>
                      <a:endParaRPr lang="pt-B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Times New Roman"/>
                          <a:cs typeface="Tahoma"/>
                        </a:rPr>
                        <a:t>3</a:t>
                      </a:r>
                      <a:endParaRPr lang="pt-B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0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Times New Roman"/>
                          <a:cs typeface="Tahoma"/>
                        </a:rPr>
                        <a:t>4</a:t>
                      </a:r>
                      <a:endParaRPr lang="pt-BR" sz="105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77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r>
                        <a:rPr lang="pt-BR" sz="24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Calibri"/>
                          <a:ea typeface="Times New Roman"/>
                          <a:cs typeface="Tahoma"/>
                        </a:rPr>
                        <a:t>idade</a:t>
                      </a:r>
                      <a:endParaRPr lang="pt-BR" sz="11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Times New Roman"/>
                        <a:ea typeface="Times New Roman"/>
                      </a:endParaRPr>
                    </a:p>
                  </a:txBody>
                  <a:tcPr marL="44453" marR="44453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highlight>
                          <a:srgbClr val="C0C0C0"/>
                        </a:highlight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highlight>
                          <a:srgbClr val="C0C0C0"/>
                        </a:highlight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highlight>
                          <a:srgbClr val="C0C0C0"/>
                        </a:highlight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highlight>
                          <a:srgbClr val="C0C0C0"/>
                        </a:highlight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508000" algn="l"/>
                        </a:tabLst>
                      </a:pPr>
                      <a:endParaRPr lang="pt-BR" sz="240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highlight>
                          <a:srgbClr val="C0C0C0"/>
                        </a:highlight>
                        <a:latin typeface="Calibri"/>
                        <a:ea typeface="Times New Roman"/>
                        <a:cs typeface="Tahoma"/>
                      </a:endParaRPr>
                    </a:p>
                  </a:txBody>
                  <a:tcPr marL="44453" marR="44453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Elipse 5">
            <a:extLst>
              <a:ext uri="{FF2B5EF4-FFF2-40B4-BE49-F238E27FC236}">
                <a16:creationId xmlns:a16="http://schemas.microsoft.com/office/drawing/2014/main" id="{AB50F11D-2D33-439B-2926-E7016AD62827}"/>
              </a:ext>
            </a:extLst>
          </p:cNvPr>
          <p:cNvSpPr/>
          <p:nvPr/>
        </p:nvSpPr>
        <p:spPr>
          <a:xfrm>
            <a:off x="251520" y="1484784"/>
            <a:ext cx="3034596" cy="360040"/>
          </a:xfrm>
          <a:prstGeom prst="ellipse">
            <a:avLst/>
          </a:prstGeom>
          <a:noFill/>
          <a:ln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B502F541-4C8C-DCC8-D069-0A0400EEB52B}"/>
              </a:ext>
            </a:extLst>
          </p:cNvPr>
          <p:cNvSpPr/>
          <p:nvPr/>
        </p:nvSpPr>
        <p:spPr>
          <a:xfrm>
            <a:off x="611560" y="2926860"/>
            <a:ext cx="3034596" cy="718164"/>
          </a:xfrm>
          <a:prstGeom prst="ellipse">
            <a:avLst/>
          </a:prstGeom>
          <a:noFill/>
          <a:ln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838E157-9EEF-22E6-A6E6-333F289C0F5F}"/>
              </a:ext>
            </a:extLst>
          </p:cNvPr>
          <p:cNvSpPr/>
          <p:nvPr/>
        </p:nvSpPr>
        <p:spPr>
          <a:xfrm>
            <a:off x="611560" y="4959706"/>
            <a:ext cx="3034596" cy="360040"/>
          </a:xfrm>
          <a:prstGeom prst="ellipse">
            <a:avLst/>
          </a:prstGeom>
          <a:noFill/>
          <a:ln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E31A98A7-40B5-AA78-3240-8BAF2B05D3B4}"/>
              </a:ext>
            </a:extLst>
          </p:cNvPr>
          <p:cNvSpPr/>
          <p:nvPr/>
        </p:nvSpPr>
        <p:spPr>
          <a:xfrm>
            <a:off x="5895929" y="5139726"/>
            <a:ext cx="3034596" cy="360040"/>
          </a:xfrm>
          <a:prstGeom prst="ellipse">
            <a:avLst/>
          </a:prstGeom>
          <a:noFill/>
          <a:ln>
            <a:solidFill>
              <a:srgbClr val="CC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255502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6" grpId="0" animBg="1"/>
      <p:bldP spid="8" grpId="0" animBg="1"/>
      <p:bldP spid="10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ítulo 1"/>
          <p:cNvSpPr>
            <a:spLocks noGrp="1"/>
          </p:cNvSpPr>
          <p:nvPr>
            <p:ph type="title"/>
          </p:nvPr>
        </p:nvSpPr>
        <p:spPr>
          <a:xfrm>
            <a:off x="899592" y="23018"/>
            <a:ext cx="6972300" cy="1143000"/>
          </a:xfrm>
        </p:spPr>
        <p:txBody>
          <a:bodyPr/>
          <a:lstStyle/>
          <a:p>
            <a:pPr algn="l"/>
            <a:r>
              <a:rPr lang="pt-BR" altLang="pt-BR" dirty="0"/>
              <a:t>Exercícios</a:t>
            </a:r>
          </a:p>
        </p:txBody>
      </p:sp>
      <p:sp>
        <p:nvSpPr>
          <p:cNvPr id="58371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5190332"/>
          </a:xfrm>
        </p:spPr>
        <p:txBody>
          <a:bodyPr/>
          <a:lstStyle/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pt-BR" sz="2000" dirty="0"/>
              <a:t>Escreva um programa que leia um vetor os  saldos das contas de 10 pessoas e mostre na tela de saída: 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</a:pPr>
            <a:r>
              <a:rPr lang="pt-BR" sz="1800" dirty="0"/>
              <a:t>os valores dos saldos  positivos </a:t>
            </a:r>
          </a:p>
          <a:p>
            <a:pPr marL="914400" lvl="1" indent="-514350">
              <a:spcBef>
                <a:spcPts val="600"/>
              </a:spcBef>
              <a:spcAft>
                <a:spcPts val="600"/>
              </a:spcAft>
            </a:pPr>
            <a:r>
              <a:rPr lang="pt-BR" sz="1800" dirty="0"/>
              <a:t>O número de pessoas que estão com o saldo negativo.  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pt-BR" sz="2000" dirty="0"/>
              <a:t>Escreva um programa que leia do teclado  um vetor de 10 elementos inteiros . Encontre e mostre o maior elemento e sua posição no vetor.</a:t>
            </a:r>
          </a:p>
          <a:p>
            <a:pPr marL="514350" indent="-514350">
              <a:spcAft>
                <a:spcPts val="1200"/>
              </a:spcAft>
              <a:buFont typeface="+mj-lt"/>
              <a:buAutoNum type="arabicPeriod"/>
            </a:pPr>
            <a:r>
              <a:rPr lang="pt-BR" altLang="pt-BR" sz="2000" dirty="0"/>
              <a:t>Armazene em vetor o RM de cada aluno de uma sala (máximo 40 alunos). Em outros 2 vetores armazene as notas de 2 provas realizadas pelos alunos. O programa deve:</a:t>
            </a:r>
          </a:p>
          <a:p>
            <a:pPr lvl="1"/>
            <a:r>
              <a:rPr lang="pt-BR" altLang="pt-BR" sz="2000" dirty="0"/>
              <a:t>Calcular a média das 2 notas de cada aluno gerando o vetor de médias;</a:t>
            </a:r>
          </a:p>
          <a:p>
            <a:pPr lvl="1"/>
            <a:r>
              <a:rPr lang="pt-BR" altLang="pt-BR" sz="2000" dirty="0"/>
              <a:t>Criar um vetor com os códigos do alunos que estão aprovados (média maior igual a 6,0). Apresentar esse vetor.</a:t>
            </a:r>
          </a:p>
          <a:p>
            <a:pPr marL="0" indent="0">
              <a:spcAft>
                <a:spcPts val="1200"/>
              </a:spcAft>
              <a:buNone/>
            </a:pPr>
            <a:endParaRPr lang="pt-BR" altLang="pt-BR" sz="2000" dirty="0"/>
          </a:p>
          <a:p>
            <a:endParaRPr lang="pt-BR" altLang="pt-BR" sz="2000" dirty="0"/>
          </a:p>
        </p:txBody>
      </p:sp>
      <p:sp>
        <p:nvSpPr>
          <p:cNvPr id="58373" name="Espaço Reservado para Número de Slide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itchFamily="34" charset="0"/>
              <a:buChar char="•"/>
              <a:defRPr sz="3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  <a:defRPr sz="28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20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Char char="»"/>
              <a:defRPr sz="20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9235D5-1C77-40DD-806F-F87135C026C6}" type="slidenum">
              <a:rPr lang="pt-BR" altLang="en-US" sz="1200">
                <a:solidFill>
                  <a:srgbClr val="898989"/>
                </a:solidFill>
                <a:latin typeface="Arial" pitchFamily="34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pt-BR" altLang="en-US" sz="1200">
              <a:solidFill>
                <a:srgbClr val="898989"/>
              </a:solidFill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0727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solidFill>
                  <a:srgbClr val="00B050"/>
                </a:solidFill>
              </a:rPr>
              <a:t>Exercícios Resolvidos e Propostos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pt-BR" sz="2400" b="1" dirty="0">
                <a:solidFill>
                  <a:srgbClr val="014EBF"/>
                </a:solidFill>
              </a:rPr>
              <a:t>Livro Biblioteca Virtual (portal FIAP)</a:t>
            </a:r>
          </a:p>
          <a:p>
            <a:pPr fontAlgn="base"/>
            <a:r>
              <a:rPr lang="pt-BR" sz="2400" b="1" dirty="0"/>
              <a:t> </a:t>
            </a:r>
            <a:r>
              <a:rPr lang="pt-BR" sz="2400" dirty="0" err="1"/>
              <a:t>Ascêncio</a:t>
            </a:r>
            <a:r>
              <a:rPr lang="pt-BR" sz="2400" dirty="0"/>
              <a:t>, Ana Fernanda Gomes; Campos, </a:t>
            </a:r>
            <a:r>
              <a:rPr lang="pt-BR" sz="2400" dirty="0" err="1"/>
              <a:t>Edilene</a:t>
            </a:r>
            <a:r>
              <a:rPr lang="pt-BR" sz="2400" dirty="0"/>
              <a:t> Aparecida </a:t>
            </a:r>
            <a:r>
              <a:rPr lang="pt-BR" sz="2400" dirty="0" err="1"/>
              <a:t>Veneruchi</a:t>
            </a:r>
            <a:r>
              <a:rPr lang="pt-BR" sz="2400" dirty="0"/>
              <a:t>  de Campos - </a:t>
            </a:r>
            <a:r>
              <a:rPr lang="pt-BR" sz="2400" b="1" dirty="0"/>
              <a:t>“</a:t>
            </a:r>
            <a:r>
              <a:rPr lang="pt-BR" sz="2400" i="1" dirty="0"/>
              <a:t>Fundamentos da Programação de Computadores: algoritmos, Pascal, C/C++ e Java” - 3ª edição </a:t>
            </a:r>
            <a:endParaRPr lang="pt-BR" sz="2400" dirty="0"/>
          </a:p>
          <a:p>
            <a:pPr algn="ctr" fontAlgn="base">
              <a:buNone/>
            </a:pPr>
            <a:r>
              <a:rPr lang="pt-BR" sz="2400" b="1" dirty="0"/>
              <a:t>Capítulo 6</a:t>
            </a:r>
            <a:endParaRPr lang="pt-BR" sz="2400" dirty="0"/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5810604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fontAlgn="base"/>
            <a:r>
              <a:rPr lang="pt-BR" dirty="0"/>
              <a:t>DEITEL, P.; DEITEL, H., JAVA: como programar - 8ª edição.</a:t>
            </a:r>
            <a:endParaRPr lang="pt-BR" altLang="pt-BR" dirty="0"/>
          </a:p>
          <a:p>
            <a:r>
              <a:rPr lang="pt-BR" altLang="pt-BR" dirty="0"/>
              <a:t>ZIVIANI, </a:t>
            </a:r>
            <a:r>
              <a:rPr lang="pt-BR" altLang="pt-BR" dirty="0" err="1"/>
              <a:t>Nivio</a:t>
            </a:r>
            <a:r>
              <a:rPr lang="pt-BR" altLang="pt-BR" dirty="0"/>
              <a:t>. Projeto de algoritmos com implementações em Pascal e C. São Paulo: Pioneira,  2000.</a:t>
            </a:r>
          </a:p>
          <a:p>
            <a:pPr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27266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2" y="3222882"/>
            <a:ext cx="7759752" cy="19396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Copyright © 2025</a:t>
            </a:r>
          </a:p>
          <a:p>
            <a:pPr>
              <a:defRPr/>
            </a:pPr>
            <a:r>
              <a:rPr kumimoji="1" lang="pt-BR" sz="2000" dirty="0" err="1">
                <a:solidFill>
                  <a:schemeClr val="bg1"/>
                </a:solidFill>
                <a:latin typeface="Gotham-Bold"/>
                <a:cs typeface="Gotham-Bold"/>
              </a:rPr>
              <a:t>Profa</a:t>
            </a: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: Patrícia Magna</a:t>
            </a:r>
          </a:p>
          <a:p>
            <a:pPr>
              <a:defRPr/>
            </a:pPr>
            <a:endParaRPr kumimoji="1" lang="pt-BR" sz="2000" dirty="0">
              <a:solidFill>
                <a:schemeClr val="bg1"/>
              </a:solidFill>
              <a:latin typeface="Gotham-Bold"/>
              <a:cs typeface="Gotham-Bold"/>
            </a:endParaRPr>
          </a:p>
          <a:p>
            <a:pPr>
              <a:defRPr/>
            </a:pPr>
            <a:r>
              <a:rPr kumimoji="1" lang="pt-BR" sz="2000" dirty="0">
                <a:solidFill>
                  <a:schemeClr val="bg1"/>
                </a:solidFill>
                <a:latin typeface="Gotham-Bold"/>
                <a:cs typeface="Gotham-Bold"/>
              </a:rPr>
              <a:t>Todos direitos reservados. Reprodução ou divulgação total ou parcial deste documento é expressamente proibido sem o consentimento formal, por escrito, dos professores.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E4AAA4-6363-4581-962D-1ACCC2D600C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Espaço Reservado para Rodapé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pt-BR" altLang="en-US"/>
              <a:t>Algoritmos de Alta Performance - Profa Patrícia Magna</a:t>
            </a:r>
          </a:p>
        </p:txBody>
      </p:sp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1389</TotalTime>
  <Words>1314</Words>
  <Application>Microsoft Office PowerPoint</Application>
  <PresentationFormat>Apresentação na tela (4:3)</PresentationFormat>
  <Paragraphs>250</Paragraphs>
  <Slides>17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6" baseType="lpstr">
      <vt:lpstr>Arial</vt:lpstr>
      <vt:lpstr>Calibri</vt:lpstr>
      <vt:lpstr>Consolas</vt:lpstr>
      <vt:lpstr>Gotham HTF</vt:lpstr>
      <vt:lpstr>Gotham-Bold</vt:lpstr>
      <vt:lpstr>Gotham-Book</vt:lpstr>
      <vt:lpstr>Times New Roman</vt:lpstr>
      <vt:lpstr>Wingdings</vt:lpstr>
      <vt:lpstr>Tema do Office</vt:lpstr>
      <vt:lpstr>Apresentação do PowerPoint</vt:lpstr>
      <vt:lpstr>Afinal...por que precisamos de Estruturas de Dados???</vt:lpstr>
      <vt:lpstr>Apresentação do PowerPoint</vt:lpstr>
      <vt:lpstr>Já sei!!!</vt:lpstr>
      <vt:lpstr>Apresentação do PowerPoint</vt:lpstr>
      <vt:lpstr>Estruturas de Dados Homogêneas Vetores</vt:lpstr>
      <vt:lpstr>Vetores De uma forma mais simples...</vt:lpstr>
      <vt:lpstr> Vetores</vt:lpstr>
      <vt:lpstr> Vetores</vt:lpstr>
      <vt:lpstr>Declaração de uma variável do tipo    Vetor</vt:lpstr>
      <vt:lpstr>Comentários sobre a declaração e uso de vetores</vt:lpstr>
      <vt:lpstr>Como declarar e usar uma variável do tipo vetor</vt:lpstr>
      <vt:lpstr>Vamos voltar ao nosso problema da média das idades, agora usando VETOR</vt:lpstr>
      <vt:lpstr>Exercícios</vt:lpstr>
      <vt:lpstr>Exercícios Resolvidos e Propostos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Organização de Computadores</dc:title>
  <dc:creator>Patrícia Magna</dc:creator>
  <cp:lastModifiedBy>Patrícia Magna</cp:lastModifiedBy>
  <cp:revision>193</cp:revision>
  <dcterms:created xsi:type="dcterms:W3CDTF">2005-02-16T13:03:14Z</dcterms:created>
  <dcterms:modified xsi:type="dcterms:W3CDTF">2025-03-17T20:37:00Z</dcterms:modified>
</cp:coreProperties>
</file>