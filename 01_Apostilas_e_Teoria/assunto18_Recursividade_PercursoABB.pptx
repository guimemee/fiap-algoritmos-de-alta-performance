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664" r:id="rId3"/>
    <p:sldMasterId id="2147483739" r:id="rId4"/>
  </p:sldMasterIdLst>
  <p:notesMasterIdLst>
    <p:notesMasterId r:id="rId58"/>
  </p:notesMasterIdLst>
  <p:sldIdLst>
    <p:sldId id="267" r:id="rId5"/>
    <p:sldId id="402" r:id="rId6"/>
    <p:sldId id="411" r:id="rId7"/>
    <p:sldId id="403" r:id="rId8"/>
    <p:sldId id="406" r:id="rId9"/>
    <p:sldId id="257" r:id="rId10"/>
    <p:sldId id="273" r:id="rId11"/>
    <p:sldId id="270" r:id="rId12"/>
    <p:sldId id="261" r:id="rId13"/>
    <p:sldId id="262" r:id="rId14"/>
    <p:sldId id="263" r:id="rId15"/>
    <p:sldId id="264" r:id="rId16"/>
    <p:sldId id="412" r:id="rId17"/>
    <p:sldId id="413" r:id="rId18"/>
    <p:sldId id="414" r:id="rId19"/>
    <p:sldId id="415" r:id="rId20"/>
    <p:sldId id="416" r:id="rId21"/>
    <p:sldId id="417" r:id="rId22"/>
    <p:sldId id="274" r:id="rId23"/>
    <p:sldId id="279" r:id="rId24"/>
    <p:sldId id="280" r:id="rId25"/>
    <p:sldId id="281" r:id="rId26"/>
    <p:sldId id="282" r:id="rId27"/>
    <p:sldId id="290" r:id="rId28"/>
    <p:sldId id="283" r:id="rId29"/>
    <p:sldId id="284" r:id="rId30"/>
    <p:sldId id="287" r:id="rId31"/>
    <p:sldId id="288" r:id="rId32"/>
    <p:sldId id="289" r:id="rId33"/>
    <p:sldId id="418" r:id="rId34"/>
    <p:sldId id="275" r:id="rId35"/>
    <p:sldId id="276" r:id="rId36"/>
    <p:sldId id="405" r:id="rId37"/>
    <p:sldId id="400" r:id="rId38"/>
    <p:sldId id="399" r:id="rId39"/>
    <p:sldId id="379" r:id="rId40"/>
    <p:sldId id="407" r:id="rId41"/>
    <p:sldId id="401" r:id="rId42"/>
    <p:sldId id="419" r:id="rId43"/>
    <p:sldId id="420" r:id="rId44"/>
    <p:sldId id="421" r:id="rId45"/>
    <p:sldId id="422" r:id="rId46"/>
    <p:sldId id="423" r:id="rId47"/>
    <p:sldId id="424" r:id="rId48"/>
    <p:sldId id="425" r:id="rId49"/>
    <p:sldId id="426" r:id="rId50"/>
    <p:sldId id="364" r:id="rId51"/>
    <p:sldId id="427" r:id="rId52"/>
    <p:sldId id="366" r:id="rId53"/>
    <p:sldId id="428" r:id="rId54"/>
    <p:sldId id="367" r:id="rId55"/>
    <p:sldId id="330" r:id="rId56"/>
    <p:sldId id="265" r:id="rId57"/>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6600"/>
    <a:srgbClr val="FFEAA7"/>
    <a:srgbClr val="FFE181"/>
    <a:srgbClr val="5035F5"/>
    <a:srgbClr val="FFEEB9"/>
    <a:srgbClr val="FFD243"/>
    <a:srgbClr val="F40C0C"/>
    <a:srgbClr val="4639F1"/>
    <a:srgbClr val="F1350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449" autoAdjust="0"/>
  </p:normalViewPr>
  <p:slideViewPr>
    <p:cSldViewPr snapToGrid="0" snapToObjects="1">
      <p:cViewPr varScale="1">
        <p:scale>
          <a:sx n="59" d="100"/>
          <a:sy n="59" d="100"/>
        </p:scale>
        <p:origin x="1632"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2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498697-E7EB-B84D-9726-13965ED94444}" type="datetimeFigureOut">
              <a:rPr lang="en-US" smtClean="0"/>
              <a:pPr/>
              <a:t>10/18/2023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C6CD5E-26BD-9B45-BB2F-78648736C277}" type="slidenum">
              <a:rPr lang="en-US" smtClean="0"/>
              <a:pPr/>
              <a:t>‹nº›</a:t>
            </a:fld>
            <a:endParaRPr lang="en-US"/>
          </a:p>
        </p:txBody>
      </p:sp>
    </p:spTree>
    <p:extLst>
      <p:ext uri="{BB962C8B-B14F-4D97-AF65-F5344CB8AC3E}">
        <p14:creationId xmlns:p14="http://schemas.microsoft.com/office/powerpoint/2010/main" val="7992882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92763896-79B5-4B02-9FE6-EBC0F66FBFBF}" type="slidenum">
              <a:rPr lang="pt-BR" smtClean="0"/>
              <a:t>22</a:t>
            </a:fld>
            <a:endParaRPr 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92763896-79B5-4B02-9FE6-EBC0F66FBFBF}" type="slidenum">
              <a:rPr lang="pt-BR" smtClean="0"/>
              <a:t>31</a:t>
            </a:fld>
            <a:endParaRPr lang="pt-B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37</a:t>
            </a:fld>
            <a:endParaRPr lang="en-US"/>
          </a:p>
        </p:txBody>
      </p:sp>
    </p:spTree>
    <p:extLst>
      <p:ext uri="{BB962C8B-B14F-4D97-AF65-F5344CB8AC3E}">
        <p14:creationId xmlns:p14="http://schemas.microsoft.com/office/powerpoint/2010/main" val="3307748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39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52</a:t>
            </a:fld>
            <a:endParaRPr lang="en-US"/>
          </a:p>
        </p:txBody>
      </p:sp>
    </p:spTree>
    <p:extLst>
      <p:ext uri="{BB962C8B-B14F-4D97-AF65-F5344CB8AC3E}">
        <p14:creationId xmlns:p14="http://schemas.microsoft.com/office/powerpoint/2010/main" val="897201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C6CD5E-26BD-9B45-BB2F-78648736C277}" type="slidenum">
              <a:rPr lang="en-US" smtClean="0"/>
              <a:pPr/>
              <a:t>53</a:t>
            </a:fld>
            <a:endParaRPr lang="en-US"/>
          </a:p>
        </p:txBody>
      </p:sp>
    </p:spTree>
    <p:extLst>
      <p:ext uri="{BB962C8B-B14F-4D97-AF65-F5344CB8AC3E}">
        <p14:creationId xmlns:p14="http://schemas.microsoft.com/office/powerpoint/2010/main" val="3144727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323528" y="44625"/>
            <a:ext cx="7272808" cy="720079"/>
          </a:xfrm>
        </p:spPr>
        <p:txBody>
          <a:bodyPr/>
          <a:lstStyle>
            <a:lvl1pPr>
              <a:defRPr baseline="0">
                <a:solidFill>
                  <a:schemeClr val="bg1"/>
                </a:solidFill>
              </a:defRPr>
            </a:lvl1pPr>
          </a:lstStyle>
          <a:p>
            <a:r>
              <a:rPr lang="pt-BR" dirty="0"/>
              <a:t>Slide 1</a:t>
            </a:r>
          </a:p>
        </p:txBody>
      </p:sp>
      <p:sp>
        <p:nvSpPr>
          <p:cNvPr id="3" name="Subtítulo 2"/>
          <p:cNvSpPr>
            <a:spLocks noGrp="1"/>
          </p:cNvSpPr>
          <p:nvPr>
            <p:ph type="subTitle" idx="1"/>
          </p:nvPr>
        </p:nvSpPr>
        <p:spPr>
          <a:xfrm>
            <a:off x="179512" y="908720"/>
            <a:ext cx="8712968" cy="5328592"/>
          </a:xfrm>
        </p:spPr>
        <p:txBody>
          <a:bodyPr/>
          <a:lstStyle>
            <a:lvl1pPr marL="0" indent="0" algn="l">
              <a:buNone/>
              <a:defRPr>
                <a:solidFill>
                  <a:schemeClr val="tx1">
                    <a:lumMod val="95000"/>
                    <a:lumOff val="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pt-B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9581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190500"/>
            <a:ext cx="7323138" cy="555625"/>
          </a:xfrm>
        </p:spPr>
        <p:txBody>
          <a:bodyPr/>
          <a:lstStyle/>
          <a:p>
            <a:r>
              <a:rPr lang="x-none"/>
              <a:t>Click to edit Master title style</a:t>
            </a:r>
            <a:endParaRPr lang="pt-BR"/>
          </a:p>
        </p:txBody>
      </p:sp>
    </p:spTree>
    <p:extLst>
      <p:ext uri="{BB962C8B-B14F-4D97-AF65-F5344CB8AC3E}">
        <p14:creationId xmlns:p14="http://schemas.microsoft.com/office/powerpoint/2010/main" val="154162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0" y="44625"/>
            <a:ext cx="7596336" cy="1224136"/>
          </a:xfrm>
        </p:spPr>
        <p:txBody>
          <a:bodyPr/>
          <a:lstStyle>
            <a:lvl1pPr>
              <a:defRPr>
                <a:solidFill>
                  <a:schemeClr val="bg1"/>
                </a:solidFill>
                <a:latin typeface="Arial" pitchFamily="34" charset="0"/>
                <a:cs typeface="Arial" pitchFamily="34" charset="0"/>
              </a:defRPr>
            </a:lvl1pPr>
          </a:lstStyle>
          <a:p>
            <a:r>
              <a:rPr lang="pt-BR" dirty="0"/>
              <a:t>Slide 2</a:t>
            </a:r>
          </a:p>
        </p:txBody>
      </p:sp>
      <p:sp>
        <p:nvSpPr>
          <p:cNvPr id="3" name="Subtítulo 2"/>
          <p:cNvSpPr>
            <a:spLocks noGrp="1"/>
          </p:cNvSpPr>
          <p:nvPr>
            <p:ph type="subTitle" idx="1"/>
          </p:nvPr>
        </p:nvSpPr>
        <p:spPr>
          <a:xfrm>
            <a:off x="1475656" y="1340768"/>
            <a:ext cx="6192688" cy="4104456"/>
          </a:xfr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Clique para editar o estilo do subtítulo mestre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619672" y="44625"/>
            <a:ext cx="6120680" cy="1008112"/>
          </a:xfrm>
        </p:spPr>
        <p:txBody>
          <a:bodyPr/>
          <a:lstStyle>
            <a:lvl1pPr>
              <a:defRPr>
                <a:solidFill>
                  <a:schemeClr val="bg1"/>
                </a:solidFill>
                <a:latin typeface="Arial" pitchFamily="34" charset="0"/>
                <a:cs typeface="Arial" pitchFamily="34" charset="0"/>
              </a:defRPr>
            </a:lvl1pPr>
          </a:lstStyle>
          <a:p>
            <a:r>
              <a:rPr lang="pt-BR" dirty="0"/>
              <a:t>Slide 3</a:t>
            </a:r>
          </a:p>
        </p:txBody>
      </p:sp>
      <p:sp>
        <p:nvSpPr>
          <p:cNvPr id="3" name="Subtítulo 2"/>
          <p:cNvSpPr>
            <a:spLocks noGrp="1"/>
          </p:cNvSpPr>
          <p:nvPr>
            <p:ph type="subTitle" idx="1"/>
          </p:nvPr>
        </p:nvSpPr>
        <p:spPr>
          <a:xfrm>
            <a:off x="1547664" y="1268760"/>
            <a:ext cx="6192688" cy="4176464"/>
          </a:xfr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Clique para editar o estilo do subtítulo mestre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p>
            <a:fld id="{14DC0541-0AF1-4212-AE65-1BEB80F5FDFE}" type="datetime1">
              <a:rPr lang="pt-BR" smtClean="0"/>
              <a:pPr/>
              <a:t>18/10/2023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6629CB-7937-4506-A327-ACF88B95BB03}" type="slidenum">
              <a:rPr lang="en-US" smtClean="0"/>
              <a:pPr/>
              <a:t>‹nº›</a:t>
            </a:fld>
            <a:endParaRPr lang="en-US"/>
          </a:p>
        </p:txBody>
      </p:sp>
    </p:spTree>
    <p:extLst>
      <p:ext uri="{BB962C8B-B14F-4D97-AF65-F5344CB8AC3E}">
        <p14:creationId xmlns:p14="http://schemas.microsoft.com/office/powerpoint/2010/main" val="617856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3"/>
          <p:cNvSpPr/>
          <p:nvPr userDrawn="1"/>
        </p:nvSpPr>
        <p:spPr>
          <a:xfrm>
            <a:off x="8044249" y="6343992"/>
            <a:ext cx="1176708" cy="365125"/>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9557" y="328709"/>
            <a:ext cx="8229600" cy="466767"/>
          </a:xfrm>
        </p:spPr>
        <p:txBody>
          <a:bodyPr>
            <a:noAutofit/>
          </a:bodyPr>
          <a:lstStyle>
            <a:lvl1pPr algn="l">
              <a:defRPr sz="2500"/>
            </a:lvl1pPr>
          </a:lstStyle>
          <a:p>
            <a:r>
              <a:rPr lang="x-none"/>
              <a:t>Click to edit Master title style</a:t>
            </a:r>
            <a:endParaRPr lang="en-US" dirty="0"/>
          </a:p>
        </p:txBody>
      </p:sp>
      <p:cxnSp>
        <p:nvCxnSpPr>
          <p:cNvPr id="8" name="Conector reto 7"/>
          <p:cNvCxnSpPr/>
          <p:nvPr userDrawn="1"/>
        </p:nvCxnSpPr>
        <p:spPr>
          <a:xfrm>
            <a:off x="457200" y="741405"/>
            <a:ext cx="8229600" cy="0"/>
          </a:xfrm>
          <a:prstGeom prst="line">
            <a:avLst/>
          </a:prstGeom>
          <a:ln w="31750">
            <a:solidFill>
              <a:srgbClr val="F0265D"/>
            </a:solidFill>
          </a:ln>
        </p:spPr>
        <p:style>
          <a:lnRef idx="2">
            <a:schemeClr val="accent1"/>
          </a:lnRef>
          <a:fillRef idx="0">
            <a:schemeClr val="accent1"/>
          </a:fillRef>
          <a:effectRef idx="1">
            <a:schemeClr val="accent1"/>
          </a:effectRef>
          <a:fontRef idx="minor">
            <a:schemeClr val="tx1"/>
          </a:fontRef>
        </p:style>
      </p:cxnSp>
      <p:pic>
        <p:nvPicPr>
          <p:cNvPr id="9" name="Picture 17"/>
          <p:cNvPicPr>
            <a:picLocks noChangeAspect="1"/>
          </p:cNvPicPr>
          <p:nvPr userDrawn="1"/>
        </p:nvPicPr>
        <p:blipFill>
          <a:blip r:embed="rId2" cstate="print"/>
          <a:stretch>
            <a:fillRect/>
          </a:stretch>
        </p:blipFill>
        <p:spPr>
          <a:xfrm>
            <a:off x="7829017" y="329329"/>
            <a:ext cx="997107" cy="272893"/>
          </a:xfrm>
          <a:prstGeom prst="rect">
            <a:avLst/>
          </a:prstGeom>
        </p:spPr>
      </p:pic>
      <p:sp>
        <p:nvSpPr>
          <p:cNvPr id="11" name="Rectangle 18"/>
          <p:cNvSpPr/>
          <p:nvPr userDrawn="1"/>
        </p:nvSpPr>
        <p:spPr>
          <a:xfrm>
            <a:off x="397557" y="364111"/>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Espaço Reservado para Data 11"/>
          <p:cNvSpPr>
            <a:spLocks noGrp="1"/>
          </p:cNvSpPr>
          <p:nvPr>
            <p:ph type="dt" sz="half" idx="10"/>
          </p:nvPr>
        </p:nvSpPr>
        <p:spPr/>
        <p:txBody>
          <a:bodyPr/>
          <a:lstStyle/>
          <a:p>
            <a:fld id="{8F5503C1-058C-4EB5-96B6-EA88AF55F5C1}" type="datetime1">
              <a:rPr lang="pt-BR" smtClean="0"/>
              <a:pPr/>
              <a:t>18/10/2023</a:t>
            </a:fld>
            <a:endParaRPr lang="pt-BR"/>
          </a:p>
        </p:txBody>
      </p:sp>
      <p:sp>
        <p:nvSpPr>
          <p:cNvPr id="13" name="Espaço Reservado para Número de Slide 12"/>
          <p:cNvSpPr>
            <a:spLocks noGrp="1"/>
          </p:cNvSpPr>
          <p:nvPr>
            <p:ph type="sldNum" sz="quarter" idx="11"/>
          </p:nvPr>
        </p:nvSpPr>
        <p:spPr/>
        <p:txBody>
          <a:bodyPr/>
          <a:lstStyle/>
          <a:p>
            <a:fld id="{0DBB9FE3-D63C-4A40-B010-4651D12E128D}" type="slidenum">
              <a:rPr lang="pt-BR" smtClean="0"/>
              <a:pPr/>
              <a:t>‹nº›</a:t>
            </a:fld>
            <a:endParaRPr lang="pt-BR"/>
          </a:p>
        </p:txBody>
      </p:sp>
      <p:sp>
        <p:nvSpPr>
          <p:cNvPr id="14" name="Espaço Reservado para Rodapé 13"/>
          <p:cNvSpPr>
            <a:spLocks noGrp="1"/>
          </p:cNvSpPr>
          <p:nvPr>
            <p:ph type="ftr" sz="quarter" idx="12"/>
          </p:nvPr>
        </p:nvSpPr>
        <p:spPr/>
        <p:txBody>
          <a:bodyPr/>
          <a:lstStyle/>
          <a:p>
            <a:endParaRPr lang="pt-BR" dirty="0"/>
          </a:p>
        </p:txBody>
      </p:sp>
    </p:spTree>
    <p:extLst>
      <p:ext uri="{BB962C8B-B14F-4D97-AF65-F5344CB8AC3E}">
        <p14:creationId xmlns:p14="http://schemas.microsoft.com/office/powerpoint/2010/main" val="2458548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x-non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a:t>Click to edit Master text styles</a:t>
            </a:r>
          </a:p>
        </p:txBody>
      </p:sp>
      <p:sp>
        <p:nvSpPr>
          <p:cNvPr id="4" name="Date Placeholder 3"/>
          <p:cNvSpPr>
            <a:spLocks noGrp="1"/>
          </p:cNvSpPr>
          <p:nvPr>
            <p:ph type="dt" sz="half" idx="10"/>
          </p:nvPr>
        </p:nvSpPr>
        <p:spPr/>
        <p:txBody>
          <a:bodyPr/>
          <a:lstStyle/>
          <a:p>
            <a:fld id="{76C82AD5-A9D0-494C-8394-BFC65EB7C7BD}" type="datetime1">
              <a:rPr lang="pt-BR" smtClean="0"/>
              <a:pPr/>
              <a:t>18/10/2023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6629CB-7937-4506-A327-ACF88B95BB03}" type="slidenum">
              <a:rPr lang="en-US" smtClean="0"/>
              <a:pPr/>
              <a:t>‹nº›</a:t>
            </a:fld>
            <a:endParaRPr lang="en-US"/>
          </a:p>
        </p:txBody>
      </p:sp>
    </p:spTree>
    <p:extLst>
      <p:ext uri="{BB962C8B-B14F-4D97-AF65-F5344CB8AC3E}">
        <p14:creationId xmlns:p14="http://schemas.microsoft.com/office/powerpoint/2010/main" val="1043828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Date Placeholder 4"/>
          <p:cNvSpPr>
            <a:spLocks noGrp="1"/>
          </p:cNvSpPr>
          <p:nvPr>
            <p:ph type="dt" sz="half" idx="10"/>
          </p:nvPr>
        </p:nvSpPr>
        <p:spPr/>
        <p:txBody>
          <a:bodyPr/>
          <a:lstStyle/>
          <a:p>
            <a:fld id="{510603EE-F11D-4783-A4C6-57897F69FFCA}" type="datetime1">
              <a:rPr lang="pt-BR" smtClean="0"/>
              <a:pPr/>
              <a:t>18/10/2023</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738292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p:txBody>
          <a:bodyPr/>
          <a:lstStyle/>
          <a:p>
            <a:fld id="{861A8D2D-973D-4AF9-8C55-588478A1F642}" type="datetime1">
              <a:rPr lang="pt-BR" smtClean="0"/>
              <a:pPr/>
              <a:t>18/10/2023</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3911823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p:txBody>
          <a:bodyPr/>
          <a:lstStyle/>
          <a:p>
            <a:fld id="{691C784B-6016-46C3-92A0-0660F7BEB8A5}" type="datetime1">
              <a:rPr lang="pt-BR" smtClean="0"/>
              <a:pPr/>
              <a:t>18/10/2023</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3114395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B8CD41-7B11-4310-96C9-B1B4BAD9AAE4}" type="datetime1">
              <a:rPr lang="pt-BR" smtClean="0"/>
              <a:pPr/>
              <a:t>18/10/2023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E4AAA4-6363-4581-962D-1ACCC2D600C5}" type="slidenum">
              <a:rPr lang="en-US" smtClean="0"/>
              <a:pPr/>
              <a:t>‹nº›</a:t>
            </a:fld>
            <a:endParaRPr lang="en-US"/>
          </a:p>
        </p:txBody>
      </p:sp>
    </p:spTree>
    <p:extLst>
      <p:ext uri="{BB962C8B-B14F-4D97-AF65-F5344CB8AC3E}">
        <p14:creationId xmlns:p14="http://schemas.microsoft.com/office/powerpoint/2010/main" val="1324629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x-non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1AD3B408-14A4-48ED-AB74-C47C405CA9AC}" type="datetime1">
              <a:rPr lang="pt-BR" smtClean="0"/>
              <a:pPr/>
              <a:t>18/10/2023</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887339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x-non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CD4A5105-BAAD-4E4C-956D-5807F8596BA7}" type="datetime1">
              <a:rPr lang="pt-BR" smtClean="0"/>
              <a:pPr/>
              <a:t>18/10/2023</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5037524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338D73F8-814C-48F7-A6AC-19AC16C20047}" type="datetime1">
              <a:rPr lang="pt-BR" smtClean="0"/>
              <a:pPr/>
              <a:t>18/10/2023</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2469876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x-none"/>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EE5BB5F7-809A-49FD-A754-78E41FA3AC7D}" type="datetime1">
              <a:rPr lang="pt-BR" smtClean="0"/>
              <a:pPr/>
              <a:t>18/10/2023</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2583356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9" name="Espaço Reservado para Texto 8"/>
          <p:cNvSpPr>
            <a:spLocks noGrp="1"/>
          </p:cNvSpPr>
          <p:nvPr>
            <p:ph type="body" sz="quarter" idx="13"/>
          </p:nvPr>
        </p:nvSpPr>
        <p:spPr>
          <a:xfrm>
            <a:off x="3868103" y="1421810"/>
            <a:ext cx="4380748" cy="4873112"/>
          </a:xfrm>
        </p:spPr>
        <p:txBody>
          <a:bodyPr>
            <a:normAutofit/>
          </a:bodyPr>
          <a:lstStyle>
            <a:lvl1pPr marL="342900" indent="-342900">
              <a:buFont typeface="Wingdings" panose="05000000000000000000" pitchFamily="2" charset="2"/>
              <a:buChar char="§"/>
              <a:defRPr sz="1600">
                <a:latin typeface="Gotham-Book"/>
              </a:defRPr>
            </a:lvl1pPr>
            <a:lvl2pPr marL="800100" indent="-342900">
              <a:buFont typeface="Wingdings" panose="05000000000000000000" pitchFamily="2" charset="2"/>
              <a:buChar char="§"/>
              <a:defRPr sz="1600">
                <a:latin typeface="Gotham-Book"/>
              </a:defRPr>
            </a:lvl2pPr>
            <a:lvl3pPr marL="1257300" indent="-342900">
              <a:buFont typeface="Wingdings" panose="05000000000000000000" pitchFamily="2" charset="2"/>
              <a:buChar char="§"/>
              <a:defRPr sz="1600">
                <a:latin typeface="Gotham-Book"/>
              </a:defRPr>
            </a:lvl3pPr>
            <a:lvl4pPr marL="1714500" indent="-342900">
              <a:buFont typeface="Wingdings" panose="05000000000000000000" pitchFamily="2" charset="2"/>
              <a:buChar char="§"/>
              <a:defRPr sz="1600">
                <a:latin typeface="Gotham-Book"/>
              </a:defRPr>
            </a:lvl4pPr>
            <a:lvl5pPr marL="2171700" indent="-342900">
              <a:buFont typeface="Wingdings" panose="05000000000000000000" pitchFamily="2" charset="2"/>
              <a:buChar char="§"/>
              <a:defRPr sz="1600">
                <a:latin typeface="Gotham-Book"/>
              </a:defRPr>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pic>
        <p:nvPicPr>
          <p:cNvPr id="10" name="Picture 3" descr="caomputador.pn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97734" y="1421810"/>
            <a:ext cx="3062891" cy="2733630"/>
          </a:xfrm>
          <a:prstGeom prst="rect">
            <a:avLst/>
          </a:prstGeom>
        </p:spPr>
      </p:pic>
      <p:pic>
        <p:nvPicPr>
          <p:cNvPr id="11" name="Picture 4" descr="chicara.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rot="20276259">
            <a:off x="2055756" y="3444240"/>
            <a:ext cx="1559560" cy="1650015"/>
          </a:xfrm>
          <a:prstGeom prst="rect">
            <a:avLst/>
          </a:prstGeom>
        </p:spPr>
      </p:pic>
      <p:pic>
        <p:nvPicPr>
          <p:cNvPr id="12" name="Picture 6" descr="livros.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rot="1687626">
            <a:off x="648591" y="4397170"/>
            <a:ext cx="2064240" cy="1700934"/>
          </a:xfrm>
          <a:prstGeom prst="rect">
            <a:avLst/>
          </a:prstGeom>
        </p:spPr>
      </p:pic>
      <p:sp>
        <p:nvSpPr>
          <p:cNvPr id="13" name="TextBox 12"/>
          <p:cNvSpPr txBox="1"/>
          <p:nvPr userDrawn="1"/>
        </p:nvSpPr>
        <p:spPr>
          <a:xfrm>
            <a:off x="947123" y="736043"/>
            <a:ext cx="6801557"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REFERÊNCIAS</a:t>
            </a:r>
            <a:endParaRPr lang="en-US" sz="2800" b="1" dirty="0">
              <a:solidFill>
                <a:srgbClr val="303030"/>
              </a:solidFill>
              <a:latin typeface="Gotham HTF" pitchFamily="2" charset="0"/>
              <a:cs typeface="Gotham-Book"/>
            </a:endParaRPr>
          </a:p>
        </p:txBody>
      </p:sp>
      <p:sp>
        <p:nvSpPr>
          <p:cNvPr id="8"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3957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4.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259CB6-618C-4C0D-AD4F-00FFB7EC3806}" type="datetime1">
              <a:rPr lang="pt-BR" smtClean="0"/>
              <a:pPr/>
              <a:t>18/10/2023</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BB9FE3-D63C-4A40-B010-4651D12E128D}" type="slidenum">
              <a:rPr lang="pt-BR" smtClean="0"/>
              <a:pPr/>
              <a:t>‹nº›</a:t>
            </a:fld>
            <a:endParaRPr lang="pt-BR"/>
          </a:p>
        </p:txBody>
      </p:sp>
      <p:pic>
        <p:nvPicPr>
          <p:cNvPr id="2050" name="Picture 2" descr="K:\Júnior\B.I\FIAP Shift\Template 4.jpg"/>
          <p:cNvPicPr>
            <a:picLocks noChangeAspect="1" noChangeArrowheads="1"/>
          </p:cNvPicPr>
          <p:nvPr/>
        </p:nvPicPr>
        <p:blipFill>
          <a:blip r:embed="rId5" cstate="print"/>
          <a:srcRect/>
          <a:stretch>
            <a:fillRect/>
          </a:stretch>
        </p:blipFill>
        <p:spPr bwMode="auto">
          <a:xfrm>
            <a:off x="0" y="0"/>
            <a:ext cx="9144000" cy="6858001"/>
          </a:xfrm>
          <a:prstGeom prst="rect">
            <a:avLst/>
          </a:prstGeom>
          <a:noFill/>
        </p:spPr>
      </p:pic>
    </p:spTree>
  </p:cSld>
  <p:clrMap bg1="lt1" tx1="dk1" bg2="lt2" tx2="dk2" accent1="accent1" accent2="accent2" accent3="accent3" accent4="accent4" accent5="accent5" accent6="accent6" hlink="hlink" folHlink="folHlink"/>
  <p:sldLayoutIdLst>
    <p:sldLayoutId id="2147483661" r:id="rId1"/>
    <p:sldLayoutId id="2147483667" r:id="rId2"/>
    <p:sldLayoutId id="2147483668"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3B64BA-2F8D-4903-9D71-2BA133BDD820}" type="datetime1">
              <a:rPr lang="pt-BR" smtClean="0"/>
              <a:pPr/>
              <a:t>18/10/2023</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9B6C0-1EBF-4909-A23C-2B4E6C0F9776}" type="slidenum">
              <a:rPr lang="pt-BR" smtClean="0"/>
              <a:pPr/>
              <a:t>‹nº›</a:t>
            </a:fld>
            <a:endParaRPr lang="pt-BR"/>
          </a:p>
        </p:txBody>
      </p:sp>
      <p:pic>
        <p:nvPicPr>
          <p:cNvPr id="3074" name="Picture 2" descr="K:\Júnior\B.I\FIAP Shift\Template 2.jpg"/>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880FC3-7915-4765-A1D7-627DAD4111B6}" type="datetime1">
              <a:rPr lang="pt-BR" smtClean="0"/>
              <a:pPr/>
              <a:t>18/10/2023</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BDE16-AB64-4071-8A5E-208E5097AA46}" type="slidenum">
              <a:rPr lang="pt-BR" smtClean="0"/>
              <a:pPr/>
              <a:t>‹nº›</a:t>
            </a:fld>
            <a:endParaRPr lang="pt-BR"/>
          </a:p>
        </p:txBody>
      </p:sp>
      <p:pic>
        <p:nvPicPr>
          <p:cNvPr id="4098" name="Picture 2" descr="K:\Júnior\B.I\FIAP Shift\Template 3.jpg"/>
          <p:cNvPicPr>
            <a:picLocks noChangeAspect="1" noChangeArrowheads="1"/>
          </p:cNvPicPr>
          <p:nvPr/>
        </p:nvPicPr>
        <p:blipFill>
          <a:blip r:embed="rId3" cstate="print"/>
          <a:srcRect/>
          <a:stretch>
            <a:fillRect/>
          </a:stretch>
        </p:blipFill>
        <p:spPr bwMode="auto">
          <a:xfrm>
            <a:off x="0" y="-99393"/>
            <a:ext cx="9276524" cy="6957393"/>
          </a:xfrm>
          <a:prstGeom prst="rect">
            <a:avLst/>
          </a:prstGeom>
          <a:noFill/>
        </p:spPr>
      </p:pic>
    </p:spTree>
  </p:cSld>
  <p:clrMap bg1="lt1" tx1="dk1" bg2="lt2" tx2="dk2" accent1="accent1" accent2="accent2" accent3="accent3" accent4="accent4" accent5="accent5" accent6="accent6" hlink="hlink" folHlink="folHlink"/>
  <p:sldLayoutIdLst>
    <p:sldLayoutId id="214748366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x-none"/>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9DD337-29BF-4EC3-9532-A7144ADBA665}" type="datetime1">
              <a:rPr lang="pt-BR" smtClean="0"/>
              <a:pPr/>
              <a:t>18/10/2023</a:t>
            </a:fld>
            <a:endParaRPr lang="pt-B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BB9FE3-D63C-4A40-B010-4651D12E128D}" type="slidenum">
              <a:rPr lang="pt-BR" smtClean="0"/>
              <a:pPr/>
              <a:t>‹nº›</a:t>
            </a:fld>
            <a:endParaRPr lang="pt-BR"/>
          </a:p>
        </p:txBody>
      </p:sp>
    </p:spTree>
    <p:extLst>
      <p:ext uri="{BB962C8B-B14F-4D97-AF65-F5344CB8AC3E}">
        <p14:creationId xmlns:p14="http://schemas.microsoft.com/office/powerpoint/2010/main" val="3371062211"/>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3"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srcRect l="21776" r="21705"/>
          <a:stretch/>
        </p:blipFill>
        <p:spPr>
          <a:xfrm>
            <a:off x="0" y="2608031"/>
            <a:ext cx="9155651" cy="2789855"/>
          </a:xfrm>
          <a:prstGeom prst="rect">
            <a:avLst/>
          </a:prstGeom>
        </p:spPr>
      </p:pic>
      <p:pic>
        <p:nvPicPr>
          <p:cNvPr id="19" name="Picture 18"/>
          <p:cNvPicPr>
            <a:picLocks noChangeAspect="1"/>
          </p:cNvPicPr>
          <p:nvPr/>
        </p:nvPicPr>
        <p:blipFill>
          <a:blip r:embed="rId3" cstate="print"/>
          <a:stretch>
            <a:fillRect/>
          </a:stretch>
        </p:blipFill>
        <p:spPr>
          <a:xfrm>
            <a:off x="7829017" y="329329"/>
            <a:ext cx="997107" cy="272893"/>
          </a:xfrm>
          <a:prstGeom prst="rect">
            <a:avLst/>
          </a:prstGeom>
        </p:spPr>
      </p:pic>
      <p:sp>
        <p:nvSpPr>
          <p:cNvPr id="2" name="Rectangle 1"/>
          <p:cNvSpPr/>
          <p:nvPr/>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a:off x="1011881" y="3293781"/>
            <a:ext cx="8132119" cy="535531"/>
          </a:xfrm>
          <a:prstGeom prst="rect">
            <a:avLst/>
          </a:prstGeom>
          <a:noFill/>
        </p:spPr>
        <p:txBody>
          <a:bodyPr wrap="square" rtlCol="0">
            <a:spAutoFit/>
          </a:bodyPr>
          <a:lstStyle/>
          <a:p>
            <a:pPr>
              <a:lnSpc>
                <a:spcPct val="90000"/>
              </a:lnSpc>
            </a:pPr>
            <a:r>
              <a:rPr lang="pt-BR" sz="3200" dirty="0">
                <a:solidFill>
                  <a:srgbClr val="FFFF00"/>
                </a:solidFill>
                <a:latin typeface="Gotham-Bold"/>
                <a:cs typeface="Gotham-Bold"/>
              </a:rPr>
              <a:t>Recursividade e Percurso Árvores Binária </a:t>
            </a:r>
            <a:endParaRPr lang="en-US" sz="3200" dirty="0">
              <a:solidFill>
                <a:srgbClr val="FFFF00"/>
              </a:solidFill>
              <a:latin typeface="Gotham-Bold"/>
              <a:cs typeface="Gotham-Bold"/>
            </a:endParaRPr>
          </a:p>
        </p:txBody>
      </p:sp>
      <p:sp>
        <p:nvSpPr>
          <p:cNvPr id="21" name="TextBox 20"/>
          <p:cNvSpPr txBox="1"/>
          <p:nvPr/>
        </p:nvSpPr>
        <p:spPr>
          <a:xfrm>
            <a:off x="1011882" y="3857840"/>
            <a:ext cx="5541318" cy="400110"/>
          </a:xfrm>
          <a:prstGeom prst="rect">
            <a:avLst/>
          </a:prstGeom>
          <a:noFill/>
        </p:spPr>
        <p:txBody>
          <a:bodyPr wrap="square" rtlCol="0">
            <a:spAutoFit/>
          </a:bodyPr>
          <a:lstStyle/>
          <a:p>
            <a:r>
              <a:rPr lang="pt-BR" sz="2000" dirty="0">
                <a:solidFill>
                  <a:schemeClr val="bg2"/>
                </a:solidFill>
                <a:latin typeface="Gotham-Bold"/>
              </a:rPr>
              <a:t>Algoritmos de Alta Performance</a:t>
            </a:r>
          </a:p>
        </p:txBody>
      </p:sp>
      <p:sp>
        <p:nvSpPr>
          <p:cNvPr id="22" name="TextBox 21"/>
          <p:cNvSpPr txBox="1"/>
          <p:nvPr/>
        </p:nvSpPr>
        <p:spPr>
          <a:xfrm>
            <a:off x="1011882" y="4444109"/>
            <a:ext cx="6817135" cy="341632"/>
          </a:xfrm>
          <a:prstGeom prst="rect">
            <a:avLst/>
          </a:prstGeom>
          <a:noFill/>
        </p:spPr>
        <p:txBody>
          <a:bodyPr wrap="square" rtlCol="0">
            <a:spAutoFit/>
          </a:bodyPr>
          <a:lstStyle/>
          <a:p>
            <a:pPr>
              <a:lnSpc>
                <a:spcPct val="90000"/>
              </a:lnSpc>
            </a:pPr>
            <a:r>
              <a:rPr lang="en-US" dirty="0" err="1">
                <a:solidFill>
                  <a:srgbClr val="FFFFFF"/>
                </a:solidFill>
                <a:latin typeface="Gotham-Bold"/>
                <a:cs typeface="Gotham-Bold"/>
              </a:rPr>
              <a:t>PROFa</a:t>
            </a:r>
            <a:r>
              <a:rPr lang="en-US" dirty="0">
                <a:solidFill>
                  <a:srgbClr val="FFFFFF"/>
                </a:solidFill>
                <a:latin typeface="Gotham-Bold"/>
                <a:cs typeface="Gotham-Bold"/>
              </a:rPr>
              <a:t>. PATRÍCIA MAGNA  - profpatricia.magna@fiap.com.br</a:t>
            </a:r>
          </a:p>
        </p:txBody>
      </p:sp>
      <p:sp>
        <p:nvSpPr>
          <p:cNvPr id="23" name="Rectangle 22"/>
          <p:cNvSpPr/>
          <p:nvPr/>
        </p:nvSpPr>
        <p:spPr>
          <a:xfrm flipH="1">
            <a:off x="759004" y="3423920"/>
            <a:ext cx="45719" cy="12903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Espaço Reservado para Número de Slide 9"/>
          <p:cNvSpPr>
            <a:spLocks noGrp="1"/>
          </p:cNvSpPr>
          <p:nvPr>
            <p:ph type="sldNum" sz="quarter" idx="12"/>
          </p:nvPr>
        </p:nvSpPr>
        <p:spPr/>
        <p:txBody>
          <a:bodyPr/>
          <a:lstStyle/>
          <a:p>
            <a:fld id="{93E4AAA4-6363-4581-962D-1ACCC2D600C5}" type="slidenum">
              <a:rPr lang="en-US" smtClean="0"/>
              <a:pPr/>
              <a:t>1</a:t>
            </a:fld>
            <a:endParaRPr lang="en-US"/>
          </a:p>
        </p:txBody>
      </p:sp>
    </p:spTree>
    <p:extLst>
      <p:ext uri="{BB962C8B-B14F-4D97-AF65-F5344CB8AC3E}">
        <p14:creationId xmlns:p14="http://schemas.microsoft.com/office/powerpoint/2010/main" val="16684445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dirty="0"/>
              <a:t>Recursividade</a:t>
            </a:r>
          </a:p>
        </p:txBody>
      </p:sp>
      <p:sp>
        <p:nvSpPr>
          <p:cNvPr id="2" name="Espaço Reservado para Número de Slide 1"/>
          <p:cNvSpPr>
            <a:spLocks noGrp="1"/>
          </p:cNvSpPr>
          <p:nvPr>
            <p:ph type="sldNum" sz="quarter" idx="11"/>
          </p:nvPr>
        </p:nvSpPr>
        <p:spPr/>
        <p:txBody>
          <a:bodyPr/>
          <a:lstStyle/>
          <a:p>
            <a:fld id="{93E4AAA4-6363-4581-962D-1ACCC2D600C5}" type="slidenum">
              <a:rPr lang="en-US" smtClean="0"/>
              <a:pPr/>
              <a:t>2</a:t>
            </a:fld>
            <a:endParaRPr lang="en-US"/>
          </a:p>
        </p:txBody>
      </p:sp>
      <p:sp>
        <p:nvSpPr>
          <p:cNvPr id="4" name="Retângulo 3"/>
          <p:cNvSpPr/>
          <p:nvPr/>
        </p:nvSpPr>
        <p:spPr>
          <a:xfrm>
            <a:off x="862642" y="1604514"/>
            <a:ext cx="7246188" cy="2862322"/>
          </a:xfrm>
          <a:prstGeom prst="rect">
            <a:avLst/>
          </a:prstGeom>
        </p:spPr>
        <p:txBody>
          <a:bodyPr wrap="square">
            <a:spAutoFit/>
          </a:bodyPr>
          <a:lstStyle/>
          <a:p>
            <a:r>
              <a:rPr lang="pt-BR" sz="2400" b="1" dirty="0"/>
              <a:t>Recursividade</a:t>
            </a:r>
            <a:r>
              <a:rPr lang="pt-BR" sz="2400" dirty="0"/>
              <a:t> é um termo usado de maneira mais geral para descrever o processo de repetição de um objeto de um jeito similar ao que já fora mostrado. Um bom exemplo disso são as imagens repetidas que aparecem quando dois espelhos são apontados um para o outro.</a:t>
            </a:r>
          </a:p>
          <a:p>
            <a:endParaRPr lang="pt-BR" sz="2000" dirty="0"/>
          </a:p>
          <a:p>
            <a:endParaRPr lang="pt-BR" dirty="0"/>
          </a:p>
          <a:p>
            <a:r>
              <a:rPr lang="pt-BR" dirty="0"/>
              <a:t>https://pt.wikipedia.org/wiki/Recursividade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dirty="0"/>
              <a:t>Recursividade</a:t>
            </a:r>
          </a:p>
        </p:txBody>
      </p:sp>
      <p:sp>
        <p:nvSpPr>
          <p:cNvPr id="2" name="Espaço Reservado para Número de Slide 1"/>
          <p:cNvSpPr>
            <a:spLocks noGrp="1"/>
          </p:cNvSpPr>
          <p:nvPr>
            <p:ph type="sldNum" sz="quarter" idx="11"/>
          </p:nvPr>
        </p:nvSpPr>
        <p:spPr/>
        <p:txBody>
          <a:bodyPr/>
          <a:lstStyle/>
          <a:p>
            <a:fld id="{93E4AAA4-6363-4581-962D-1ACCC2D600C5}" type="slidenum">
              <a:rPr lang="en-US" smtClean="0"/>
              <a:pPr/>
              <a:t>3</a:t>
            </a:fld>
            <a:endParaRPr lang="en-US"/>
          </a:p>
        </p:txBody>
      </p:sp>
      <p:pic>
        <p:nvPicPr>
          <p:cNvPr id="5" name="Imagem 4" descr="imagem_recursiva.jpg"/>
          <p:cNvPicPr>
            <a:picLocks noChangeAspect="1"/>
          </p:cNvPicPr>
          <p:nvPr/>
        </p:nvPicPr>
        <p:blipFill>
          <a:blip r:embed="rId2"/>
          <a:stretch>
            <a:fillRect/>
          </a:stretch>
        </p:blipFill>
        <p:spPr>
          <a:xfrm>
            <a:off x="1924050" y="1145118"/>
            <a:ext cx="5211232" cy="52112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Aplicação de Recursividade em Programação</a:t>
            </a:r>
          </a:p>
        </p:txBody>
      </p:sp>
      <p:sp>
        <p:nvSpPr>
          <p:cNvPr id="3" name="Espaço Reservado para Número de Slide 2"/>
          <p:cNvSpPr>
            <a:spLocks noGrp="1"/>
          </p:cNvSpPr>
          <p:nvPr>
            <p:ph type="sldNum" sz="quarter" idx="11"/>
          </p:nvPr>
        </p:nvSpPr>
        <p:spPr/>
        <p:txBody>
          <a:bodyPr/>
          <a:lstStyle/>
          <a:p>
            <a:fld id="{0DBB9FE3-D63C-4A40-B010-4651D12E128D}" type="slidenum">
              <a:rPr lang="pt-BR" smtClean="0"/>
              <a:pPr/>
              <a:t>4</a:t>
            </a:fld>
            <a:endParaRPr lang="pt-BR"/>
          </a:p>
        </p:txBody>
      </p:sp>
      <p:sp>
        <p:nvSpPr>
          <p:cNvPr id="4" name="Retângulo 3"/>
          <p:cNvSpPr/>
          <p:nvPr/>
        </p:nvSpPr>
        <p:spPr>
          <a:xfrm>
            <a:off x="469557" y="1166843"/>
            <a:ext cx="8217243" cy="4524315"/>
          </a:xfrm>
          <a:prstGeom prst="rect">
            <a:avLst/>
          </a:prstGeom>
        </p:spPr>
        <p:txBody>
          <a:bodyPr wrap="square">
            <a:spAutoFit/>
          </a:bodyPr>
          <a:lstStyle/>
          <a:p>
            <a:r>
              <a:rPr lang="pt-BR" sz="2400" dirty="0"/>
              <a:t>Alguns  problemas têm como propriedade de ter sua solução facilitada a cada instância menor do mesmo problema.</a:t>
            </a:r>
          </a:p>
          <a:p>
            <a:r>
              <a:rPr lang="pt-BR" sz="2400" dirty="0"/>
              <a:t>Diz-se que esses problemas  possuem uma </a:t>
            </a:r>
            <a:r>
              <a:rPr lang="pt-BR" sz="2400" i="1" dirty="0"/>
              <a:t>estrutura recursiva</a:t>
            </a:r>
            <a:r>
              <a:rPr lang="pt-BR" sz="2400" dirty="0"/>
              <a:t>.  </a:t>
            </a:r>
          </a:p>
          <a:p>
            <a:endParaRPr lang="pt-BR" sz="2400" dirty="0"/>
          </a:p>
          <a:p>
            <a:r>
              <a:rPr lang="pt-BR" sz="2400" dirty="0"/>
              <a:t>A resolução desse tipo de problema baseia-se na aplicação do seguinte método:</a:t>
            </a:r>
          </a:p>
          <a:p>
            <a:pPr marL="457200" indent="-457200">
              <a:buFont typeface="+mj-lt"/>
              <a:buAutoNum type="arabicPeriod"/>
            </a:pPr>
            <a:r>
              <a:rPr lang="pt-BR" sz="2400" dirty="0"/>
              <a:t>se a instância em questão for pequena, resolva-a diretamente;</a:t>
            </a:r>
          </a:p>
          <a:p>
            <a:pPr marL="457200" indent="-457200">
              <a:buFont typeface="+mj-lt"/>
              <a:buAutoNum type="arabicPeriod"/>
            </a:pPr>
            <a:r>
              <a:rPr lang="pt-BR" sz="2400" dirty="0"/>
              <a:t>Senão, </a:t>
            </a:r>
            <a:r>
              <a:rPr lang="pt-BR" sz="2400" i="1" dirty="0"/>
              <a:t>reduza-a</a:t>
            </a:r>
            <a:r>
              <a:rPr lang="pt-BR" sz="2400" dirty="0"/>
              <a:t> a uma instância menor do mesmo problema, aplique o método à instância menor,  volte à instância original.</a:t>
            </a:r>
          </a:p>
          <a:p>
            <a:r>
              <a:rPr lang="pt-BR" sz="2400" dirty="0"/>
              <a:t>A aplicação desse método produz um algoritmo </a:t>
            </a:r>
            <a:r>
              <a:rPr lang="pt-BR" sz="2400" i="1" dirty="0"/>
              <a:t>recursivo</a:t>
            </a:r>
            <a:r>
              <a:rPr lang="pt-BR" sz="24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Aplicação de Recursividade em Programação</a:t>
            </a:r>
          </a:p>
        </p:txBody>
      </p:sp>
      <p:sp>
        <p:nvSpPr>
          <p:cNvPr id="3" name="Espaço Reservado para Número de Slide 2"/>
          <p:cNvSpPr>
            <a:spLocks noGrp="1"/>
          </p:cNvSpPr>
          <p:nvPr>
            <p:ph type="sldNum" sz="quarter" idx="11"/>
          </p:nvPr>
        </p:nvSpPr>
        <p:spPr/>
        <p:txBody>
          <a:bodyPr/>
          <a:lstStyle/>
          <a:p>
            <a:fld id="{0DBB9FE3-D63C-4A40-B010-4651D12E128D}" type="slidenum">
              <a:rPr lang="pt-BR" smtClean="0"/>
              <a:pPr/>
              <a:t>5</a:t>
            </a:fld>
            <a:endParaRPr lang="pt-BR"/>
          </a:p>
        </p:txBody>
      </p:sp>
      <p:sp>
        <p:nvSpPr>
          <p:cNvPr id="4" name="Retângulo 3"/>
          <p:cNvSpPr/>
          <p:nvPr/>
        </p:nvSpPr>
        <p:spPr>
          <a:xfrm>
            <a:off x="469557" y="1166843"/>
            <a:ext cx="8217243" cy="3416320"/>
          </a:xfrm>
          <a:prstGeom prst="rect">
            <a:avLst/>
          </a:prstGeom>
        </p:spPr>
        <p:txBody>
          <a:bodyPr wrap="square">
            <a:spAutoFit/>
          </a:bodyPr>
          <a:lstStyle/>
          <a:p>
            <a:r>
              <a:rPr lang="pt-BR" sz="2400" dirty="0"/>
              <a:t>Algoritmo recursivos  são normalmente implementados usando funções recursivas ou métodos recursivos.</a:t>
            </a:r>
          </a:p>
          <a:p>
            <a:endParaRPr lang="pt-BR" sz="2400" dirty="0"/>
          </a:p>
          <a:p>
            <a:r>
              <a:rPr lang="pt-BR" sz="2400" dirty="0"/>
              <a:t>Uma função é dita recursiva quando ela chama a ela mesma para resolver um determinado problema. Passando para a função chamada uma instância menor do problema.</a:t>
            </a:r>
          </a:p>
          <a:p>
            <a:endParaRPr lang="pt-BR" sz="2400" dirty="0"/>
          </a:p>
          <a:p>
            <a:r>
              <a:rPr lang="pt-BR" sz="2400" dirty="0"/>
              <a:t>Um exemplo de uso de recursividade é o percurso de todos os nós de uma árvore (veremos daqui a pouco...).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2400" dirty="0"/>
              <a:t>Definição Matemática da Fun</a:t>
            </a:r>
            <a:r>
              <a:rPr lang="pt-BR" dirty="0"/>
              <a:t>ção Fatorial</a:t>
            </a:r>
            <a:r>
              <a:rPr lang="pt-BR" sz="2850" dirty="0"/>
              <a:t> </a:t>
            </a:r>
            <a:endParaRPr lang="en-US" sz="2850" dirty="0"/>
          </a:p>
        </p:txBody>
      </p:sp>
      <p:grpSp>
        <p:nvGrpSpPr>
          <p:cNvPr id="3" name="Agrupar 2">
            <a:extLst>
              <a:ext uri="{FF2B5EF4-FFF2-40B4-BE49-F238E27FC236}">
                <a16:creationId xmlns:a16="http://schemas.microsoft.com/office/drawing/2014/main" id="{071C0487-FEA8-45D6-ACDF-DB937D83D154}"/>
              </a:ext>
            </a:extLst>
          </p:cNvPr>
          <p:cNvGrpSpPr/>
          <p:nvPr/>
        </p:nvGrpSpPr>
        <p:grpSpPr>
          <a:xfrm>
            <a:off x="2890275" y="1362532"/>
            <a:ext cx="3865418" cy="1859973"/>
            <a:chOff x="2890275" y="1362532"/>
            <a:chExt cx="3865418" cy="1859973"/>
          </a:xfrm>
        </p:grpSpPr>
        <p:sp>
          <p:nvSpPr>
            <p:cNvPr id="9" name="Retângulo 8"/>
            <p:cNvSpPr/>
            <p:nvPr/>
          </p:nvSpPr>
          <p:spPr>
            <a:xfrm>
              <a:off x="2890275" y="1362532"/>
              <a:ext cx="3865418" cy="1859973"/>
            </a:xfrm>
            <a:prstGeom prst="rect">
              <a:avLst/>
            </a:prstGeom>
            <a:solidFill>
              <a:schemeClr val="accent2">
                <a:lumMod val="40000"/>
                <a:lumOff val="60000"/>
              </a:schemeClr>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grpSp>
          <p:nvGrpSpPr>
            <p:cNvPr id="1026" name="Group 2"/>
            <p:cNvGrpSpPr>
              <a:grpSpLocks/>
            </p:cNvGrpSpPr>
            <p:nvPr/>
          </p:nvGrpSpPr>
          <p:grpSpPr bwMode="auto">
            <a:xfrm>
              <a:off x="2890275" y="1570921"/>
              <a:ext cx="3763025" cy="1207215"/>
              <a:chOff x="3681" y="10931"/>
              <a:chExt cx="5338" cy="765"/>
            </a:xfrm>
          </p:grpSpPr>
          <p:sp>
            <p:nvSpPr>
              <p:cNvPr id="1027" name="AutoShape 3"/>
              <p:cNvSpPr>
                <a:spLocks/>
              </p:cNvSpPr>
              <p:nvPr/>
            </p:nvSpPr>
            <p:spPr bwMode="auto">
              <a:xfrm>
                <a:off x="4928" y="10931"/>
                <a:ext cx="262" cy="765"/>
              </a:xfrm>
              <a:prstGeom prst="leftBrace">
                <a:avLst>
                  <a:gd name="adj1" fmla="val 24332"/>
                  <a:gd name="adj2" fmla="val 50000"/>
                </a:avLst>
              </a:prstGeom>
              <a:noFill/>
              <a:ln w="19050">
                <a:solidFill>
                  <a:srgbClr val="000000"/>
                </a:solidFill>
                <a:round/>
                <a:headEnd/>
                <a:tailEnd/>
              </a:ln>
            </p:spPr>
            <p:txBody>
              <a:bodyPr vert="horz" wrap="square" lIns="68580" tIns="34290" rIns="68580" bIns="34290" numCol="1" anchor="t" anchorCtr="0" compatLnSpc="1">
                <a:prstTxWarp prst="textNoShape">
                  <a:avLst/>
                </a:prstTxWarp>
              </a:bodyPr>
              <a:lstStyle/>
              <a:p>
                <a:endParaRPr lang="pt-BR" sz="1350"/>
              </a:p>
            </p:txBody>
          </p:sp>
          <p:sp>
            <p:nvSpPr>
              <p:cNvPr id="1028" name="Text Box 4"/>
              <p:cNvSpPr txBox="1">
                <a:spLocks noChangeArrowheads="1"/>
              </p:cNvSpPr>
              <p:nvPr/>
            </p:nvSpPr>
            <p:spPr bwMode="auto">
              <a:xfrm>
                <a:off x="3681" y="11126"/>
                <a:ext cx="1247" cy="278"/>
              </a:xfrm>
              <a:prstGeom prst="rect">
                <a:avLst/>
              </a:prstGeom>
              <a:noFill/>
              <a:ln w="9525">
                <a:noFill/>
                <a:miter lim="800000"/>
                <a:headEnd/>
                <a:tailEnd/>
              </a:ln>
            </p:spPr>
            <p:txBody>
              <a:bodyPr vert="horz" wrap="square" lIns="68580" tIns="34290" rIns="68580" bIns="34290" numCol="1" anchor="t" anchorCtr="0" compatLnSpc="1">
                <a:prstTxWarp prst="textNoShape">
                  <a:avLst/>
                </a:prstTxWarp>
                <a:spAutoFit/>
              </a:bodyPr>
              <a:lstStyle/>
              <a:p>
                <a:pPr algn="r" defTabSz="685800" fontAlgn="base">
                  <a:spcBef>
                    <a:spcPct val="0"/>
                  </a:spcBef>
                  <a:spcAft>
                    <a:spcPts val="750"/>
                  </a:spcAft>
                </a:pPr>
                <a:r>
                  <a:rPr lang="pt-BR" sz="2400" b="1" dirty="0">
                    <a:latin typeface="Calibri" pitchFamily="34" charset="0"/>
                    <a:cs typeface="Arial" pitchFamily="34" charset="0"/>
                  </a:rPr>
                  <a:t>n! = </a:t>
                </a:r>
                <a:endParaRPr lang="pt-BR" sz="3600" b="1" dirty="0">
                  <a:latin typeface="Arial" pitchFamily="34" charset="0"/>
                  <a:cs typeface="Arial" pitchFamily="34" charset="0"/>
                </a:endParaRPr>
              </a:p>
            </p:txBody>
          </p:sp>
          <p:sp>
            <p:nvSpPr>
              <p:cNvPr id="1029" name="Text Box 5"/>
              <p:cNvSpPr txBox="1">
                <a:spLocks noChangeArrowheads="1"/>
              </p:cNvSpPr>
              <p:nvPr/>
            </p:nvSpPr>
            <p:spPr bwMode="auto">
              <a:xfrm>
                <a:off x="5280" y="11011"/>
                <a:ext cx="3739" cy="685"/>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pPr defTabSz="685800" fontAlgn="base">
                  <a:spcBef>
                    <a:spcPct val="0"/>
                  </a:spcBef>
                  <a:spcAft>
                    <a:spcPts val="750"/>
                  </a:spcAft>
                </a:pPr>
                <a:r>
                  <a:rPr lang="pt-BR" sz="2100" b="1" dirty="0">
                    <a:latin typeface="Calibri" pitchFamily="34" charset="0"/>
                    <a:cs typeface="Arial" pitchFamily="34" charset="0"/>
                  </a:rPr>
                  <a:t>n* (n-1)! , se  n ≠ 0 </a:t>
                </a:r>
              </a:p>
              <a:p>
                <a:pPr defTabSz="685800" fontAlgn="base">
                  <a:spcBef>
                    <a:spcPct val="0"/>
                  </a:spcBef>
                  <a:spcAft>
                    <a:spcPts val="750"/>
                  </a:spcAft>
                </a:pPr>
                <a:r>
                  <a:rPr lang="pt-BR" sz="2100" b="1" dirty="0">
                    <a:latin typeface="Calibri" pitchFamily="34" charset="0"/>
                    <a:cs typeface="Arial" pitchFamily="34" charset="0"/>
                  </a:rPr>
                  <a:t>1, caso contrário</a:t>
                </a:r>
                <a:endParaRPr lang="pt-BR" sz="3300" dirty="0">
                  <a:latin typeface="Arial" pitchFamily="34" charset="0"/>
                  <a:cs typeface="Arial" pitchFamily="34" charset="0"/>
                </a:endParaRPr>
              </a:p>
            </p:txBody>
          </p:sp>
        </p:grpSp>
      </p:grpSp>
    </p:spTree>
    <p:extLst>
      <p:ext uri="{BB962C8B-B14F-4D97-AF65-F5344CB8AC3E}">
        <p14:creationId xmlns:p14="http://schemas.microsoft.com/office/powerpoint/2010/main" val="84000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Aplicação da Função Fatorial n=4</a:t>
            </a:r>
          </a:p>
        </p:txBody>
      </p:sp>
      <p:sp>
        <p:nvSpPr>
          <p:cNvPr id="3" name="Subtítulo 2"/>
          <p:cNvSpPr>
            <a:spLocks noGrp="1"/>
          </p:cNvSpPr>
          <p:nvPr>
            <p:ph type="subTitle" idx="4294967295"/>
          </p:nvPr>
        </p:nvSpPr>
        <p:spPr>
          <a:xfrm>
            <a:off x="5439103" y="1575894"/>
            <a:ext cx="3235339" cy="2601967"/>
          </a:xfrm>
        </p:spPr>
        <p:txBody>
          <a:bodyPr>
            <a:noAutofit/>
          </a:bodyPr>
          <a:lstStyle/>
          <a:p>
            <a:pPr algn="l">
              <a:buFont typeface="Wingdings" panose="05000000000000000000" pitchFamily="2" charset="2"/>
              <a:buChar char="Ø"/>
            </a:pPr>
            <a:r>
              <a:rPr lang="pt-BR" sz="2400" dirty="0"/>
              <a:t>4! = 4 * 3!</a:t>
            </a:r>
          </a:p>
          <a:p>
            <a:pPr algn="l">
              <a:buFont typeface="Wingdings" panose="05000000000000000000" pitchFamily="2" charset="2"/>
              <a:buChar char="Ø"/>
            </a:pPr>
            <a:r>
              <a:rPr lang="pt-BR" sz="2400" dirty="0"/>
              <a:t>3! = 3 * 2!</a:t>
            </a:r>
          </a:p>
          <a:p>
            <a:pPr algn="l">
              <a:buFont typeface="Wingdings" panose="05000000000000000000" pitchFamily="2" charset="2"/>
              <a:buChar char="Ø"/>
            </a:pPr>
            <a:r>
              <a:rPr lang="pt-BR" sz="2400" dirty="0"/>
              <a:t>2! = 2 * 1!</a:t>
            </a:r>
          </a:p>
          <a:p>
            <a:pPr algn="l">
              <a:buFont typeface="Wingdings" panose="05000000000000000000" pitchFamily="2" charset="2"/>
              <a:buChar char="Ø"/>
            </a:pPr>
            <a:r>
              <a:rPr lang="pt-BR" sz="2400" dirty="0"/>
              <a:t>1! = 1 * 0!</a:t>
            </a:r>
          </a:p>
          <a:p>
            <a:pPr algn="l">
              <a:buFont typeface="Wingdings" panose="05000000000000000000" pitchFamily="2" charset="2"/>
              <a:buChar char="Ø"/>
            </a:pPr>
            <a:r>
              <a:rPr lang="pt-BR" sz="2400" dirty="0"/>
              <a:t>0! = 1</a:t>
            </a:r>
          </a:p>
        </p:txBody>
      </p:sp>
      <p:grpSp>
        <p:nvGrpSpPr>
          <p:cNvPr id="4" name="Agrupar 3">
            <a:extLst>
              <a:ext uri="{FF2B5EF4-FFF2-40B4-BE49-F238E27FC236}">
                <a16:creationId xmlns:a16="http://schemas.microsoft.com/office/drawing/2014/main" id="{1D9F4757-5A5A-4979-A5E4-78C6000B7270}"/>
              </a:ext>
            </a:extLst>
          </p:cNvPr>
          <p:cNvGrpSpPr/>
          <p:nvPr/>
        </p:nvGrpSpPr>
        <p:grpSpPr>
          <a:xfrm>
            <a:off x="469557" y="1848149"/>
            <a:ext cx="3865418" cy="1859973"/>
            <a:chOff x="2890275" y="1362532"/>
            <a:chExt cx="3865418" cy="1859973"/>
          </a:xfrm>
        </p:grpSpPr>
        <p:sp>
          <p:nvSpPr>
            <p:cNvPr id="5" name="Retângulo 4">
              <a:extLst>
                <a:ext uri="{FF2B5EF4-FFF2-40B4-BE49-F238E27FC236}">
                  <a16:creationId xmlns:a16="http://schemas.microsoft.com/office/drawing/2014/main" id="{3A7B1178-3691-4F17-A409-48224C553E4A}"/>
                </a:ext>
              </a:extLst>
            </p:cNvPr>
            <p:cNvSpPr/>
            <p:nvPr/>
          </p:nvSpPr>
          <p:spPr>
            <a:xfrm>
              <a:off x="2890275" y="1362532"/>
              <a:ext cx="3865418" cy="1859973"/>
            </a:xfrm>
            <a:prstGeom prst="rect">
              <a:avLst/>
            </a:prstGeom>
            <a:solidFill>
              <a:schemeClr val="accent2">
                <a:lumMod val="40000"/>
                <a:lumOff val="60000"/>
              </a:schemeClr>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grpSp>
          <p:nvGrpSpPr>
            <p:cNvPr id="6" name="Group 2">
              <a:extLst>
                <a:ext uri="{FF2B5EF4-FFF2-40B4-BE49-F238E27FC236}">
                  <a16:creationId xmlns:a16="http://schemas.microsoft.com/office/drawing/2014/main" id="{4C08A743-F2FA-4B48-B2EE-F3D3F6B63E2B}"/>
                </a:ext>
              </a:extLst>
            </p:cNvPr>
            <p:cNvGrpSpPr>
              <a:grpSpLocks/>
            </p:cNvGrpSpPr>
            <p:nvPr/>
          </p:nvGrpSpPr>
          <p:grpSpPr bwMode="auto">
            <a:xfrm>
              <a:off x="2890275" y="1570921"/>
              <a:ext cx="3763025" cy="1207215"/>
              <a:chOff x="3681" y="10931"/>
              <a:chExt cx="5338" cy="765"/>
            </a:xfrm>
          </p:grpSpPr>
          <p:sp>
            <p:nvSpPr>
              <p:cNvPr id="7" name="AutoShape 3">
                <a:extLst>
                  <a:ext uri="{FF2B5EF4-FFF2-40B4-BE49-F238E27FC236}">
                    <a16:creationId xmlns:a16="http://schemas.microsoft.com/office/drawing/2014/main" id="{DBD7660C-ACD9-4949-ACCA-A81BEF689D77}"/>
                  </a:ext>
                </a:extLst>
              </p:cNvPr>
              <p:cNvSpPr>
                <a:spLocks/>
              </p:cNvSpPr>
              <p:nvPr/>
            </p:nvSpPr>
            <p:spPr bwMode="auto">
              <a:xfrm>
                <a:off x="4928" y="10931"/>
                <a:ext cx="262" cy="765"/>
              </a:xfrm>
              <a:prstGeom prst="leftBrace">
                <a:avLst>
                  <a:gd name="adj1" fmla="val 24332"/>
                  <a:gd name="adj2" fmla="val 50000"/>
                </a:avLst>
              </a:prstGeom>
              <a:noFill/>
              <a:ln w="19050">
                <a:solidFill>
                  <a:srgbClr val="000000"/>
                </a:solidFill>
                <a:round/>
                <a:headEnd/>
                <a:tailEnd/>
              </a:ln>
            </p:spPr>
            <p:txBody>
              <a:bodyPr vert="horz" wrap="square" lIns="68580" tIns="34290" rIns="68580" bIns="34290" numCol="1" anchor="t" anchorCtr="0" compatLnSpc="1">
                <a:prstTxWarp prst="textNoShape">
                  <a:avLst/>
                </a:prstTxWarp>
              </a:bodyPr>
              <a:lstStyle/>
              <a:p>
                <a:endParaRPr lang="pt-BR" sz="1350"/>
              </a:p>
            </p:txBody>
          </p:sp>
          <p:sp>
            <p:nvSpPr>
              <p:cNvPr id="8" name="Text Box 4">
                <a:extLst>
                  <a:ext uri="{FF2B5EF4-FFF2-40B4-BE49-F238E27FC236}">
                    <a16:creationId xmlns:a16="http://schemas.microsoft.com/office/drawing/2014/main" id="{96C4E24C-0AE8-4AFA-B553-6C1A73B72DB1}"/>
                  </a:ext>
                </a:extLst>
              </p:cNvPr>
              <p:cNvSpPr txBox="1">
                <a:spLocks noChangeArrowheads="1"/>
              </p:cNvSpPr>
              <p:nvPr/>
            </p:nvSpPr>
            <p:spPr bwMode="auto">
              <a:xfrm>
                <a:off x="3681" y="11126"/>
                <a:ext cx="1247" cy="278"/>
              </a:xfrm>
              <a:prstGeom prst="rect">
                <a:avLst/>
              </a:prstGeom>
              <a:noFill/>
              <a:ln w="9525">
                <a:noFill/>
                <a:miter lim="800000"/>
                <a:headEnd/>
                <a:tailEnd/>
              </a:ln>
            </p:spPr>
            <p:txBody>
              <a:bodyPr vert="horz" wrap="square" lIns="68580" tIns="34290" rIns="68580" bIns="34290" numCol="1" anchor="t" anchorCtr="0" compatLnSpc="1">
                <a:prstTxWarp prst="textNoShape">
                  <a:avLst/>
                </a:prstTxWarp>
                <a:spAutoFit/>
              </a:bodyPr>
              <a:lstStyle/>
              <a:p>
                <a:pPr algn="r" defTabSz="685800" fontAlgn="base">
                  <a:spcBef>
                    <a:spcPct val="0"/>
                  </a:spcBef>
                  <a:spcAft>
                    <a:spcPts val="750"/>
                  </a:spcAft>
                </a:pPr>
                <a:r>
                  <a:rPr lang="pt-BR" sz="2400" b="1" dirty="0">
                    <a:latin typeface="Calibri" pitchFamily="34" charset="0"/>
                    <a:cs typeface="Arial" pitchFamily="34" charset="0"/>
                  </a:rPr>
                  <a:t>n! = </a:t>
                </a:r>
                <a:endParaRPr lang="pt-BR" sz="3600" b="1" dirty="0">
                  <a:latin typeface="Arial" pitchFamily="34" charset="0"/>
                  <a:cs typeface="Arial" pitchFamily="34" charset="0"/>
                </a:endParaRPr>
              </a:p>
            </p:txBody>
          </p:sp>
          <p:sp>
            <p:nvSpPr>
              <p:cNvPr id="9" name="Text Box 5">
                <a:extLst>
                  <a:ext uri="{FF2B5EF4-FFF2-40B4-BE49-F238E27FC236}">
                    <a16:creationId xmlns:a16="http://schemas.microsoft.com/office/drawing/2014/main" id="{6F5C4310-4F37-4482-A014-A594762E1E10}"/>
                  </a:ext>
                </a:extLst>
              </p:cNvPr>
              <p:cNvSpPr txBox="1">
                <a:spLocks noChangeArrowheads="1"/>
              </p:cNvSpPr>
              <p:nvPr/>
            </p:nvSpPr>
            <p:spPr bwMode="auto">
              <a:xfrm>
                <a:off x="5280" y="11011"/>
                <a:ext cx="3739" cy="685"/>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pPr defTabSz="685800" fontAlgn="base">
                  <a:spcBef>
                    <a:spcPct val="0"/>
                  </a:spcBef>
                  <a:spcAft>
                    <a:spcPts val="750"/>
                  </a:spcAft>
                </a:pPr>
                <a:r>
                  <a:rPr lang="pt-BR" sz="2100" b="1" dirty="0">
                    <a:latin typeface="Calibri" pitchFamily="34" charset="0"/>
                    <a:cs typeface="Arial" pitchFamily="34" charset="0"/>
                  </a:rPr>
                  <a:t>n* (n-1)! , se  n ≠ 0 </a:t>
                </a:r>
              </a:p>
              <a:p>
                <a:pPr defTabSz="685800" fontAlgn="base">
                  <a:spcBef>
                    <a:spcPct val="0"/>
                  </a:spcBef>
                  <a:spcAft>
                    <a:spcPts val="750"/>
                  </a:spcAft>
                </a:pPr>
                <a:r>
                  <a:rPr lang="pt-BR" sz="2100" b="1" dirty="0">
                    <a:latin typeface="Calibri" pitchFamily="34" charset="0"/>
                    <a:cs typeface="Arial" pitchFamily="34" charset="0"/>
                  </a:rPr>
                  <a:t>1, caso contrário</a:t>
                </a:r>
                <a:endParaRPr lang="pt-BR" sz="3300" dirty="0">
                  <a:latin typeface="Arial" pitchFamily="34" charset="0"/>
                  <a:cs typeface="Arial"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2400" dirty="0"/>
              <a:t>Implementação</a:t>
            </a:r>
            <a:r>
              <a:rPr lang="pt-BR" dirty="0"/>
              <a:t> Recursiva  da Função Fatorial</a:t>
            </a:r>
            <a:r>
              <a:rPr lang="pt-BR" sz="2850" dirty="0"/>
              <a:t> </a:t>
            </a:r>
            <a:endParaRPr lang="en-US" sz="2850" dirty="0"/>
          </a:p>
        </p:txBody>
      </p:sp>
      <p:sp>
        <p:nvSpPr>
          <p:cNvPr id="3" name="Subtítulo 2"/>
          <p:cNvSpPr>
            <a:spLocks noGrp="1"/>
          </p:cNvSpPr>
          <p:nvPr>
            <p:ph type="subTitle" idx="4294967295"/>
          </p:nvPr>
        </p:nvSpPr>
        <p:spPr>
          <a:xfrm>
            <a:off x="1000575" y="1214766"/>
            <a:ext cx="7167563" cy="4113158"/>
          </a:xfrm>
          <a:solidFill>
            <a:schemeClr val="accent2">
              <a:lumMod val="20000"/>
              <a:lumOff val="80000"/>
            </a:schemeClr>
          </a:solidFill>
        </p:spPr>
        <p:txBody>
          <a:bodyPr>
            <a:normAutofit/>
          </a:bodyPr>
          <a:lstStyle/>
          <a:p>
            <a:pPr marL="0" indent="0" algn="l">
              <a:buNone/>
            </a:pPr>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void</a:t>
            </a:r>
            <a:r>
              <a:rPr lang="en-US" sz="1800" b="1" dirty="0">
                <a:solidFill>
                  <a:srgbClr val="000000"/>
                </a:solidFill>
                <a:latin typeface="Consolas" panose="020B0609020204030204" pitchFamily="49" charset="0"/>
              </a:rPr>
              <a:t> main(String[] </a:t>
            </a:r>
            <a:r>
              <a:rPr lang="en-US" sz="1800" b="1" dirty="0" err="1">
                <a:solidFill>
                  <a:srgbClr val="6A3E3E"/>
                </a:solidFill>
                <a:latin typeface="Consolas" panose="020B0609020204030204" pitchFamily="49" charset="0"/>
              </a:rPr>
              <a:t>args</a:t>
            </a:r>
            <a:r>
              <a:rPr lang="en-US" sz="1800" b="1" dirty="0">
                <a:solidFill>
                  <a:srgbClr val="000000"/>
                </a:solidFill>
                <a:latin typeface="Consolas" panose="020B0609020204030204" pitchFamily="49" charset="0"/>
              </a:rPr>
              <a:t>) {</a:t>
            </a:r>
          </a:p>
          <a:p>
            <a:pPr marL="0" indent="361950" algn="l">
              <a:buNone/>
            </a:pPr>
            <a:r>
              <a:rPr lang="pt-BR" sz="1800" b="1" dirty="0" err="1">
                <a:solidFill>
                  <a:srgbClr val="7F0055"/>
                </a:solidFill>
                <a:latin typeface="Consolas" panose="020B0609020204030204" pitchFamily="49" charset="0"/>
              </a:rPr>
              <a:t>int</a:t>
            </a:r>
            <a:r>
              <a:rPr lang="pt-BR" sz="1800" b="1" dirty="0">
                <a:solidFill>
                  <a:srgbClr val="000000"/>
                </a:solidFill>
                <a:latin typeface="Consolas" panose="020B0609020204030204" pitchFamily="49" charset="0"/>
              </a:rPr>
              <a:t>  </a:t>
            </a:r>
            <a:r>
              <a:rPr lang="pt-BR" sz="1800" b="1" dirty="0" err="1">
                <a:solidFill>
                  <a:srgbClr val="6A3E3E"/>
                </a:solidFill>
                <a:latin typeface="Consolas" panose="020B0609020204030204" pitchFamily="49" charset="0"/>
              </a:rPr>
              <a:t>fat</a:t>
            </a:r>
            <a:r>
              <a:rPr lang="pt-BR" sz="1800" b="1" dirty="0">
                <a:solidFill>
                  <a:srgbClr val="000000"/>
                </a:solidFill>
                <a:latin typeface="Consolas" panose="020B0609020204030204" pitchFamily="49" charset="0"/>
              </a:rPr>
              <a:t>;</a:t>
            </a:r>
          </a:p>
          <a:p>
            <a:pPr marL="0" indent="361950" algn="l">
              <a:buNone/>
            </a:pPr>
            <a:r>
              <a:rPr lang="pt-BR" sz="1800" dirty="0" err="1">
                <a:solidFill>
                  <a:srgbClr val="6A3E3E"/>
                </a:solidFill>
                <a:latin typeface="Consolas" panose="020B0609020204030204" pitchFamily="49" charset="0"/>
              </a:rPr>
              <a:t>fat</a:t>
            </a:r>
            <a:r>
              <a:rPr lang="pt-BR" sz="1800" dirty="0">
                <a:solidFill>
                  <a:srgbClr val="000000"/>
                </a:solidFill>
                <a:latin typeface="Consolas" panose="020B0609020204030204" pitchFamily="49" charset="0"/>
              </a:rPr>
              <a:t> = </a:t>
            </a:r>
            <a:r>
              <a:rPr lang="pt-BR" sz="1800" i="1" dirty="0">
                <a:solidFill>
                  <a:srgbClr val="000000"/>
                </a:solidFill>
                <a:latin typeface="Consolas" panose="020B0609020204030204" pitchFamily="49" charset="0"/>
              </a:rPr>
              <a:t>fatorial (4);</a:t>
            </a:r>
          </a:p>
          <a:p>
            <a:pPr marL="0" indent="361950" algn="l">
              <a:buNone/>
            </a:pPr>
            <a:r>
              <a:rPr lang="pt-BR" sz="1800" dirty="0" err="1">
                <a:solidFill>
                  <a:srgbClr val="000000"/>
                </a:solidFill>
                <a:latin typeface="Consolas" panose="020B0609020204030204" pitchFamily="49" charset="0"/>
              </a:rPr>
              <a:t>System.</a:t>
            </a:r>
            <a:r>
              <a:rPr lang="pt-BR" sz="1800" b="1" i="1" dirty="0" err="1">
                <a:solidFill>
                  <a:srgbClr val="0000C0"/>
                </a:solidFill>
                <a:latin typeface="Consolas" panose="020B0609020204030204" pitchFamily="49" charset="0"/>
              </a:rPr>
              <a:t>out</a:t>
            </a:r>
            <a:r>
              <a:rPr lang="pt-BR" sz="1800" b="1" i="1" dirty="0" err="1">
                <a:solidFill>
                  <a:srgbClr val="000000"/>
                </a:solidFill>
                <a:latin typeface="Consolas" panose="020B0609020204030204" pitchFamily="49" charset="0"/>
              </a:rPr>
              <a:t>.println</a:t>
            </a:r>
            <a:r>
              <a:rPr lang="pt-BR" sz="1800" b="1" i="1" dirty="0">
                <a:solidFill>
                  <a:srgbClr val="000000"/>
                </a:solidFill>
                <a:latin typeface="Consolas" panose="020B0609020204030204" pitchFamily="49" charset="0"/>
              </a:rPr>
              <a:t>(</a:t>
            </a:r>
            <a:r>
              <a:rPr lang="pt-BR" sz="1800" b="1" i="1" dirty="0">
                <a:solidFill>
                  <a:srgbClr val="2A00FF"/>
                </a:solidFill>
                <a:latin typeface="Consolas" panose="020B0609020204030204" pitchFamily="49" charset="0"/>
              </a:rPr>
              <a:t>"Fatorial = "</a:t>
            </a:r>
            <a:r>
              <a:rPr lang="pt-BR" sz="1800" b="1" i="1" dirty="0">
                <a:solidFill>
                  <a:srgbClr val="000000"/>
                </a:solidFill>
                <a:latin typeface="Consolas" panose="020B0609020204030204" pitchFamily="49" charset="0"/>
              </a:rPr>
              <a:t> + </a:t>
            </a:r>
            <a:r>
              <a:rPr lang="pt-BR" sz="1800" b="1" i="1" dirty="0" err="1">
                <a:solidFill>
                  <a:srgbClr val="6A3E3E"/>
                </a:solidFill>
                <a:latin typeface="Consolas" panose="020B0609020204030204" pitchFamily="49" charset="0"/>
              </a:rPr>
              <a:t>fat</a:t>
            </a:r>
            <a:r>
              <a:rPr lang="pt-BR" sz="1800" b="1" i="1" dirty="0">
                <a:solidFill>
                  <a:srgbClr val="000000"/>
                </a:solidFill>
                <a:latin typeface="Consolas" panose="020B0609020204030204" pitchFamily="49" charset="0"/>
              </a:rPr>
              <a:t>);</a:t>
            </a:r>
          </a:p>
          <a:p>
            <a:pPr marL="0" indent="0" algn="l">
              <a:buNone/>
            </a:pPr>
            <a:endParaRPr lang="pt-BR" sz="1800" dirty="0">
              <a:latin typeface="Consolas" panose="020B0609020204030204" pitchFamily="49" charset="0"/>
            </a:endParaRPr>
          </a:p>
          <a:p>
            <a:pPr marL="0" indent="0" algn="l">
              <a:buNone/>
            </a:pPr>
            <a:r>
              <a:rPr lang="pt-BR" sz="1800" dirty="0">
                <a:solidFill>
                  <a:srgbClr val="000000"/>
                </a:solidFill>
                <a:latin typeface="Consolas" panose="020B0609020204030204" pitchFamily="49" charset="0"/>
              </a:rPr>
              <a:t>}</a:t>
            </a:r>
          </a:p>
          <a:p>
            <a:pPr marL="0" indent="0" algn="l">
              <a:buNone/>
            </a:pPr>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fatorial</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a:t>
            </a:r>
            <a:r>
              <a:rPr lang="en-US" sz="1800" b="1" dirty="0">
                <a:solidFill>
                  <a:srgbClr val="000000"/>
                </a:solidFill>
                <a:latin typeface="Consolas" panose="020B0609020204030204" pitchFamily="49" charset="0"/>
              </a:rPr>
              <a:t> </a:t>
            </a:r>
            <a:r>
              <a:rPr lang="en-US" sz="1800" b="1" dirty="0">
                <a:solidFill>
                  <a:srgbClr val="6A3E3E"/>
                </a:solidFill>
                <a:latin typeface="Consolas" panose="020B0609020204030204" pitchFamily="49" charset="0"/>
              </a:rPr>
              <a:t>n</a:t>
            </a:r>
            <a:r>
              <a:rPr lang="en-US" sz="1800" b="1" dirty="0">
                <a:solidFill>
                  <a:srgbClr val="000000"/>
                </a:solidFill>
                <a:latin typeface="Consolas" panose="020B0609020204030204" pitchFamily="49" charset="0"/>
              </a:rPr>
              <a:t>) {</a:t>
            </a:r>
          </a:p>
          <a:p>
            <a:pPr marL="0" indent="361950" algn="l">
              <a:buNone/>
            </a:pPr>
            <a:r>
              <a:rPr lang="pt-BR" sz="1800" b="1" dirty="0" err="1">
                <a:solidFill>
                  <a:srgbClr val="7F0055"/>
                </a:solidFill>
                <a:latin typeface="Consolas" panose="020B0609020204030204" pitchFamily="49" charset="0"/>
              </a:rPr>
              <a:t>if</a:t>
            </a:r>
            <a:r>
              <a:rPr lang="pt-BR" sz="1800" b="1" dirty="0">
                <a:solidFill>
                  <a:srgbClr val="000000"/>
                </a:solidFill>
                <a:latin typeface="Consolas" panose="020B0609020204030204" pitchFamily="49" charset="0"/>
              </a:rPr>
              <a:t> (</a:t>
            </a:r>
            <a:r>
              <a:rPr lang="pt-BR" sz="1800" b="1" dirty="0">
                <a:solidFill>
                  <a:srgbClr val="6A3E3E"/>
                </a:solidFill>
                <a:latin typeface="Consolas" panose="020B0609020204030204" pitchFamily="49" charset="0"/>
              </a:rPr>
              <a:t>n</a:t>
            </a:r>
            <a:r>
              <a:rPr lang="pt-BR" sz="1800" b="1" dirty="0">
                <a:solidFill>
                  <a:srgbClr val="000000"/>
                </a:solidFill>
                <a:latin typeface="Consolas" panose="020B0609020204030204" pitchFamily="49" charset="0"/>
              </a:rPr>
              <a:t> != 0)</a:t>
            </a:r>
          </a:p>
          <a:p>
            <a:pPr marL="0" indent="361950" algn="l">
              <a:buNone/>
            </a:pP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return</a:t>
            </a:r>
            <a:r>
              <a:rPr lang="pt-BR" sz="1800" b="1" dirty="0">
                <a:solidFill>
                  <a:srgbClr val="000000"/>
                </a:solidFill>
                <a:latin typeface="Consolas" panose="020B0609020204030204" pitchFamily="49" charset="0"/>
              </a:rPr>
              <a:t> ( </a:t>
            </a:r>
            <a:r>
              <a:rPr lang="pt-BR" sz="1800" b="1" dirty="0">
                <a:solidFill>
                  <a:srgbClr val="6A3E3E"/>
                </a:solidFill>
                <a:latin typeface="Consolas" panose="020B0609020204030204" pitchFamily="49" charset="0"/>
              </a:rPr>
              <a:t>n</a:t>
            </a:r>
            <a:r>
              <a:rPr lang="pt-BR" sz="1800" b="1" dirty="0">
                <a:solidFill>
                  <a:srgbClr val="000000"/>
                </a:solidFill>
                <a:latin typeface="Consolas" panose="020B0609020204030204" pitchFamily="49" charset="0"/>
              </a:rPr>
              <a:t> * </a:t>
            </a:r>
            <a:r>
              <a:rPr lang="pt-BR" sz="1800" b="1" i="1" dirty="0">
                <a:solidFill>
                  <a:srgbClr val="000000"/>
                </a:solidFill>
                <a:latin typeface="Consolas" panose="020B0609020204030204" pitchFamily="49" charset="0"/>
              </a:rPr>
              <a:t>fatorial (</a:t>
            </a:r>
            <a:r>
              <a:rPr lang="pt-BR" sz="1800" b="1" i="1" dirty="0">
                <a:solidFill>
                  <a:srgbClr val="6A3E3E"/>
                </a:solidFill>
                <a:latin typeface="Consolas" panose="020B0609020204030204" pitchFamily="49" charset="0"/>
              </a:rPr>
              <a:t>n</a:t>
            </a:r>
            <a:r>
              <a:rPr lang="pt-BR" sz="1800" b="1" i="1" dirty="0">
                <a:solidFill>
                  <a:srgbClr val="000000"/>
                </a:solidFill>
                <a:latin typeface="Consolas" panose="020B0609020204030204" pitchFamily="49" charset="0"/>
              </a:rPr>
              <a:t>-1) );</a:t>
            </a:r>
          </a:p>
          <a:p>
            <a:pPr marL="0" indent="361950" algn="l">
              <a:buNone/>
            </a:pPr>
            <a:r>
              <a:rPr lang="pt-BR" sz="1800" b="1" dirty="0" err="1">
                <a:solidFill>
                  <a:srgbClr val="7F0055"/>
                </a:solidFill>
                <a:latin typeface="Consolas" panose="020B0609020204030204" pitchFamily="49" charset="0"/>
              </a:rPr>
              <a:t>else</a:t>
            </a:r>
            <a:endParaRPr lang="pt-BR" sz="1800" b="1" dirty="0">
              <a:solidFill>
                <a:srgbClr val="7F0055"/>
              </a:solidFill>
              <a:latin typeface="Consolas" panose="020B0609020204030204" pitchFamily="49" charset="0"/>
            </a:endParaRPr>
          </a:p>
          <a:p>
            <a:pPr marL="0" indent="361950" algn="l">
              <a:buNone/>
            </a:pP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return</a:t>
            </a:r>
            <a:r>
              <a:rPr lang="pt-BR" sz="1800" b="1" dirty="0">
                <a:solidFill>
                  <a:srgbClr val="000000"/>
                </a:solidFill>
                <a:latin typeface="Consolas" panose="020B0609020204030204" pitchFamily="49" charset="0"/>
              </a:rPr>
              <a:t> (1);</a:t>
            </a:r>
          </a:p>
          <a:p>
            <a:pPr marL="0" indent="0" algn="l">
              <a:buNone/>
            </a:pPr>
            <a:r>
              <a:rPr lang="pt-BR" sz="1800" dirty="0">
                <a:solidFill>
                  <a:srgbClr val="000000"/>
                </a:solidFill>
                <a:latin typeface="Consolas" panose="020B0609020204030204" pitchFamily="49" charset="0"/>
              </a:rPr>
              <a:t>}</a:t>
            </a:r>
            <a:endParaRPr lang="en-US" dirty="0">
              <a:latin typeface="Consolas" pitchFamily="49" charset="0"/>
              <a:cs typeface="Consolas" pitchFamily="49" charset="0"/>
            </a:endParaRPr>
          </a:p>
        </p:txBody>
      </p:sp>
    </p:spTree>
    <p:extLst>
      <p:ext uri="{BB962C8B-B14F-4D97-AF65-F5344CB8AC3E}">
        <p14:creationId xmlns:p14="http://schemas.microsoft.com/office/powerpoint/2010/main" val="4265780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6"/>
          <p:cNvGrpSpPr/>
          <p:nvPr/>
        </p:nvGrpSpPr>
        <p:grpSpPr>
          <a:xfrm>
            <a:off x="1285852" y="1393017"/>
            <a:ext cx="4572032" cy="1285884"/>
            <a:chOff x="1285852" y="714356"/>
            <a:chExt cx="4572032" cy="1714512"/>
          </a:xfrm>
        </p:grpSpPr>
        <p:sp>
          <p:nvSpPr>
            <p:cNvPr id="5" name="Arredondar Retângulo no Mesmo Canto Lateral 4"/>
            <p:cNvSpPr/>
            <p:nvPr/>
          </p:nvSpPr>
          <p:spPr>
            <a:xfrm>
              <a:off x="1285852" y="714356"/>
              <a:ext cx="4572032" cy="1714512"/>
            </a:xfrm>
            <a:prstGeom prst="round2Same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6" name="CaixaDeTexto 5"/>
            <p:cNvSpPr txBox="1"/>
            <p:nvPr/>
          </p:nvSpPr>
          <p:spPr>
            <a:xfrm>
              <a:off x="1643042" y="928671"/>
              <a:ext cx="4000528" cy="1138773"/>
            </a:xfrm>
            <a:prstGeom prst="rect">
              <a:avLst/>
            </a:prstGeom>
            <a:noFill/>
          </p:spPr>
          <p:txBody>
            <a:bodyPr wrap="square" rtlCol="0">
              <a:spAutoFit/>
            </a:bodyPr>
            <a:lstStyle/>
            <a:p>
              <a:r>
                <a:rPr lang="pt-BR" b="1" dirty="0">
                  <a:latin typeface="DIN Pro Regular" panose="020B0504020101020102" pitchFamily="34" charset="0"/>
                  <a:cs typeface="DIN Pro Regular" panose="020B0504020101020102" pitchFamily="34" charset="0"/>
                </a:rPr>
                <a:t>Ativação 1</a:t>
              </a:r>
            </a:p>
            <a:p>
              <a:endParaRPr lang="pt-BR" sz="1350" dirty="0"/>
            </a:p>
            <a:p>
              <a:r>
                <a:rPr lang="pt-BR" dirty="0">
                  <a:latin typeface="DIN Pro Regular" panose="020B0504020101020102" pitchFamily="34" charset="0"/>
                  <a:cs typeface="DIN Pro Regular" panose="020B0504020101020102" pitchFamily="34" charset="0"/>
                </a:rPr>
                <a:t>n = 4 =&gt; </a:t>
              </a:r>
              <a:r>
                <a:rPr lang="pt-BR" dirty="0" err="1">
                  <a:latin typeface="DIN Pro Regular" panose="020B0504020101020102" pitchFamily="34" charset="0"/>
                  <a:cs typeface="DIN Pro Regular" panose="020B0504020101020102" pitchFamily="34" charset="0"/>
                </a:rPr>
                <a:t>return</a:t>
              </a:r>
              <a:r>
                <a:rPr lang="pt-BR" dirty="0">
                  <a:latin typeface="DIN Pro Regular" panose="020B0504020101020102" pitchFamily="34" charset="0"/>
                  <a:cs typeface="DIN Pro Regular" panose="020B0504020101020102" pitchFamily="34" charset="0"/>
                </a:rPr>
                <a:t> (4 * fatorial (3))</a:t>
              </a:r>
            </a:p>
          </p:txBody>
        </p:sp>
      </p:grpSp>
      <p:sp>
        <p:nvSpPr>
          <p:cNvPr id="3" name="Título 2">
            <a:extLst>
              <a:ext uri="{FF2B5EF4-FFF2-40B4-BE49-F238E27FC236}">
                <a16:creationId xmlns:a16="http://schemas.microsoft.com/office/drawing/2014/main" id="{57A4CC61-71D2-4AE7-B5D1-E4EA2FC3CE3E}"/>
              </a:ext>
            </a:extLst>
          </p:cNvPr>
          <p:cNvSpPr>
            <a:spLocks noGrp="1"/>
          </p:cNvSpPr>
          <p:nvPr>
            <p:ph type="title"/>
          </p:nvPr>
        </p:nvSpPr>
        <p:spPr/>
        <p:txBody>
          <a:bodyPr/>
          <a:lstStyle/>
          <a:p>
            <a:endParaRPr lang="pt-B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3"/>
          <p:cNvGrpSpPr/>
          <p:nvPr/>
        </p:nvGrpSpPr>
        <p:grpSpPr>
          <a:xfrm>
            <a:off x="1071538" y="1393017"/>
            <a:ext cx="4572032" cy="1285884"/>
            <a:chOff x="1285852" y="714356"/>
            <a:chExt cx="4572032" cy="1714512"/>
          </a:xfrm>
        </p:grpSpPr>
        <p:sp>
          <p:nvSpPr>
            <p:cNvPr id="7" name="Arredondar Retângulo no Mesmo Canto Lateral 6"/>
            <p:cNvSpPr/>
            <p:nvPr/>
          </p:nvSpPr>
          <p:spPr>
            <a:xfrm>
              <a:off x="1285852" y="714356"/>
              <a:ext cx="4572032" cy="1714512"/>
            </a:xfrm>
            <a:prstGeom prst="round2SameRect">
              <a:avLst/>
            </a:prstGeom>
            <a:solidFill>
              <a:schemeClr val="tx2">
                <a:lumMod val="40000"/>
                <a:lumOff val="6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1350" b="1" dirty="0">
                <a:solidFill>
                  <a:schemeClr val="tx1"/>
                </a:solidFill>
              </a:endParaRPr>
            </a:p>
          </p:txBody>
        </p:sp>
        <p:sp>
          <p:nvSpPr>
            <p:cNvPr id="8" name="CaixaDeTexto 7"/>
            <p:cNvSpPr txBox="1"/>
            <p:nvPr/>
          </p:nvSpPr>
          <p:spPr>
            <a:xfrm>
              <a:off x="1643042" y="928671"/>
              <a:ext cx="4000528" cy="11387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lgn="ctr">
                <a:defRPr sz="135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sz="1600" b="1" dirty="0">
                  <a:solidFill>
                    <a:schemeClr val="tx1"/>
                  </a:solidFill>
                  <a:latin typeface="DIN Pro Regular" panose="020B0504020101020102"/>
                </a:rPr>
                <a:t>Ativação 1</a:t>
              </a:r>
            </a:p>
            <a:p>
              <a:pPr algn="l"/>
              <a:endParaRPr lang="pt-BR" sz="1600" b="1" dirty="0">
                <a:solidFill>
                  <a:schemeClr val="tx1"/>
                </a:solidFill>
                <a:latin typeface="DIN Pro Regular" panose="020B0504020101020102"/>
              </a:endParaRPr>
            </a:p>
            <a:p>
              <a:pPr algn="l"/>
              <a:r>
                <a:rPr lang="pt-BR" sz="1600" b="1" dirty="0">
                  <a:solidFill>
                    <a:schemeClr val="tx1"/>
                  </a:solidFill>
                  <a:latin typeface="DIN Pro Regular" panose="020B0504020101020102"/>
                </a:rPr>
                <a:t>n = 4 =&gt; 4 * fatorial (3) </a:t>
              </a:r>
            </a:p>
          </p:txBody>
        </p:sp>
      </p:grpSp>
      <p:grpSp>
        <p:nvGrpSpPr>
          <p:cNvPr id="3" name="Grupo 8"/>
          <p:cNvGrpSpPr/>
          <p:nvPr/>
        </p:nvGrpSpPr>
        <p:grpSpPr>
          <a:xfrm>
            <a:off x="1357291" y="1982381"/>
            <a:ext cx="4572032" cy="1285884"/>
            <a:chOff x="2643174" y="3500438"/>
            <a:chExt cx="4572032" cy="1714512"/>
          </a:xfrm>
          <a:solidFill>
            <a:schemeClr val="accent3">
              <a:lumMod val="20000"/>
              <a:lumOff val="80000"/>
            </a:schemeClr>
          </a:solidFill>
        </p:grpSpPr>
        <p:sp>
          <p:nvSpPr>
            <p:cNvPr id="5" name="Arredondar Retângulo no Mesmo Canto Lateral 4"/>
            <p:cNvSpPr/>
            <p:nvPr/>
          </p:nvSpPr>
          <p:spPr>
            <a:xfrm>
              <a:off x="2643174" y="3500438"/>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6" name="CaixaDeTexto 5"/>
            <p:cNvSpPr txBox="1"/>
            <p:nvPr/>
          </p:nvSpPr>
          <p:spPr>
            <a:xfrm>
              <a:off x="2857488" y="3643314"/>
              <a:ext cx="4000528" cy="1138773"/>
            </a:xfrm>
            <a:prstGeom prst="rect">
              <a:avLst/>
            </a:prstGeom>
            <a:grpFill/>
          </p:spPr>
          <p:txBody>
            <a:bodyPr wrap="square" rtlCol="0">
              <a:spAutoFit/>
            </a:bodyPr>
            <a:lstStyle/>
            <a:p>
              <a:r>
                <a:rPr lang="pt-BR" b="1" dirty="0">
                  <a:solidFill>
                    <a:srgbClr val="006600"/>
                  </a:solidFill>
                  <a:latin typeface="DIN Pro Regular"/>
                  <a:ea typeface="+mj-ea"/>
                  <a:cs typeface="+mj-cs"/>
                </a:rPr>
                <a:t>Ativação 2</a:t>
              </a:r>
            </a:p>
            <a:p>
              <a:endParaRPr lang="pt-BR" sz="1350" dirty="0">
                <a:solidFill>
                  <a:srgbClr val="006600"/>
                </a:solidFill>
              </a:endParaRPr>
            </a:p>
            <a:p>
              <a:r>
                <a:rPr lang="pt-BR" dirty="0">
                  <a:solidFill>
                    <a:srgbClr val="006600"/>
                  </a:solidFill>
                  <a:latin typeface="DIN Pro Regular"/>
                  <a:ea typeface="+mj-ea"/>
                  <a:cs typeface="+mj-cs"/>
                </a:rPr>
                <a:t>n = 3 =&gt; </a:t>
              </a:r>
              <a:r>
                <a:rPr lang="pt-BR" dirty="0" err="1">
                  <a:solidFill>
                    <a:srgbClr val="006600"/>
                  </a:solidFill>
                  <a:latin typeface="DIN Pro Regular"/>
                  <a:ea typeface="+mj-ea"/>
                  <a:cs typeface="+mj-cs"/>
                </a:rPr>
                <a:t>return</a:t>
              </a:r>
              <a:r>
                <a:rPr lang="pt-BR" dirty="0">
                  <a:solidFill>
                    <a:srgbClr val="006600"/>
                  </a:solidFill>
                  <a:latin typeface="DIN Pro Regular"/>
                  <a:ea typeface="+mj-ea"/>
                  <a:cs typeface="+mj-cs"/>
                </a:rPr>
                <a:t> ( 3 * fatorial (2) )</a:t>
              </a:r>
            </a:p>
          </p:txBody>
        </p:sp>
      </p:grpSp>
      <p:sp>
        <p:nvSpPr>
          <p:cNvPr id="4" name="Título 3">
            <a:extLst>
              <a:ext uri="{FF2B5EF4-FFF2-40B4-BE49-F238E27FC236}">
                <a16:creationId xmlns:a16="http://schemas.microsoft.com/office/drawing/2014/main" id="{54D468DA-16C5-45B1-A806-D74EAA2AD1C8}"/>
              </a:ext>
            </a:extLst>
          </p:cNvPr>
          <p:cNvSpPr>
            <a:spLocks noGrp="1"/>
          </p:cNvSpPr>
          <p:nvPr>
            <p:ph type="title"/>
          </p:nvPr>
        </p:nvSpPr>
        <p:spPr/>
        <p:txBody>
          <a:bodyPr/>
          <a:lstStyle/>
          <a:p>
            <a:endParaRPr lang="pt-B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7"/>
          <p:cNvGrpSpPr/>
          <p:nvPr/>
        </p:nvGrpSpPr>
        <p:grpSpPr>
          <a:xfrm>
            <a:off x="1214415" y="1393017"/>
            <a:ext cx="4572032" cy="1285884"/>
            <a:chOff x="1285852" y="714356"/>
            <a:chExt cx="4572032" cy="1714512"/>
          </a:xfrm>
        </p:grpSpPr>
        <p:sp>
          <p:nvSpPr>
            <p:cNvPr id="9" name="Arredondar Retângulo no Mesmo Canto Lateral 8"/>
            <p:cNvSpPr/>
            <p:nvPr/>
          </p:nvSpPr>
          <p:spPr>
            <a:xfrm>
              <a:off x="1285852" y="714356"/>
              <a:ext cx="4572032" cy="1714512"/>
            </a:xfrm>
            <a:prstGeom prst="round2SameRect">
              <a:avLst/>
            </a:prstGeom>
            <a:solidFill>
              <a:schemeClr val="tx2">
                <a:lumMod val="40000"/>
                <a:lumOff val="6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1600" b="1" dirty="0">
                <a:solidFill>
                  <a:schemeClr val="tx1"/>
                </a:solidFill>
                <a:latin typeface="DIN Pro Regular" panose="020B0504020101020102"/>
              </a:endParaRPr>
            </a:p>
          </p:txBody>
        </p:sp>
        <p:sp>
          <p:nvSpPr>
            <p:cNvPr id="10" name="CaixaDeTexto 9"/>
            <p:cNvSpPr txBox="1"/>
            <p:nvPr/>
          </p:nvSpPr>
          <p:spPr>
            <a:xfrm>
              <a:off x="1643042" y="928671"/>
              <a:ext cx="4000528" cy="1138773"/>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defRPr sz="135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600" dirty="0">
                  <a:solidFill>
                    <a:schemeClr val="tx1"/>
                  </a:solidFill>
                  <a:latin typeface="DIN Pro Regular" panose="020B0504020101020102"/>
                </a:rPr>
                <a:t>Ativação 1</a:t>
              </a:r>
            </a:p>
            <a:p>
              <a:endParaRPr lang="pt-BR" sz="1600" dirty="0">
                <a:solidFill>
                  <a:schemeClr val="tx1"/>
                </a:solidFill>
                <a:latin typeface="DIN Pro Regular" panose="020B0504020101020102"/>
              </a:endParaRPr>
            </a:p>
            <a:p>
              <a:r>
                <a:rPr lang="pt-BR" sz="1600" dirty="0">
                  <a:solidFill>
                    <a:schemeClr val="tx1"/>
                  </a:solidFill>
                  <a:latin typeface="DIN Pro Regular" panose="020B0504020101020102"/>
                </a:rPr>
                <a:t>n = 4 =&gt; 4 * fatorial (3) </a:t>
              </a:r>
            </a:p>
          </p:txBody>
        </p:sp>
      </p:grpSp>
      <p:sp>
        <p:nvSpPr>
          <p:cNvPr id="5" name="Arredondar Retângulo no Mesmo Canto Lateral 4"/>
          <p:cNvSpPr/>
          <p:nvPr/>
        </p:nvSpPr>
        <p:spPr>
          <a:xfrm>
            <a:off x="1357291" y="2035959"/>
            <a:ext cx="4572032" cy="1285884"/>
          </a:xfrm>
          <a:prstGeom prst="round2Same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500167"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18166"/>
            <a:ext cx="4572032" cy="1285884"/>
          </a:xfrm>
          <a:prstGeom prst="round2Same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7" name="CaixaDeTexto 6"/>
          <p:cNvSpPr txBox="1"/>
          <p:nvPr/>
        </p:nvSpPr>
        <p:spPr>
          <a:xfrm>
            <a:off x="1571604" y="2732480"/>
            <a:ext cx="4000528" cy="854080"/>
          </a:xfrm>
          <a:prstGeom prst="rect">
            <a:avLst/>
          </a:prstGeom>
          <a:noFill/>
        </p:spPr>
        <p:txBody>
          <a:bodyPr wrap="square" rtlCol="0">
            <a:spAutoFit/>
          </a:bodyPr>
          <a:lstStyle/>
          <a:p>
            <a:r>
              <a:rPr lang="pt-BR" b="1" dirty="0">
                <a:latin typeface="DIN Pro Regular"/>
                <a:ea typeface="+mj-ea"/>
                <a:cs typeface="+mj-cs"/>
              </a:rPr>
              <a:t>Ativação 3</a:t>
            </a:r>
          </a:p>
          <a:p>
            <a:endParaRPr lang="pt-BR" sz="1350" dirty="0"/>
          </a:p>
          <a:p>
            <a:r>
              <a:rPr lang="pt-BR" dirty="0">
                <a:latin typeface="DIN Pro Regular"/>
                <a:ea typeface="+mj-ea"/>
                <a:cs typeface="+mj-cs"/>
              </a:rPr>
              <a:t>n = 2 =&gt; </a:t>
            </a:r>
            <a:r>
              <a:rPr lang="pt-BR" dirty="0" err="1">
                <a:latin typeface="DIN Pro Regular"/>
                <a:ea typeface="+mj-ea"/>
                <a:cs typeface="+mj-cs"/>
              </a:rPr>
              <a:t>return</a:t>
            </a:r>
            <a:r>
              <a:rPr lang="pt-BR" dirty="0">
                <a:latin typeface="DIN Pro Regular"/>
                <a:ea typeface="+mj-ea"/>
                <a:cs typeface="+mj-cs"/>
              </a:rPr>
              <a:t> (2 * fatorial (1) )</a:t>
            </a:r>
          </a:p>
        </p:txBody>
      </p:sp>
      <p:sp>
        <p:nvSpPr>
          <p:cNvPr id="3" name="Título 2">
            <a:extLst>
              <a:ext uri="{FF2B5EF4-FFF2-40B4-BE49-F238E27FC236}">
                <a16:creationId xmlns:a16="http://schemas.microsoft.com/office/drawing/2014/main" id="{13ECFC93-33EE-4B18-BC35-153D864BD4AE}"/>
              </a:ext>
            </a:extLst>
          </p:cNvPr>
          <p:cNvSpPr>
            <a:spLocks noGrp="1"/>
          </p:cNvSpPr>
          <p:nvPr>
            <p:ph type="title"/>
          </p:nvPr>
        </p:nvSpPr>
        <p:spPr/>
        <p:txBody>
          <a:bodyPr/>
          <a:lstStyle/>
          <a:p>
            <a:endParaRPr lang="pt-B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4"/>
          <p:cNvGrpSpPr/>
          <p:nvPr/>
        </p:nvGrpSpPr>
        <p:grpSpPr>
          <a:xfrm>
            <a:off x="1071538" y="1341043"/>
            <a:ext cx="4572032" cy="1285884"/>
            <a:chOff x="1285852" y="714356"/>
            <a:chExt cx="4572032" cy="1714512"/>
          </a:xfrm>
          <a:solidFill>
            <a:schemeClr val="accent5">
              <a:lumMod val="40000"/>
              <a:lumOff val="60000"/>
            </a:schemeClr>
          </a:solidFill>
        </p:grpSpPr>
        <p:sp>
          <p:nvSpPr>
            <p:cNvPr id="16" name="Arredondar Retângulo no Mesmo Canto Lateral 15"/>
            <p:cNvSpPr/>
            <p:nvPr/>
          </p:nvSpPr>
          <p:spPr>
            <a:xfrm>
              <a:off x="1285852" y="714356"/>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17" name="CaixaDeTexto 16"/>
            <p:cNvSpPr txBox="1"/>
            <p:nvPr/>
          </p:nvSpPr>
          <p:spPr>
            <a:xfrm>
              <a:off x="1643042" y="928671"/>
              <a:ext cx="4000528" cy="1138773"/>
            </a:xfrm>
            <a:prstGeom prst="rect">
              <a:avLst/>
            </a:prstGeom>
            <a:grpFill/>
          </p:spPr>
          <p:txBody>
            <a:bodyPr wrap="square" rtlCol="0">
              <a:spAutoFit/>
            </a:bodyPr>
            <a:lstStyle/>
            <a:p>
              <a:r>
                <a:rPr lang="pt-BR" b="1" dirty="0">
                  <a:latin typeface="DIN Pro Regular" panose="020B0504020101020102" pitchFamily="34" charset="0"/>
                  <a:cs typeface="DIN Pro Regular" panose="020B0504020101020102" pitchFamily="34" charset="0"/>
                </a:rPr>
                <a:t>Ativação 1</a:t>
              </a:r>
            </a:p>
            <a:p>
              <a:endParaRPr lang="pt-BR" sz="1350" dirty="0"/>
            </a:p>
            <a:p>
              <a:r>
                <a:rPr lang="pt-BR" dirty="0">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214415" y="1863296"/>
            <a:ext cx="4572032" cy="1285884"/>
          </a:xfrm>
          <a:prstGeom prst="round2Same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500167"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a:t>
            </a:r>
            <a:r>
              <a:rPr lang="pt-BR" dirty="0">
                <a:solidFill>
                  <a:srgbClr val="006600"/>
                </a:solidFill>
                <a:latin typeface="DIN Pro Regular"/>
                <a:ea typeface="+mj-ea"/>
                <a:cs typeface="+mj-cs"/>
              </a:rPr>
              <a:t> </a:t>
            </a:r>
            <a:r>
              <a:rPr lang="pt-BR" b="1" dirty="0">
                <a:solidFill>
                  <a:srgbClr val="006600"/>
                </a:solidFill>
                <a:latin typeface="DIN Pro Regular"/>
                <a:ea typeface="+mj-ea"/>
                <a:cs typeface="+mj-cs"/>
              </a:rPr>
              <a:t>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85276"/>
            <a:ext cx="4572032" cy="1285884"/>
          </a:xfrm>
          <a:prstGeom prst="round2Same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7" name="CaixaDeTexto 6"/>
          <p:cNvSpPr txBox="1"/>
          <p:nvPr/>
        </p:nvSpPr>
        <p:spPr>
          <a:xfrm>
            <a:off x="1571604" y="2732480"/>
            <a:ext cx="4000528" cy="854080"/>
          </a:xfrm>
          <a:prstGeom prst="rect">
            <a:avLst/>
          </a:prstGeom>
          <a:noFill/>
        </p:spPr>
        <p:txBody>
          <a:bodyPr wrap="square" rtlCol="0">
            <a:spAutoFit/>
          </a:bodyPr>
          <a:lstStyle/>
          <a:p>
            <a:r>
              <a:rPr lang="pt-BR" b="1" dirty="0">
                <a:latin typeface="DIN Pro Regular"/>
                <a:ea typeface="+mj-ea"/>
                <a:cs typeface="+mj-cs"/>
              </a:rPr>
              <a:t>Ativação 3</a:t>
            </a:r>
          </a:p>
          <a:p>
            <a:endParaRPr lang="pt-BR" sz="1350" dirty="0"/>
          </a:p>
          <a:p>
            <a:r>
              <a:rPr lang="pt-BR" dirty="0">
                <a:latin typeface="DIN Pro Regular"/>
                <a:ea typeface="+mj-ea"/>
                <a:cs typeface="+mj-cs"/>
              </a:rPr>
              <a:t>n = 2 =&gt; 2 * fatorial (1) </a:t>
            </a:r>
          </a:p>
        </p:txBody>
      </p:sp>
      <p:grpSp>
        <p:nvGrpSpPr>
          <p:cNvPr id="3" name="Grupo 11"/>
          <p:cNvGrpSpPr/>
          <p:nvPr/>
        </p:nvGrpSpPr>
        <p:grpSpPr>
          <a:xfrm>
            <a:off x="1643043" y="3172494"/>
            <a:ext cx="4572032" cy="1285884"/>
            <a:chOff x="1509690" y="2438392"/>
            <a:chExt cx="4572032" cy="1714512"/>
          </a:xfrm>
          <a:solidFill>
            <a:schemeClr val="bg2">
              <a:lumMod val="90000"/>
            </a:schemeClr>
          </a:solidFill>
        </p:grpSpPr>
        <p:sp>
          <p:nvSpPr>
            <p:cNvPr id="10" name="Arredondar Retângulo no Mesmo Canto Lateral 9"/>
            <p:cNvSpPr/>
            <p:nvPr/>
          </p:nvSpPr>
          <p:spPr>
            <a:xfrm>
              <a:off x="1509690" y="2438392"/>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rgbClr val="0000CC"/>
                </a:solidFill>
              </a:endParaRPr>
            </a:p>
          </p:txBody>
        </p:sp>
        <p:sp>
          <p:nvSpPr>
            <p:cNvPr id="11" name="CaixaDeTexto 10"/>
            <p:cNvSpPr txBox="1"/>
            <p:nvPr/>
          </p:nvSpPr>
          <p:spPr>
            <a:xfrm>
              <a:off x="1724004" y="2652707"/>
              <a:ext cx="4000528" cy="1138773"/>
            </a:xfrm>
            <a:prstGeom prst="rect">
              <a:avLst/>
            </a:prstGeom>
            <a:grpFill/>
          </p:spPr>
          <p:txBody>
            <a:bodyPr wrap="square" rtlCol="0">
              <a:spAutoFit/>
            </a:bodyPr>
            <a:lstStyle/>
            <a:p>
              <a:r>
                <a:rPr lang="pt-BR" b="1" dirty="0">
                  <a:solidFill>
                    <a:srgbClr val="0000CC"/>
                  </a:solidFill>
                  <a:latin typeface="DIN Pro Regular"/>
                  <a:ea typeface="+mj-ea"/>
                  <a:cs typeface="+mj-cs"/>
                </a:rPr>
                <a:t>Ativação 4</a:t>
              </a:r>
            </a:p>
            <a:p>
              <a:r>
                <a:rPr lang="pt-BR" sz="1350" dirty="0">
                  <a:solidFill>
                    <a:srgbClr val="0000CC"/>
                  </a:solidFill>
                </a:rPr>
                <a:t>  		</a:t>
              </a:r>
              <a:endParaRPr lang="pt-BR" sz="1350" b="1" dirty="0"/>
            </a:p>
            <a:p>
              <a:r>
                <a:rPr lang="pt-BR" dirty="0">
                  <a:solidFill>
                    <a:srgbClr val="0000CC"/>
                  </a:solidFill>
                  <a:latin typeface="DIN Pro Regular"/>
                  <a:ea typeface="+mj-ea"/>
                  <a:cs typeface="+mj-cs"/>
                </a:rPr>
                <a:t>n = 1 =&gt; </a:t>
              </a:r>
              <a:r>
                <a:rPr lang="pt-BR" dirty="0" err="1">
                  <a:solidFill>
                    <a:srgbClr val="0000CC"/>
                  </a:solidFill>
                  <a:latin typeface="DIN Pro Regular"/>
                  <a:ea typeface="+mj-ea"/>
                  <a:cs typeface="+mj-cs"/>
                </a:rPr>
                <a:t>return</a:t>
              </a:r>
              <a:r>
                <a:rPr lang="pt-BR" dirty="0">
                  <a:solidFill>
                    <a:srgbClr val="0000CC"/>
                  </a:solidFill>
                  <a:latin typeface="DIN Pro Regular"/>
                  <a:ea typeface="+mj-ea"/>
                  <a:cs typeface="+mj-cs"/>
                </a:rPr>
                <a:t> (1 * fatorial (0))</a:t>
              </a:r>
            </a:p>
          </p:txBody>
        </p:sp>
      </p:grpSp>
      <p:sp>
        <p:nvSpPr>
          <p:cNvPr id="8" name="Título 7">
            <a:extLst>
              <a:ext uri="{FF2B5EF4-FFF2-40B4-BE49-F238E27FC236}">
                <a16:creationId xmlns:a16="http://schemas.microsoft.com/office/drawing/2014/main" id="{3211FFCD-0570-4B37-B41B-ABC3775A1FCB}"/>
              </a:ext>
            </a:extLst>
          </p:cNvPr>
          <p:cNvSpPr>
            <a:spLocks noGrp="1"/>
          </p:cNvSpPr>
          <p:nvPr>
            <p:ph type="title"/>
          </p:nvPr>
        </p:nvSpPr>
        <p:spPr/>
        <p:txBody>
          <a:bodyPr/>
          <a:lstStyle/>
          <a:p>
            <a:endParaRPr lang="pt-B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4"/>
          <p:cNvGrpSpPr/>
          <p:nvPr/>
        </p:nvGrpSpPr>
        <p:grpSpPr>
          <a:xfrm>
            <a:off x="1071538" y="1341043"/>
            <a:ext cx="4572032" cy="1285884"/>
            <a:chOff x="1285852" y="714356"/>
            <a:chExt cx="4572032" cy="1714512"/>
          </a:xfrm>
          <a:solidFill>
            <a:schemeClr val="accent5">
              <a:lumMod val="40000"/>
              <a:lumOff val="60000"/>
            </a:schemeClr>
          </a:solidFill>
        </p:grpSpPr>
        <p:sp>
          <p:nvSpPr>
            <p:cNvPr id="16" name="Arredondar Retângulo no Mesmo Canto Lateral 15"/>
            <p:cNvSpPr/>
            <p:nvPr/>
          </p:nvSpPr>
          <p:spPr>
            <a:xfrm>
              <a:off x="1285852" y="714356"/>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17" name="CaixaDeTexto 16"/>
            <p:cNvSpPr txBox="1"/>
            <p:nvPr/>
          </p:nvSpPr>
          <p:spPr>
            <a:xfrm>
              <a:off x="1643042" y="928671"/>
              <a:ext cx="4000528" cy="1138773"/>
            </a:xfrm>
            <a:prstGeom prst="rect">
              <a:avLst/>
            </a:prstGeom>
            <a:grpFill/>
          </p:spPr>
          <p:txBody>
            <a:bodyPr wrap="square" rtlCol="0">
              <a:spAutoFit/>
            </a:bodyPr>
            <a:lstStyle/>
            <a:p>
              <a:r>
                <a:rPr lang="pt-BR" b="1" dirty="0">
                  <a:latin typeface="DIN Pro Regular" panose="020B0504020101020102" pitchFamily="34" charset="0"/>
                  <a:cs typeface="DIN Pro Regular" panose="020B0504020101020102" pitchFamily="34" charset="0"/>
                </a:rPr>
                <a:t>Ativação 1</a:t>
              </a:r>
            </a:p>
            <a:p>
              <a:endParaRPr lang="pt-BR" sz="1350" dirty="0"/>
            </a:p>
            <a:p>
              <a:r>
                <a:rPr lang="pt-BR" dirty="0">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214415" y="1863296"/>
            <a:ext cx="4572032" cy="1285884"/>
          </a:xfrm>
          <a:prstGeom prst="round2Same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500167"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a:t>
            </a:r>
            <a:r>
              <a:rPr lang="pt-BR" dirty="0">
                <a:solidFill>
                  <a:srgbClr val="006600"/>
                </a:solidFill>
                <a:latin typeface="DIN Pro Regular"/>
                <a:ea typeface="+mj-ea"/>
                <a:cs typeface="+mj-cs"/>
              </a:rPr>
              <a:t> </a:t>
            </a:r>
            <a:r>
              <a:rPr lang="pt-BR" b="1" dirty="0">
                <a:solidFill>
                  <a:srgbClr val="006600"/>
                </a:solidFill>
                <a:latin typeface="DIN Pro Regular"/>
                <a:ea typeface="+mj-ea"/>
                <a:cs typeface="+mj-cs"/>
              </a:rPr>
              <a:t>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85276"/>
            <a:ext cx="4572032" cy="1285884"/>
          </a:xfrm>
          <a:prstGeom prst="round2Same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7" name="CaixaDeTexto 6"/>
          <p:cNvSpPr txBox="1"/>
          <p:nvPr/>
        </p:nvSpPr>
        <p:spPr>
          <a:xfrm>
            <a:off x="1571604" y="2732480"/>
            <a:ext cx="4000528" cy="854080"/>
          </a:xfrm>
          <a:prstGeom prst="rect">
            <a:avLst/>
          </a:prstGeom>
          <a:noFill/>
        </p:spPr>
        <p:txBody>
          <a:bodyPr wrap="square" rtlCol="0">
            <a:spAutoFit/>
          </a:bodyPr>
          <a:lstStyle/>
          <a:p>
            <a:r>
              <a:rPr lang="pt-BR" b="1" dirty="0">
                <a:latin typeface="DIN Pro Regular"/>
                <a:ea typeface="+mj-ea"/>
                <a:cs typeface="+mj-cs"/>
              </a:rPr>
              <a:t>Ativação 3</a:t>
            </a:r>
          </a:p>
          <a:p>
            <a:endParaRPr lang="pt-BR" sz="1350" dirty="0"/>
          </a:p>
          <a:p>
            <a:r>
              <a:rPr lang="pt-BR" dirty="0">
                <a:latin typeface="DIN Pro Regular"/>
                <a:ea typeface="+mj-ea"/>
                <a:cs typeface="+mj-cs"/>
              </a:rPr>
              <a:t>n = 2 =&gt; 2 * fatorial (1) </a:t>
            </a:r>
          </a:p>
        </p:txBody>
      </p:sp>
      <p:grpSp>
        <p:nvGrpSpPr>
          <p:cNvPr id="3" name="Grupo 11"/>
          <p:cNvGrpSpPr/>
          <p:nvPr/>
        </p:nvGrpSpPr>
        <p:grpSpPr>
          <a:xfrm>
            <a:off x="1643043" y="3172494"/>
            <a:ext cx="4572032" cy="1285884"/>
            <a:chOff x="1509690" y="2438392"/>
            <a:chExt cx="4572032" cy="1714512"/>
          </a:xfrm>
          <a:solidFill>
            <a:schemeClr val="bg2">
              <a:lumMod val="90000"/>
            </a:schemeClr>
          </a:solidFill>
        </p:grpSpPr>
        <p:sp>
          <p:nvSpPr>
            <p:cNvPr id="10" name="Arredondar Retângulo no Mesmo Canto Lateral 9"/>
            <p:cNvSpPr/>
            <p:nvPr/>
          </p:nvSpPr>
          <p:spPr>
            <a:xfrm>
              <a:off x="1509690" y="2438392"/>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rgbClr val="0000CC"/>
                </a:solidFill>
              </a:endParaRPr>
            </a:p>
          </p:txBody>
        </p:sp>
        <p:sp>
          <p:nvSpPr>
            <p:cNvPr id="11" name="CaixaDeTexto 10"/>
            <p:cNvSpPr txBox="1"/>
            <p:nvPr/>
          </p:nvSpPr>
          <p:spPr>
            <a:xfrm>
              <a:off x="1724004" y="2652707"/>
              <a:ext cx="4000528" cy="1138773"/>
            </a:xfrm>
            <a:prstGeom prst="rect">
              <a:avLst/>
            </a:prstGeom>
            <a:grpFill/>
          </p:spPr>
          <p:txBody>
            <a:bodyPr wrap="square" rtlCol="0">
              <a:spAutoFit/>
            </a:bodyPr>
            <a:lstStyle/>
            <a:p>
              <a:r>
                <a:rPr lang="pt-BR" b="1" dirty="0">
                  <a:solidFill>
                    <a:srgbClr val="0000CC"/>
                  </a:solidFill>
                  <a:latin typeface="DIN Pro Regular"/>
                  <a:ea typeface="+mj-ea"/>
                  <a:cs typeface="+mj-cs"/>
                </a:rPr>
                <a:t>Ativação 4</a:t>
              </a:r>
            </a:p>
            <a:p>
              <a:endParaRPr lang="pt-BR" sz="1350" dirty="0">
                <a:solidFill>
                  <a:srgbClr val="0000CC"/>
                </a:solidFill>
              </a:endParaRPr>
            </a:p>
            <a:p>
              <a:r>
                <a:rPr lang="pt-BR" dirty="0">
                  <a:solidFill>
                    <a:srgbClr val="0000CC"/>
                  </a:solidFill>
                  <a:latin typeface="DIN Pro Regular"/>
                  <a:ea typeface="+mj-ea"/>
                  <a:cs typeface="+mj-cs"/>
                </a:rPr>
                <a:t>n = 1 =&gt; </a:t>
              </a:r>
              <a:r>
                <a:rPr lang="pt-BR" dirty="0" err="1">
                  <a:solidFill>
                    <a:srgbClr val="0000CC"/>
                  </a:solidFill>
                  <a:latin typeface="DIN Pro Regular"/>
                  <a:ea typeface="+mj-ea"/>
                  <a:cs typeface="+mj-cs"/>
                </a:rPr>
                <a:t>return</a:t>
              </a:r>
              <a:r>
                <a:rPr lang="pt-BR" dirty="0">
                  <a:solidFill>
                    <a:srgbClr val="0000CC"/>
                  </a:solidFill>
                  <a:latin typeface="DIN Pro Regular"/>
                  <a:ea typeface="+mj-ea"/>
                  <a:cs typeface="+mj-cs"/>
                </a:rPr>
                <a:t> (1 * fatorial (0))</a:t>
              </a:r>
            </a:p>
          </p:txBody>
        </p:sp>
      </p:grpSp>
      <p:sp>
        <p:nvSpPr>
          <p:cNvPr id="8" name="Título 7">
            <a:extLst>
              <a:ext uri="{FF2B5EF4-FFF2-40B4-BE49-F238E27FC236}">
                <a16:creationId xmlns:a16="http://schemas.microsoft.com/office/drawing/2014/main" id="{3211FFCD-0570-4B37-B41B-ABC3775A1FCB}"/>
              </a:ext>
            </a:extLst>
          </p:cNvPr>
          <p:cNvSpPr>
            <a:spLocks noGrp="1"/>
          </p:cNvSpPr>
          <p:nvPr>
            <p:ph type="title"/>
          </p:nvPr>
        </p:nvSpPr>
        <p:spPr/>
        <p:txBody>
          <a:bodyPr/>
          <a:lstStyle/>
          <a:p>
            <a:endParaRPr lang="pt-BR"/>
          </a:p>
        </p:txBody>
      </p:sp>
      <p:sp>
        <p:nvSpPr>
          <p:cNvPr id="9" name="Arredondar Retângulo no Mesmo Canto Lateral 12">
            <a:extLst>
              <a:ext uri="{FF2B5EF4-FFF2-40B4-BE49-F238E27FC236}">
                <a16:creationId xmlns:a16="http://schemas.microsoft.com/office/drawing/2014/main" id="{F45B2080-9E2D-4637-AB75-BC2CF3D3719C}"/>
              </a:ext>
            </a:extLst>
          </p:cNvPr>
          <p:cNvSpPr/>
          <p:nvPr/>
        </p:nvSpPr>
        <p:spPr>
          <a:xfrm>
            <a:off x="1857357" y="3804050"/>
            <a:ext cx="4572032" cy="1285884"/>
          </a:xfrm>
          <a:prstGeom prst="round2SameRect">
            <a:avLst/>
          </a:prstGeom>
          <a:solidFill>
            <a:srgbClr val="FFE18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12" name="CaixaDeTexto 11">
            <a:extLst>
              <a:ext uri="{FF2B5EF4-FFF2-40B4-BE49-F238E27FC236}">
                <a16:creationId xmlns:a16="http://schemas.microsoft.com/office/drawing/2014/main" id="{2432420E-4114-454A-B5F8-62BC189B01BE}"/>
              </a:ext>
            </a:extLst>
          </p:cNvPr>
          <p:cNvSpPr txBox="1"/>
          <p:nvPr/>
        </p:nvSpPr>
        <p:spPr>
          <a:xfrm>
            <a:off x="2143109" y="3964786"/>
            <a:ext cx="4000528" cy="854080"/>
          </a:xfrm>
          <a:prstGeom prst="rect">
            <a:avLst/>
          </a:prstGeom>
          <a:noFill/>
        </p:spPr>
        <p:txBody>
          <a:bodyPr wrap="square" rtlCol="0">
            <a:spAutoFit/>
          </a:bodyPr>
          <a:lstStyle/>
          <a:p>
            <a:r>
              <a:rPr lang="pt-BR" b="1" dirty="0">
                <a:solidFill>
                  <a:srgbClr val="C00000"/>
                </a:solidFill>
                <a:latin typeface="DIN Pro Regular"/>
                <a:ea typeface="+mj-ea"/>
                <a:cs typeface="+mj-cs"/>
              </a:rPr>
              <a:t>Ativação 5</a:t>
            </a:r>
          </a:p>
          <a:p>
            <a:endParaRPr lang="pt-BR" sz="1350" dirty="0">
              <a:solidFill>
                <a:srgbClr val="C00000"/>
              </a:solidFill>
            </a:endParaRPr>
          </a:p>
          <a:p>
            <a:r>
              <a:rPr lang="pt-BR" dirty="0">
                <a:solidFill>
                  <a:srgbClr val="C00000"/>
                </a:solidFill>
                <a:latin typeface="DIN Pro Regular"/>
                <a:ea typeface="+mj-ea"/>
                <a:cs typeface="+mj-cs"/>
              </a:rPr>
              <a:t>n = 0 =&gt; </a:t>
            </a:r>
            <a:r>
              <a:rPr lang="pt-BR" dirty="0" err="1">
                <a:solidFill>
                  <a:srgbClr val="C00000"/>
                </a:solidFill>
                <a:latin typeface="DIN Pro Regular"/>
                <a:ea typeface="+mj-ea"/>
                <a:cs typeface="+mj-cs"/>
              </a:rPr>
              <a:t>return</a:t>
            </a:r>
            <a:r>
              <a:rPr lang="pt-BR" dirty="0">
                <a:solidFill>
                  <a:srgbClr val="C00000"/>
                </a:solidFill>
                <a:latin typeface="DIN Pro Regular"/>
                <a:ea typeface="+mj-ea"/>
                <a:cs typeface="+mj-cs"/>
              </a:rPr>
              <a:t> (1)</a:t>
            </a:r>
          </a:p>
        </p:txBody>
      </p:sp>
    </p:spTree>
    <p:extLst>
      <p:ext uri="{BB962C8B-B14F-4D97-AF65-F5344CB8AC3E}">
        <p14:creationId xmlns:p14="http://schemas.microsoft.com/office/powerpoint/2010/main" val="2679530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4"/>
          <p:cNvGrpSpPr/>
          <p:nvPr/>
        </p:nvGrpSpPr>
        <p:grpSpPr>
          <a:xfrm>
            <a:off x="1071538" y="1341043"/>
            <a:ext cx="4572032" cy="1285884"/>
            <a:chOff x="1285852" y="714356"/>
            <a:chExt cx="4572032" cy="1714512"/>
          </a:xfrm>
          <a:solidFill>
            <a:schemeClr val="accent5">
              <a:lumMod val="40000"/>
              <a:lumOff val="60000"/>
            </a:schemeClr>
          </a:solidFill>
        </p:grpSpPr>
        <p:sp>
          <p:nvSpPr>
            <p:cNvPr id="16" name="Arredondar Retângulo no Mesmo Canto Lateral 15"/>
            <p:cNvSpPr/>
            <p:nvPr/>
          </p:nvSpPr>
          <p:spPr>
            <a:xfrm>
              <a:off x="1285852" y="714356"/>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17" name="CaixaDeTexto 16"/>
            <p:cNvSpPr txBox="1"/>
            <p:nvPr/>
          </p:nvSpPr>
          <p:spPr>
            <a:xfrm>
              <a:off x="1643042" y="928671"/>
              <a:ext cx="4000528" cy="1138773"/>
            </a:xfrm>
            <a:prstGeom prst="rect">
              <a:avLst/>
            </a:prstGeom>
            <a:grpFill/>
          </p:spPr>
          <p:txBody>
            <a:bodyPr wrap="square" rtlCol="0">
              <a:spAutoFit/>
            </a:bodyPr>
            <a:lstStyle/>
            <a:p>
              <a:r>
                <a:rPr lang="pt-BR" b="1" dirty="0">
                  <a:latin typeface="DIN Pro Regular" panose="020B0504020101020102" pitchFamily="34" charset="0"/>
                  <a:cs typeface="DIN Pro Regular" panose="020B0504020101020102" pitchFamily="34" charset="0"/>
                </a:rPr>
                <a:t>Ativação 1</a:t>
              </a:r>
            </a:p>
            <a:p>
              <a:endParaRPr lang="pt-BR" sz="1350" dirty="0"/>
            </a:p>
            <a:p>
              <a:r>
                <a:rPr lang="pt-BR" dirty="0">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214415" y="1863296"/>
            <a:ext cx="4572032" cy="1285884"/>
          </a:xfrm>
          <a:prstGeom prst="round2Same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500167"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a:t>
            </a:r>
            <a:r>
              <a:rPr lang="pt-BR" dirty="0">
                <a:solidFill>
                  <a:srgbClr val="006600"/>
                </a:solidFill>
                <a:latin typeface="DIN Pro Regular"/>
                <a:ea typeface="+mj-ea"/>
                <a:cs typeface="+mj-cs"/>
              </a:rPr>
              <a:t> </a:t>
            </a:r>
            <a:r>
              <a:rPr lang="pt-BR" b="1" dirty="0">
                <a:solidFill>
                  <a:srgbClr val="006600"/>
                </a:solidFill>
                <a:latin typeface="DIN Pro Regular"/>
                <a:ea typeface="+mj-ea"/>
                <a:cs typeface="+mj-cs"/>
              </a:rPr>
              <a:t>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85276"/>
            <a:ext cx="4572032" cy="1285884"/>
          </a:xfrm>
          <a:prstGeom prst="round2Same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7" name="CaixaDeTexto 6"/>
          <p:cNvSpPr txBox="1"/>
          <p:nvPr/>
        </p:nvSpPr>
        <p:spPr>
          <a:xfrm>
            <a:off x="1571604" y="2732480"/>
            <a:ext cx="4000528" cy="854080"/>
          </a:xfrm>
          <a:prstGeom prst="rect">
            <a:avLst/>
          </a:prstGeom>
          <a:noFill/>
        </p:spPr>
        <p:txBody>
          <a:bodyPr wrap="square" rtlCol="0">
            <a:spAutoFit/>
          </a:bodyPr>
          <a:lstStyle/>
          <a:p>
            <a:r>
              <a:rPr lang="pt-BR" b="1" dirty="0">
                <a:latin typeface="DIN Pro Regular"/>
                <a:ea typeface="+mj-ea"/>
                <a:cs typeface="+mj-cs"/>
              </a:rPr>
              <a:t>Ativação 3</a:t>
            </a:r>
          </a:p>
          <a:p>
            <a:endParaRPr lang="pt-BR" sz="1350" dirty="0"/>
          </a:p>
          <a:p>
            <a:r>
              <a:rPr lang="pt-BR" dirty="0">
                <a:latin typeface="DIN Pro Regular"/>
                <a:ea typeface="+mj-ea"/>
                <a:cs typeface="+mj-cs"/>
              </a:rPr>
              <a:t>n = 2 =&gt; 2 * fatorial (1) </a:t>
            </a:r>
          </a:p>
        </p:txBody>
      </p:sp>
      <p:grpSp>
        <p:nvGrpSpPr>
          <p:cNvPr id="3" name="Grupo 11"/>
          <p:cNvGrpSpPr/>
          <p:nvPr/>
        </p:nvGrpSpPr>
        <p:grpSpPr>
          <a:xfrm>
            <a:off x="1643043" y="3172494"/>
            <a:ext cx="4572032" cy="1285884"/>
            <a:chOff x="1509690" y="2438392"/>
            <a:chExt cx="4572032" cy="1714512"/>
          </a:xfrm>
          <a:solidFill>
            <a:schemeClr val="bg2">
              <a:lumMod val="90000"/>
            </a:schemeClr>
          </a:solidFill>
        </p:grpSpPr>
        <p:sp>
          <p:nvSpPr>
            <p:cNvPr id="10" name="Arredondar Retângulo no Mesmo Canto Lateral 9"/>
            <p:cNvSpPr/>
            <p:nvPr/>
          </p:nvSpPr>
          <p:spPr>
            <a:xfrm>
              <a:off x="1509690" y="2438392"/>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rgbClr val="0000CC"/>
                </a:solidFill>
              </a:endParaRPr>
            </a:p>
          </p:txBody>
        </p:sp>
        <p:sp>
          <p:nvSpPr>
            <p:cNvPr id="11" name="CaixaDeTexto 10"/>
            <p:cNvSpPr txBox="1"/>
            <p:nvPr/>
          </p:nvSpPr>
          <p:spPr>
            <a:xfrm>
              <a:off x="1724004" y="2652707"/>
              <a:ext cx="4000528" cy="1231107"/>
            </a:xfrm>
            <a:prstGeom prst="rect">
              <a:avLst/>
            </a:prstGeom>
            <a:grpFill/>
          </p:spPr>
          <p:txBody>
            <a:bodyPr wrap="square" rtlCol="0">
              <a:spAutoFit/>
            </a:bodyPr>
            <a:lstStyle/>
            <a:p>
              <a:r>
                <a:rPr lang="pt-BR" b="1" dirty="0">
                  <a:solidFill>
                    <a:srgbClr val="0000CC"/>
                  </a:solidFill>
                  <a:latin typeface="DIN Pro Regular"/>
                  <a:ea typeface="+mj-ea"/>
                  <a:cs typeface="+mj-cs"/>
                </a:rPr>
                <a:t>Ativação 4</a:t>
              </a:r>
            </a:p>
            <a:p>
              <a:r>
                <a:rPr lang="pt-BR" sz="1350" dirty="0">
                  <a:solidFill>
                    <a:srgbClr val="0000CC"/>
                  </a:solidFill>
                </a:rPr>
                <a:t>  			</a:t>
              </a:r>
              <a:r>
                <a:rPr lang="pt-BR" b="1" dirty="0"/>
                <a:t>1</a:t>
              </a:r>
              <a:endParaRPr lang="pt-BR" sz="1350" b="1" dirty="0"/>
            </a:p>
            <a:p>
              <a:r>
                <a:rPr lang="pt-BR" dirty="0">
                  <a:solidFill>
                    <a:srgbClr val="0000CC"/>
                  </a:solidFill>
                  <a:latin typeface="DIN Pro Regular"/>
                  <a:ea typeface="+mj-ea"/>
                  <a:cs typeface="+mj-cs"/>
                </a:rPr>
                <a:t>n = 1 =&gt; </a:t>
              </a:r>
              <a:r>
                <a:rPr lang="pt-BR" dirty="0" err="1">
                  <a:solidFill>
                    <a:srgbClr val="0000CC"/>
                  </a:solidFill>
                  <a:latin typeface="DIN Pro Regular"/>
                  <a:ea typeface="+mj-ea"/>
                  <a:cs typeface="+mj-cs"/>
                </a:rPr>
                <a:t>return</a:t>
              </a:r>
              <a:r>
                <a:rPr lang="pt-BR" dirty="0">
                  <a:solidFill>
                    <a:srgbClr val="0000CC"/>
                  </a:solidFill>
                  <a:latin typeface="DIN Pro Regular"/>
                  <a:ea typeface="+mj-ea"/>
                  <a:cs typeface="+mj-cs"/>
                </a:rPr>
                <a:t> (1 * fatorial (0))</a:t>
              </a:r>
            </a:p>
          </p:txBody>
        </p:sp>
      </p:grpSp>
      <p:sp>
        <p:nvSpPr>
          <p:cNvPr id="8" name="Título 7">
            <a:extLst>
              <a:ext uri="{FF2B5EF4-FFF2-40B4-BE49-F238E27FC236}">
                <a16:creationId xmlns:a16="http://schemas.microsoft.com/office/drawing/2014/main" id="{3211FFCD-0570-4B37-B41B-ABC3775A1FCB}"/>
              </a:ext>
            </a:extLst>
          </p:cNvPr>
          <p:cNvSpPr>
            <a:spLocks noGrp="1"/>
          </p:cNvSpPr>
          <p:nvPr>
            <p:ph type="title"/>
          </p:nvPr>
        </p:nvSpPr>
        <p:spPr/>
        <p:txBody>
          <a:bodyPr/>
          <a:lstStyle/>
          <a:p>
            <a:endParaRPr lang="pt-BR"/>
          </a:p>
        </p:txBody>
      </p:sp>
      <p:cxnSp>
        <p:nvCxnSpPr>
          <p:cNvPr id="13" name="Conector de seta reta 12">
            <a:extLst>
              <a:ext uri="{FF2B5EF4-FFF2-40B4-BE49-F238E27FC236}">
                <a16:creationId xmlns:a16="http://schemas.microsoft.com/office/drawing/2014/main" id="{B8F3A195-F6EF-42B5-88A9-97ACCB809EBD}"/>
              </a:ext>
            </a:extLst>
          </p:cNvPr>
          <p:cNvCxnSpPr/>
          <p:nvPr/>
        </p:nvCxnSpPr>
        <p:spPr>
          <a:xfrm rot="5400000" flipH="1" flipV="1">
            <a:off x="4099214" y="3803074"/>
            <a:ext cx="394855" cy="322118"/>
          </a:xfrm>
          <a:prstGeom prst="straightConnector1">
            <a:avLst/>
          </a:prstGeom>
          <a:ln w="28575">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20478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7"/>
          <p:cNvGrpSpPr/>
          <p:nvPr/>
        </p:nvGrpSpPr>
        <p:grpSpPr>
          <a:xfrm>
            <a:off x="1214415" y="1393017"/>
            <a:ext cx="4572032" cy="1285884"/>
            <a:chOff x="1285852" y="714356"/>
            <a:chExt cx="4572032" cy="1714512"/>
          </a:xfrm>
        </p:grpSpPr>
        <p:sp>
          <p:nvSpPr>
            <p:cNvPr id="9" name="Arredondar Retângulo no Mesmo Canto Lateral 8"/>
            <p:cNvSpPr/>
            <p:nvPr/>
          </p:nvSpPr>
          <p:spPr>
            <a:xfrm>
              <a:off x="1285852" y="714356"/>
              <a:ext cx="4572032" cy="1714512"/>
            </a:xfrm>
            <a:prstGeom prst="round2SameRect">
              <a:avLst/>
            </a:prstGeom>
            <a:solidFill>
              <a:schemeClr val="tx2">
                <a:lumMod val="40000"/>
                <a:lumOff val="6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1600" b="1" dirty="0">
                <a:solidFill>
                  <a:schemeClr val="tx1"/>
                </a:solidFill>
                <a:latin typeface="DIN Pro Regular" panose="020B0504020101020102"/>
              </a:endParaRPr>
            </a:p>
          </p:txBody>
        </p:sp>
        <p:sp>
          <p:nvSpPr>
            <p:cNvPr id="10" name="CaixaDeTexto 9"/>
            <p:cNvSpPr txBox="1"/>
            <p:nvPr/>
          </p:nvSpPr>
          <p:spPr>
            <a:xfrm>
              <a:off x="1643042" y="928671"/>
              <a:ext cx="4000528" cy="1138773"/>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defRPr sz="135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600" dirty="0">
                  <a:solidFill>
                    <a:schemeClr val="tx1"/>
                  </a:solidFill>
                  <a:latin typeface="DIN Pro Regular" panose="020B0504020101020102"/>
                </a:rPr>
                <a:t>Ativação 1</a:t>
              </a:r>
            </a:p>
            <a:p>
              <a:endParaRPr lang="pt-BR" sz="1600" dirty="0">
                <a:solidFill>
                  <a:schemeClr val="tx1"/>
                </a:solidFill>
                <a:latin typeface="DIN Pro Regular" panose="020B0504020101020102"/>
              </a:endParaRPr>
            </a:p>
            <a:p>
              <a:r>
                <a:rPr lang="pt-BR" sz="1600" dirty="0">
                  <a:solidFill>
                    <a:schemeClr val="tx1"/>
                  </a:solidFill>
                  <a:latin typeface="DIN Pro Regular" panose="020B0504020101020102"/>
                </a:rPr>
                <a:t>n = 4 =&gt; 4 * fatorial (3) </a:t>
              </a:r>
            </a:p>
          </p:txBody>
        </p:sp>
      </p:grpSp>
      <p:sp>
        <p:nvSpPr>
          <p:cNvPr id="5" name="Arredondar Retângulo no Mesmo Canto Lateral 4"/>
          <p:cNvSpPr/>
          <p:nvPr/>
        </p:nvSpPr>
        <p:spPr>
          <a:xfrm>
            <a:off x="1357291" y="2035959"/>
            <a:ext cx="4572032" cy="1285884"/>
          </a:xfrm>
          <a:prstGeom prst="round2Same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500167"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18166"/>
            <a:ext cx="4572032" cy="1285884"/>
          </a:xfrm>
          <a:prstGeom prst="round2Same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7" name="CaixaDeTexto 6"/>
          <p:cNvSpPr txBox="1"/>
          <p:nvPr/>
        </p:nvSpPr>
        <p:spPr>
          <a:xfrm>
            <a:off x="1571604" y="2732480"/>
            <a:ext cx="4000528" cy="923330"/>
          </a:xfrm>
          <a:prstGeom prst="rect">
            <a:avLst/>
          </a:prstGeom>
          <a:noFill/>
        </p:spPr>
        <p:txBody>
          <a:bodyPr wrap="square" rtlCol="0">
            <a:spAutoFit/>
          </a:bodyPr>
          <a:lstStyle/>
          <a:p>
            <a:r>
              <a:rPr lang="pt-BR" b="1" dirty="0">
                <a:latin typeface="DIN Pro Regular"/>
                <a:ea typeface="+mj-ea"/>
                <a:cs typeface="+mj-cs"/>
              </a:rPr>
              <a:t>Ativação 3</a:t>
            </a:r>
          </a:p>
          <a:p>
            <a:r>
              <a:rPr lang="pt-BR" b="1" dirty="0">
                <a:latin typeface="DIN Pro Regular"/>
                <a:ea typeface="+mj-ea"/>
                <a:cs typeface="+mj-cs"/>
              </a:rPr>
              <a:t>			1</a:t>
            </a:r>
          </a:p>
          <a:p>
            <a:r>
              <a:rPr lang="pt-BR" dirty="0">
                <a:latin typeface="DIN Pro Regular"/>
                <a:ea typeface="+mj-ea"/>
                <a:cs typeface="+mj-cs"/>
              </a:rPr>
              <a:t>n = 2 =&gt; </a:t>
            </a:r>
            <a:r>
              <a:rPr lang="pt-BR" dirty="0" err="1">
                <a:latin typeface="DIN Pro Regular"/>
                <a:ea typeface="+mj-ea"/>
                <a:cs typeface="+mj-cs"/>
              </a:rPr>
              <a:t>return</a:t>
            </a:r>
            <a:r>
              <a:rPr lang="pt-BR" dirty="0">
                <a:latin typeface="DIN Pro Regular"/>
                <a:ea typeface="+mj-ea"/>
                <a:cs typeface="+mj-cs"/>
              </a:rPr>
              <a:t> (2 * fatorial (1) )</a:t>
            </a:r>
          </a:p>
        </p:txBody>
      </p:sp>
      <p:sp>
        <p:nvSpPr>
          <p:cNvPr id="3" name="Título 2">
            <a:extLst>
              <a:ext uri="{FF2B5EF4-FFF2-40B4-BE49-F238E27FC236}">
                <a16:creationId xmlns:a16="http://schemas.microsoft.com/office/drawing/2014/main" id="{13ECFC93-33EE-4B18-BC35-153D864BD4AE}"/>
              </a:ext>
            </a:extLst>
          </p:cNvPr>
          <p:cNvSpPr>
            <a:spLocks noGrp="1"/>
          </p:cNvSpPr>
          <p:nvPr>
            <p:ph type="title"/>
          </p:nvPr>
        </p:nvSpPr>
        <p:spPr/>
        <p:txBody>
          <a:bodyPr/>
          <a:lstStyle/>
          <a:p>
            <a:endParaRPr lang="pt-BR"/>
          </a:p>
        </p:txBody>
      </p:sp>
      <p:cxnSp>
        <p:nvCxnSpPr>
          <p:cNvPr id="11" name="Conector de seta reta 12">
            <a:extLst>
              <a:ext uri="{FF2B5EF4-FFF2-40B4-BE49-F238E27FC236}">
                <a16:creationId xmlns:a16="http://schemas.microsoft.com/office/drawing/2014/main" id="{A4FB5F7C-83BB-49DB-ACA8-895902D0FC88}"/>
              </a:ext>
            </a:extLst>
          </p:cNvPr>
          <p:cNvCxnSpPr/>
          <p:nvPr/>
        </p:nvCxnSpPr>
        <p:spPr>
          <a:xfrm rot="5400000" flipH="1" flipV="1">
            <a:off x="3777096" y="3228073"/>
            <a:ext cx="394855" cy="322118"/>
          </a:xfrm>
          <a:prstGeom prst="straightConnector1">
            <a:avLst/>
          </a:prstGeom>
          <a:ln w="28575">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71948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3"/>
          <p:cNvGrpSpPr/>
          <p:nvPr/>
        </p:nvGrpSpPr>
        <p:grpSpPr>
          <a:xfrm>
            <a:off x="1071538" y="1393017"/>
            <a:ext cx="4572032" cy="1285884"/>
            <a:chOff x="1285852" y="714356"/>
            <a:chExt cx="4572032" cy="1714512"/>
          </a:xfrm>
        </p:grpSpPr>
        <p:sp>
          <p:nvSpPr>
            <p:cNvPr id="7" name="Arredondar Retângulo no Mesmo Canto Lateral 6"/>
            <p:cNvSpPr/>
            <p:nvPr/>
          </p:nvSpPr>
          <p:spPr>
            <a:xfrm>
              <a:off x="1285852" y="714356"/>
              <a:ext cx="4572032" cy="1714512"/>
            </a:xfrm>
            <a:prstGeom prst="round2SameRect">
              <a:avLst/>
            </a:prstGeom>
            <a:solidFill>
              <a:schemeClr val="tx2">
                <a:lumMod val="40000"/>
                <a:lumOff val="6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1350" b="1" dirty="0">
                <a:solidFill>
                  <a:schemeClr val="tx1"/>
                </a:solidFill>
              </a:endParaRPr>
            </a:p>
          </p:txBody>
        </p:sp>
        <p:sp>
          <p:nvSpPr>
            <p:cNvPr id="8" name="CaixaDeTexto 7"/>
            <p:cNvSpPr txBox="1"/>
            <p:nvPr/>
          </p:nvSpPr>
          <p:spPr>
            <a:xfrm>
              <a:off x="1643042" y="928671"/>
              <a:ext cx="4000528" cy="11387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lgn="ctr">
                <a:defRPr sz="135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sz="1600" b="1" dirty="0">
                  <a:solidFill>
                    <a:schemeClr val="tx1"/>
                  </a:solidFill>
                  <a:latin typeface="DIN Pro Regular" panose="020B0504020101020102"/>
                </a:rPr>
                <a:t>Ativação 1</a:t>
              </a:r>
            </a:p>
            <a:p>
              <a:pPr algn="l"/>
              <a:endParaRPr lang="pt-BR" sz="1600" b="1" dirty="0">
                <a:solidFill>
                  <a:schemeClr val="tx1"/>
                </a:solidFill>
                <a:latin typeface="DIN Pro Regular" panose="020B0504020101020102"/>
              </a:endParaRPr>
            </a:p>
            <a:p>
              <a:pPr algn="l"/>
              <a:r>
                <a:rPr lang="pt-BR" sz="1600" b="1" dirty="0">
                  <a:solidFill>
                    <a:schemeClr val="tx1"/>
                  </a:solidFill>
                  <a:latin typeface="DIN Pro Regular" panose="020B0504020101020102"/>
                </a:rPr>
                <a:t>n = 4 =&gt; 4 * fatorial (3) </a:t>
              </a:r>
            </a:p>
          </p:txBody>
        </p:sp>
      </p:grpSp>
      <p:grpSp>
        <p:nvGrpSpPr>
          <p:cNvPr id="3" name="Grupo 8"/>
          <p:cNvGrpSpPr/>
          <p:nvPr/>
        </p:nvGrpSpPr>
        <p:grpSpPr>
          <a:xfrm>
            <a:off x="1357291" y="1982381"/>
            <a:ext cx="4572032" cy="1285884"/>
            <a:chOff x="2643174" y="3500438"/>
            <a:chExt cx="4572032" cy="1714512"/>
          </a:xfrm>
          <a:solidFill>
            <a:schemeClr val="accent3">
              <a:lumMod val="20000"/>
              <a:lumOff val="80000"/>
            </a:schemeClr>
          </a:solidFill>
        </p:grpSpPr>
        <p:sp>
          <p:nvSpPr>
            <p:cNvPr id="5" name="Arredondar Retângulo no Mesmo Canto Lateral 4"/>
            <p:cNvSpPr/>
            <p:nvPr/>
          </p:nvSpPr>
          <p:spPr>
            <a:xfrm>
              <a:off x="2643174" y="3500438"/>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6" name="CaixaDeTexto 5"/>
            <p:cNvSpPr txBox="1"/>
            <p:nvPr/>
          </p:nvSpPr>
          <p:spPr>
            <a:xfrm>
              <a:off x="2857488" y="3643314"/>
              <a:ext cx="4000528" cy="1231107"/>
            </a:xfrm>
            <a:prstGeom prst="rect">
              <a:avLst/>
            </a:prstGeom>
            <a:grpFill/>
          </p:spPr>
          <p:txBody>
            <a:bodyPr wrap="square" rtlCol="0">
              <a:spAutoFit/>
            </a:bodyPr>
            <a:lstStyle/>
            <a:p>
              <a:r>
                <a:rPr lang="pt-BR" b="1" dirty="0">
                  <a:solidFill>
                    <a:srgbClr val="006600"/>
                  </a:solidFill>
                  <a:latin typeface="DIN Pro Regular"/>
                  <a:ea typeface="+mj-ea"/>
                  <a:cs typeface="+mj-cs"/>
                </a:rPr>
                <a:t>Ativação 2</a:t>
              </a:r>
            </a:p>
            <a:p>
              <a:r>
                <a:rPr lang="pt-BR" b="1" dirty="0">
                  <a:solidFill>
                    <a:srgbClr val="006600"/>
                  </a:solidFill>
                  <a:latin typeface="DIN Pro Regular"/>
                  <a:ea typeface="+mj-ea"/>
                  <a:cs typeface="+mj-cs"/>
                </a:rPr>
                <a:t>			2</a:t>
              </a:r>
            </a:p>
            <a:p>
              <a:r>
                <a:rPr lang="pt-BR" dirty="0">
                  <a:solidFill>
                    <a:srgbClr val="006600"/>
                  </a:solidFill>
                  <a:latin typeface="DIN Pro Regular"/>
                  <a:ea typeface="+mj-ea"/>
                  <a:cs typeface="+mj-cs"/>
                </a:rPr>
                <a:t>n = 3 =&gt; </a:t>
              </a:r>
              <a:r>
                <a:rPr lang="pt-BR" dirty="0" err="1">
                  <a:solidFill>
                    <a:srgbClr val="006600"/>
                  </a:solidFill>
                  <a:latin typeface="DIN Pro Regular"/>
                  <a:ea typeface="+mj-ea"/>
                  <a:cs typeface="+mj-cs"/>
                </a:rPr>
                <a:t>return</a:t>
              </a:r>
              <a:r>
                <a:rPr lang="pt-BR" dirty="0">
                  <a:solidFill>
                    <a:srgbClr val="006600"/>
                  </a:solidFill>
                  <a:latin typeface="DIN Pro Regular"/>
                  <a:ea typeface="+mj-ea"/>
                  <a:cs typeface="+mj-cs"/>
                </a:rPr>
                <a:t> ( 3 * fatorial (2) )</a:t>
              </a:r>
            </a:p>
          </p:txBody>
        </p:sp>
      </p:grpSp>
      <p:sp>
        <p:nvSpPr>
          <p:cNvPr id="4" name="Título 3">
            <a:extLst>
              <a:ext uri="{FF2B5EF4-FFF2-40B4-BE49-F238E27FC236}">
                <a16:creationId xmlns:a16="http://schemas.microsoft.com/office/drawing/2014/main" id="{54D468DA-16C5-45B1-A806-D74EAA2AD1C8}"/>
              </a:ext>
            </a:extLst>
          </p:cNvPr>
          <p:cNvSpPr>
            <a:spLocks noGrp="1"/>
          </p:cNvSpPr>
          <p:nvPr>
            <p:ph type="title"/>
          </p:nvPr>
        </p:nvSpPr>
        <p:spPr/>
        <p:txBody>
          <a:bodyPr/>
          <a:lstStyle/>
          <a:p>
            <a:endParaRPr lang="pt-BR"/>
          </a:p>
        </p:txBody>
      </p:sp>
      <p:cxnSp>
        <p:nvCxnSpPr>
          <p:cNvPr id="9" name="Conector de seta reta 12">
            <a:extLst>
              <a:ext uri="{FF2B5EF4-FFF2-40B4-BE49-F238E27FC236}">
                <a16:creationId xmlns:a16="http://schemas.microsoft.com/office/drawing/2014/main" id="{1DEBEE19-25CC-49FC-862E-97C5800E1A30}"/>
              </a:ext>
            </a:extLst>
          </p:cNvPr>
          <p:cNvCxnSpPr/>
          <p:nvPr/>
        </p:nvCxnSpPr>
        <p:spPr>
          <a:xfrm rot="5400000" flipH="1" flipV="1">
            <a:off x="3938156" y="2661691"/>
            <a:ext cx="394855" cy="322118"/>
          </a:xfrm>
          <a:prstGeom prst="straightConnector1">
            <a:avLst/>
          </a:prstGeom>
          <a:ln w="28575">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46837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6"/>
          <p:cNvGrpSpPr/>
          <p:nvPr/>
        </p:nvGrpSpPr>
        <p:grpSpPr>
          <a:xfrm>
            <a:off x="1285852" y="1393017"/>
            <a:ext cx="4572032" cy="1285884"/>
            <a:chOff x="1285852" y="714356"/>
            <a:chExt cx="4572032" cy="1714512"/>
          </a:xfrm>
        </p:grpSpPr>
        <p:sp>
          <p:nvSpPr>
            <p:cNvPr id="5" name="Arredondar Retângulo no Mesmo Canto Lateral 4"/>
            <p:cNvSpPr/>
            <p:nvPr/>
          </p:nvSpPr>
          <p:spPr>
            <a:xfrm>
              <a:off x="1285852" y="714356"/>
              <a:ext cx="4572032" cy="1714512"/>
            </a:xfrm>
            <a:prstGeom prst="round2Same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6" name="CaixaDeTexto 5"/>
            <p:cNvSpPr txBox="1"/>
            <p:nvPr/>
          </p:nvSpPr>
          <p:spPr>
            <a:xfrm>
              <a:off x="1643042" y="928671"/>
              <a:ext cx="4000528" cy="1231107"/>
            </a:xfrm>
            <a:prstGeom prst="rect">
              <a:avLst/>
            </a:prstGeom>
            <a:noFill/>
          </p:spPr>
          <p:txBody>
            <a:bodyPr wrap="square" rtlCol="0">
              <a:spAutoFit/>
            </a:bodyPr>
            <a:lstStyle/>
            <a:p>
              <a:r>
                <a:rPr lang="pt-BR" b="1" dirty="0">
                  <a:latin typeface="DIN Pro Regular" panose="020B0504020101020102" pitchFamily="34" charset="0"/>
                  <a:cs typeface="DIN Pro Regular" panose="020B0504020101020102" pitchFamily="34" charset="0"/>
                </a:rPr>
                <a:t>Ativação 1</a:t>
              </a:r>
            </a:p>
            <a:p>
              <a:r>
                <a:rPr lang="pt-BR" b="1" dirty="0">
                  <a:latin typeface="DIN Pro Regular" panose="020B0504020101020102" pitchFamily="34" charset="0"/>
                  <a:cs typeface="DIN Pro Regular" panose="020B0504020101020102" pitchFamily="34" charset="0"/>
                </a:rPr>
                <a:t>			6</a:t>
              </a:r>
              <a:endParaRPr lang="pt-BR" sz="1350" dirty="0"/>
            </a:p>
            <a:p>
              <a:r>
                <a:rPr lang="pt-BR" dirty="0">
                  <a:latin typeface="DIN Pro Regular" panose="020B0504020101020102" pitchFamily="34" charset="0"/>
                  <a:cs typeface="DIN Pro Regular" panose="020B0504020101020102" pitchFamily="34" charset="0"/>
                </a:rPr>
                <a:t>n = 4 =&gt; </a:t>
              </a:r>
              <a:r>
                <a:rPr lang="pt-BR" dirty="0" err="1">
                  <a:latin typeface="DIN Pro Regular" panose="020B0504020101020102" pitchFamily="34" charset="0"/>
                  <a:cs typeface="DIN Pro Regular" panose="020B0504020101020102" pitchFamily="34" charset="0"/>
                </a:rPr>
                <a:t>return</a:t>
              </a:r>
              <a:r>
                <a:rPr lang="pt-BR" dirty="0">
                  <a:latin typeface="DIN Pro Regular" panose="020B0504020101020102" pitchFamily="34" charset="0"/>
                  <a:cs typeface="DIN Pro Regular" panose="020B0504020101020102" pitchFamily="34" charset="0"/>
                </a:rPr>
                <a:t> (4 * fatorial (3))</a:t>
              </a:r>
            </a:p>
          </p:txBody>
        </p:sp>
      </p:grpSp>
      <p:sp>
        <p:nvSpPr>
          <p:cNvPr id="3" name="Título 2">
            <a:extLst>
              <a:ext uri="{FF2B5EF4-FFF2-40B4-BE49-F238E27FC236}">
                <a16:creationId xmlns:a16="http://schemas.microsoft.com/office/drawing/2014/main" id="{57A4CC61-71D2-4AE7-B5D1-E4EA2FC3CE3E}"/>
              </a:ext>
            </a:extLst>
          </p:cNvPr>
          <p:cNvSpPr>
            <a:spLocks noGrp="1"/>
          </p:cNvSpPr>
          <p:nvPr>
            <p:ph type="title"/>
          </p:nvPr>
        </p:nvSpPr>
        <p:spPr/>
        <p:txBody>
          <a:bodyPr/>
          <a:lstStyle/>
          <a:p>
            <a:endParaRPr lang="pt-BR" dirty="0"/>
          </a:p>
        </p:txBody>
      </p:sp>
      <p:cxnSp>
        <p:nvCxnSpPr>
          <p:cNvPr id="7" name="Conector de seta reta 12">
            <a:extLst>
              <a:ext uri="{FF2B5EF4-FFF2-40B4-BE49-F238E27FC236}">
                <a16:creationId xmlns:a16="http://schemas.microsoft.com/office/drawing/2014/main" id="{510CF256-1BEC-470B-BDBB-DCDEF8BFE79D}"/>
              </a:ext>
            </a:extLst>
          </p:cNvPr>
          <p:cNvCxnSpPr/>
          <p:nvPr/>
        </p:nvCxnSpPr>
        <p:spPr>
          <a:xfrm rot="5400000" flipH="1" flipV="1">
            <a:off x="3938156" y="2072327"/>
            <a:ext cx="394855" cy="322118"/>
          </a:xfrm>
          <a:prstGeom prst="straightConnector1">
            <a:avLst/>
          </a:prstGeom>
          <a:ln w="28575">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07895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9E5225E3-8BD1-43B5-A095-5C68775372F4}"/>
              </a:ext>
            </a:extLst>
          </p:cNvPr>
          <p:cNvSpPr txBox="1"/>
          <p:nvPr/>
        </p:nvSpPr>
        <p:spPr>
          <a:xfrm>
            <a:off x="748863" y="1274218"/>
            <a:ext cx="6251028" cy="3416320"/>
          </a:xfrm>
          <a:prstGeom prst="rect">
            <a:avLst/>
          </a:prstGeom>
          <a:solidFill>
            <a:schemeClr val="accent6">
              <a:lumMod val="60000"/>
              <a:lumOff val="40000"/>
            </a:schemeClr>
          </a:solidFill>
        </p:spPr>
        <p:txBody>
          <a:bodyPr wrap="square">
            <a:spAutoFit/>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void</a:t>
            </a:r>
            <a:r>
              <a:rPr lang="en-US" sz="1800" b="1" dirty="0">
                <a:solidFill>
                  <a:srgbClr val="000000"/>
                </a:solidFill>
                <a:latin typeface="Consolas" panose="020B0609020204030204" pitchFamily="49" charset="0"/>
              </a:rPr>
              <a:t> main(String[] </a:t>
            </a:r>
            <a:r>
              <a:rPr lang="en-US" sz="1800" b="1" dirty="0" err="1">
                <a:solidFill>
                  <a:srgbClr val="6A3E3E"/>
                </a:solidFill>
                <a:latin typeface="Consolas" panose="020B0609020204030204" pitchFamily="49" charset="0"/>
              </a:rPr>
              <a:t>args</a:t>
            </a:r>
            <a:r>
              <a:rPr lang="en-US" sz="1800" b="1" dirty="0">
                <a:solidFill>
                  <a:srgbClr val="000000"/>
                </a:solidFill>
                <a:latin typeface="Consolas" panose="020B0609020204030204" pitchFamily="49" charset="0"/>
              </a:rPr>
              <a:t>) {</a:t>
            </a:r>
          </a:p>
          <a:p>
            <a:pPr indent="630238" algn="l"/>
            <a:r>
              <a:rPr lang="pt-BR" sz="1800" b="1" dirty="0" err="1">
                <a:solidFill>
                  <a:srgbClr val="7F0055"/>
                </a:solidFill>
                <a:latin typeface="Consolas" panose="020B0609020204030204" pitchFamily="49" charset="0"/>
              </a:rPr>
              <a:t>int</a:t>
            </a:r>
            <a:r>
              <a:rPr lang="pt-BR" sz="1800" b="1" dirty="0">
                <a:solidFill>
                  <a:srgbClr val="000000"/>
                </a:solidFill>
                <a:latin typeface="Consolas" panose="020B0609020204030204" pitchFamily="49" charset="0"/>
              </a:rPr>
              <a:t>  </a:t>
            </a:r>
            <a:r>
              <a:rPr lang="pt-BR" sz="1800" b="1" dirty="0" err="1">
                <a:solidFill>
                  <a:srgbClr val="6A3E3E"/>
                </a:solidFill>
                <a:latin typeface="Consolas" panose="020B0609020204030204" pitchFamily="49" charset="0"/>
              </a:rPr>
              <a:t>fat</a:t>
            </a:r>
            <a:r>
              <a:rPr lang="pt-BR" sz="1800" b="1" dirty="0">
                <a:solidFill>
                  <a:srgbClr val="000000"/>
                </a:solidFill>
                <a:latin typeface="Consolas" panose="020B0609020204030204" pitchFamily="49" charset="0"/>
              </a:rPr>
              <a:t>;</a:t>
            </a:r>
          </a:p>
          <a:p>
            <a:pPr indent="630238" algn="l"/>
            <a:r>
              <a:rPr lang="pt-BR" sz="1800" dirty="0" err="1">
                <a:solidFill>
                  <a:srgbClr val="6A3E3E"/>
                </a:solidFill>
                <a:latin typeface="Consolas" panose="020B0609020204030204" pitchFamily="49" charset="0"/>
              </a:rPr>
              <a:t>fat</a:t>
            </a:r>
            <a:r>
              <a:rPr lang="pt-BR" sz="1800" dirty="0">
                <a:solidFill>
                  <a:srgbClr val="000000"/>
                </a:solidFill>
                <a:latin typeface="Consolas" panose="020B0609020204030204" pitchFamily="49" charset="0"/>
              </a:rPr>
              <a:t> = </a:t>
            </a:r>
            <a:r>
              <a:rPr lang="pt-BR" sz="1800" i="1" dirty="0">
                <a:solidFill>
                  <a:srgbClr val="000000"/>
                </a:solidFill>
                <a:latin typeface="Consolas" panose="020B0609020204030204" pitchFamily="49" charset="0"/>
              </a:rPr>
              <a:t>fatorial (4);</a:t>
            </a:r>
          </a:p>
          <a:p>
            <a:pPr indent="630238" algn="l"/>
            <a:r>
              <a:rPr lang="pt-BR" sz="1800" dirty="0" err="1">
                <a:solidFill>
                  <a:srgbClr val="000000"/>
                </a:solidFill>
                <a:latin typeface="Consolas" panose="020B0609020204030204" pitchFamily="49" charset="0"/>
              </a:rPr>
              <a:t>System.</a:t>
            </a:r>
            <a:r>
              <a:rPr lang="pt-BR" sz="1800" b="1" i="1" dirty="0" err="1">
                <a:solidFill>
                  <a:srgbClr val="0000C0"/>
                </a:solidFill>
                <a:latin typeface="Consolas" panose="020B0609020204030204" pitchFamily="49" charset="0"/>
              </a:rPr>
              <a:t>out</a:t>
            </a:r>
            <a:r>
              <a:rPr lang="pt-BR" sz="1800" b="1" i="1" dirty="0" err="1">
                <a:solidFill>
                  <a:srgbClr val="000000"/>
                </a:solidFill>
                <a:latin typeface="Consolas" panose="020B0609020204030204" pitchFamily="49" charset="0"/>
              </a:rPr>
              <a:t>.println</a:t>
            </a:r>
            <a:r>
              <a:rPr lang="pt-BR" sz="1800" b="1" i="1" dirty="0">
                <a:solidFill>
                  <a:srgbClr val="000000"/>
                </a:solidFill>
                <a:latin typeface="Consolas" panose="020B0609020204030204" pitchFamily="49" charset="0"/>
              </a:rPr>
              <a:t>(</a:t>
            </a:r>
            <a:r>
              <a:rPr lang="pt-BR" sz="1800" b="1" i="1" dirty="0">
                <a:solidFill>
                  <a:srgbClr val="2A00FF"/>
                </a:solidFill>
                <a:latin typeface="Consolas" panose="020B0609020204030204" pitchFamily="49" charset="0"/>
              </a:rPr>
              <a:t>"Fatorial = "</a:t>
            </a:r>
            <a:r>
              <a:rPr lang="pt-BR" sz="1800" b="1" i="1" dirty="0">
                <a:solidFill>
                  <a:srgbClr val="000000"/>
                </a:solidFill>
                <a:latin typeface="Consolas" panose="020B0609020204030204" pitchFamily="49" charset="0"/>
              </a:rPr>
              <a:t> + </a:t>
            </a:r>
            <a:r>
              <a:rPr lang="pt-BR" sz="1800" b="1" i="1" dirty="0" err="1">
                <a:solidFill>
                  <a:srgbClr val="6A3E3E"/>
                </a:solidFill>
                <a:latin typeface="Consolas" panose="020B0609020204030204" pitchFamily="49" charset="0"/>
              </a:rPr>
              <a:t>fat</a:t>
            </a:r>
            <a:r>
              <a:rPr lang="pt-BR" sz="1800" b="1" i="1" dirty="0">
                <a:solidFill>
                  <a:srgbClr val="000000"/>
                </a:solidFill>
                <a:latin typeface="Consolas" panose="020B0609020204030204" pitchFamily="49" charset="0"/>
              </a:rPr>
              <a:t>);</a:t>
            </a:r>
          </a:p>
          <a:p>
            <a:pPr algn="l"/>
            <a:endParaRPr lang="pt-BR" sz="1800" dirty="0">
              <a:latin typeface="Consolas" panose="020B0609020204030204" pitchFamily="49" charset="0"/>
            </a:endParaRPr>
          </a:p>
          <a:p>
            <a:pPr algn="l"/>
            <a:r>
              <a:rPr lang="pt-BR" sz="1800"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fatorial</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a:t>
            </a:r>
            <a:r>
              <a:rPr lang="en-US" sz="1800" b="1" dirty="0">
                <a:solidFill>
                  <a:srgbClr val="000000"/>
                </a:solidFill>
                <a:latin typeface="Consolas" panose="020B0609020204030204" pitchFamily="49" charset="0"/>
              </a:rPr>
              <a:t> </a:t>
            </a:r>
            <a:r>
              <a:rPr lang="en-US" sz="1800" b="1" dirty="0">
                <a:solidFill>
                  <a:srgbClr val="6A3E3E"/>
                </a:solidFill>
                <a:latin typeface="Consolas" panose="020B0609020204030204" pitchFamily="49" charset="0"/>
              </a:rPr>
              <a:t>n</a:t>
            </a:r>
            <a:r>
              <a:rPr lang="en-US" sz="1800" b="1" dirty="0">
                <a:solidFill>
                  <a:srgbClr val="000000"/>
                </a:solidFill>
                <a:latin typeface="Consolas" panose="020B0609020204030204" pitchFamily="49" charset="0"/>
              </a:rPr>
              <a:t>) {</a:t>
            </a:r>
          </a:p>
          <a:p>
            <a:pPr indent="630238" algn="l"/>
            <a:r>
              <a:rPr lang="pt-BR" sz="1800" b="1" dirty="0" err="1">
                <a:solidFill>
                  <a:srgbClr val="7F0055"/>
                </a:solidFill>
                <a:latin typeface="Consolas" panose="020B0609020204030204" pitchFamily="49" charset="0"/>
              </a:rPr>
              <a:t>if</a:t>
            </a:r>
            <a:r>
              <a:rPr lang="pt-BR" sz="1800" b="1" dirty="0">
                <a:solidFill>
                  <a:srgbClr val="000000"/>
                </a:solidFill>
                <a:latin typeface="Consolas" panose="020B0609020204030204" pitchFamily="49" charset="0"/>
              </a:rPr>
              <a:t> (</a:t>
            </a:r>
            <a:r>
              <a:rPr lang="pt-BR" sz="1800" b="1" dirty="0">
                <a:solidFill>
                  <a:srgbClr val="6A3E3E"/>
                </a:solidFill>
                <a:latin typeface="Consolas" panose="020B0609020204030204" pitchFamily="49" charset="0"/>
              </a:rPr>
              <a:t>n</a:t>
            </a:r>
            <a:r>
              <a:rPr lang="pt-BR" sz="1800" b="1" dirty="0">
                <a:solidFill>
                  <a:srgbClr val="000000"/>
                </a:solidFill>
                <a:latin typeface="Consolas" panose="020B0609020204030204" pitchFamily="49" charset="0"/>
              </a:rPr>
              <a:t> != 0)</a:t>
            </a:r>
          </a:p>
          <a:p>
            <a:pPr indent="630238" algn="l"/>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return</a:t>
            </a:r>
            <a:r>
              <a:rPr lang="pt-BR" sz="1800" b="1" dirty="0">
                <a:solidFill>
                  <a:srgbClr val="000000"/>
                </a:solidFill>
                <a:latin typeface="Consolas" panose="020B0609020204030204" pitchFamily="49" charset="0"/>
              </a:rPr>
              <a:t> ( </a:t>
            </a:r>
            <a:r>
              <a:rPr lang="pt-BR" sz="1800" b="1" dirty="0">
                <a:solidFill>
                  <a:srgbClr val="6A3E3E"/>
                </a:solidFill>
                <a:latin typeface="Consolas" panose="020B0609020204030204" pitchFamily="49" charset="0"/>
              </a:rPr>
              <a:t>n</a:t>
            </a:r>
            <a:r>
              <a:rPr lang="pt-BR" sz="1800" b="1" dirty="0">
                <a:solidFill>
                  <a:srgbClr val="000000"/>
                </a:solidFill>
                <a:latin typeface="Consolas" panose="020B0609020204030204" pitchFamily="49" charset="0"/>
              </a:rPr>
              <a:t> * </a:t>
            </a:r>
            <a:r>
              <a:rPr lang="pt-BR" sz="1800" b="1" i="1" dirty="0">
                <a:solidFill>
                  <a:srgbClr val="000000"/>
                </a:solidFill>
                <a:latin typeface="Consolas" panose="020B0609020204030204" pitchFamily="49" charset="0"/>
              </a:rPr>
              <a:t>fatorial (</a:t>
            </a:r>
            <a:r>
              <a:rPr lang="pt-BR" sz="1800" b="1" i="1" dirty="0">
                <a:solidFill>
                  <a:srgbClr val="6A3E3E"/>
                </a:solidFill>
                <a:latin typeface="Consolas" panose="020B0609020204030204" pitchFamily="49" charset="0"/>
              </a:rPr>
              <a:t>n</a:t>
            </a:r>
            <a:r>
              <a:rPr lang="pt-BR" sz="1800" b="1" i="1" dirty="0">
                <a:solidFill>
                  <a:srgbClr val="000000"/>
                </a:solidFill>
                <a:latin typeface="Consolas" panose="020B0609020204030204" pitchFamily="49" charset="0"/>
              </a:rPr>
              <a:t>-1) );</a:t>
            </a:r>
          </a:p>
          <a:p>
            <a:pPr indent="630238" algn="l"/>
            <a:r>
              <a:rPr lang="pt-BR" sz="1800" b="1" dirty="0" err="1">
                <a:solidFill>
                  <a:srgbClr val="7F0055"/>
                </a:solidFill>
                <a:latin typeface="Consolas" panose="020B0609020204030204" pitchFamily="49" charset="0"/>
              </a:rPr>
              <a:t>else</a:t>
            </a:r>
            <a:endParaRPr lang="pt-BR" sz="1800" b="1" dirty="0">
              <a:solidFill>
                <a:srgbClr val="7F0055"/>
              </a:solidFill>
              <a:latin typeface="Consolas" panose="020B0609020204030204" pitchFamily="49" charset="0"/>
            </a:endParaRPr>
          </a:p>
          <a:p>
            <a:pPr indent="630238" algn="l"/>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return</a:t>
            </a:r>
            <a:r>
              <a:rPr lang="pt-BR" sz="1800" b="1" dirty="0">
                <a:solidFill>
                  <a:srgbClr val="000000"/>
                </a:solidFill>
                <a:latin typeface="Consolas" panose="020B0609020204030204" pitchFamily="49" charset="0"/>
              </a:rPr>
              <a:t> (1);</a:t>
            </a:r>
          </a:p>
          <a:p>
            <a:pPr algn="l"/>
            <a:r>
              <a:rPr lang="pt-BR" sz="1800" dirty="0">
                <a:solidFill>
                  <a:srgbClr val="000000"/>
                </a:solidFill>
                <a:latin typeface="Consolas" panose="020B0609020204030204" pitchFamily="49" charset="0"/>
              </a:rPr>
              <a:t>}</a:t>
            </a:r>
            <a:endParaRPr lang="pt-BR" dirty="0"/>
          </a:p>
        </p:txBody>
      </p:sp>
      <p:sp>
        <p:nvSpPr>
          <p:cNvPr id="2" name="Título 1"/>
          <p:cNvSpPr>
            <a:spLocks noGrp="1"/>
          </p:cNvSpPr>
          <p:nvPr>
            <p:ph type="title"/>
          </p:nvPr>
        </p:nvSpPr>
        <p:spPr/>
        <p:txBody>
          <a:bodyPr>
            <a:normAutofit fontScale="90000"/>
          </a:bodyPr>
          <a:lstStyle/>
          <a:p>
            <a:r>
              <a:rPr lang="pt-BR" sz="2400" dirty="0"/>
              <a:t>Implementação</a:t>
            </a:r>
            <a:r>
              <a:rPr lang="pt-BR" dirty="0"/>
              <a:t> Recursiva  da Função Fatorial</a:t>
            </a:r>
            <a:r>
              <a:rPr lang="pt-BR" sz="2850" dirty="0"/>
              <a:t> </a:t>
            </a:r>
            <a:endParaRPr lang="en-US" sz="2850" dirty="0"/>
          </a:p>
        </p:txBody>
      </p:sp>
      <p:grpSp>
        <p:nvGrpSpPr>
          <p:cNvPr id="8" name="Agrupar 7">
            <a:extLst>
              <a:ext uri="{FF2B5EF4-FFF2-40B4-BE49-F238E27FC236}">
                <a16:creationId xmlns:a16="http://schemas.microsoft.com/office/drawing/2014/main" id="{075D80EA-A75A-4948-AA6D-6F6531BDA0C9}"/>
              </a:ext>
            </a:extLst>
          </p:cNvPr>
          <p:cNvGrpSpPr/>
          <p:nvPr/>
        </p:nvGrpSpPr>
        <p:grpSpPr>
          <a:xfrm>
            <a:off x="2721344" y="1582798"/>
            <a:ext cx="1153033" cy="624906"/>
            <a:chOff x="2937761" y="3939569"/>
            <a:chExt cx="1153033" cy="624906"/>
          </a:xfrm>
        </p:grpSpPr>
        <p:cxnSp>
          <p:nvCxnSpPr>
            <p:cNvPr id="5" name="Conector de seta reta 3">
              <a:extLst>
                <a:ext uri="{FF2B5EF4-FFF2-40B4-BE49-F238E27FC236}">
                  <a16:creationId xmlns:a16="http://schemas.microsoft.com/office/drawing/2014/main" id="{763A5DD2-A51B-4667-8096-9DAF6640F803}"/>
                </a:ext>
              </a:extLst>
            </p:cNvPr>
            <p:cNvCxnSpPr/>
            <p:nvPr/>
          </p:nvCxnSpPr>
          <p:spPr>
            <a:xfrm flipV="1">
              <a:off x="2937761" y="4024147"/>
              <a:ext cx="571501" cy="540328"/>
            </a:xfrm>
            <a:prstGeom prst="straightConnector1">
              <a:avLst/>
            </a:prstGeom>
            <a:ln w="28575">
              <a:solidFill>
                <a:srgbClr val="5035F5"/>
              </a:solidFill>
              <a:tailEnd type="arrow"/>
            </a:ln>
          </p:spPr>
          <p:style>
            <a:lnRef idx="1">
              <a:schemeClr val="accent1"/>
            </a:lnRef>
            <a:fillRef idx="0">
              <a:schemeClr val="accent1"/>
            </a:fillRef>
            <a:effectRef idx="0">
              <a:schemeClr val="accent1"/>
            </a:effectRef>
            <a:fontRef idx="minor">
              <a:schemeClr val="tx1"/>
            </a:fontRef>
          </p:style>
        </p:cxnSp>
        <p:sp>
          <p:nvSpPr>
            <p:cNvPr id="6" name="CaixaDeTexto 5">
              <a:extLst>
                <a:ext uri="{FF2B5EF4-FFF2-40B4-BE49-F238E27FC236}">
                  <a16:creationId xmlns:a16="http://schemas.microsoft.com/office/drawing/2014/main" id="{C8284CE4-8D80-48B3-8A83-2D1CAE112C91}"/>
                </a:ext>
              </a:extLst>
            </p:cNvPr>
            <p:cNvSpPr txBox="1"/>
            <p:nvPr/>
          </p:nvSpPr>
          <p:spPr>
            <a:xfrm>
              <a:off x="3425776" y="3939569"/>
              <a:ext cx="665018" cy="415498"/>
            </a:xfrm>
            <a:prstGeom prst="rect">
              <a:avLst/>
            </a:prstGeom>
            <a:noFill/>
            <a:ln>
              <a:noFill/>
            </a:ln>
          </p:spPr>
          <p:txBody>
            <a:bodyPr wrap="square" rtlCol="0">
              <a:spAutoFit/>
            </a:bodyPr>
            <a:lstStyle/>
            <a:p>
              <a:r>
                <a:rPr lang="pt-BR" sz="2100" b="1" dirty="0">
                  <a:solidFill>
                    <a:srgbClr val="0000CC"/>
                  </a:solidFill>
                  <a:latin typeface="DIN Pro Regular"/>
                </a:rPr>
                <a:t>24</a:t>
              </a:r>
              <a:endParaRPr lang="pt-BR" sz="1350" b="1" dirty="0">
                <a:solidFill>
                  <a:srgbClr val="0000CC"/>
                </a:solidFill>
                <a:latin typeface="DIN Pro Regular"/>
              </a:endParaRPr>
            </a:p>
          </p:txBody>
        </p:sp>
      </p:grpSp>
    </p:spTree>
    <p:extLst>
      <p:ext uri="{BB962C8B-B14F-4D97-AF65-F5344CB8AC3E}">
        <p14:creationId xmlns:p14="http://schemas.microsoft.com/office/powerpoint/2010/main" val="224290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Outra Forma de Representar as ativações de função recursiva</a:t>
            </a:r>
          </a:p>
        </p:txBody>
      </p:sp>
      <p:pic>
        <p:nvPicPr>
          <p:cNvPr id="4" name="Imagem 3" descr="grafo_fatorial.jpg"/>
          <p:cNvPicPr/>
          <p:nvPr/>
        </p:nvPicPr>
        <p:blipFill>
          <a:blip r:embed="rId2"/>
          <a:srcRect t="3694"/>
          <a:stretch>
            <a:fillRect/>
          </a:stretch>
        </p:blipFill>
        <p:spPr>
          <a:xfrm>
            <a:off x="2869324" y="1434662"/>
            <a:ext cx="2794876" cy="46981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2400" dirty="0"/>
              <a:t>Fun</a:t>
            </a:r>
            <a:r>
              <a:rPr lang="pt-BR" dirty="0"/>
              <a:t>ção Recursiva Máximo Divisor Comum</a:t>
            </a:r>
            <a:r>
              <a:rPr lang="pt-BR" sz="2850" dirty="0"/>
              <a:t> </a:t>
            </a:r>
            <a:endParaRPr lang="en-US" sz="2850" dirty="0"/>
          </a:p>
        </p:txBody>
      </p:sp>
      <p:sp>
        <p:nvSpPr>
          <p:cNvPr id="3" name="Subtítulo 2"/>
          <p:cNvSpPr>
            <a:spLocks noGrp="1"/>
          </p:cNvSpPr>
          <p:nvPr>
            <p:ph type="subTitle" idx="4294967295"/>
          </p:nvPr>
        </p:nvSpPr>
        <p:spPr>
          <a:xfrm>
            <a:off x="1626393" y="1187997"/>
            <a:ext cx="5891213" cy="2998788"/>
          </a:xfrm>
          <a:solidFill>
            <a:schemeClr val="accent6">
              <a:lumMod val="20000"/>
              <a:lumOff val="80000"/>
            </a:schemeClr>
          </a:solidFill>
        </p:spPr>
        <p:txBody>
          <a:bodyPr>
            <a:normAutofit fontScale="55000" lnSpcReduction="20000"/>
          </a:bodyPr>
          <a:lstStyle/>
          <a:p>
            <a:pPr marL="0" indent="0" algn="l">
              <a:buNone/>
            </a:pPr>
            <a:r>
              <a:rPr lang="en-US" dirty="0">
                <a:latin typeface="Consolas" pitchFamily="49" charset="0"/>
                <a:cs typeface="Consolas" pitchFamily="49" charset="0"/>
              </a:rPr>
              <a:t>public static </a:t>
            </a:r>
            <a:r>
              <a:rPr lang="en-US" dirty="0" err="1">
                <a:latin typeface="Consolas" pitchFamily="49" charset="0"/>
                <a:cs typeface="Consolas" pitchFamily="49" charset="0"/>
              </a:rPr>
              <a:t>int</a:t>
            </a:r>
            <a:r>
              <a:rPr lang="en-US" dirty="0">
                <a:latin typeface="Consolas" pitchFamily="49" charset="0"/>
                <a:cs typeface="Consolas" pitchFamily="49" charset="0"/>
              </a:rPr>
              <a:t> </a:t>
            </a:r>
            <a:r>
              <a:rPr lang="en-US" dirty="0" err="1">
                <a:latin typeface="Consolas" pitchFamily="49" charset="0"/>
                <a:cs typeface="Consolas" pitchFamily="49" charset="0"/>
              </a:rPr>
              <a:t>mdc</a:t>
            </a:r>
            <a:r>
              <a:rPr lang="en-US" dirty="0">
                <a:latin typeface="Consolas" pitchFamily="49" charset="0"/>
                <a:cs typeface="Consolas" pitchFamily="49" charset="0"/>
              </a:rPr>
              <a:t>(</a:t>
            </a:r>
            <a:r>
              <a:rPr lang="en-US" dirty="0" err="1">
                <a:latin typeface="Consolas" pitchFamily="49" charset="0"/>
                <a:cs typeface="Consolas" pitchFamily="49" charset="0"/>
              </a:rPr>
              <a:t>int</a:t>
            </a:r>
            <a:r>
              <a:rPr lang="en-US" dirty="0">
                <a:latin typeface="Consolas" pitchFamily="49" charset="0"/>
                <a:cs typeface="Consolas" pitchFamily="49" charset="0"/>
              </a:rPr>
              <a:t> n, </a:t>
            </a:r>
            <a:r>
              <a:rPr lang="en-US" dirty="0" err="1">
                <a:latin typeface="Consolas" pitchFamily="49" charset="0"/>
                <a:cs typeface="Consolas" pitchFamily="49" charset="0"/>
              </a:rPr>
              <a:t>int</a:t>
            </a:r>
            <a:r>
              <a:rPr lang="en-US" dirty="0">
                <a:latin typeface="Consolas" pitchFamily="49" charset="0"/>
                <a:cs typeface="Consolas" pitchFamily="49" charset="0"/>
              </a:rPr>
              <a:t> m){</a:t>
            </a:r>
          </a:p>
          <a:p>
            <a:pPr marL="0" indent="0" algn="l">
              <a:buNone/>
            </a:pPr>
            <a:r>
              <a:rPr lang="en-US" dirty="0">
                <a:latin typeface="Consolas" pitchFamily="49" charset="0"/>
                <a:cs typeface="Consolas" pitchFamily="49" charset="0"/>
              </a:rPr>
              <a:t>	if (n &gt; m)</a:t>
            </a:r>
          </a:p>
          <a:p>
            <a:pPr marL="0" indent="0" algn="l">
              <a:buNone/>
            </a:pPr>
            <a:r>
              <a:rPr lang="en-US" dirty="0">
                <a:latin typeface="Consolas" pitchFamily="49" charset="0"/>
                <a:cs typeface="Consolas" pitchFamily="49" charset="0"/>
              </a:rPr>
              <a:t>		return(</a:t>
            </a:r>
            <a:r>
              <a:rPr lang="en-US" dirty="0" err="1">
                <a:latin typeface="Consolas" pitchFamily="49" charset="0"/>
                <a:cs typeface="Consolas" pitchFamily="49" charset="0"/>
              </a:rPr>
              <a:t>mdc</a:t>
            </a:r>
            <a:r>
              <a:rPr lang="en-US" dirty="0">
                <a:latin typeface="Consolas" pitchFamily="49" charset="0"/>
                <a:cs typeface="Consolas" pitchFamily="49" charset="0"/>
              </a:rPr>
              <a:t>(</a:t>
            </a:r>
            <a:r>
              <a:rPr lang="en-US" dirty="0" err="1">
                <a:latin typeface="Consolas" pitchFamily="49" charset="0"/>
                <a:cs typeface="Consolas" pitchFamily="49" charset="0"/>
              </a:rPr>
              <a:t>m,n</a:t>
            </a:r>
            <a:r>
              <a:rPr lang="en-US" dirty="0">
                <a:latin typeface="Consolas" pitchFamily="49" charset="0"/>
                <a:cs typeface="Consolas" pitchFamily="49" charset="0"/>
              </a:rPr>
              <a:t>));</a:t>
            </a:r>
          </a:p>
          <a:p>
            <a:pPr marL="0" indent="0" algn="l">
              <a:buNone/>
            </a:pPr>
            <a:r>
              <a:rPr lang="en-US" dirty="0">
                <a:latin typeface="Consolas" pitchFamily="49" charset="0"/>
                <a:cs typeface="Consolas" pitchFamily="49" charset="0"/>
              </a:rPr>
              <a:t>	else  {</a:t>
            </a:r>
          </a:p>
          <a:p>
            <a:pPr marL="0" indent="0" algn="l">
              <a:buNone/>
            </a:pPr>
            <a:r>
              <a:rPr lang="en-US" dirty="0">
                <a:latin typeface="Consolas" pitchFamily="49" charset="0"/>
                <a:cs typeface="Consolas" pitchFamily="49" charset="0"/>
              </a:rPr>
              <a:t>		if (n == 0)</a:t>
            </a:r>
          </a:p>
          <a:p>
            <a:pPr marL="0" indent="0" algn="l">
              <a:buNone/>
            </a:pPr>
            <a:r>
              <a:rPr lang="en-US" dirty="0">
                <a:latin typeface="Consolas" pitchFamily="49" charset="0"/>
                <a:cs typeface="Consolas" pitchFamily="49" charset="0"/>
              </a:rPr>
              <a:t>			return(m);</a:t>
            </a:r>
          </a:p>
          <a:p>
            <a:pPr marL="0" indent="0" algn="l">
              <a:buNone/>
            </a:pPr>
            <a:r>
              <a:rPr lang="en-US" dirty="0">
                <a:latin typeface="Consolas" pitchFamily="49" charset="0"/>
                <a:cs typeface="Consolas" pitchFamily="49" charset="0"/>
              </a:rPr>
              <a:t>		else</a:t>
            </a:r>
          </a:p>
          <a:p>
            <a:pPr marL="0" indent="0" algn="l">
              <a:buNone/>
            </a:pPr>
            <a:r>
              <a:rPr lang="en-US" dirty="0">
                <a:latin typeface="Consolas" pitchFamily="49" charset="0"/>
                <a:cs typeface="Consolas" pitchFamily="49" charset="0"/>
              </a:rPr>
              <a:t>			return(mdc(n, </a:t>
            </a:r>
            <a:r>
              <a:rPr lang="en-US" dirty="0" err="1">
                <a:latin typeface="Consolas" pitchFamily="49" charset="0"/>
                <a:cs typeface="Consolas" pitchFamily="49" charset="0"/>
              </a:rPr>
              <a:t>m%n</a:t>
            </a:r>
            <a:r>
              <a:rPr lang="en-US" dirty="0">
                <a:latin typeface="Consolas" pitchFamily="49" charset="0"/>
                <a:cs typeface="Consolas" pitchFamily="49" charset="0"/>
              </a:rPr>
              <a:t>));</a:t>
            </a:r>
          </a:p>
          <a:p>
            <a:pPr marL="0" indent="0" algn="l">
              <a:buNone/>
            </a:pPr>
            <a:r>
              <a:rPr lang="en-US" dirty="0">
                <a:latin typeface="Consolas" pitchFamily="49" charset="0"/>
                <a:cs typeface="Consolas" pitchFamily="49" charset="0"/>
              </a:rPr>
              <a:t>		}</a:t>
            </a:r>
          </a:p>
          <a:p>
            <a:pPr marL="0" indent="0" algn="l">
              <a:buNone/>
            </a:pPr>
            <a:r>
              <a:rPr lang="en-US" dirty="0">
                <a:latin typeface="Consolas" pitchFamily="49" charset="0"/>
                <a:cs typeface="Consolas" pitchFamily="49" charset="0"/>
              </a:rPr>
              <a:t>	}</a:t>
            </a:r>
          </a:p>
          <a:p>
            <a:pPr marL="0" indent="0" algn="l">
              <a:buNone/>
            </a:pPr>
            <a:endParaRPr lang="pt-BR" dirty="0">
              <a:latin typeface="Consolas" pitchFamily="49" charset="0"/>
              <a:cs typeface="Consolas" pitchFamily="49" charset="0"/>
            </a:endParaRPr>
          </a:p>
          <a:p>
            <a:pPr marL="0" indent="0" algn="l">
              <a:buNone/>
            </a:pPr>
            <a:endParaRPr lang="en-US" dirty="0">
              <a:latin typeface="Consolas" pitchFamily="49" charset="0"/>
              <a:cs typeface="Consolas" pitchFamily="49" charset="0"/>
            </a:endParaRPr>
          </a:p>
        </p:txBody>
      </p:sp>
    </p:spTree>
    <p:extLst>
      <p:ext uri="{BB962C8B-B14F-4D97-AF65-F5344CB8AC3E}">
        <p14:creationId xmlns:p14="http://schemas.microsoft.com/office/powerpoint/2010/main" val="1530860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2400" dirty="0"/>
              <a:t>Chamada da Fun</a:t>
            </a:r>
            <a:r>
              <a:rPr lang="pt-BR" dirty="0"/>
              <a:t>ção MDC</a:t>
            </a:r>
            <a:endParaRPr lang="en-US" sz="2850" dirty="0"/>
          </a:p>
        </p:txBody>
      </p:sp>
      <p:sp>
        <p:nvSpPr>
          <p:cNvPr id="3" name="Subtítulo 2"/>
          <p:cNvSpPr>
            <a:spLocks noGrp="1"/>
          </p:cNvSpPr>
          <p:nvPr>
            <p:ph type="subTitle" idx="4294967295"/>
          </p:nvPr>
        </p:nvSpPr>
        <p:spPr>
          <a:xfrm>
            <a:off x="1087821" y="1436304"/>
            <a:ext cx="7300913" cy="4428468"/>
          </a:xfrm>
          <a:solidFill>
            <a:srgbClr val="FFEAA7"/>
          </a:solidFill>
        </p:spPr>
        <p:txBody>
          <a:bodyPr>
            <a:normAutofit/>
          </a:bodyPr>
          <a:lstStyle/>
          <a:p>
            <a:pPr marL="0" indent="0" algn="l">
              <a:buNone/>
            </a:pPr>
            <a:r>
              <a:rPr lang="en-US" sz="1600" dirty="0">
                <a:latin typeface="Consolas" pitchFamily="49" charset="0"/>
                <a:cs typeface="Consolas" pitchFamily="49" charset="0"/>
              </a:rPr>
              <a:t>public static </a:t>
            </a:r>
            <a:r>
              <a:rPr lang="en-US" sz="1600" dirty="0" err="1">
                <a:latin typeface="Consolas" pitchFamily="49" charset="0"/>
                <a:cs typeface="Consolas" pitchFamily="49" charset="0"/>
              </a:rPr>
              <a:t>int</a:t>
            </a:r>
            <a:r>
              <a:rPr lang="en-US" sz="1600" dirty="0">
                <a:latin typeface="Consolas" pitchFamily="49" charset="0"/>
                <a:cs typeface="Consolas" pitchFamily="49" charset="0"/>
              </a:rPr>
              <a:t> </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int</a:t>
            </a:r>
            <a:r>
              <a:rPr lang="en-US" sz="1600" dirty="0">
                <a:latin typeface="Consolas" pitchFamily="49" charset="0"/>
                <a:cs typeface="Consolas" pitchFamily="49" charset="0"/>
              </a:rPr>
              <a:t> n, </a:t>
            </a:r>
            <a:r>
              <a:rPr lang="en-US" sz="1600" dirty="0" err="1">
                <a:latin typeface="Consolas" pitchFamily="49" charset="0"/>
                <a:cs typeface="Consolas" pitchFamily="49" charset="0"/>
              </a:rPr>
              <a:t>int</a:t>
            </a:r>
            <a:r>
              <a:rPr lang="en-US" sz="1600" dirty="0">
                <a:latin typeface="Consolas" pitchFamily="49" charset="0"/>
                <a:cs typeface="Consolas" pitchFamily="49" charset="0"/>
              </a:rPr>
              <a:t> m){</a:t>
            </a:r>
          </a:p>
          <a:p>
            <a:pPr marL="0" indent="0" algn="l">
              <a:buNone/>
            </a:pPr>
            <a:r>
              <a:rPr lang="en-US" sz="1600" dirty="0">
                <a:latin typeface="Consolas" pitchFamily="49" charset="0"/>
                <a:cs typeface="Consolas" pitchFamily="49" charset="0"/>
              </a:rPr>
              <a:t>   if (n &gt; m)</a:t>
            </a:r>
          </a:p>
          <a:p>
            <a:pPr marL="0" indent="0" algn="l">
              <a:buNone/>
            </a:pPr>
            <a:r>
              <a:rPr lang="en-US" sz="1600" dirty="0">
                <a:latin typeface="Consolas" pitchFamily="49" charset="0"/>
                <a:cs typeface="Consolas" pitchFamily="49" charset="0"/>
              </a:rPr>
              <a:t>  	   return(</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m,n</a:t>
            </a:r>
            <a:r>
              <a:rPr lang="en-US" sz="1600" dirty="0">
                <a:latin typeface="Consolas" pitchFamily="49" charset="0"/>
                <a:cs typeface="Consolas" pitchFamily="49" charset="0"/>
              </a:rPr>
              <a:t>));</a:t>
            </a:r>
          </a:p>
          <a:p>
            <a:pPr marL="0" indent="0" algn="l">
              <a:buNone/>
            </a:pPr>
            <a:r>
              <a:rPr lang="en-US" sz="1600" dirty="0">
                <a:latin typeface="Consolas" pitchFamily="49" charset="0"/>
                <a:cs typeface="Consolas" pitchFamily="49" charset="0"/>
              </a:rPr>
              <a:t>   else  {</a:t>
            </a:r>
          </a:p>
          <a:p>
            <a:pPr marL="0" indent="0" algn="l">
              <a:buNone/>
            </a:pPr>
            <a:r>
              <a:rPr lang="en-US" sz="1600" dirty="0">
                <a:latin typeface="Consolas" pitchFamily="49" charset="0"/>
                <a:cs typeface="Consolas" pitchFamily="49" charset="0"/>
              </a:rPr>
              <a:t>	   if (n == 0)</a:t>
            </a:r>
          </a:p>
          <a:p>
            <a:pPr marL="0" indent="0" algn="l">
              <a:buNone/>
            </a:pPr>
            <a:r>
              <a:rPr lang="en-US" sz="1600" dirty="0">
                <a:latin typeface="Consolas" pitchFamily="49" charset="0"/>
                <a:cs typeface="Consolas" pitchFamily="49" charset="0"/>
              </a:rPr>
              <a:t>	        return(m);</a:t>
            </a:r>
          </a:p>
          <a:p>
            <a:pPr marL="0" indent="0" algn="l">
              <a:buNone/>
            </a:pPr>
            <a:r>
              <a:rPr lang="en-US" sz="1600" dirty="0">
                <a:latin typeface="Consolas" pitchFamily="49" charset="0"/>
                <a:cs typeface="Consolas" pitchFamily="49" charset="0"/>
              </a:rPr>
              <a:t>	   else</a:t>
            </a:r>
          </a:p>
          <a:p>
            <a:pPr marL="0" indent="0" algn="l">
              <a:buNone/>
            </a:pPr>
            <a:r>
              <a:rPr lang="en-US" sz="1600" dirty="0">
                <a:latin typeface="Consolas" pitchFamily="49" charset="0"/>
                <a:cs typeface="Consolas" pitchFamily="49" charset="0"/>
              </a:rPr>
              <a:t>	        return(</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n,m%n</a:t>
            </a:r>
            <a:r>
              <a:rPr lang="en-US" sz="1600" dirty="0">
                <a:latin typeface="Consolas" pitchFamily="49" charset="0"/>
                <a:cs typeface="Consolas" pitchFamily="49" charset="0"/>
              </a:rPr>
              <a:t>));</a:t>
            </a:r>
          </a:p>
          <a:p>
            <a:pPr marL="0" indent="0" algn="l">
              <a:buNone/>
            </a:pPr>
            <a:r>
              <a:rPr lang="en-US" sz="1600" dirty="0">
                <a:latin typeface="Consolas" pitchFamily="49" charset="0"/>
                <a:cs typeface="Consolas" pitchFamily="49" charset="0"/>
              </a:rPr>
              <a:t>	   }</a:t>
            </a:r>
          </a:p>
          <a:p>
            <a:pPr marL="0" indent="0" algn="l">
              <a:buNone/>
            </a:pPr>
            <a:r>
              <a:rPr lang="en-US" sz="1600" dirty="0">
                <a:latin typeface="Consolas" pitchFamily="49" charset="0"/>
                <a:cs typeface="Consolas" pitchFamily="49" charset="0"/>
              </a:rPr>
              <a:t>}</a:t>
            </a:r>
          </a:p>
          <a:p>
            <a:pPr marL="0" indent="0" algn="l">
              <a:buNone/>
            </a:pPr>
            <a:r>
              <a:rPr lang="pt-BR" sz="1600" dirty="0" err="1">
                <a:latin typeface="Consolas" pitchFamily="49" charset="0"/>
                <a:cs typeface="Consolas" pitchFamily="49" charset="0"/>
              </a:rPr>
              <a:t>public</a:t>
            </a:r>
            <a:r>
              <a:rPr lang="pt-BR" sz="1600" dirty="0">
                <a:latin typeface="Consolas" pitchFamily="49" charset="0"/>
                <a:cs typeface="Consolas" pitchFamily="49" charset="0"/>
              </a:rPr>
              <a:t> </a:t>
            </a:r>
            <a:r>
              <a:rPr lang="pt-BR" sz="1600" dirty="0" err="1">
                <a:latin typeface="Consolas" pitchFamily="49" charset="0"/>
                <a:cs typeface="Consolas" pitchFamily="49" charset="0"/>
              </a:rPr>
              <a:t>static</a:t>
            </a:r>
            <a:r>
              <a:rPr lang="pt-BR" sz="1600" dirty="0">
                <a:latin typeface="Consolas" pitchFamily="49" charset="0"/>
                <a:cs typeface="Consolas" pitchFamily="49" charset="0"/>
              </a:rPr>
              <a:t> </a:t>
            </a:r>
            <a:r>
              <a:rPr lang="pt-BR" sz="1600" dirty="0" err="1">
                <a:latin typeface="Consolas" pitchFamily="49" charset="0"/>
                <a:cs typeface="Consolas" pitchFamily="49" charset="0"/>
              </a:rPr>
              <a:t>void</a:t>
            </a:r>
            <a:r>
              <a:rPr lang="pt-BR" sz="1600" dirty="0">
                <a:latin typeface="Consolas" pitchFamily="49" charset="0"/>
                <a:cs typeface="Consolas" pitchFamily="49" charset="0"/>
              </a:rPr>
              <a:t> </a:t>
            </a:r>
            <a:r>
              <a:rPr lang="pt-BR" sz="1600" dirty="0" err="1">
                <a:latin typeface="Consolas" pitchFamily="49" charset="0"/>
                <a:cs typeface="Consolas" pitchFamily="49" charset="0"/>
              </a:rPr>
              <a:t>main</a:t>
            </a:r>
            <a:r>
              <a:rPr lang="pt-BR" sz="1600" dirty="0">
                <a:latin typeface="Consolas" pitchFamily="49" charset="0"/>
                <a:cs typeface="Consolas" pitchFamily="49" charset="0"/>
              </a:rPr>
              <a:t>(String[] </a:t>
            </a:r>
            <a:r>
              <a:rPr lang="pt-BR" sz="1600" dirty="0" err="1">
                <a:latin typeface="Consolas" pitchFamily="49" charset="0"/>
                <a:cs typeface="Consolas" pitchFamily="49" charset="0"/>
              </a:rPr>
              <a:t>args</a:t>
            </a:r>
            <a:r>
              <a:rPr lang="pt-BR" sz="1600" dirty="0">
                <a:latin typeface="Consolas" pitchFamily="49" charset="0"/>
                <a:cs typeface="Consolas" pitchFamily="49" charset="0"/>
              </a:rPr>
              <a:t>) {</a:t>
            </a:r>
          </a:p>
          <a:p>
            <a:pPr marL="0" indent="0" algn="l">
              <a:buNone/>
            </a:pPr>
            <a:r>
              <a:rPr lang="pt-BR" sz="1600" dirty="0">
                <a:latin typeface="Consolas" pitchFamily="49" charset="0"/>
                <a:cs typeface="Consolas" pitchFamily="49" charset="0"/>
              </a:rPr>
              <a:t>	</a:t>
            </a:r>
            <a:r>
              <a:rPr lang="pt-BR" sz="1600" dirty="0" err="1">
                <a:latin typeface="Consolas" pitchFamily="49" charset="0"/>
                <a:cs typeface="Consolas" pitchFamily="49" charset="0"/>
              </a:rPr>
              <a:t>int</a:t>
            </a:r>
            <a:r>
              <a:rPr lang="pt-BR" sz="1600" dirty="0">
                <a:latin typeface="Consolas" pitchFamily="49" charset="0"/>
                <a:cs typeface="Consolas" pitchFamily="49" charset="0"/>
              </a:rPr>
              <a:t> x = </a:t>
            </a:r>
            <a:r>
              <a:rPr lang="pt-BR" sz="1600" b="1" dirty="0">
                <a:solidFill>
                  <a:srgbClr val="0000CC"/>
                </a:solidFill>
                <a:latin typeface="Consolas" pitchFamily="49" charset="0"/>
                <a:cs typeface="Consolas" pitchFamily="49" charset="0"/>
              </a:rPr>
              <a:t>mdc (8,4)</a:t>
            </a:r>
            <a:r>
              <a:rPr lang="pt-BR" sz="1600" dirty="0">
                <a:latin typeface="Consolas" pitchFamily="49" charset="0"/>
                <a:cs typeface="Consolas" pitchFamily="49" charset="0"/>
              </a:rPr>
              <a:t>;</a:t>
            </a:r>
          </a:p>
          <a:p>
            <a:pPr marL="0" indent="0" algn="l">
              <a:buNone/>
            </a:pPr>
            <a:r>
              <a:rPr lang="pt-BR" sz="1600" dirty="0">
                <a:latin typeface="Consolas" pitchFamily="49" charset="0"/>
                <a:cs typeface="Consolas" pitchFamily="49" charset="0"/>
              </a:rPr>
              <a:t>	</a:t>
            </a:r>
            <a:r>
              <a:rPr lang="pt-BR" sz="1600" dirty="0" err="1">
                <a:latin typeface="Consolas" pitchFamily="49" charset="0"/>
                <a:cs typeface="Consolas" pitchFamily="49" charset="0"/>
              </a:rPr>
              <a:t>System.out.println</a:t>
            </a:r>
            <a:r>
              <a:rPr lang="pt-BR" sz="1600" dirty="0">
                <a:latin typeface="Consolas" pitchFamily="49" charset="0"/>
                <a:cs typeface="Consolas" pitchFamily="49" charset="0"/>
              </a:rPr>
              <a:t>(" MDC entre 8 e 4 = " + x);</a:t>
            </a:r>
          </a:p>
          <a:p>
            <a:pPr marL="0" indent="0" algn="l">
              <a:buNone/>
            </a:pPr>
            <a:r>
              <a:rPr lang="pt-BR" sz="1600" dirty="0">
                <a:latin typeface="Consolas" pitchFamily="49" charset="0"/>
                <a:cs typeface="Consolas" pitchFamily="49" charset="0"/>
              </a:rPr>
              <a:t>}</a:t>
            </a:r>
          </a:p>
          <a:p>
            <a:pPr marL="0" indent="0" algn="l">
              <a:buNone/>
            </a:pPr>
            <a:endParaRPr lang="pt-BR" sz="1600" dirty="0">
              <a:latin typeface="Consolas" pitchFamily="49" charset="0"/>
              <a:cs typeface="Consolas" pitchFamily="49" charset="0"/>
            </a:endParaRPr>
          </a:p>
          <a:p>
            <a:pPr marL="0" indent="0" algn="l">
              <a:buNone/>
            </a:pPr>
            <a:endParaRPr lang="en-US" sz="1600" dirty="0">
              <a:latin typeface="Consolas" pitchFamily="49" charset="0"/>
              <a:cs typeface="Consolas" pitchFamily="49" charset="0"/>
            </a:endParaRPr>
          </a:p>
        </p:txBody>
      </p:sp>
    </p:spTree>
    <p:extLst>
      <p:ext uri="{BB962C8B-B14F-4D97-AF65-F5344CB8AC3E}">
        <p14:creationId xmlns:p14="http://schemas.microsoft.com/office/powerpoint/2010/main" val="391396415"/>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6"/>
          <p:cNvGrpSpPr/>
          <p:nvPr/>
        </p:nvGrpSpPr>
        <p:grpSpPr>
          <a:xfrm>
            <a:off x="1285852" y="1393017"/>
            <a:ext cx="4572032" cy="1285884"/>
            <a:chOff x="1285852" y="714356"/>
            <a:chExt cx="4572032" cy="1714512"/>
          </a:xfrm>
        </p:grpSpPr>
        <p:sp>
          <p:nvSpPr>
            <p:cNvPr id="5" name="Arredondar Retângulo no Mesmo Canto Lateral 4"/>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rgbClr val="0000CC"/>
                </a:solidFill>
              </a:endParaRPr>
            </a:p>
          </p:txBody>
        </p:sp>
        <p:sp>
          <p:nvSpPr>
            <p:cNvPr id="6" name="CaixaDeTexto 5"/>
            <p:cNvSpPr txBox="1"/>
            <p:nvPr/>
          </p:nvSpPr>
          <p:spPr>
            <a:xfrm>
              <a:off x="1459006" y="928671"/>
              <a:ext cx="4316506"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8, m=4 =&gt; n&gt;m  =&gt; </a:t>
              </a:r>
              <a:r>
                <a:rPr lang="pt-BR" dirty="0" err="1">
                  <a:solidFill>
                    <a:srgbClr val="0000CC"/>
                  </a:solidFill>
                  <a:latin typeface="DIN Pro Regular" panose="020B0504020101020102" pitchFamily="34" charset="0"/>
                  <a:cs typeface="DIN Pro Regular" panose="020B0504020101020102" pitchFamily="34" charset="0"/>
                </a:rPr>
                <a:t>return</a:t>
              </a:r>
              <a:r>
                <a:rPr lang="pt-BR" dirty="0">
                  <a:solidFill>
                    <a:srgbClr val="0000CC"/>
                  </a:solidFill>
                  <a:latin typeface="DIN Pro Regular" panose="020B0504020101020102" pitchFamily="34" charset="0"/>
                  <a:cs typeface="DIN Pro Regular" panose="020B0504020101020102" pitchFamily="34" charset="0"/>
                </a:rPr>
                <a:t>(mdc(4,8))</a:t>
              </a:r>
            </a:p>
          </p:txBody>
        </p:sp>
      </p:grpSp>
      <p:sp>
        <p:nvSpPr>
          <p:cNvPr id="3" name="Título 2">
            <a:extLst>
              <a:ext uri="{FF2B5EF4-FFF2-40B4-BE49-F238E27FC236}">
                <a16:creationId xmlns:a16="http://schemas.microsoft.com/office/drawing/2014/main" id="{9AA6E78D-698B-4AAE-94D6-E5CBB9C16D3F}"/>
              </a:ext>
            </a:extLst>
          </p:cNvPr>
          <p:cNvSpPr>
            <a:spLocks noGrp="1"/>
          </p:cNvSpPr>
          <p:nvPr>
            <p:ph type="title"/>
          </p:nvPr>
        </p:nvSpPr>
        <p:spPr/>
        <p:txBody>
          <a:bodyPr/>
          <a:lstStyle/>
          <a:p>
            <a:endParaRPr lang="pt-B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3"/>
          <p:cNvGrpSpPr/>
          <p:nvPr/>
        </p:nvGrpSpPr>
        <p:grpSpPr>
          <a:xfrm>
            <a:off x="1285852" y="1393017"/>
            <a:ext cx="4572032" cy="1285884"/>
            <a:chOff x="1285852" y="714356"/>
            <a:chExt cx="4572032" cy="1714512"/>
          </a:xfrm>
        </p:grpSpPr>
        <p:sp>
          <p:nvSpPr>
            <p:cNvPr id="7" name="Arredondar Retângulo no Mesmo Canto Lateral 6"/>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8" name="CaixaDeTexto 7"/>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grpSp>
        <p:nvGrpSpPr>
          <p:cNvPr id="3" name="Grupo 8"/>
          <p:cNvGrpSpPr/>
          <p:nvPr/>
        </p:nvGrpSpPr>
        <p:grpSpPr>
          <a:xfrm>
            <a:off x="1706104" y="1900425"/>
            <a:ext cx="4801463" cy="1285884"/>
            <a:chOff x="2643174" y="3500438"/>
            <a:chExt cx="4572032" cy="1714512"/>
          </a:xfrm>
        </p:grpSpPr>
        <p:sp>
          <p:nvSpPr>
            <p:cNvPr id="5" name="Arredondar Retângulo no Mesmo Canto Lateral 4"/>
            <p:cNvSpPr/>
            <p:nvPr/>
          </p:nvSpPr>
          <p:spPr>
            <a:xfrm>
              <a:off x="2643174" y="3500438"/>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2785231" y="3643314"/>
              <a:ext cx="4329953" cy="1097736"/>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350" dirty="0">
                <a:solidFill>
                  <a:srgbClr val="006600"/>
                </a:solidFill>
              </a:endParaRPr>
            </a:p>
            <a:p>
              <a:r>
                <a:rPr lang="pt-BR" sz="1600" dirty="0">
                  <a:solidFill>
                    <a:srgbClr val="006600"/>
                  </a:solidFill>
                  <a:latin typeface="DIN Pro Regular"/>
                  <a:ea typeface="+mj-ea"/>
                  <a:cs typeface="+mj-cs"/>
                </a:rPr>
                <a:t>n=4  e m=8 =&gt; n&lt;m e n≠0 =&gt; </a:t>
              </a:r>
              <a:r>
                <a:rPr lang="pt-BR" sz="1600" dirty="0" err="1">
                  <a:solidFill>
                    <a:srgbClr val="006600"/>
                  </a:solidFill>
                  <a:latin typeface="DIN Pro Regular"/>
                  <a:ea typeface="+mj-ea"/>
                  <a:cs typeface="+mj-cs"/>
                </a:rPr>
                <a:t>return</a:t>
              </a:r>
              <a:r>
                <a:rPr lang="pt-BR" sz="1600" dirty="0">
                  <a:solidFill>
                    <a:srgbClr val="006600"/>
                  </a:solidFill>
                  <a:latin typeface="DIN Pro Regular"/>
                  <a:ea typeface="+mj-ea"/>
                  <a:cs typeface="+mj-cs"/>
                </a:rPr>
                <a:t>(mdc (4, 8%4))</a:t>
              </a:r>
            </a:p>
          </p:txBody>
        </p:sp>
      </p:grpSp>
      <p:sp>
        <p:nvSpPr>
          <p:cNvPr id="4" name="Título 3">
            <a:extLst>
              <a:ext uri="{FF2B5EF4-FFF2-40B4-BE49-F238E27FC236}">
                <a16:creationId xmlns:a16="http://schemas.microsoft.com/office/drawing/2014/main" id="{FA7EF457-F8C6-4421-99C5-11F657FD60C9}"/>
              </a:ext>
            </a:extLst>
          </p:cNvPr>
          <p:cNvSpPr>
            <a:spLocks noGrp="1"/>
          </p:cNvSpPr>
          <p:nvPr>
            <p:ph type="title"/>
          </p:nvPr>
        </p:nvSpPr>
        <p:spPr/>
        <p:txBody>
          <a:bodyPr/>
          <a:lstStyle/>
          <a:p>
            <a:endParaRPr lang="pt-B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3"/>
          <p:cNvGrpSpPr/>
          <p:nvPr/>
        </p:nvGrpSpPr>
        <p:grpSpPr>
          <a:xfrm>
            <a:off x="1285852" y="1393017"/>
            <a:ext cx="4572032" cy="1285884"/>
            <a:chOff x="1285852" y="714356"/>
            <a:chExt cx="4572032" cy="1714512"/>
          </a:xfrm>
        </p:grpSpPr>
        <p:sp>
          <p:nvSpPr>
            <p:cNvPr id="7" name="Arredondar Retângulo no Mesmo Canto Lateral 6"/>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8" name="CaixaDeTexto 7"/>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grpSp>
        <p:nvGrpSpPr>
          <p:cNvPr id="3" name="Grupo 8"/>
          <p:cNvGrpSpPr/>
          <p:nvPr/>
        </p:nvGrpSpPr>
        <p:grpSpPr>
          <a:xfrm>
            <a:off x="1643042" y="1948460"/>
            <a:ext cx="4801463" cy="1285884"/>
            <a:chOff x="2643174" y="3500438"/>
            <a:chExt cx="4572032" cy="1714512"/>
          </a:xfrm>
        </p:grpSpPr>
        <p:sp>
          <p:nvSpPr>
            <p:cNvPr id="5" name="Arredondar Retângulo no Mesmo Canto Lateral 4"/>
            <p:cNvSpPr/>
            <p:nvPr/>
          </p:nvSpPr>
          <p:spPr>
            <a:xfrm>
              <a:off x="2643174" y="3500438"/>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2785231" y="3652741"/>
              <a:ext cx="4329953" cy="1128515"/>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500" dirty="0">
                <a:solidFill>
                  <a:srgbClr val="006600"/>
                </a:solidFill>
                <a:latin typeface="DIN Pro Regular"/>
                <a:ea typeface="+mj-ea"/>
                <a:cs typeface="+mj-cs"/>
              </a:endParaRPr>
            </a:p>
            <a:p>
              <a:r>
                <a:rPr lang="pt-BR" sz="1600" dirty="0">
                  <a:solidFill>
                    <a:srgbClr val="006600"/>
                  </a:solidFill>
                  <a:latin typeface="DIN Pro Regular"/>
                  <a:ea typeface="+mj-ea"/>
                  <a:cs typeface="+mj-cs"/>
                </a:rPr>
                <a:t>n=4  e m=8 =&gt; n&lt;m e n≠0 =&gt; </a:t>
              </a:r>
              <a:r>
                <a:rPr lang="pt-BR" sz="1600" dirty="0" err="1">
                  <a:solidFill>
                    <a:srgbClr val="006600"/>
                  </a:solidFill>
                  <a:latin typeface="DIN Pro Regular"/>
                  <a:ea typeface="+mj-ea"/>
                  <a:cs typeface="+mj-cs"/>
                </a:rPr>
                <a:t>return</a:t>
              </a:r>
              <a:r>
                <a:rPr lang="pt-BR" sz="1600" dirty="0">
                  <a:solidFill>
                    <a:srgbClr val="006600"/>
                  </a:solidFill>
                  <a:latin typeface="DIN Pro Regular"/>
                  <a:ea typeface="+mj-ea"/>
                  <a:cs typeface="+mj-cs"/>
                </a:rPr>
                <a:t>(mdc (4,0))</a:t>
              </a:r>
            </a:p>
          </p:txBody>
        </p:sp>
      </p:grpSp>
      <p:sp>
        <p:nvSpPr>
          <p:cNvPr id="4" name="Título 3">
            <a:extLst>
              <a:ext uri="{FF2B5EF4-FFF2-40B4-BE49-F238E27FC236}">
                <a16:creationId xmlns:a16="http://schemas.microsoft.com/office/drawing/2014/main" id="{CC701B70-F90C-403E-A273-A1456CA1204C}"/>
              </a:ext>
            </a:extLst>
          </p:cNvPr>
          <p:cNvSpPr>
            <a:spLocks noGrp="1"/>
          </p:cNvSpPr>
          <p:nvPr>
            <p:ph type="title"/>
          </p:nvPr>
        </p:nvSpPr>
        <p:spPr/>
        <p:txBody>
          <a:bodyPr/>
          <a:lstStyle/>
          <a:p>
            <a:endParaRPr lang="pt-B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7"/>
          <p:cNvGrpSpPr/>
          <p:nvPr/>
        </p:nvGrpSpPr>
        <p:grpSpPr>
          <a:xfrm>
            <a:off x="1285852" y="1393017"/>
            <a:ext cx="4572032" cy="1285884"/>
            <a:chOff x="1285852" y="714356"/>
            <a:chExt cx="4572032" cy="1714512"/>
          </a:xfrm>
        </p:grpSpPr>
        <p:sp>
          <p:nvSpPr>
            <p:cNvPr id="9" name="Arredondar Retângulo no Mesmo Canto Lateral 8"/>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10" name="CaixaDeTexto 9"/>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614939" y="2031838"/>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861133"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861133" y="2509923"/>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rgbClr val="C00000"/>
              </a:solidFill>
            </a:endParaRPr>
          </a:p>
        </p:txBody>
      </p:sp>
      <p:sp>
        <p:nvSpPr>
          <p:cNvPr id="7" name="CaixaDeTexto 6"/>
          <p:cNvSpPr txBox="1"/>
          <p:nvPr/>
        </p:nvSpPr>
        <p:spPr>
          <a:xfrm>
            <a:off x="2067893" y="2725824"/>
            <a:ext cx="4365272" cy="854080"/>
          </a:xfrm>
          <a:prstGeom prst="rect">
            <a:avLst/>
          </a:prstGeom>
          <a:noFill/>
        </p:spPr>
        <p:txBody>
          <a:bodyPr wrap="square" rtlCol="0">
            <a:spAutoFit/>
          </a:bodyPr>
          <a:lstStyle/>
          <a:p>
            <a:r>
              <a:rPr lang="pt-BR" b="1" dirty="0">
                <a:solidFill>
                  <a:srgbClr val="C00000"/>
                </a:solidFill>
                <a:latin typeface="DIN Pro Regular"/>
                <a:ea typeface="+mj-ea"/>
                <a:cs typeface="+mj-cs"/>
              </a:rPr>
              <a:t>Ativação 3</a:t>
            </a:r>
          </a:p>
          <a:p>
            <a:endParaRPr lang="pt-BR" sz="1350" dirty="0">
              <a:solidFill>
                <a:srgbClr val="C00000"/>
              </a:solidFill>
            </a:endParaRPr>
          </a:p>
          <a:p>
            <a:r>
              <a:rPr lang="pt-BR" dirty="0">
                <a:solidFill>
                  <a:srgbClr val="C00000"/>
                </a:solidFill>
                <a:latin typeface="DIN Pro Regular"/>
                <a:ea typeface="+mj-ea"/>
                <a:cs typeface="+mj-cs"/>
              </a:rPr>
              <a:t>n= 4  e m=0 =&gt; n&gt;m =&gt; </a:t>
            </a:r>
            <a:r>
              <a:rPr lang="pt-BR" dirty="0" err="1">
                <a:solidFill>
                  <a:srgbClr val="C00000"/>
                </a:solidFill>
                <a:latin typeface="DIN Pro Regular"/>
                <a:ea typeface="+mj-ea"/>
                <a:cs typeface="+mj-cs"/>
              </a:rPr>
              <a:t>return</a:t>
            </a:r>
            <a:r>
              <a:rPr lang="pt-BR" dirty="0">
                <a:solidFill>
                  <a:srgbClr val="C00000"/>
                </a:solidFill>
                <a:latin typeface="DIN Pro Regular"/>
                <a:ea typeface="+mj-ea"/>
                <a:cs typeface="+mj-cs"/>
              </a:rPr>
              <a:t>(mdc (0,4))</a:t>
            </a:r>
          </a:p>
        </p:txBody>
      </p:sp>
      <p:sp>
        <p:nvSpPr>
          <p:cNvPr id="3" name="Título 2">
            <a:extLst>
              <a:ext uri="{FF2B5EF4-FFF2-40B4-BE49-F238E27FC236}">
                <a16:creationId xmlns:a16="http://schemas.microsoft.com/office/drawing/2014/main" id="{725FC517-994C-4C54-AD55-F9CE13631FE0}"/>
              </a:ext>
            </a:extLst>
          </p:cNvPr>
          <p:cNvSpPr>
            <a:spLocks noGrp="1"/>
          </p:cNvSpPr>
          <p:nvPr>
            <p:ph type="title"/>
          </p:nvPr>
        </p:nvSpPr>
        <p:spPr/>
        <p:txBody>
          <a:bodyPr/>
          <a:lstStyle/>
          <a:p>
            <a:endParaRPr lang="pt-B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4"/>
          <p:cNvGrpSpPr/>
          <p:nvPr/>
        </p:nvGrpSpPr>
        <p:grpSpPr>
          <a:xfrm>
            <a:off x="1285852" y="1393017"/>
            <a:ext cx="4572032" cy="1285884"/>
            <a:chOff x="1285852" y="714356"/>
            <a:chExt cx="4572032" cy="1714512"/>
          </a:xfrm>
        </p:grpSpPr>
        <p:sp>
          <p:nvSpPr>
            <p:cNvPr id="16" name="Arredondar Retângulo no Mesmo Canto Lateral 15"/>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17" name="CaixaDeTexto 16"/>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643042" y="1875224"/>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750199"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a:t>
            </a:r>
            <a:r>
              <a:rPr lang="pt-BR" dirty="0">
                <a:solidFill>
                  <a:srgbClr val="006600"/>
                </a:solidFill>
                <a:latin typeface="DIN Pro Regular"/>
                <a:ea typeface="+mj-ea"/>
                <a:cs typeface="+mj-cs"/>
              </a:rPr>
              <a:t> </a:t>
            </a:r>
            <a:r>
              <a:rPr lang="pt-BR" b="1" dirty="0">
                <a:solidFill>
                  <a:srgbClr val="006600"/>
                </a:solidFill>
                <a:latin typeface="DIN Pro Regular"/>
                <a:ea typeface="+mj-ea"/>
                <a:cs typeface="+mj-cs"/>
              </a:rPr>
              <a:t>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893076" y="2523394"/>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7" name="CaixaDeTexto 6"/>
          <p:cNvSpPr txBox="1"/>
          <p:nvPr/>
        </p:nvSpPr>
        <p:spPr>
          <a:xfrm>
            <a:off x="2393141" y="2684130"/>
            <a:ext cx="4000528" cy="854080"/>
          </a:xfrm>
          <a:prstGeom prst="rect">
            <a:avLst/>
          </a:prstGeom>
          <a:noFill/>
        </p:spPr>
        <p:txBody>
          <a:bodyPr wrap="square" rtlCol="0">
            <a:spAutoFit/>
          </a:bodyPr>
          <a:lstStyle/>
          <a:p>
            <a:r>
              <a:rPr lang="pt-BR" b="1" dirty="0">
                <a:solidFill>
                  <a:srgbClr val="C00000"/>
                </a:solidFill>
                <a:latin typeface="DIN Pro Regular"/>
                <a:ea typeface="+mj-ea"/>
                <a:cs typeface="+mj-cs"/>
              </a:rPr>
              <a:t>Ativação 3</a:t>
            </a:r>
          </a:p>
          <a:p>
            <a:endParaRPr lang="pt-BR" sz="1350" dirty="0">
              <a:solidFill>
                <a:srgbClr val="C00000"/>
              </a:solidFill>
            </a:endParaRPr>
          </a:p>
          <a:p>
            <a:r>
              <a:rPr lang="pt-BR" dirty="0">
                <a:solidFill>
                  <a:srgbClr val="C00000"/>
                </a:solidFill>
                <a:latin typeface="DIN Pro Regular"/>
                <a:ea typeface="+mj-ea"/>
                <a:cs typeface="+mj-cs"/>
              </a:rPr>
              <a:t>n = 2 =&gt; 2 * fatorial (1) </a:t>
            </a:r>
          </a:p>
        </p:txBody>
      </p:sp>
      <p:grpSp>
        <p:nvGrpSpPr>
          <p:cNvPr id="3" name="Grupo 11"/>
          <p:cNvGrpSpPr/>
          <p:nvPr/>
        </p:nvGrpSpPr>
        <p:grpSpPr>
          <a:xfrm>
            <a:off x="2285984" y="3065109"/>
            <a:ext cx="4572032" cy="1285884"/>
            <a:chOff x="1509690" y="2438392"/>
            <a:chExt cx="4572032" cy="1714512"/>
          </a:xfrm>
        </p:grpSpPr>
        <p:sp>
          <p:nvSpPr>
            <p:cNvPr id="10" name="Arredondar Retângulo no Mesmo Canto Lateral 9"/>
            <p:cNvSpPr/>
            <p:nvPr/>
          </p:nvSpPr>
          <p:spPr>
            <a:xfrm>
              <a:off x="1509690" y="2438392"/>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11" name="CaixaDeTexto 10"/>
            <p:cNvSpPr txBox="1"/>
            <p:nvPr/>
          </p:nvSpPr>
          <p:spPr>
            <a:xfrm>
              <a:off x="1724004" y="2652707"/>
              <a:ext cx="4000528" cy="1138773"/>
            </a:xfrm>
            <a:prstGeom prst="rect">
              <a:avLst/>
            </a:prstGeom>
            <a:noFill/>
          </p:spPr>
          <p:txBody>
            <a:bodyPr wrap="square" rtlCol="0">
              <a:spAutoFit/>
            </a:bodyPr>
            <a:lstStyle/>
            <a:p>
              <a:r>
                <a:rPr lang="pt-BR" b="1" dirty="0">
                  <a:latin typeface="DIN Pro Regular"/>
                  <a:ea typeface="+mj-ea"/>
                  <a:cs typeface="+mj-cs"/>
                </a:rPr>
                <a:t>Ativação 4</a:t>
              </a:r>
            </a:p>
            <a:p>
              <a:endParaRPr lang="pt-BR" sz="1350" dirty="0"/>
            </a:p>
            <a:p>
              <a:r>
                <a:rPr lang="pt-BR" dirty="0"/>
                <a:t>n=0 e m=4  =&gt; n&lt;m e n=0 =&gt;</a:t>
              </a:r>
              <a:r>
                <a:rPr lang="pt-BR" dirty="0" err="1"/>
                <a:t>return</a:t>
              </a:r>
              <a:r>
                <a:rPr lang="pt-BR" dirty="0"/>
                <a:t> (4)</a:t>
              </a:r>
              <a:endParaRPr lang="pt-BR" dirty="0">
                <a:latin typeface="DIN Pro Regular"/>
                <a:ea typeface="+mj-ea"/>
                <a:cs typeface="+mj-cs"/>
              </a:endParaRPr>
            </a:p>
          </p:txBody>
        </p:sp>
      </p:grpSp>
      <p:sp>
        <p:nvSpPr>
          <p:cNvPr id="8" name="Título 7">
            <a:extLst>
              <a:ext uri="{FF2B5EF4-FFF2-40B4-BE49-F238E27FC236}">
                <a16:creationId xmlns:a16="http://schemas.microsoft.com/office/drawing/2014/main" id="{D83FB1B3-3ADB-4045-AB1C-470C5C89F6DE}"/>
              </a:ext>
            </a:extLst>
          </p:cNvPr>
          <p:cNvSpPr>
            <a:spLocks noGrp="1"/>
          </p:cNvSpPr>
          <p:nvPr>
            <p:ph type="title"/>
          </p:nvPr>
        </p:nvSpPr>
        <p:spPr/>
        <p:txBody>
          <a:bodyPr/>
          <a:lstStyle/>
          <a:p>
            <a:endParaRPr lang="pt-B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7"/>
          <p:cNvGrpSpPr/>
          <p:nvPr/>
        </p:nvGrpSpPr>
        <p:grpSpPr>
          <a:xfrm>
            <a:off x="928663" y="1393017"/>
            <a:ext cx="4572032" cy="1285884"/>
            <a:chOff x="1285852" y="714356"/>
            <a:chExt cx="4572032" cy="1714512"/>
          </a:xfrm>
        </p:grpSpPr>
        <p:sp>
          <p:nvSpPr>
            <p:cNvPr id="9" name="Arredondar Retângulo no Mesmo Canto Lateral 8"/>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10" name="CaixaDeTexto 9"/>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213583" y="2047859"/>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499335" y="2082019"/>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18166"/>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7" name="CaixaDeTexto 6"/>
          <p:cNvSpPr txBox="1"/>
          <p:nvPr/>
        </p:nvSpPr>
        <p:spPr>
          <a:xfrm>
            <a:off x="1571605" y="2732480"/>
            <a:ext cx="4358549" cy="954107"/>
          </a:xfrm>
          <a:prstGeom prst="rect">
            <a:avLst/>
          </a:prstGeom>
          <a:noFill/>
        </p:spPr>
        <p:txBody>
          <a:bodyPr wrap="square" rtlCol="0">
            <a:spAutoFit/>
          </a:bodyPr>
          <a:lstStyle/>
          <a:p>
            <a:r>
              <a:rPr lang="pt-BR" b="1" dirty="0">
                <a:solidFill>
                  <a:srgbClr val="C00000"/>
                </a:solidFill>
                <a:latin typeface="DIN Pro Regular"/>
                <a:ea typeface="+mj-ea"/>
                <a:cs typeface="+mj-cs"/>
              </a:rPr>
              <a:t>Ativação 3</a:t>
            </a:r>
            <a:r>
              <a:rPr lang="pt-BR" sz="1500" dirty="0">
                <a:solidFill>
                  <a:srgbClr val="C00000"/>
                </a:solidFill>
                <a:latin typeface="DIN Pro Regular"/>
              </a:rPr>
              <a:t>						                  </a:t>
            </a:r>
            <a:r>
              <a:rPr lang="pt-BR" sz="2000" b="1" dirty="0">
                <a:solidFill>
                  <a:srgbClr val="C00000"/>
                </a:solidFill>
                <a:latin typeface="DIN Pro Regular"/>
              </a:rPr>
              <a:t>4</a:t>
            </a:r>
            <a:endParaRPr lang="pt-BR" sz="1500" b="1" dirty="0">
              <a:solidFill>
                <a:srgbClr val="C00000"/>
              </a:solidFill>
              <a:latin typeface="DIN Pro Regular"/>
            </a:endParaRPr>
          </a:p>
          <a:p>
            <a:r>
              <a:rPr lang="pt-BR" dirty="0">
                <a:solidFill>
                  <a:srgbClr val="C00000"/>
                </a:solidFill>
                <a:latin typeface="DIN Pro Regular"/>
                <a:ea typeface="+mj-ea"/>
                <a:cs typeface="+mj-cs"/>
              </a:rPr>
              <a:t>n= 4  e m=0 =&gt; n&gt;m =&gt;</a:t>
            </a:r>
            <a:r>
              <a:rPr lang="pt-BR" dirty="0" err="1">
                <a:solidFill>
                  <a:srgbClr val="C00000"/>
                </a:solidFill>
                <a:latin typeface="DIN Pro Regular"/>
                <a:ea typeface="+mj-ea"/>
                <a:cs typeface="+mj-cs"/>
              </a:rPr>
              <a:t>return</a:t>
            </a:r>
            <a:r>
              <a:rPr lang="pt-BR" dirty="0">
                <a:solidFill>
                  <a:srgbClr val="C00000"/>
                </a:solidFill>
                <a:latin typeface="DIN Pro Regular"/>
                <a:ea typeface="+mj-ea"/>
                <a:cs typeface="+mj-cs"/>
              </a:rPr>
              <a:t>(mdc(0,4))</a:t>
            </a:r>
          </a:p>
        </p:txBody>
      </p:sp>
      <p:cxnSp>
        <p:nvCxnSpPr>
          <p:cNvPr id="12" name="Conector de seta reta 11"/>
          <p:cNvCxnSpPr/>
          <p:nvPr/>
        </p:nvCxnSpPr>
        <p:spPr>
          <a:xfrm rot="5400000" flipH="1" flipV="1">
            <a:off x="4713196" y="3222099"/>
            <a:ext cx="405245" cy="3429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 name="Título 2">
            <a:extLst>
              <a:ext uri="{FF2B5EF4-FFF2-40B4-BE49-F238E27FC236}">
                <a16:creationId xmlns:a16="http://schemas.microsoft.com/office/drawing/2014/main" id="{0260480B-B787-434E-89DC-FE86B77771FB}"/>
              </a:ext>
            </a:extLst>
          </p:cNvPr>
          <p:cNvSpPr>
            <a:spLocks noGrp="1"/>
          </p:cNvSpPr>
          <p:nvPr>
            <p:ph type="title"/>
          </p:nvPr>
        </p:nvSpPr>
        <p:spPr/>
        <p:txBody>
          <a:bodyPr/>
          <a:lstStyle/>
          <a:p>
            <a:endParaRPr lang="pt-B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3"/>
          <p:cNvGrpSpPr/>
          <p:nvPr/>
        </p:nvGrpSpPr>
        <p:grpSpPr>
          <a:xfrm>
            <a:off x="1285852" y="1393017"/>
            <a:ext cx="4572032" cy="1285884"/>
            <a:chOff x="1285852" y="714356"/>
            <a:chExt cx="4572032" cy="1714512"/>
          </a:xfrm>
        </p:grpSpPr>
        <p:sp>
          <p:nvSpPr>
            <p:cNvPr id="7" name="Arredondar Retângulo no Mesmo Canto Lateral 6"/>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8" name="CaixaDeTexto 7"/>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grpSp>
        <p:nvGrpSpPr>
          <p:cNvPr id="3" name="Grupo 8"/>
          <p:cNvGrpSpPr/>
          <p:nvPr/>
        </p:nvGrpSpPr>
        <p:grpSpPr>
          <a:xfrm>
            <a:off x="1608330" y="2091528"/>
            <a:ext cx="4572032" cy="1285884"/>
            <a:chOff x="2643174" y="3500438"/>
            <a:chExt cx="4572032" cy="1714512"/>
          </a:xfrm>
        </p:grpSpPr>
        <p:sp>
          <p:nvSpPr>
            <p:cNvPr id="5" name="Arredondar Retângulo no Mesmo Canto Lateral 4"/>
            <p:cNvSpPr/>
            <p:nvPr/>
          </p:nvSpPr>
          <p:spPr>
            <a:xfrm>
              <a:off x="2643174" y="3500438"/>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2796976" y="3634349"/>
              <a:ext cx="4250972" cy="1190069"/>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r>
                <a:rPr lang="pt-BR" dirty="0">
                  <a:solidFill>
                    <a:srgbClr val="006600"/>
                  </a:solidFill>
                  <a:latin typeface="DIN Pro Regular"/>
                </a:rPr>
                <a:t>			          		</a:t>
              </a:r>
              <a:r>
                <a:rPr lang="pt-BR" b="1" dirty="0">
                  <a:solidFill>
                    <a:srgbClr val="006600"/>
                  </a:solidFill>
                  <a:latin typeface="DIN Pro Regular"/>
                </a:rPr>
                <a:t>     	                 4</a:t>
              </a:r>
            </a:p>
            <a:p>
              <a:r>
                <a:rPr lang="pt-BR" sz="1600" dirty="0">
                  <a:solidFill>
                    <a:srgbClr val="006600"/>
                  </a:solidFill>
                  <a:latin typeface="DIN Pro Regular"/>
                  <a:ea typeface="+mj-ea"/>
                  <a:cs typeface="+mj-cs"/>
                </a:rPr>
                <a:t>n=4  e m=8 =&gt; n&lt;m e n≠0 =&gt;</a:t>
              </a:r>
              <a:r>
                <a:rPr lang="pt-BR" sz="1600" dirty="0" err="1">
                  <a:solidFill>
                    <a:srgbClr val="006600"/>
                  </a:solidFill>
                  <a:latin typeface="DIN Pro Regular"/>
                  <a:ea typeface="+mj-ea"/>
                  <a:cs typeface="+mj-cs"/>
                </a:rPr>
                <a:t>return</a:t>
              </a:r>
              <a:r>
                <a:rPr lang="pt-BR" sz="1600" dirty="0">
                  <a:solidFill>
                    <a:srgbClr val="006600"/>
                  </a:solidFill>
                  <a:latin typeface="DIN Pro Regular"/>
                  <a:ea typeface="+mj-ea"/>
                  <a:cs typeface="+mj-cs"/>
                </a:rPr>
                <a:t>(mdc(4, 0))</a:t>
              </a:r>
            </a:p>
          </p:txBody>
        </p:sp>
      </p:grpSp>
      <p:cxnSp>
        <p:nvCxnSpPr>
          <p:cNvPr id="10" name="Conector de seta reta 9"/>
          <p:cNvCxnSpPr/>
          <p:nvPr/>
        </p:nvCxnSpPr>
        <p:spPr>
          <a:xfrm flipV="1">
            <a:off x="4974199" y="2734470"/>
            <a:ext cx="446809" cy="394854"/>
          </a:xfrm>
          <a:prstGeom prst="straightConnector1">
            <a:avLst/>
          </a:prstGeom>
          <a:ln w="28575">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4" name="Título 3">
            <a:extLst>
              <a:ext uri="{FF2B5EF4-FFF2-40B4-BE49-F238E27FC236}">
                <a16:creationId xmlns:a16="http://schemas.microsoft.com/office/drawing/2014/main" id="{918CB8B3-3BA0-48F0-90C3-7FD934D38D75}"/>
              </a:ext>
            </a:extLst>
          </p:cNvPr>
          <p:cNvSpPr>
            <a:spLocks noGrp="1"/>
          </p:cNvSpPr>
          <p:nvPr>
            <p:ph type="title"/>
          </p:nvPr>
        </p:nvSpPr>
        <p:spPr/>
        <p:txBody>
          <a:bodyPr/>
          <a:lstStyle/>
          <a:p>
            <a:endParaRPr lang="pt-B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6"/>
          <p:cNvGrpSpPr/>
          <p:nvPr/>
        </p:nvGrpSpPr>
        <p:grpSpPr>
          <a:xfrm>
            <a:off x="1285852" y="1393017"/>
            <a:ext cx="4572032" cy="1285884"/>
            <a:chOff x="1285852" y="714356"/>
            <a:chExt cx="4572032" cy="1714512"/>
          </a:xfrm>
        </p:grpSpPr>
        <p:sp>
          <p:nvSpPr>
            <p:cNvPr id="5" name="Arredondar Retângulo no Mesmo Canto Lateral 4"/>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643042" y="928671"/>
              <a:ext cx="4000528" cy="1169550"/>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r>
                <a:rPr lang="pt-BR" dirty="0">
                  <a:solidFill>
                    <a:srgbClr val="0000CC"/>
                  </a:solidFill>
                  <a:latin typeface="DIN Pro Regular"/>
                </a:rPr>
                <a:t>			         	</a:t>
              </a:r>
              <a:r>
                <a:rPr lang="pt-BR" dirty="0">
                  <a:solidFill>
                    <a:srgbClr val="0000CC"/>
                  </a:solidFill>
                  <a:latin typeface="DIN Pro Regular" panose="020B0504020101020102" pitchFamily="34" charset="0"/>
                  <a:cs typeface="DIN Pro Regular" panose="020B0504020101020102" pitchFamily="34" charset="0"/>
                </a:rPr>
                <a:t>        		     4</a:t>
              </a:r>
              <a:endParaRPr lang="pt-BR" sz="1500" dirty="0">
                <a:solidFill>
                  <a:srgbClr val="0000CC"/>
                </a:solidFill>
                <a:latin typeface="DIN Pro Regular" panose="020B0504020101020102" pitchFamily="34" charset="0"/>
                <a:cs typeface="DIN Pro Regular" panose="020B0504020101020102" pitchFamily="34" charset="0"/>
              </a:endParaRPr>
            </a:p>
            <a:p>
              <a:r>
                <a:rPr lang="pt-BR" sz="1500" dirty="0">
                  <a:solidFill>
                    <a:srgbClr val="0000CC"/>
                  </a:solidFill>
                  <a:latin typeface="DIN Pro Regular" panose="020B0504020101020102" pitchFamily="34" charset="0"/>
                  <a:cs typeface="DIN Pro Regular" panose="020B0504020101020102" pitchFamily="34" charset="0"/>
                </a:rPr>
                <a:t>n=8 e m=4  =&gt; n&gt;m  =&gt; </a:t>
              </a:r>
              <a:r>
                <a:rPr lang="pt-BR" sz="1500" dirty="0" err="1">
                  <a:solidFill>
                    <a:srgbClr val="0000CC"/>
                  </a:solidFill>
                  <a:latin typeface="DIN Pro Regular" panose="020B0504020101020102" pitchFamily="34" charset="0"/>
                  <a:cs typeface="DIN Pro Regular" panose="020B0504020101020102" pitchFamily="34" charset="0"/>
                </a:rPr>
                <a:t>return</a:t>
              </a:r>
              <a:r>
                <a:rPr lang="pt-BR" sz="1500" dirty="0">
                  <a:solidFill>
                    <a:srgbClr val="0000CC"/>
                  </a:solidFill>
                  <a:latin typeface="DIN Pro Regular" panose="020B0504020101020102" pitchFamily="34" charset="0"/>
                  <a:cs typeface="DIN Pro Regular" panose="020B0504020101020102" pitchFamily="34" charset="0"/>
                </a:rPr>
                <a:t>(mdc(4,8))</a:t>
              </a:r>
            </a:p>
          </p:txBody>
        </p:sp>
      </p:grpSp>
      <p:cxnSp>
        <p:nvCxnSpPr>
          <p:cNvPr id="8" name="Conector de seta reta 7"/>
          <p:cNvCxnSpPr/>
          <p:nvPr/>
        </p:nvCxnSpPr>
        <p:spPr>
          <a:xfrm rot="5400000" flipH="1" flipV="1">
            <a:off x="4214402" y="2046452"/>
            <a:ext cx="394854" cy="374073"/>
          </a:xfrm>
          <a:prstGeom prst="straightConnector1">
            <a:avLst/>
          </a:prstGeom>
          <a:ln w="28575">
            <a:solidFill>
              <a:srgbClr val="0000CC"/>
            </a:solidFill>
            <a:tailEnd type="arrow"/>
          </a:ln>
        </p:spPr>
        <p:style>
          <a:lnRef idx="1">
            <a:schemeClr val="accent1"/>
          </a:lnRef>
          <a:fillRef idx="0">
            <a:schemeClr val="accent1"/>
          </a:fillRef>
          <a:effectRef idx="0">
            <a:schemeClr val="accent1"/>
          </a:effectRef>
          <a:fontRef idx="minor">
            <a:schemeClr val="tx1"/>
          </a:fontRef>
        </p:style>
      </p:cxnSp>
      <p:sp>
        <p:nvSpPr>
          <p:cNvPr id="3" name="Título 2">
            <a:extLst>
              <a:ext uri="{FF2B5EF4-FFF2-40B4-BE49-F238E27FC236}">
                <a16:creationId xmlns:a16="http://schemas.microsoft.com/office/drawing/2014/main" id="{E1572030-DC84-48EB-A407-5A2C51EFECEB}"/>
              </a:ext>
            </a:extLst>
          </p:cNvPr>
          <p:cNvSpPr>
            <a:spLocks noGrp="1"/>
          </p:cNvSpPr>
          <p:nvPr>
            <p:ph type="title"/>
          </p:nvPr>
        </p:nvSpPr>
        <p:spPr/>
        <p:txBody>
          <a:bodyPr/>
          <a:lstStyle/>
          <a:p>
            <a:endParaRPr lang="pt-B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2400" dirty="0"/>
              <a:t>Chamada da Fun</a:t>
            </a:r>
            <a:r>
              <a:rPr lang="pt-BR" dirty="0"/>
              <a:t>ção MDC</a:t>
            </a:r>
            <a:endParaRPr lang="en-US" sz="2850" dirty="0"/>
          </a:p>
        </p:txBody>
      </p:sp>
      <p:sp>
        <p:nvSpPr>
          <p:cNvPr id="3" name="Subtítulo 2"/>
          <p:cNvSpPr>
            <a:spLocks noGrp="1"/>
          </p:cNvSpPr>
          <p:nvPr>
            <p:ph type="subTitle" idx="4294967295"/>
          </p:nvPr>
        </p:nvSpPr>
        <p:spPr>
          <a:xfrm>
            <a:off x="1087821" y="1436304"/>
            <a:ext cx="7300913" cy="4428468"/>
          </a:xfrm>
          <a:solidFill>
            <a:srgbClr val="FFEAA7"/>
          </a:solidFill>
        </p:spPr>
        <p:txBody>
          <a:bodyPr>
            <a:normAutofit fontScale="92500" lnSpcReduction="10000"/>
          </a:bodyPr>
          <a:lstStyle/>
          <a:p>
            <a:pPr marL="0" indent="0" algn="l">
              <a:buNone/>
            </a:pPr>
            <a:r>
              <a:rPr lang="en-US" sz="1600" dirty="0">
                <a:latin typeface="Consolas" pitchFamily="49" charset="0"/>
                <a:cs typeface="Consolas" pitchFamily="49" charset="0"/>
              </a:rPr>
              <a:t>public static </a:t>
            </a:r>
            <a:r>
              <a:rPr lang="en-US" sz="1600" dirty="0" err="1">
                <a:latin typeface="Consolas" pitchFamily="49" charset="0"/>
                <a:cs typeface="Consolas" pitchFamily="49" charset="0"/>
              </a:rPr>
              <a:t>int</a:t>
            </a:r>
            <a:r>
              <a:rPr lang="en-US" sz="1600" dirty="0">
                <a:latin typeface="Consolas" pitchFamily="49" charset="0"/>
                <a:cs typeface="Consolas" pitchFamily="49" charset="0"/>
              </a:rPr>
              <a:t> </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int</a:t>
            </a:r>
            <a:r>
              <a:rPr lang="en-US" sz="1600" dirty="0">
                <a:latin typeface="Consolas" pitchFamily="49" charset="0"/>
                <a:cs typeface="Consolas" pitchFamily="49" charset="0"/>
              </a:rPr>
              <a:t> n, </a:t>
            </a:r>
            <a:r>
              <a:rPr lang="en-US" sz="1600" dirty="0" err="1">
                <a:latin typeface="Consolas" pitchFamily="49" charset="0"/>
                <a:cs typeface="Consolas" pitchFamily="49" charset="0"/>
              </a:rPr>
              <a:t>int</a:t>
            </a:r>
            <a:r>
              <a:rPr lang="en-US" sz="1600" dirty="0">
                <a:latin typeface="Consolas" pitchFamily="49" charset="0"/>
                <a:cs typeface="Consolas" pitchFamily="49" charset="0"/>
              </a:rPr>
              <a:t> m){</a:t>
            </a:r>
          </a:p>
          <a:p>
            <a:pPr marL="0" indent="0" algn="l">
              <a:buNone/>
            </a:pPr>
            <a:r>
              <a:rPr lang="en-US" sz="1600" dirty="0">
                <a:latin typeface="Consolas" pitchFamily="49" charset="0"/>
                <a:cs typeface="Consolas" pitchFamily="49" charset="0"/>
              </a:rPr>
              <a:t>   if (n &gt; m)</a:t>
            </a:r>
          </a:p>
          <a:p>
            <a:pPr marL="0" indent="0" algn="l">
              <a:buNone/>
            </a:pPr>
            <a:r>
              <a:rPr lang="en-US" sz="1600" dirty="0">
                <a:latin typeface="Consolas" pitchFamily="49" charset="0"/>
                <a:cs typeface="Consolas" pitchFamily="49" charset="0"/>
              </a:rPr>
              <a:t>  	   return(</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m,n</a:t>
            </a:r>
            <a:r>
              <a:rPr lang="en-US" sz="1600" dirty="0">
                <a:latin typeface="Consolas" pitchFamily="49" charset="0"/>
                <a:cs typeface="Consolas" pitchFamily="49" charset="0"/>
              </a:rPr>
              <a:t>));</a:t>
            </a:r>
          </a:p>
          <a:p>
            <a:pPr marL="0" indent="0" algn="l">
              <a:buNone/>
            </a:pPr>
            <a:r>
              <a:rPr lang="en-US" sz="1600" dirty="0">
                <a:latin typeface="Consolas" pitchFamily="49" charset="0"/>
                <a:cs typeface="Consolas" pitchFamily="49" charset="0"/>
              </a:rPr>
              <a:t>   else  {</a:t>
            </a:r>
          </a:p>
          <a:p>
            <a:pPr marL="0" indent="0" algn="l">
              <a:buNone/>
            </a:pPr>
            <a:r>
              <a:rPr lang="en-US" sz="1600" dirty="0">
                <a:latin typeface="Consolas" pitchFamily="49" charset="0"/>
                <a:cs typeface="Consolas" pitchFamily="49" charset="0"/>
              </a:rPr>
              <a:t>	   if (n == 0)</a:t>
            </a:r>
          </a:p>
          <a:p>
            <a:pPr marL="0" indent="0" algn="l">
              <a:buNone/>
            </a:pPr>
            <a:r>
              <a:rPr lang="en-US" sz="1600" dirty="0">
                <a:latin typeface="Consolas" pitchFamily="49" charset="0"/>
                <a:cs typeface="Consolas" pitchFamily="49" charset="0"/>
              </a:rPr>
              <a:t>	        return(m);</a:t>
            </a:r>
          </a:p>
          <a:p>
            <a:pPr marL="0" indent="0" algn="l">
              <a:buNone/>
            </a:pPr>
            <a:r>
              <a:rPr lang="en-US" sz="1600" dirty="0">
                <a:latin typeface="Consolas" pitchFamily="49" charset="0"/>
                <a:cs typeface="Consolas" pitchFamily="49" charset="0"/>
              </a:rPr>
              <a:t>	   else</a:t>
            </a:r>
          </a:p>
          <a:p>
            <a:pPr marL="0" indent="0" algn="l">
              <a:buNone/>
            </a:pPr>
            <a:r>
              <a:rPr lang="en-US" sz="1600" dirty="0">
                <a:latin typeface="Consolas" pitchFamily="49" charset="0"/>
                <a:cs typeface="Consolas" pitchFamily="49" charset="0"/>
              </a:rPr>
              <a:t>	        return(</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n,m%n</a:t>
            </a:r>
            <a:r>
              <a:rPr lang="en-US" sz="1600" dirty="0">
                <a:latin typeface="Consolas" pitchFamily="49" charset="0"/>
                <a:cs typeface="Consolas" pitchFamily="49" charset="0"/>
              </a:rPr>
              <a:t>));</a:t>
            </a:r>
          </a:p>
          <a:p>
            <a:pPr marL="0" indent="0" algn="l">
              <a:buNone/>
            </a:pPr>
            <a:r>
              <a:rPr lang="en-US" sz="1600" dirty="0">
                <a:latin typeface="Consolas" pitchFamily="49" charset="0"/>
                <a:cs typeface="Consolas" pitchFamily="49" charset="0"/>
              </a:rPr>
              <a:t>	   }</a:t>
            </a:r>
          </a:p>
          <a:p>
            <a:pPr marL="0" indent="0" algn="l">
              <a:buNone/>
            </a:pPr>
            <a:r>
              <a:rPr lang="en-US" sz="1600" dirty="0">
                <a:latin typeface="Consolas" pitchFamily="49" charset="0"/>
                <a:cs typeface="Consolas" pitchFamily="49" charset="0"/>
              </a:rPr>
              <a:t>}</a:t>
            </a:r>
          </a:p>
          <a:p>
            <a:pPr marL="0" indent="0" algn="l">
              <a:lnSpc>
                <a:spcPct val="150000"/>
              </a:lnSpc>
              <a:buNone/>
            </a:pPr>
            <a:r>
              <a:rPr lang="pt-BR" sz="1600" dirty="0" err="1">
                <a:latin typeface="Consolas" pitchFamily="49" charset="0"/>
                <a:cs typeface="Consolas" pitchFamily="49" charset="0"/>
              </a:rPr>
              <a:t>public</a:t>
            </a:r>
            <a:r>
              <a:rPr lang="pt-BR" sz="1600" dirty="0">
                <a:latin typeface="Consolas" pitchFamily="49" charset="0"/>
                <a:cs typeface="Consolas" pitchFamily="49" charset="0"/>
              </a:rPr>
              <a:t> </a:t>
            </a:r>
            <a:r>
              <a:rPr lang="pt-BR" sz="1600" dirty="0" err="1">
                <a:latin typeface="Consolas" pitchFamily="49" charset="0"/>
                <a:cs typeface="Consolas" pitchFamily="49" charset="0"/>
              </a:rPr>
              <a:t>static</a:t>
            </a:r>
            <a:r>
              <a:rPr lang="pt-BR" sz="1600" dirty="0">
                <a:latin typeface="Consolas" pitchFamily="49" charset="0"/>
                <a:cs typeface="Consolas" pitchFamily="49" charset="0"/>
              </a:rPr>
              <a:t> </a:t>
            </a:r>
            <a:r>
              <a:rPr lang="pt-BR" sz="1600" dirty="0" err="1">
                <a:latin typeface="Consolas" pitchFamily="49" charset="0"/>
                <a:cs typeface="Consolas" pitchFamily="49" charset="0"/>
              </a:rPr>
              <a:t>void</a:t>
            </a:r>
            <a:r>
              <a:rPr lang="pt-BR" sz="1600" dirty="0">
                <a:latin typeface="Consolas" pitchFamily="49" charset="0"/>
                <a:cs typeface="Consolas" pitchFamily="49" charset="0"/>
              </a:rPr>
              <a:t> </a:t>
            </a:r>
            <a:r>
              <a:rPr lang="pt-BR" sz="1600" dirty="0" err="1">
                <a:latin typeface="Consolas" pitchFamily="49" charset="0"/>
                <a:cs typeface="Consolas" pitchFamily="49" charset="0"/>
              </a:rPr>
              <a:t>main</a:t>
            </a:r>
            <a:r>
              <a:rPr lang="pt-BR" sz="1600" dirty="0">
                <a:latin typeface="Consolas" pitchFamily="49" charset="0"/>
                <a:cs typeface="Consolas" pitchFamily="49" charset="0"/>
              </a:rPr>
              <a:t>(String[] </a:t>
            </a:r>
            <a:r>
              <a:rPr lang="pt-BR" sz="1600" dirty="0" err="1">
                <a:latin typeface="Consolas" pitchFamily="49" charset="0"/>
                <a:cs typeface="Consolas" pitchFamily="49" charset="0"/>
              </a:rPr>
              <a:t>args</a:t>
            </a:r>
            <a:r>
              <a:rPr lang="pt-BR" sz="1600" dirty="0">
                <a:latin typeface="Consolas" pitchFamily="49" charset="0"/>
                <a:cs typeface="Consolas" pitchFamily="49" charset="0"/>
              </a:rPr>
              <a:t>) {</a:t>
            </a:r>
          </a:p>
          <a:p>
            <a:pPr marL="0" indent="0" algn="l">
              <a:lnSpc>
                <a:spcPct val="150000"/>
              </a:lnSpc>
              <a:buNone/>
            </a:pPr>
            <a:endParaRPr lang="pt-BR" sz="1600" dirty="0">
              <a:latin typeface="Consolas" pitchFamily="49" charset="0"/>
              <a:cs typeface="Consolas" pitchFamily="49" charset="0"/>
            </a:endParaRPr>
          </a:p>
          <a:p>
            <a:pPr marL="0" indent="0" algn="l">
              <a:lnSpc>
                <a:spcPct val="150000"/>
              </a:lnSpc>
              <a:buNone/>
            </a:pPr>
            <a:r>
              <a:rPr lang="pt-BR" sz="1600" dirty="0">
                <a:latin typeface="Consolas" pitchFamily="49" charset="0"/>
                <a:cs typeface="Consolas" pitchFamily="49" charset="0"/>
              </a:rPr>
              <a:t>	</a:t>
            </a:r>
            <a:r>
              <a:rPr lang="pt-BR" sz="1600" dirty="0" err="1">
                <a:latin typeface="Consolas" pitchFamily="49" charset="0"/>
                <a:cs typeface="Consolas" pitchFamily="49" charset="0"/>
              </a:rPr>
              <a:t>int</a:t>
            </a:r>
            <a:r>
              <a:rPr lang="pt-BR" sz="1600" dirty="0">
                <a:latin typeface="Consolas" pitchFamily="49" charset="0"/>
                <a:cs typeface="Consolas" pitchFamily="49" charset="0"/>
              </a:rPr>
              <a:t> x = </a:t>
            </a:r>
            <a:r>
              <a:rPr lang="pt-BR" sz="1600" b="1" dirty="0">
                <a:solidFill>
                  <a:srgbClr val="0000CC"/>
                </a:solidFill>
                <a:latin typeface="Consolas" pitchFamily="49" charset="0"/>
                <a:cs typeface="Consolas" pitchFamily="49" charset="0"/>
              </a:rPr>
              <a:t>mdc (8,4)</a:t>
            </a:r>
            <a:r>
              <a:rPr lang="pt-BR" sz="1600" dirty="0">
                <a:latin typeface="Consolas" pitchFamily="49" charset="0"/>
                <a:cs typeface="Consolas" pitchFamily="49" charset="0"/>
              </a:rPr>
              <a:t>;</a:t>
            </a:r>
          </a:p>
          <a:p>
            <a:pPr marL="0" indent="0" algn="l">
              <a:lnSpc>
                <a:spcPct val="150000"/>
              </a:lnSpc>
              <a:buNone/>
            </a:pPr>
            <a:r>
              <a:rPr lang="pt-BR" sz="1600" dirty="0">
                <a:latin typeface="Consolas" pitchFamily="49" charset="0"/>
                <a:cs typeface="Consolas" pitchFamily="49" charset="0"/>
              </a:rPr>
              <a:t>	</a:t>
            </a:r>
            <a:r>
              <a:rPr lang="pt-BR" sz="1600" dirty="0" err="1">
                <a:latin typeface="Consolas" pitchFamily="49" charset="0"/>
                <a:cs typeface="Consolas" pitchFamily="49" charset="0"/>
              </a:rPr>
              <a:t>System.out.println</a:t>
            </a:r>
            <a:r>
              <a:rPr lang="pt-BR" sz="1600" dirty="0">
                <a:latin typeface="Consolas" pitchFamily="49" charset="0"/>
                <a:cs typeface="Consolas" pitchFamily="49" charset="0"/>
              </a:rPr>
              <a:t>(" MDC entre 8 e 4 = " + x);</a:t>
            </a:r>
          </a:p>
          <a:p>
            <a:pPr marL="0" indent="0" algn="l">
              <a:lnSpc>
                <a:spcPct val="150000"/>
              </a:lnSpc>
              <a:buNone/>
            </a:pPr>
            <a:r>
              <a:rPr lang="pt-BR" sz="1600" dirty="0">
                <a:latin typeface="Consolas" pitchFamily="49" charset="0"/>
                <a:cs typeface="Consolas" pitchFamily="49" charset="0"/>
              </a:rPr>
              <a:t>}</a:t>
            </a:r>
          </a:p>
          <a:p>
            <a:pPr marL="0" indent="0" algn="l">
              <a:buNone/>
            </a:pPr>
            <a:endParaRPr lang="pt-BR" sz="1600" dirty="0">
              <a:latin typeface="Consolas" pitchFamily="49" charset="0"/>
              <a:cs typeface="Consolas" pitchFamily="49" charset="0"/>
            </a:endParaRPr>
          </a:p>
          <a:p>
            <a:pPr marL="0" indent="0" algn="l">
              <a:buNone/>
            </a:pPr>
            <a:endParaRPr lang="en-US" sz="1600" dirty="0">
              <a:latin typeface="Consolas" pitchFamily="49" charset="0"/>
              <a:cs typeface="Consolas" pitchFamily="49" charset="0"/>
            </a:endParaRPr>
          </a:p>
        </p:txBody>
      </p:sp>
      <p:cxnSp>
        <p:nvCxnSpPr>
          <p:cNvPr id="4" name="Conector de seta reta 7">
            <a:extLst>
              <a:ext uri="{FF2B5EF4-FFF2-40B4-BE49-F238E27FC236}">
                <a16:creationId xmlns:a16="http://schemas.microsoft.com/office/drawing/2014/main" id="{B84C58AE-93DB-4834-B72F-5D7FD95A8253}"/>
              </a:ext>
            </a:extLst>
          </p:cNvPr>
          <p:cNvCxnSpPr>
            <a:cxnSpLocks/>
          </p:cNvCxnSpPr>
          <p:nvPr/>
        </p:nvCxnSpPr>
        <p:spPr>
          <a:xfrm flipV="1">
            <a:off x="2665788" y="4603531"/>
            <a:ext cx="518846" cy="563062"/>
          </a:xfrm>
          <a:prstGeom prst="straightConnector1">
            <a:avLst/>
          </a:prstGeom>
          <a:ln w="28575">
            <a:solidFill>
              <a:srgbClr val="0000CC"/>
            </a:solidFill>
            <a:tailEnd type="arrow"/>
          </a:ln>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EEA61227-3688-4845-A4CB-807DDA80DAB7}"/>
              </a:ext>
            </a:extLst>
          </p:cNvPr>
          <p:cNvSpPr txBox="1"/>
          <p:nvPr/>
        </p:nvSpPr>
        <p:spPr>
          <a:xfrm>
            <a:off x="3184634" y="4327320"/>
            <a:ext cx="665018" cy="415498"/>
          </a:xfrm>
          <a:prstGeom prst="rect">
            <a:avLst/>
          </a:prstGeom>
          <a:noFill/>
          <a:ln>
            <a:noFill/>
          </a:ln>
        </p:spPr>
        <p:txBody>
          <a:bodyPr wrap="square" rtlCol="0">
            <a:spAutoFit/>
          </a:bodyPr>
          <a:lstStyle/>
          <a:p>
            <a:r>
              <a:rPr lang="pt-BR" sz="2100" b="1" dirty="0">
                <a:solidFill>
                  <a:srgbClr val="0000CC"/>
                </a:solidFill>
                <a:latin typeface="DIN Pro Regular"/>
              </a:rPr>
              <a:t>4</a:t>
            </a:r>
            <a:endParaRPr lang="pt-BR" sz="1350" b="1" dirty="0">
              <a:solidFill>
                <a:srgbClr val="0000CC"/>
              </a:solidFill>
              <a:latin typeface="DIN Pro Regular"/>
            </a:endParaRPr>
          </a:p>
        </p:txBody>
      </p:sp>
    </p:spTree>
    <p:extLst>
      <p:ext uri="{BB962C8B-B14F-4D97-AF65-F5344CB8AC3E}">
        <p14:creationId xmlns:p14="http://schemas.microsoft.com/office/powerpoint/2010/main" val="4104452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Exercício 1</a:t>
            </a:r>
          </a:p>
        </p:txBody>
      </p:sp>
      <p:pic>
        <p:nvPicPr>
          <p:cNvPr id="19459" name="Picture 3"/>
          <p:cNvPicPr>
            <a:picLocks noChangeAspect="1" noChangeArrowheads="1"/>
          </p:cNvPicPr>
          <p:nvPr/>
        </p:nvPicPr>
        <p:blipFill>
          <a:blip r:embed="rId3"/>
          <a:srcRect/>
          <a:stretch>
            <a:fillRect/>
          </a:stretch>
        </p:blipFill>
        <p:spPr bwMode="auto">
          <a:xfrm>
            <a:off x="837767" y="1908049"/>
            <a:ext cx="7208455" cy="1844144"/>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Ideia para Resolução de Exercício</a:t>
            </a:r>
          </a:p>
        </p:txBody>
      </p:sp>
      <p:pic>
        <p:nvPicPr>
          <p:cNvPr id="19458" name="Picture 2"/>
          <p:cNvPicPr>
            <a:picLocks noChangeAspect="1" noChangeArrowheads="1"/>
          </p:cNvPicPr>
          <p:nvPr/>
        </p:nvPicPr>
        <p:blipFill>
          <a:blip r:embed="rId2"/>
          <a:srcRect/>
          <a:stretch>
            <a:fillRect/>
          </a:stretch>
        </p:blipFill>
        <p:spPr bwMode="auto">
          <a:xfrm>
            <a:off x="1947411" y="1537794"/>
            <a:ext cx="4248589" cy="1477328"/>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Aplicação de Recursividade Árvores Binárias</a:t>
            </a:r>
          </a:p>
        </p:txBody>
      </p:sp>
      <p:sp>
        <p:nvSpPr>
          <p:cNvPr id="3" name="Espaço Reservado para Número de Slide 2"/>
          <p:cNvSpPr>
            <a:spLocks noGrp="1"/>
          </p:cNvSpPr>
          <p:nvPr>
            <p:ph type="sldNum" sz="quarter" idx="11"/>
          </p:nvPr>
        </p:nvSpPr>
        <p:spPr/>
        <p:txBody>
          <a:bodyPr/>
          <a:lstStyle/>
          <a:p>
            <a:fld id="{0DBB9FE3-D63C-4A40-B010-4651D12E128D}" type="slidenum">
              <a:rPr lang="pt-BR" smtClean="0"/>
              <a:pPr/>
              <a:t>33</a:t>
            </a:fld>
            <a:endParaRPr lang="pt-BR"/>
          </a:p>
        </p:txBody>
      </p:sp>
      <p:sp>
        <p:nvSpPr>
          <p:cNvPr id="4" name="Retângulo 3"/>
          <p:cNvSpPr/>
          <p:nvPr/>
        </p:nvSpPr>
        <p:spPr>
          <a:xfrm>
            <a:off x="469557" y="1166843"/>
            <a:ext cx="8217243" cy="3785652"/>
          </a:xfrm>
          <a:prstGeom prst="rect">
            <a:avLst/>
          </a:prstGeom>
        </p:spPr>
        <p:txBody>
          <a:bodyPr wrap="square">
            <a:spAutoFit/>
          </a:bodyPr>
          <a:lstStyle/>
          <a:p>
            <a:r>
              <a:rPr lang="pt-BR" sz="2400" dirty="0"/>
              <a:t>O problema de “percorrer” todos os nós de uma árvore binária de profundidade </a:t>
            </a:r>
            <a:r>
              <a:rPr lang="pt-BR" sz="2400" b="1" dirty="0"/>
              <a:t>d </a:t>
            </a:r>
            <a:r>
              <a:rPr lang="pt-BR" sz="2400" dirty="0"/>
              <a:t>é difícil.</a:t>
            </a:r>
          </a:p>
          <a:p>
            <a:endParaRPr lang="pt-BR" sz="2400" b="1" dirty="0"/>
          </a:p>
          <a:p>
            <a:r>
              <a:rPr lang="pt-BR" sz="2400" dirty="0"/>
              <a:t>A resolução desse tipo de problema baseia-se na aplicação do seguinte método:</a:t>
            </a:r>
          </a:p>
          <a:p>
            <a:pPr marL="457200" indent="-457200">
              <a:buFont typeface="+mj-lt"/>
              <a:buAutoNum type="arabicPeriod"/>
            </a:pPr>
            <a:r>
              <a:rPr lang="pt-BR" sz="2400" dirty="0"/>
              <a:t>se a instância estiver em um nó folha (nós sem filhos) basta “acessar ” o dado contido no nó;</a:t>
            </a:r>
          </a:p>
          <a:p>
            <a:pPr marL="457200" indent="-457200">
              <a:buFont typeface="+mj-lt"/>
              <a:buAutoNum type="arabicPeriod"/>
            </a:pPr>
            <a:r>
              <a:rPr lang="pt-BR" sz="2400" dirty="0"/>
              <a:t>Senão, passe  para o nível do nó filho de um dos seus ramos , assim, reduzindo a uma instância menor do mesmo problema.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pt-BR" dirty="0"/>
              <a:t>Definição de Nó de uma Árvore Binária</a:t>
            </a:r>
          </a:p>
        </p:txBody>
      </p:sp>
      <p:sp>
        <p:nvSpPr>
          <p:cNvPr id="139267" name="Rectangle 3"/>
          <p:cNvSpPr>
            <a:spLocks noGrp="1" noChangeArrowheads="1"/>
          </p:cNvSpPr>
          <p:nvPr>
            <p:ph type="body" idx="4294967295"/>
          </p:nvPr>
        </p:nvSpPr>
        <p:spPr>
          <a:xfrm>
            <a:off x="1136650" y="1417320"/>
            <a:ext cx="6635750" cy="3773488"/>
          </a:xfrm>
          <a:solidFill>
            <a:srgbClr val="FFFFFF"/>
          </a:solidFill>
        </p:spPr>
        <p:txBody>
          <a:bodyPr>
            <a:normAutofit/>
          </a:bodyPr>
          <a:lstStyle/>
          <a:p>
            <a:pPr>
              <a:buFont typeface="Wingdings" pitchFamily="2" charset="2"/>
              <a:buNone/>
            </a:pPr>
            <a:r>
              <a:rPr lang="en-US" dirty="0"/>
              <a:t>private class NO{</a:t>
            </a:r>
          </a:p>
          <a:p>
            <a:pPr>
              <a:buFont typeface="Wingdings" pitchFamily="2" charset="2"/>
              <a:buNone/>
            </a:pPr>
            <a:r>
              <a:rPr lang="en-US" dirty="0"/>
              <a:t>	  </a:t>
            </a:r>
            <a:r>
              <a:rPr lang="en-US" dirty="0" err="1"/>
              <a:t>int</a:t>
            </a:r>
            <a:r>
              <a:rPr lang="en-US" dirty="0"/>
              <a:t> dado;</a:t>
            </a:r>
          </a:p>
          <a:p>
            <a:pPr>
              <a:buFont typeface="Wingdings" pitchFamily="2" charset="2"/>
              <a:buNone/>
            </a:pPr>
            <a:r>
              <a:rPr lang="en-US" dirty="0"/>
              <a:t>	  NO </a:t>
            </a:r>
            <a:r>
              <a:rPr lang="en-US" dirty="0" err="1"/>
              <a:t>esq</a:t>
            </a:r>
            <a:r>
              <a:rPr lang="en-US" dirty="0"/>
              <a:t>;</a:t>
            </a:r>
          </a:p>
          <a:p>
            <a:pPr>
              <a:buFont typeface="Wingdings" pitchFamily="2" charset="2"/>
              <a:buNone/>
            </a:pPr>
            <a:r>
              <a:rPr lang="en-US" dirty="0"/>
              <a:t>	  NO </a:t>
            </a:r>
            <a:r>
              <a:rPr lang="en-US" dirty="0" err="1"/>
              <a:t>dir</a:t>
            </a:r>
            <a:r>
              <a:rPr lang="en-US" dirty="0"/>
              <a:t>;</a:t>
            </a:r>
          </a:p>
          <a:p>
            <a:pPr>
              <a:buFont typeface="Wingdings" pitchFamily="2" charset="2"/>
              <a:buNone/>
            </a:pPr>
            <a:r>
              <a:rPr lang="en-US" dirty="0"/>
              <a:t>	  }</a:t>
            </a:r>
          </a:p>
          <a:p>
            <a:pPr>
              <a:buFont typeface="Wingdings" pitchFamily="2" charset="2"/>
              <a:buNone/>
            </a:pPr>
            <a:endParaRPr lang="en-US" dirty="0"/>
          </a:p>
        </p:txBody>
      </p:sp>
      <p:sp>
        <p:nvSpPr>
          <p:cNvPr id="4" name="Espaço Reservado para Número de Slide 3"/>
          <p:cNvSpPr>
            <a:spLocks noGrp="1"/>
          </p:cNvSpPr>
          <p:nvPr>
            <p:ph type="sldNum" sz="quarter" idx="11"/>
          </p:nvPr>
        </p:nvSpPr>
        <p:spPr/>
        <p:txBody>
          <a:bodyPr/>
          <a:lstStyle/>
          <a:p>
            <a:fld id="{0DBB9FE3-D63C-4A40-B010-4651D12E128D}" type="slidenum">
              <a:rPr lang="pt-BR" smtClean="0"/>
              <a:pPr/>
              <a:t>34</a:t>
            </a:fld>
            <a:endParaRPr lang="pt-BR"/>
          </a:p>
        </p:txBody>
      </p:sp>
    </p:spTree>
    <p:extLst>
      <p:ext uri="{BB962C8B-B14F-4D97-AF65-F5344CB8AC3E}">
        <p14:creationId xmlns:p14="http://schemas.microsoft.com/office/powerpoint/2010/main" val="50805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dirty="0"/>
              <a:t>Representação de Nó </a:t>
            </a:r>
            <a:r>
              <a:rPr lang="pt-BR"/>
              <a:t>com ponteiros ...</a:t>
            </a:r>
            <a:endParaRPr lang="pt-BR" dirty="0"/>
          </a:p>
        </p:txBody>
      </p:sp>
      <p:sp>
        <p:nvSpPr>
          <p:cNvPr id="2" name="Espaço Reservado para Número de Slide 1"/>
          <p:cNvSpPr>
            <a:spLocks noGrp="1"/>
          </p:cNvSpPr>
          <p:nvPr>
            <p:ph type="sldNum" sz="quarter" idx="11"/>
          </p:nvPr>
        </p:nvSpPr>
        <p:spPr/>
        <p:txBody>
          <a:bodyPr/>
          <a:lstStyle/>
          <a:p>
            <a:fld id="{93E4AAA4-6363-4581-962D-1ACCC2D600C5}" type="slidenum">
              <a:rPr lang="en-US" smtClean="0"/>
              <a:pPr/>
              <a:t>35</a:t>
            </a:fld>
            <a:endParaRPr lang="en-US"/>
          </a:p>
        </p:txBody>
      </p:sp>
      <p:grpSp>
        <p:nvGrpSpPr>
          <p:cNvPr id="62" name="Grupo 61"/>
          <p:cNvGrpSpPr/>
          <p:nvPr/>
        </p:nvGrpSpPr>
        <p:grpSpPr>
          <a:xfrm>
            <a:off x="222181" y="1339077"/>
            <a:ext cx="2512992" cy="2319723"/>
            <a:chOff x="654644" y="1635287"/>
            <a:chExt cx="2512992" cy="2319723"/>
          </a:xfrm>
        </p:grpSpPr>
        <p:sp>
          <p:nvSpPr>
            <p:cNvPr id="6" name="Oval 5"/>
            <p:cNvSpPr>
              <a:spLocks noChangeArrowheads="1"/>
            </p:cNvSpPr>
            <p:nvPr/>
          </p:nvSpPr>
          <p:spPr bwMode="auto">
            <a:xfrm>
              <a:off x="1622560" y="1635287"/>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23</a:t>
              </a:r>
            </a:p>
          </p:txBody>
        </p:sp>
        <p:sp>
          <p:nvSpPr>
            <p:cNvPr id="7" name="Oval 9"/>
            <p:cNvSpPr>
              <a:spLocks noChangeArrowheads="1"/>
            </p:cNvSpPr>
            <p:nvPr/>
          </p:nvSpPr>
          <p:spPr bwMode="auto">
            <a:xfrm>
              <a:off x="2351608" y="3123882"/>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29</a:t>
              </a:r>
            </a:p>
          </p:txBody>
        </p:sp>
        <p:sp>
          <p:nvSpPr>
            <p:cNvPr id="8" name="Oval 10"/>
            <p:cNvSpPr>
              <a:spLocks noChangeArrowheads="1"/>
            </p:cNvSpPr>
            <p:nvPr/>
          </p:nvSpPr>
          <p:spPr bwMode="auto">
            <a:xfrm>
              <a:off x="654644" y="3066718"/>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18</a:t>
              </a:r>
            </a:p>
          </p:txBody>
        </p:sp>
        <p:sp>
          <p:nvSpPr>
            <p:cNvPr id="9" name="Line 32"/>
            <p:cNvSpPr>
              <a:spLocks noChangeShapeType="1"/>
            </p:cNvSpPr>
            <p:nvPr/>
          </p:nvSpPr>
          <p:spPr bwMode="auto">
            <a:xfrm flipH="1">
              <a:off x="1062657" y="2398087"/>
              <a:ext cx="704346" cy="668631"/>
            </a:xfrm>
            <a:prstGeom prst="line">
              <a:avLst/>
            </a:prstGeom>
            <a:noFill/>
            <a:ln w="9525">
              <a:solidFill>
                <a:schemeClr val="tx1"/>
              </a:solidFill>
              <a:miter lim="800000"/>
              <a:headEnd/>
              <a:tailEnd/>
            </a:ln>
            <a:effectLst/>
          </p:spPr>
          <p:txBody>
            <a:bodyPr wrap="none"/>
            <a:lstStyle/>
            <a:p>
              <a:endParaRPr lang="pt-BR" sz="1200"/>
            </a:p>
          </p:txBody>
        </p:sp>
        <p:sp>
          <p:nvSpPr>
            <p:cNvPr id="10" name="Line 33"/>
            <p:cNvSpPr>
              <a:spLocks noChangeShapeType="1"/>
            </p:cNvSpPr>
            <p:nvPr/>
          </p:nvSpPr>
          <p:spPr bwMode="auto">
            <a:xfrm>
              <a:off x="2282125" y="2414469"/>
              <a:ext cx="461075" cy="709413"/>
            </a:xfrm>
            <a:prstGeom prst="line">
              <a:avLst/>
            </a:prstGeom>
            <a:noFill/>
            <a:ln w="9525">
              <a:solidFill>
                <a:schemeClr val="tx1"/>
              </a:solidFill>
              <a:miter lim="800000"/>
              <a:headEnd/>
              <a:tailEnd/>
            </a:ln>
            <a:effectLst/>
          </p:spPr>
          <p:txBody>
            <a:bodyPr wrap="none"/>
            <a:lstStyle/>
            <a:p>
              <a:endParaRPr lang="pt-BR" sz="1200"/>
            </a:p>
          </p:txBody>
        </p:sp>
      </p:grpSp>
      <p:grpSp>
        <p:nvGrpSpPr>
          <p:cNvPr id="25" name="Grupo 24"/>
          <p:cNvGrpSpPr/>
          <p:nvPr/>
        </p:nvGrpSpPr>
        <p:grpSpPr>
          <a:xfrm>
            <a:off x="5347504" y="1866185"/>
            <a:ext cx="1551007" cy="531902"/>
            <a:chOff x="5347504" y="1866185"/>
            <a:chExt cx="1551007" cy="531902"/>
          </a:xfrm>
        </p:grpSpPr>
        <p:sp>
          <p:nvSpPr>
            <p:cNvPr id="19" name="CaixaDeTexto 18"/>
            <p:cNvSpPr txBox="1"/>
            <p:nvPr/>
          </p:nvSpPr>
          <p:spPr>
            <a:xfrm>
              <a:off x="5689870" y="1866185"/>
              <a:ext cx="866273" cy="523220"/>
            </a:xfrm>
            <a:prstGeom prst="rect">
              <a:avLst/>
            </a:prstGeom>
            <a:noFill/>
            <a:ln w="15875">
              <a:solidFill>
                <a:schemeClr val="tx1"/>
              </a:solidFill>
            </a:ln>
          </p:spPr>
          <p:txBody>
            <a:bodyPr wrap="square" rtlCol="0">
              <a:spAutoFit/>
            </a:bodyPr>
            <a:lstStyle/>
            <a:p>
              <a:pPr algn="ctr"/>
              <a:r>
                <a:rPr lang="pt-BR" sz="2800" dirty="0"/>
                <a:t>23</a:t>
              </a:r>
            </a:p>
          </p:txBody>
        </p:sp>
        <p:sp>
          <p:nvSpPr>
            <p:cNvPr id="20" name="Retângulo 19"/>
            <p:cNvSpPr/>
            <p:nvPr/>
          </p:nvSpPr>
          <p:spPr>
            <a:xfrm>
              <a:off x="5347504" y="1866185"/>
              <a:ext cx="1551007" cy="531902"/>
            </a:xfrm>
            <a:prstGeom prst="rect">
              <a:avLst/>
            </a:prstGeom>
            <a:noFill/>
            <a:ln w="158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cxnSp>
        <p:nvCxnSpPr>
          <p:cNvPr id="22" name="Conector de seta reta 21"/>
          <p:cNvCxnSpPr>
            <a:endCxn id="27" idx="0"/>
          </p:cNvCxnSpPr>
          <p:nvPr/>
        </p:nvCxnSpPr>
        <p:spPr>
          <a:xfrm>
            <a:off x="6815188" y="2100559"/>
            <a:ext cx="560456" cy="4763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ector de seta reta 23"/>
          <p:cNvCxnSpPr/>
          <p:nvPr/>
        </p:nvCxnSpPr>
        <p:spPr>
          <a:xfrm flipH="1">
            <a:off x="4977114" y="2118167"/>
            <a:ext cx="544010" cy="50928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26" name="Grupo 25"/>
          <p:cNvGrpSpPr/>
          <p:nvPr/>
        </p:nvGrpSpPr>
        <p:grpSpPr>
          <a:xfrm>
            <a:off x="6600141" y="2576931"/>
            <a:ext cx="1551007" cy="531902"/>
            <a:chOff x="5347504" y="1866185"/>
            <a:chExt cx="1551007" cy="531902"/>
          </a:xfrm>
        </p:grpSpPr>
        <p:sp>
          <p:nvSpPr>
            <p:cNvPr id="27" name="CaixaDeTexto 26"/>
            <p:cNvSpPr txBox="1"/>
            <p:nvPr/>
          </p:nvSpPr>
          <p:spPr>
            <a:xfrm>
              <a:off x="5689870" y="1866185"/>
              <a:ext cx="866273" cy="523220"/>
            </a:xfrm>
            <a:prstGeom prst="rect">
              <a:avLst/>
            </a:prstGeom>
            <a:noFill/>
            <a:ln w="15875">
              <a:solidFill>
                <a:schemeClr val="tx1"/>
              </a:solidFill>
            </a:ln>
          </p:spPr>
          <p:txBody>
            <a:bodyPr wrap="square" rtlCol="0">
              <a:spAutoFit/>
            </a:bodyPr>
            <a:lstStyle/>
            <a:p>
              <a:pPr algn="ctr"/>
              <a:r>
                <a:rPr lang="pt-BR" sz="2800" dirty="0"/>
                <a:t>29</a:t>
              </a:r>
            </a:p>
          </p:txBody>
        </p:sp>
        <p:sp>
          <p:nvSpPr>
            <p:cNvPr id="28" name="Retângulo 27"/>
            <p:cNvSpPr/>
            <p:nvPr/>
          </p:nvSpPr>
          <p:spPr>
            <a:xfrm>
              <a:off x="5347504" y="1866185"/>
              <a:ext cx="1551007" cy="531902"/>
            </a:xfrm>
            <a:prstGeom prst="rect">
              <a:avLst/>
            </a:prstGeom>
            <a:noFill/>
            <a:ln w="158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grpSp>
        <p:nvGrpSpPr>
          <p:cNvPr id="29" name="Grupo 28"/>
          <p:cNvGrpSpPr/>
          <p:nvPr/>
        </p:nvGrpSpPr>
        <p:grpSpPr>
          <a:xfrm>
            <a:off x="4048572" y="2609507"/>
            <a:ext cx="1551007" cy="531902"/>
            <a:chOff x="5347504" y="1866185"/>
            <a:chExt cx="1551007" cy="531902"/>
          </a:xfrm>
        </p:grpSpPr>
        <p:sp>
          <p:nvSpPr>
            <p:cNvPr id="30" name="CaixaDeTexto 29"/>
            <p:cNvSpPr txBox="1"/>
            <p:nvPr/>
          </p:nvSpPr>
          <p:spPr>
            <a:xfrm>
              <a:off x="5689870" y="1866185"/>
              <a:ext cx="866273" cy="523220"/>
            </a:xfrm>
            <a:prstGeom prst="rect">
              <a:avLst/>
            </a:prstGeom>
            <a:noFill/>
            <a:ln w="15875">
              <a:solidFill>
                <a:schemeClr val="tx1"/>
              </a:solidFill>
            </a:ln>
          </p:spPr>
          <p:txBody>
            <a:bodyPr wrap="square" rtlCol="0">
              <a:spAutoFit/>
            </a:bodyPr>
            <a:lstStyle/>
            <a:p>
              <a:pPr algn="ctr"/>
              <a:r>
                <a:rPr lang="pt-BR" sz="2800" dirty="0"/>
                <a:t>18</a:t>
              </a:r>
            </a:p>
          </p:txBody>
        </p:sp>
        <p:sp>
          <p:nvSpPr>
            <p:cNvPr id="31" name="Retângulo 30"/>
            <p:cNvSpPr/>
            <p:nvPr/>
          </p:nvSpPr>
          <p:spPr>
            <a:xfrm>
              <a:off x="5347504" y="1866185"/>
              <a:ext cx="1551007" cy="531902"/>
            </a:xfrm>
            <a:prstGeom prst="rect">
              <a:avLst/>
            </a:prstGeom>
            <a:noFill/>
            <a:ln w="158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cxnSp>
        <p:nvCxnSpPr>
          <p:cNvPr id="33" name="Conector de seta reta 32"/>
          <p:cNvCxnSpPr/>
          <p:nvPr/>
        </p:nvCxnSpPr>
        <p:spPr>
          <a:xfrm>
            <a:off x="6113737" y="1300245"/>
            <a:ext cx="9269" cy="55725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56" name="Grupo 55"/>
          <p:cNvGrpSpPr/>
          <p:nvPr/>
        </p:nvGrpSpPr>
        <p:grpSpPr>
          <a:xfrm>
            <a:off x="6161256" y="2829621"/>
            <a:ext cx="663342" cy="481579"/>
            <a:chOff x="6107848" y="2848763"/>
            <a:chExt cx="663342" cy="481579"/>
          </a:xfrm>
        </p:grpSpPr>
        <p:cxnSp>
          <p:nvCxnSpPr>
            <p:cNvPr id="42" name="Conector reto 41"/>
            <p:cNvCxnSpPr/>
            <p:nvPr/>
          </p:nvCxnSpPr>
          <p:spPr>
            <a:xfrm>
              <a:off x="6299552" y="2848763"/>
              <a:ext cx="47163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Conector reto 42"/>
            <p:cNvCxnSpPr/>
            <p:nvPr/>
          </p:nvCxnSpPr>
          <p:spPr>
            <a:xfrm>
              <a:off x="6307573" y="2848763"/>
              <a:ext cx="0" cy="37793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Conector reto 43"/>
            <p:cNvCxnSpPr/>
            <p:nvPr/>
          </p:nvCxnSpPr>
          <p:spPr>
            <a:xfrm>
              <a:off x="6107848" y="3203608"/>
              <a:ext cx="39944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Conector reto 45"/>
            <p:cNvCxnSpPr/>
            <p:nvPr/>
          </p:nvCxnSpPr>
          <p:spPr>
            <a:xfrm>
              <a:off x="6198669" y="3330342"/>
              <a:ext cx="19250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0" name="Grupo 49"/>
          <p:cNvGrpSpPr/>
          <p:nvPr/>
        </p:nvGrpSpPr>
        <p:grpSpPr>
          <a:xfrm>
            <a:off x="7950467" y="2856149"/>
            <a:ext cx="635268" cy="474193"/>
            <a:chOff x="7950467" y="2856149"/>
            <a:chExt cx="635268" cy="474193"/>
          </a:xfrm>
        </p:grpSpPr>
        <p:cxnSp>
          <p:nvCxnSpPr>
            <p:cNvPr id="35" name="Conector reto 34"/>
            <p:cNvCxnSpPr/>
            <p:nvPr/>
          </p:nvCxnSpPr>
          <p:spPr>
            <a:xfrm>
              <a:off x="7950467" y="2856149"/>
              <a:ext cx="47163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Conector reto 36"/>
            <p:cNvCxnSpPr/>
            <p:nvPr/>
          </p:nvCxnSpPr>
          <p:spPr>
            <a:xfrm>
              <a:off x="8422105" y="2856149"/>
              <a:ext cx="0" cy="37793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Conector reto 38"/>
            <p:cNvCxnSpPr/>
            <p:nvPr/>
          </p:nvCxnSpPr>
          <p:spPr>
            <a:xfrm>
              <a:off x="8186286" y="3234088"/>
              <a:ext cx="39944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Conector reto 48"/>
            <p:cNvCxnSpPr/>
            <p:nvPr/>
          </p:nvCxnSpPr>
          <p:spPr>
            <a:xfrm>
              <a:off x="8325852" y="3330342"/>
              <a:ext cx="19250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1" name="Grupo 50"/>
          <p:cNvGrpSpPr/>
          <p:nvPr/>
        </p:nvGrpSpPr>
        <p:grpSpPr>
          <a:xfrm>
            <a:off x="5379738" y="2829621"/>
            <a:ext cx="635268" cy="474193"/>
            <a:chOff x="7950467" y="2856149"/>
            <a:chExt cx="635268" cy="474193"/>
          </a:xfrm>
        </p:grpSpPr>
        <p:cxnSp>
          <p:nvCxnSpPr>
            <p:cNvPr id="52" name="Conector reto 51"/>
            <p:cNvCxnSpPr/>
            <p:nvPr/>
          </p:nvCxnSpPr>
          <p:spPr>
            <a:xfrm>
              <a:off x="7950467" y="2856149"/>
              <a:ext cx="47163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Conector reto 52"/>
            <p:cNvCxnSpPr/>
            <p:nvPr/>
          </p:nvCxnSpPr>
          <p:spPr>
            <a:xfrm>
              <a:off x="8422105" y="2856149"/>
              <a:ext cx="0" cy="37793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Conector reto 53"/>
            <p:cNvCxnSpPr/>
            <p:nvPr/>
          </p:nvCxnSpPr>
          <p:spPr>
            <a:xfrm>
              <a:off x="8186286" y="3234088"/>
              <a:ext cx="39944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Conector reto 54"/>
            <p:cNvCxnSpPr/>
            <p:nvPr/>
          </p:nvCxnSpPr>
          <p:spPr>
            <a:xfrm>
              <a:off x="8325852" y="3330342"/>
              <a:ext cx="19250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7" name="Grupo 56"/>
          <p:cNvGrpSpPr/>
          <p:nvPr/>
        </p:nvGrpSpPr>
        <p:grpSpPr>
          <a:xfrm>
            <a:off x="3507847" y="2900619"/>
            <a:ext cx="663342" cy="481579"/>
            <a:chOff x="6107848" y="2848763"/>
            <a:chExt cx="663342" cy="481579"/>
          </a:xfrm>
        </p:grpSpPr>
        <p:cxnSp>
          <p:nvCxnSpPr>
            <p:cNvPr id="58" name="Conector reto 57"/>
            <p:cNvCxnSpPr/>
            <p:nvPr/>
          </p:nvCxnSpPr>
          <p:spPr>
            <a:xfrm>
              <a:off x="6299552" y="2848763"/>
              <a:ext cx="47163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Conector reto 58"/>
            <p:cNvCxnSpPr/>
            <p:nvPr/>
          </p:nvCxnSpPr>
          <p:spPr>
            <a:xfrm>
              <a:off x="6307573" y="2848763"/>
              <a:ext cx="0" cy="37793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Conector reto 59"/>
            <p:cNvCxnSpPr/>
            <p:nvPr/>
          </p:nvCxnSpPr>
          <p:spPr>
            <a:xfrm>
              <a:off x="6107848" y="3203608"/>
              <a:ext cx="39944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Conector reto 60"/>
            <p:cNvCxnSpPr/>
            <p:nvPr/>
          </p:nvCxnSpPr>
          <p:spPr>
            <a:xfrm>
              <a:off x="6198669" y="3330342"/>
              <a:ext cx="19250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64" name="Conector de seta reta 63"/>
          <p:cNvCxnSpPr>
            <a:endCxn id="6" idx="0"/>
          </p:cNvCxnSpPr>
          <p:nvPr/>
        </p:nvCxnSpPr>
        <p:spPr>
          <a:xfrm>
            <a:off x="1598111" y="943276"/>
            <a:ext cx="0" cy="3958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5" name="CaixaDeTexto 44"/>
          <p:cNvSpPr txBox="1"/>
          <p:nvPr/>
        </p:nvSpPr>
        <p:spPr>
          <a:xfrm>
            <a:off x="1649812" y="900135"/>
            <a:ext cx="712626" cy="400110"/>
          </a:xfrm>
          <a:prstGeom prst="rect">
            <a:avLst/>
          </a:prstGeom>
          <a:noFill/>
        </p:spPr>
        <p:txBody>
          <a:bodyPr wrap="square" rtlCol="0">
            <a:spAutoFit/>
          </a:bodyPr>
          <a:lstStyle/>
          <a:p>
            <a:r>
              <a:rPr lang="pt-BR" sz="2000" dirty="0">
                <a:latin typeface="Consolas" pitchFamily="49" charset="0"/>
                <a:cs typeface="Consolas" pitchFamily="49" charset="0"/>
              </a:rPr>
              <a:t>p</a:t>
            </a:r>
          </a:p>
        </p:txBody>
      </p:sp>
      <p:sp>
        <p:nvSpPr>
          <p:cNvPr id="47" name="CaixaDeTexto 46"/>
          <p:cNvSpPr txBox="1"/>
          <p:nvPr/>
        </p:nvSpPr>
        <p:spPr>
          <a:xfrm>
            <a:off x="6185885" y="900135"/>
            <a:ext cx="712626" cy="400110"/>
          </a:xfrm>
          <a:prstGeom prst="rect">
            <a:avLst/>
          </a:prstGeom>
          <a:noFill/>
        </p:spPr>
        <p:txBody>
          <a:bodyPr wrap="square" rtlCol="0">
            <a:spAutoFit/>
          </a:bodyPr>
          <a:lstStyle/>
          <a:p>
            <a:r>
              <a:rPr lang="pt-BR" sz="2000" dirty="0">
                <a:latin typeface="Consolas" pitchFamily="49" charset="0"/>
                <a:cs typeface="Consolas" pitchFamily="49" charset="0"/>
              </a:rPr>
              <a:t>p</a:t>
            </a:r>
          </a:p>
        </p:txBody>
      </p:sp>
    </p:spTree>
    <p:extLst>
      <p:ext uri="{BB962C8B-B14F-4D97-AF65-F5344CB8AC3E}">
        <p14:creationId xmlns:p14="http://schemas.microsoft.com/office/powerpoint/2010/main" val="19551970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57200" y="2849880"/>
            <a:ext cx="8229600" cy="1143000"/>
          </a:xfrm>
        </p:spPr>
        <p:txBody>
          <a:bodyPr>
            <a:normAutofit fontScale="90000"/>
          </a:bodyPr>
          <a:lstStyle/>
          <a:p>
            <a:r>
              <a:rPr lang="pt-BR" dirty="0"/>
              <a:t>Percurso de Árvore Binária </a:t>
            </a:r>
            <a:br>
              <a:rPr lang="pt-BR" dirty="0"/>
            </a:br>
            <a:r>
              <a:rPr lang="pt-BR" dirty="0">
                <a:solidFill>
                  <a:srgbClr val="FF0000"/>
                </a:solidFill>
              </a:rPr>
              <a:t>Em Ordem</a:t>
            </a:r>
            <a:br>
              <a:rPr lang="pt-BR" dirty="0">
                <a:solidFill>
                  <a:srgbClr val="FF0000"/>
                </a:solidFill>
              </a:rPr>
            </a:br>
            <a:r>
              <a:rPr lang="pt-BR" dirty="0">
                <a:solidFill>
                  <a:srgbClr val="FF0000"/>
                </a:solidFill>
              </a:rPr>
              <a:t>Pré Ordem</a:t>
            </a:r>
            <a:br>
              <a:rPr lang="pt-BR" dirty="0">
                <a:solidFill>
                  <a:srgbClr val="FF0000"/>
                </a:solidFill>
              </a:rPr>
            </a:br>
            <a:r>
              <a:rPr lang="pt-BR" dirty="0">
                <a:solidFill>
                  <a:srgbClr val="FF0000"/>
                </a:solidFill>
              </a:rPr>
              <a:t>Pós Ordem</a:t>
            </a:r>
          </a:p>
        </p:txBody>
      </p:sp>
      <p:sp>
        <p:nvSpPr>
          <p:cNvPr id="2" name="Espaço Reservado para Número de Slide 1"/>
          <p:cNvSpPr>
            <a:spLocks noGrp="1"/>
          </p:cNvSpPr>
          <p:nvPr>
            <p:ph type="sldNum" sz="quarter" idx="12"/>
          </p:nvPr>
        </p:nvSpPr>
        <p:spPr/>
        <p:txBody>
          <a:bodyPr/>
          <a:lstStyle/>
          <a:p>
            <a:fld id="{93E4AAA4-6363-4581-962D-1ACCC2D600C5}"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pt-BR"/>
              <a:t>Árvores Binárias - Percursos</a:t>
            </a:r>
          </a:p>
        </p:txBody>
      </p:sp>
      <p:sp>
        <p:nvSpPr>
          <p:cNvPr id="47107" name="Rectangle 3"/>
          <p:cNvSpPr>
            <a:spLocks noGrp="1" noChangeArrowheads="1"/>
          </p:cNvSpPr>
          <p:nvPr>
            <p:ph type="body" idx="4294967295"/>
          </p:nvPr>
        </p:nvSpPr>
        <p:spPr>
          <a:xfrm>
            <a:off x="0" y="908050"/>
            <a:ext cx="7772400" cy="685800"/>
          </a:xfrm>
        </p:spPr>
        <p:txBody>
          <a:bodyPr/>
          <a:lstStyle/>
          <a:p>
            <a:r>
              <a:rPr lang="pt-BR">
                <a:solidFill>
                  <a:srgbClr val="000099"/>
                </a:solidFill>
              </a:rPr>
              <a:t>EM Ordem (Ordem Simétrica)</a:t>
            </a:r>
          </a:p>
        </p:txBody>
      </p:sp>
      <p:sp>
        <p:nvSpPr>
          <p:cNvPr id="47108" name="Text Box 4"/>
          <p:cNvSpPr txBox="1">
            <a:spLocks noChangeArrowheads="1"/>
          </p:cNvSpPr>
          <p:nvPr/>
        </p:nvSpPr>
        <p:spPr bwMode="auto">
          <a:xfrm>
            <a:off x="1066800" y="3733800"/>
            <a:ext cx="3554413" cy="579438"/>
          </a:xfrm>
          <a:prstGeom prst="rect">
            <a:avLst/>
          </a:prstGeom>
          <a:noFill/>
          <a:ln w="9525">
            <a:noFill/>
            <a:miter lim="800000"/>
            <a:headEnd/>
            <a:tailEnd/>
          </a:ln>
          <a:effectLst/>
        </p:spPr>
        <p:txBody>
          <a:bodyPr wrap="none">
            <a:spAutoFit/>
          </a:bodyPr>
          <a:lstStyle/>
          <a:p>
            <a:r>
              <a:rPr kumimoji="1" lang="pt-BR" sz="3200" b="1" dirty="0">
                <a:latin typeface="Arial Narrow" pitchFamily="34" charset="0"/>
              </a:rPr>
              <a:t>2 – Visitamos a </a:t>
            </a:r>
            <a:r>
              <a:rPr kumimoji="1" lang="pt-BR" sz="3200" b="1" dirty="0">
                <a:solidFill>
                  <a:srgbClr val="00FFCC"/>
                </a:solidFill>
                <a:latin typeface="Arial Narrow" pitchFamily="34" charset="0"/>
              </a:rPr>
              <a:t>RAIZ</a:t>
            </a:r>
            <a:r>
              <a:rPr kumimoji="1" lang="pt-BR" sz="3200" b="1" dirty="0">
                <a:latin typeface="Arial Narrow" pitchFamily="34" charset="0"/>
              </a:rPr>
              <a:t>.</a:t>
            </a:r>
          </a:p>
        </p:txBody>
      </p:sp>
      <p:sp>
        <p:nvSpPr>
          <p:cNvPr id="47110" name="Text Box 6"/>
          <p:cNvSpPr txBox="1">
            <a:spLocks noChangeArrowheads="1"/>
          </p:cNvSpPr>
          <p:nvPr/>
        </p:nvSpPr>
        <p:spPr bwMode="auto">
          <a:xfrm>
            <a:off x="1066800" y="4800600"/>
            <a:ext cx="3440113" cy="1554163"/>
          </a:xfrm>
          <a:prstGeom prst="rect">
            <a:avLst/>
          </a:prstGeom>
          <a:noFill/>
          <a:ln w="9525">
            <a:noFill/>
            <a:miter lim="800000"/>
            <a:headEnd/>
            <a:tailEnd/>
          </a:ln>
          <a:effectLst/>
        </p:spPr>
        <p:txBody>
          <a:bodyPr>
            <a:spAutoFit/>
          </a:bodyPr>
          <a:lstStyle/>
          <a:p>
            <a:r>
              <a:rPr kumimoji="1" lang="pt-BR" sz="3200" b="1" dirty="0">
                <a:latin typeface="Arial Narrow" pitchFamily="34" charset="0"/>
              </a:rPr>
              <a:t>3 – Percorremos a </a:t>
            </a:r>
            <a:r>
              <a:rPr kumimoji="1" lang="pt-BR" sz="3200" b="1" dirty="0" err="1">
                <a:latin typeface="Arial Narrow" pitchFamily="34" charset="0"/>
              </a:rPr>
              <a:t>subárvore</a:t>
            </a:r>
            <a:r>
              <a:rPr kumimoji="1" lang="pt-BR" sz="3200" b="1" dirty="0">
                <a:latin typeface="Arial Narrow" pitchFamily="34" charset="0"/>
              </a:rPr>
              <a:t> </a:t>
            </a:r>
            <a:r>
              <a:rPr kumimoji="1" lang="pt-BR" sz="3200" b="1" dirty="0">
                <a:solidFill>
                  <a:srgbClr val="00FFCC"/>
                </a:solidFill>
                <a:latin typeface="Arial Narrow" pitchFamily="34" charset="0"/>
              </a:rPr>
              <a:t>direita</a:t>
            </a:r>
            <a:r>
              <a:rPr kumimoji="1" lang="pt-BR" sz="3200" b="1" dirty="0">
                <a:latin typeface="Arial Narrow" pitchFamily="34" charset="0"/>
              </a:rPr>
              <a:t> em ordem simétrica.</a:t>
            </a:r>
          </a:p>
        </p:txBody>
      </p:sp>
      <p:sp>
        <p:nvSpPr>
          <p:cNvPr id="47111" name="Line 7"/>
          <p:cNvSpPr>
            <a:spLocks noChangeShapeType="1"/>
          </p:cNvSpPr>
          <p:nvPr/>
        </p:nvSpPr>
        <p:spPr bwMode="auto">
          <a:xfrm flipH="1">
            <a:off x="5257800" y="2398713"/>
            <a:ext cx="1371600" cy="573087"/>
          </a:xfrm>
          <a:prstGeom prst="line">
            <a:avLst/>
          </a:prstGeom>
          <a:noFill/>
          <a:ln w="9525">
            <a:solidFill>
              <a:schemeClr val="tx1"/>
            </a:solidFill>
            <a:miter lim="800000"/>
            <a:headEnd/>
            <a:tailEnd/>
          </a:ln>
          <a:effectLst/>
        </p:spPr>
        <p:txBody>
          <a:bodyPr wrap="none"/>
          <a:lstStyle/>
          <a:p>
            <a:endParaRPr lang="pt-BR"/>
          </a:p>
        </p:txBody>
      </p:sp>
      <p:sp>
        <p:nvSpPr>
          <p:cNvPr id="47112" name="Line 8"/>
          <p:cNvSpPr>
            <a:spLocks noChangeShapeType="1"/>
          </p:cNvSpPr>
          <p:nvPr/>
        </p:nvSpPr>
        <p:spPr bwMode="auto">
          <a:xfrm>
            <a:off x="6545263" y="2387600"/>
            <a:ext cx="1524000" cy="720725"/>
          </a:xfrm>
          <a:prstGeom prst="line">
            <a:avLst/>
          </a:prstGeom>
          <a:noFill/>
          <a:ln w="9525">
            <a:solidFill>
              <a:schemeClr val="tx1"/>
            </a:solidFill>
            <a:miter lim="800000"/>
            <a:headEnd/>
            <a:tailEnd/>
          </a:ln>
          <a:effectLst/>
        </p:spPr>
        <p:txBody>
          <a:bodyPr wrap="none"/>
          <a:lstStyle/>
          <a:p>
            <a:endParaRPr lang="pt-BR"/>
          </a:p>
        </p:txBody>
      </p:sp>
      <p:sp>
        <p:nvSpPr>
          <p:cNvPr id="47113" name="Line 9"/>
          <p:cNvSpPr>
            <a:spLocks noChangeShapeType="1"/>
          </p:cNvSpPr>
          <p:nvPr/>
        </p:nvSpPr>
        <p:spPr bwMode="auto">
          <a:xfrm flipH="1">
            <a:off x="4710113" y="3433763"/>
            <a:ext cx="914400" cy="838200"/>
          </a:xfrm>
          <a:prstGeom prst="line">
            <a:avLst/>
          </a:prstGeom>
          <a:noFill/>
          <a:ln w="9525">
            <a:solidFill>
              <a:schemeClr val="tx1"/>
            </a:solidFill>
            <a:miter lim="800000"/>
            <a:headEnd/>
            <a:tailEnd/>
          </a:ln>
          <a:effectLst/>
        </p:spPr>
        <p:txBody>
          <a:bodyPr wrap="none"/>
          <a:lstStyle/>
          <a:p>
            <a:endParaRPr lang="pt-BR"/>
          </a:p>
        </p:txBody>
      </p:sp>
      <p:sp>
        <p:nvSpPr>
          <p:cNvPr id="47115" name="Oval 11"/>
          <p:cNvSpPr>
            <a:spLocks noChangeArrowheads="1"/>
          </p:cNvSpPr>
          <p:nvPr/>
        </p:nvSpPr>
        <p:spPr bwMode="auto">
          <a:xfrm>
            <a:off x="4546600" y="3781425"/>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2</a:t>
            </a:r>
          </a:p>
        </p:txBody>
      </p:sp>
      <p:sp>
        <p:nvSpPr>
          <p:cNvPr id="47116" name="Line 12"/>
          <p:cNvSpPr>
            <a:spLocks noChangeShapeType="1"/>
          </p:cNvSpPr>
          <p:nvPr/>
        </p:nvSpPr>
        <p:spPr bwMode="auto">
          <a:xfrm flipH="1">
            <a:off x="6953250" y="3171825"/>
            <a:ext cx="914400" cy="838200"/>
          </a:xfrm>
          <a:prstGeom prst="line">
            <a:avLst/>
          </a:prstGeom>
          <a:noFill/>
          <a:ln w="9525">
            <a:solidFill>
              <a:schemeClr val="tx1"/>
            </a:solidFill>
            <a:miter lim="800000"/>
            <a:headEnd/>
            <a:tailEnd/>
          </a:ln>
          <a:effectLst/>
        </p:spPr>
        <p:txBody>
          <a:bodyPr wrap="none"/>
          <a:lstStyle/>
          <a:p>
            <a:endParaRPr lang="pt-BR"/>
          </a:p>
        </p:txBody>
      </p:sp>
      <p:sp>
        <p:nvSpPr>
          <p:cNvPr id="47117" name="Line 13"/>
          <p:cNvSpPr>
            <a:spLocks noChangeShapeType="1"/>
          </p:cNvSpPr>
          <p:nvPr/>
        </p:nvSpPr>
        <p:spPr bwMode="auto">
          <a:xfrm>
            <a:off x="7902575" y="3136900"/>
            <a:ext cx="1066800" cy="914400"/>
          </a:xfrm>
          <a:prstGeom prst="line">
            <a:avLst/>
          </a:prstGeom>
          <a:noFill/>
          <a:ln w="9525">
            <a:solidFill>
              <a:schemeClr val="tx1"/>
            </a:solidFill>
            <a:miter lim="800000"/>
            <a:headEnd/>
            <a:tailEnd/>
          </a:ln>
          <a:effectLst/>
        </p:spPr>
        <p:txBody>
          <a:bodyPr wrap="none"/>
          <a:lstStyle/>
          <a:p>
            <a:endParaRPr lang="pt-BR"/>
          </a:p>
        </p:txBody>
      </p:sp>
      <p:sp>
        <p:nvSpPr>
          <p:cNvPr id="47118" name="Oval 14"/>
          <p:cNvSpPr>
            <a:spLocks noChangeArrowheads="1"/>
          </p:cNvSpPr>
          <p:nvPr/>
        </p:nvSpPr>
        <p:spPr bwMode="auto">
          <a:xfrm>
            <a:off x="8199438" y="3798888"/>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21</a:t>
            </a:r>
          </a:p>
        </p:txBody>
      </p:sp>
      <p:sp>
        <p:nvSpPr>
          <p:cNvPr id="47120" name="Oval 16"/>
          <p:cNvSpPr>
            <a:spLocks noChangeArrowheads="1"/>
          </p:cNvSpPr>
          <p:nvPr/>
        </p:nvSpPr>
        <p:spPr bwMode="auto">
          <a:xfrm>
            <a:off x="6176963" y="17526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10</a:t>
            </a:r>
          </a:p>
        </p:txBody>
      </p:sp>
      <p:sp>
        <p:nvSpPr>
          <p:cNvPr id="47121" name="Oval 17"/>
          <p:cNvSpPr>
            <a:spLocks noChangeArrowheads="1"/>
          </p:cNvSpPr>
          <p:nvPr/>
        </p:nvSpPr>
        <p:spPr bwMode="auto">
          <a:xfrm>
            <a:off x="5181600" y="27432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7</a:t>
            </a:r>
          </a:p>
        </p:txBody>
      </p:sp>
      <p:sp>
        <p:nvSpPr>
          <p:cNvPr id="47122" name="Oval 18"/>
          <p:cNvSpPr>
            <a:spLocks noChangeArrowheads="1"/>
          </p:cNvSpPr>
          <p:nvPr/>
        </p:nvSpPr>
        <p:spPr bwMode="auto">
          <a:xfrm>
            <a:off x="7543800" y="26670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14</a:t>
            </a:r>
          </a:p>
        </p:txBody>
      </p:sp>
      <p:sp>
        <p:nvSpPr>
          <p:cNvPr id="47127" name="Oval 23"/>
          <p:cNvSpPr>
            <a:spLocks noChangeArrowheads="1"/>
          </p:cNvSpPr>
          <p:nvPr/>
        </p:nvSpPr>
        <p:spPr bwMode="auto">
          <a:xfrm>
            <a:off x="6675438" y="3798888"/>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12</a:t>
            </a:r>
          </a:p>
        </p:txBody>
      </p:sp>
      <p:grpSp>
        <p:nvGrpSpPr>
          <p:cNvPr id="2" name="Grupo 28"/>
          <p:cNvGrpSpPr/>
          <p:nvPr/>
        </p:nvGrpSpPr>
        <p:grpSpPr>
          <a:xfrm>
            <a:off x="381000" y="1828800"/>
            <a:ext cx="685800" cy="4724400"/>
            <a:chOff x="381000" y="1828800"/>
            <a:chExt cx="685800" cy="4724400"/>
          </a:xfrm>
        </p:grpSpPr>
        <p:sp>
          <p:nvSpPr>
            <p:cNvPr id="47131" name="Text Box 27"/>
            <p:cNvSpPr txBox="1">
              <a:spLocks noChangeArrowheads="1"/>
            </p:cNvSpPr>
            <p:nvPr/>
          </p:nvSpPr>
          <p:spPr bwMode="auto">
            <a:xfrm>
              <a:off x="381000" y="2349500"/>
              <a:ext cx="379413" cy="3378200"/>
            </a:xfrm>
            <a:prstGeom prst="rect">
              <a:avLst/>
            </a:prstGeom>
            <a:noFill/>
            <a:ln w="9525">
              <a:noFill/>
              <a:miter lim="800000"/>
              <a:headEnd/>
              <a:tailEnd/>
            </a:ln>
            <a:effectLst/>
          </p:spPr>
          <p:txBody>
            <a:bodyPr wrap="none">
              <a:spAutoFit/>
            </a:bodyPr>
            <a:lstStyle/>
            <a:p>
              <a:r>
                <a:rPr kumimoji="1" lang="pt-BR" sz="2400" b="1" dirty="0">
                  <a:solidFill>
                    <a:srgbClr val="00FFCC"/>
                  </a:solidFill>
                  <a:latin typeface="Arial Narrow" pitchFamily="34" charset="0"/>
                </a:rPr>
                <a:t>R</a:t>
              </a:r>
            </a:p>
            <a:p>
              <a:r>
                <a:rPr kumimoji="1" lang="pt-BR" sz="2400" b="1" dirty="0">
                  <a:solidFill>
                    <a:srgbClr val="00FFCC"/>
                  </a:solidFill>
                  <a:latin typeface="Arial Narrow" pitchFamily="34" charset="0"/>
                </a:rPr>
                <a:t>E</a:t>
              </a:r>
            </a:p>
            <a:p>
              <a:r>
                <a:rPr kumimoji="1" lang="pt-BR" sz="2400" b="1" dirty="0">
                  <a:solidFill>
                    <a:srgbClr val="00FFCC"/>
                  </a:solidFill>
                  <a:latin typeface="Arial Narrow" pitchFamily="34" charset="0"/>
                </a:rPr>
                <a:t>C</a:t>
              </a:r>
            </a:p>
            <a:p>
              <a:r>
                <a:rPr kumimoji="1" lang="pt-BR" sz="2400" b="1" dirty="0">
                  <a:solidFill>
                    <a:srgbClr val="00FFCC"/>
                  </a:solidFill>
                  <a:latin typeface="Arial Narrow" pitchFamily="34" charset="0"/>
                </a:rPr>
                <a:t>U</a:t>
              </a:r>
            </a:p>
            <a:p>
              <a:r>
                <a:rPr kumimoji="1" lang="pt-BR" sz="2400" b="1" dirty="0">
                  <a:solidFill>
                    <a:srgbClr val="00FFCC"/>
                  </a:solidFill>
                  <a:latin typeface="Arial Narrow" pitchFamily="34" charset="0"/>
                </a:rPr>
                <a:t>R</a:t>
              </a:r>
            </a:p>
            <a:p>
              <a:r>
                <a:rPr kumimoji="1" lang="pt-BR" sz="2400" b="1" dirty="0">
                  <a:solidFill>
                    <a:srgbClr val="00FFCC"/>
                  </a:solidFill>
                  <a:latin typeface="Arial Narrow" pitchFamily="34" charset="0"/>
                </a:rPr>
                <a:t>S</a:t>
              </a:r>
            </a:p>
            <a:p>
              <a:r>
                <a:rPr kumimoji="1" lang="pt-BR" sz="2400" b="1" dirty="0">
                  <a:solidFill>
                    <a:srgbClr val="00FFCC"/>
                  </a:solidFill>
                  <a:latin typeface="Arial Narrow" pitchFamily="34" charset="0"/>
                </a:rPr>
                <a:t>I</a:t>
              </a:r>
            </a:p>
            <a:p>
              <a:r>
                <a:rPr kumimoji="1" lang="pt-BR" sz="2400" b="1" dirty="0">
                  <a:solidFill>
                    <a:srgbClr val="00FFCC"/>
                  </a:solidFill>
                  <a:latin typeface="Arial Narrow" pitchFamily="34" charset="0"/>
                </a:rPr>
                <a:t>V</a:t>
              </a:r>
            </a:p>
            <a:p>
              <a:r>
                <a:rPr kumimoji="1" lang="pt-BR" sz="2400" b="1" dirty="0">
                  <a:solidFill>
                    <a:srgbClr val="00FFCC"/>
                  </a:solidFill>
                  <a:latin typeface="Arial Narrow" pitchFamily="34" charset="0"/>
                </a:rPr>
                <a:t>O</a:t>
              </a:r>
            </a:p>
          </p:txBody>
        </p:sp>
        <p:sp>
          <p:nvSpPr>
            <p:cNvPr id="47132" name="AutoShape 28"/>
            <p:cNvSpPr>
              <a:spLocks/>
            </p:cNvSpPr>
            <p:nvPr/>
          </p:nvSpPr>
          <p:spPr bwMode="auto">
            <a:xfrm>
              <a:off x="838200" y="1828800"/>
              <a:ext cx="228600" cy="4724400"/>
            </a:xfrm>
            <a:prstGeom prst="leftBrace">
              <a:avLst>
                <a:gd name="adj1" fmla="val 172222"/>
                <a:gd name="adj2" fmla="val 50000"/>
              </a:avLst>
            </a:prstGeom>
            <a:noFill/>
            <a:ln w="57150">
              <a:solidFill>
                <a:srgbClr val="00FFCC"/>
              </a:solidFill>
              <a:miter lim="800000"/>
              <a:headEnd/>
              <a:tailEnd/>
            </a:ln>
            <a:effectLst/>
          </p:spPr>
          <p:txBody>
            <a:bodyPr wrap="none" anchor="ctr"/>
            <a:lstStyle/>
            <a:p>
              <a:endParaRPr lang="pt-BR"/>
            </a:p>
          </p:txBody>
        </p:sp>
      </p:grpSp>
      <p:sp>
        <p:nvSpPr>
          <p:cNvPr id="47133" name="Text Box 29"/>
          <p:cNvSpPr txBox="1">
            <a:spLocks noChangeArrowheads="1"/>
          </p:cNvSpPr>
          <p:nvPr/>
        </p:nvSpPr>
        <p:spPr bwMode="auto">
          <a:xfrm>
            <a:off x="1076325" y="1600200"/>
            <a:ext cx="3440113" cy="1554163"/>
          </a:xfrm>
          <a:prstGeom prst="rect">
            <a:avLst/>
          </a:prstGeom>
          <a:noFill/>
          <a:ln w="9525">
            <a:noFill/>
            <a:miter lim="800000"/>
            <a:headEnd/>
            <a:tailEnd/>
          </a:ln>
          <a:effectLst/>
        </p:spPr>
        <p:txBody>
          <a:bodyPr>
            <a:spAutoFit/>
          </a:bodyPr>
          <a:lstStyle/>
          <a:p>
            <a:r>
              <a:rPr kumimoji="1" lang="pt-BR" sz="3200" b="1">
                <a:latin typeface="Arial Narrow" pitchFamily="34" charset="0"/>
              </a:rPr>
              <a:t>1 – Percorremos a subárvore </a:t>
            </a:r>
            <a:r>
              <a:rPr kumimoji="1" lang="pt-BR" sz="3200" b="1">
                <a:solidFill>
                  <a:srgbClr val="00FFCC"/>
                </a:solidFill>
                <a:latin typeface="Arial Narrow" pitchFamily="34" charset="0"/>
              </a:rPr>
              <a:t>esquerda</a:t>
            </a:r>
            <a:r>
              <a:rPr kumimoji="1" lang="pt-BR" sz="3200" b="1">
                <a:latin typeface="Arial Narrow" pitchFamily="34" charset="0"/>
              </a:rPr>
              <a:t> em ordem simétrica.</a:t>
            </a:r>
          </a:p>
        </p:txBody>
      </p:sp>
      <p:sp>
        <p:nvSpPr>
          <p:cNvPr id="27" name="Espaço Reservado para Número de Slide 26"/>
          <p:cNvSpPr>
            <a:spLocks noGrp="1"/>
          </p:cNvSpPr>
          <p:nvPr>
            <p:ph type="sldNum" sz="quarter" idx="11"/>
          </p:nvPr>
        </p:nvSpPr>
        <p:spPr/>
        <p:txBody>
          <a:bodyPr/>
          <a:lstStyle/>
          <a:p>
            <a:fld id="{0DBB9FE3-D63C-4A40-B010-4651D12E128D}" type="slidenum">
              <a:rPr lang="pt-BR" smtClean="0"/>
              <a:pPr/>
              <a:t>37</a:t>
            </a:fld>
            <a:endParaRPr lang="pt-BR"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pt-BR" b="1" dirty="0"/>
              <a:t>Implementação Percorre </a:t>
            </a:r>
            <a:r>
              <a:rPr lang="pt-BR" b="1" dirty="0">
                <a:solidFill>
                  <a:srgbClr val="5035F5"/>
                </a:solidFill>
              </a:rPr>
              <a:t>Em Ordem</a:t>
            </a:r>
          </a:p>
        </p:txBody>
      </p:sp>
      <p:sp>
        <p:nvSpPr>
          <p:cNvPr id="148483" name="Rectangle 3"/>
          <p:cNvSpPr>
            <a:spLocks noGrp="1" noChangeArrowheads="1"/>
          </p:cNvSpPr>
          <p:nvPr>
            <p:ph type="body" idx="4294967295"/>
          </p:nvPr>
        </p:nvSpPr>
        <p:spPr>
          <a:xfrm>
            <a:off x="735866" y="1039315"/>
            <a:ext cx="7696981" cy="5682159"/>
          </a:xfrm>
          <a:solidFill>
            <a:srgbClr val="FFFFFF"/>
          </a:solidFill>
        </p:spPr>
        <p:txBody>
          <a:bodyPr>
            <a:noAutofit/>
          </a:bodyPr>
          <a:lstStyle/>
          <a:p>
            <a:pPr marL="0" indent="0" algn="l">
              <a:buNone/>
            </a:pPr>
            <a:r>
              <a:rPr lang="pt-BR" sz="1800" b="1" dirty="0" err="1">
                <a:solidFill>
                  <a:srgbClr val="7F0055"/>
                </a:solidFill>
                <a:latin typeface="Consolas" panose="020B0609020204030204" pitchFamily="49" charset="0"/>
              </a:rPr>
              <a:t>public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static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void</a:t>
            </a:r>
            <a:r>
              <a:rPr lang="pt-BR" sz="1800" b="1" dirty="0">
                <a:solidFill>
                  <a:srgbClr val="000000"/>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lang="pt-BR" sz="1800" b="1" dirty="0">
                <a:solidFill>
                  <a:srgbClr val="000000"/>
                </a:solidFill>
                <a:latin typeface="Consolas" panose="020B0609020204030204" pitchFamily="49" charset="0"/>
              </a:rPr>
              <a:t>(NO </a:t>
            </a:r>
            <a:r>
              <a:rPr lang="pt-BR" sz="1800" b="1" dirty="0">
                <a:solidFill>
                  <a:srgbClr val="6A3E3E"/>
                </a:solidFill>
                <a:latin typeface="Consolas" panose="020B0609020204030204" pitchFamily="49" charset="0"/>
              </a:rPr>
              <a:t>p</a:t>
            </a:r>
            <a:r>
              <a:rPr lang="pt-BR" sz="1800" b="1" dirty="0">
                <a:solidFill>
                  <a:srgbClr val="000000"/>
                </a:solidFill>
                <a:latin typeface="Consolas" panose="020B0609020204030204" pitchFamily="49" charset="0"/>
              </a:rPr>
              <a:t>) {</a:t>
            </a:r>
          </a:p>
          <a:p>
            <a:pPr marL="0" indent="0" algn="l">
              <a:buNone/>
            </a:pP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if</a:t>
            </a:r>
            <a:r>
              <a:rPr lang="pt-BR" sz="1800" b="1" dirty="0">
                <a:solidFill>
                  <a:srgbClr val="000000"/>
                </a:solidFill>
                <a:latin typeface="Consolas" panose="020B0609020204030204" pitchFamily="49" charset="0"/>
              </a:rPr>
              <a:t> (</a:t>
            </a:r>
            <a:r>
              <a:rPr lang="pt-BR" sz="1800" b="1" dirty="0">
                <a:solidFill>
                  <a:srgbClr val="6A3E3E"/>
                </a:solidFill>
                <a:latin typeface="Consolas" panose="020B0609020204030204" pitchFamily="49" charset="0"/>
              </a:rPr>
              <a:t>p</a:t>
            </a:r>
            <a:r>
              <a:rPr lang="pt-BR" sz="1800" b="1" dirty="0">
                <a:solidFill>
                  <a:srgbClr val="000000"/>
                </a:solidFill>
                <a:latin typeface="Consolas" panose="020B0609020204030204" pitchFamily="49" charset="0"/>
              </a:rPr>
              <a:t>!=</a:t>
            </a:r>
            <a:r>
              <a:rPr lang="pt-BR" sz="1800" b="1" dirty="0" err="1">
                <a:solidFill>
                  <a:srgbClr val="7F0055"/>
                </a:solidFill>
                <a:latin typeface="Consolas" panose="020B0609020204030204" pitchFamily="49" charset="0"/>
              </a:rPr>
              <a:t>null</a:t>
            </a:r>
            <a:r>
              <a:rPr lang="pt-BR" sz="1800" b="1" dirty="0">
                <a:solidFill>
                  <a:srgbClr val="000000"/>
                </a:solidFill>
                <a:latin typeface="Consolas" panose="020B0609020204030204" pitchFamily="49" charset="0"/>
              </a:rPr>
              <a:t>) {</a:t>
            </a:r>
          </a:p>
          <a:p>
            <a:pPr marL="0" indent="0" algn="l">
              <a:buNone/>
            </a:pP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if</a:t>
            </a:r>
            <a:r>
              <a:rPr lang="pt-BR" sz="1800" b="1" dirty="0">
                <a:solidFill>
                  <a:srgbClr val="000000"/>
                </a:solidFill>
                <a:latin typeface="Consolas" panose="020B0609020204030204" pitchFamily="49" charset="0"/>
              </a:rPr>
              <a:t> (</a:t>
            </a:r>
            <a:r>
              <a:rPr lang="pt-BR" sz="1800" b="1" dirty="0" err="1">
                <a:solidFill>
                  <a:srgbClr val="6A3E3E"/>
                </a:solidFill>
                <a:latin typeface="Consolas" panose="020B0609020204030204" pitchFamily="49" charset="0"/>
              </a:rPr>
              <a:t>p</a:t>
            </a:r>
            <a:r>
              <a:rPr lang="pt-BR" sz="1800" b="1" dirty="0" err="1">
                <a:solidFill>
                  <a:srgbClr val="000000"/>
                </a:solidFill>
                <a:latin typeface="Consolas" panose="020B0609020204030204" pitchFamily="49" charset="0"/>
              </a:rPr>
              <a:t>.</a:t>
            </a:r>
            <a:r>
              <a:rPr lang="pt-BR" sz="1800" b="1" dirty="0" err="1">
                <a:solidFill>
                  <a:srgbClr val="0000C0"/>
                </a:solidFill>
                <a:latin typeface="Consolas" panose="020B0609020204030204" pitchFamily="49" charset="0"/>
              </a:rPr>
              <a:t>esq</a:t>
            </a:r>
            <a:r>
              <a:rPr lang="pt-BR" sz="1800" b="1" dirty="0">
                <a:solidFill>
                  <a:srgbClr val="000000"/>
                </a:solidFill>
                <a:latin typeface="Consolas" panose="020B0609020204030204" pitchFamily="49" charset="0"/>
              </a:rPr>
              <a:t> != </a:t>
            </a:r>
            <a:r>
              <a:rPr lang="pt-BR" sz="1800" b="1" dirty="0" err="1">
                <a:solidFill>
                  <a:srgbClr val="7F0055"/>
                </a:solidFill>
                <a:latin typeface="Consolas" panose="020B0609020204030204" pitchFamily="49" charset="0"/>
              </a:rPr>
              <a:t>null</a:t>
            </a:r>
            <a:r>
              <a:rPr lang="pt-BR" sz="1800" b="1" dirty="0">
                <a:solidFill>
                  <a:srgbClr val="000000"/>
                </a:solidFill>
                <a:latin typeface="Consolas" panose="020B0609020204030204" pitchFamily="49" charset="0"/>
              </a:rPr>
              <a:t>)</a:t>
            </a:r>
          </a:p>
          <a:p>
            <a:pPr marL="0" indent="0" algn="l">
              <a:buNone/>
            </a:pPr>
            <a:r>
              <a:rPr lang="pt-BR" sz="1800" i="1" dirty="0">
                <a:solidFill>
                  <a:srgbClr val="000000"/>
                </a:solidFill>
                <a:latin typeface="Consolas" panose="020B0609020204030204" pitchFamily="49" charset="0"/>
              </a:rPr>
              <a:t>			</a:t>
            </a:r>
            <a:r>
              <a:rPr lang="pt-BR" sz="1800" i="1" dirty="0" err="1">
                <a:solidFill>
                  <a:srgbClr val="000000"/>
                </a:solidFill>
                <a:latin typeface="Consolas" panose="020B0609020204030204" pitchFamily="49" charset="0"/>
              </a:rPr>
              <a:t>inOrdem</a:t>
            </a:r>
            <a:r>
              <a:rPr lang="pt-BR" sz="1800" i="1" dirty="0">
                <a:solidFill>
                  <a:srgbClr val="000000"/>
                </a:solidFill>
                <a:latin typeface="Consolas" panose="020B0609020204030204" pitchFamily="49" charset="0"/>
              </a:rPr>
              <a:t>(</a:t>
            </a:r>
            <a:r>
              <a:rPr lang="pt-BR" sz="1800" i="1" dirty="0" err="1">
                <a:solidFill>
                  <a:srgbClr val="6A3E3E"/>
                </a:solidFill>
                <a:latin typeface="Consolas" panose="020B0609020204030204" pitchFamily="49" charset="0"/>
              </a:rPr>
              <a:t>p</a:t>
            </a:r>
            <a:r>
              <a:rPr lang="pt-BR" sz="1800" i="1" dirty="0" err="1">
                <a:solidFill>
                  <a:srgbClr val="000000"/>
                </a:solidFill>
                <a:latin typeface="Consolas" panose="020B0609020204030204" pitchFamily="49" charset="0"/>
              </a:rPr>
              <a:t>.</a:t>
            </a:r>
            <a:r>
              <a:rPr lang="pt-BR" sz="1800" i="1" dirty="0" err="1">
                <a:solidFill>
                  <a:srgbClr val="0000C0"/>
                </a:solidFill>
                <a:latin typeface="Consolas" panose="020B0609020204030204" pitchFamily="49" charset="0"/>
              </a:rPr>
              <a:t>esq</a:t>
            </a:r>
            <a:r>
              <a:rPr lang="pt-BR" sz="1800" i="1" dirty="0">
                <a:solidFill>
                  <a:srgbClr val="000000"/>
                </a:solidFill>
                <a:latin typeface="Consolas" panose="020B0609020204030204" pitchFamily="49" charset="0"/>
              </a:rPr>
              <a:t>);</a:t>
            </a:r>
          </a:p>
          <a:p>
            <a:pPr marL="0" indent="0" algn="l">
              <a:buNone/>
            </a:pPr>
            <a:r>
              <a:rPr lang="pt-BR" sz="1800" dirty="0">
                <a:solidFill>
                  <a:srgbClr val="000000"/>
                </a:solidFill>
                <a:latin typeface="Consolas" panose="020B0609020204030204" pitchFamily="49" charset="0"/>
              </a:rPr>
              <a:t>		</a:t>
            </a:r>
            <a:r>
              <a:rPr lang="pt-BR" sz="1800" dirty="0" err="1">
                <a:solidFill>
                  <a:srgbClr val="000000"/>
                </a:solidFill>
                <a:latin typeface="Consolas" panose="020B0609020204030204" pitchFamily="49" charset="0"/>
              </a:rPr>
              <a:t>System.</a:t>
            </a:r>
            <a:r>
              <a:rPr lang="pt-BR" sz="1800" b="1" i="1" dirty="0" err="1">
                <a:solidFill>
                  <a:srgbClr val="0000C0"/>
                </a:solidFill>
                <a:latin typeface="Consolas" panose="020B0609020204030204" pitchFamily="49" charset="0"/>
              </a:rPr>
              <a:t>out</a:t>
            </a:r>
            <a:r>
              <a:rPr lang="pt-BR" sz="1800" b="1" i="1" dirty="0" err="1">
                <a:solidFill>
                  <a:srgbClr val="000000"/>
                </a:solidFill>
                <a:latin typeface="Consolas" panose="020B0609020204030204" pitchFamily="49" charset="0"/>
              </a:rPr>
              <a:t>.println</a:t>
            </a:r>
            <a:r>
              <a:rPr lang="pt-BR" sz="1800" b="1" i="1" dirty="0">
                <a:solidFill>
                  <a:srgbClr val="000000"/>
                </a:solidFill>
                <a:latin typeface="Consolas" panose="020B0609020204030204" pitchFamily="49" charset="0"/>
              </a:rPr>
              <a:t>(</a:t>
            </a:r>
            <a:r>
              <a:rPr lang="pt-BR" sz="1800" b="1" i="1" dirty="0">
                <a:solidFill>
                  <a:srgbClr val="2A00FF"/>
                </a:solidFill>
                <a:latin typeface="Consolas" panose="020B0609020204030204" pitchFamily="49" charset="0"/>
              </a:rPr>
              <a:t>"dado: "</a:t>
            </a:r>
            <a:r>
              <a:rPr lang="pt-BR" sz="1800" b="1" i="1" dirty="0">
                <a:solidFill>
                  <a:srgbClr val="000000"/>
                </a:solidFill>
                <a:latin typeface="Consolas" panose="020B0609020204030204" pitchFamily="49" charset="0"/>
              </a:rPr>
              <a:t> + </a:t>
            </a:r>
            <a:r>
              <a:rPr lang="pt-BR" sz="1800" b="1" i="1" dirty="0" err="1">
                <a:solidFill>
                  <a:srgbClr val="6A3E3E"/>
                </a:solidFill>
                <a:latin typeface="Consolas" panose="020B0609020204030204" pitchFamily="49" charset="0"/>
              </a:rPr>
              <a:t>p</a:t>
            </a:r>
            <a:r>
              <a:rPr lang="pt-BR" sz="1800" b="1" i="1" dirty="0" err="1">
                <a:solidFill>
                  <a:srgbClr val="000000"/>
                </a:solidFill>
                <a:latin typeface="Consolas" panose="020B0609020204030204" pitchFamily="49" charset="0"/>
              </a:rPr>
              <a:t>.</a:t>
            </a:r>
            <a:r>
              <a:rPr lang="pt-BR" sz="1800" b="1" i="1" dirty="0" err="1">
                <a:solidFill>
                  <a:srgbClr val="0000C0"/>
                </a:solidFill>
                <a:latin typeface="Consolas" panose="020B0609020204030204" pitchFamily="49" charset="0"/>
              </a:rPr>
              <a:t>dado</a:t>
            </a:r>
            <a:r>
              <a:rPr lang="pt-BR" sz="1800" b="1" i="1" dirty="0">
                <a:solidFill>
                  <a:srgbClr val="000000"/>
                </a:solidFill>
                <a:latin typeface="Consolas" panose="020B0609020204030204" pitchFamily="49" charset="0"/>
              </a:rPr>
              <a:t>);</a:t>
            </a:r>
          </a:p>
          <a:p>
            <a:pPr marL="0" indent="0" algn="l">
              <a:buNone/>
            </a:pP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if</a:t>
            </a:r>
            <a:r>
              <a:rPr lang="pt-BR" sz="1800" b="1" dirty="0">
                <a:solidFill>
                  <a:srgbClr val="000000"/>
                </a:solidFill>
                <a:latin typeface="Consolas" panose="020B0609020204030204" pitchFamily="49" charset="0"/>
              </a:rPr>
              <a:t> (</a:t>
            </a:r>
            <a:r>
              <a:rPr lang="pt-BR" sz="1800" b="1" dirty="0" err="1">
                <a:solidFill>
                  <a:srgbClr val="6A3E3E"/>
                </a:solidFill>
                <a:latin typeface="Consolas" panose="020B0609020204030204" pitchFamily="49" charset="0"/>
              </a:rPr>
              <a:t>p</a:t>
            </a:r>
            <a:r>
              <a:rPr lang="pt-BR" sz="1800" b="1" dirty="0" err="1">
                <a:solidFill>
                  <a:srgbClr val="000000"/>
                </a:solidFill>
                <a:latin typeface="Consolas" panose="020B0609020204030204" pitchFamily="49" charset="0"/>
              </a:rPr>
              <a:t>.</a:t>
            </a:r>
            <a:r>
              <a:rPr lang="pt-BR" sz="1800" b="1" dirty="0" err="1">
                <a:solidFill>
                  <a:srgbClr val="0000C0"/>
                </a:solidFill>
                <a:latin typeface="Consolas" panose="020B0609020204030204" pitchFamily="49" charset="0"/>
              </a:rPr>
              <a:t>dir</a:t>
            </a:r>
            <a:r>
              <a:rPr lang="pt-BR" sz="1800" b="1" dirty="0">
                <a:solidFill>
                  <a:srgbClr val="000000"/>
                </a:solidFill>
                <a:latin typeface="Consolas" panose="020B0609020204030204" pitchFamily="49" charset="0"/>
              </a:rPr>
              <a:t> != </a:t>
            </a:r>
            <a:r>
              <a:rPr lang="pt-BR" sz="1800" b="1" dirty="0" err="1">
                <a:solidFill>
                  <a:srgbClr val="7F0055"/>
                </a:solidFill>
                <a:latin typeface="Consolas" panose="020B0609020204030204" pitchFamily="49" charset="0"/>
              </a:rPr>
              <a:t>null</a:t>
            </a:r>
            <a:r>
              <a:rPr lang="pt-BR" sz="1800" b="1" dirty="0">
                <a:solidFill>
                  <a:srgbClr val="000000"/>
                </a:solidFill>
                <a:latin typeface="Consolas" panose="020B0609020204030204" pitchFamily="49" charset="0"/>
              </a:rPr>
              <a:t>)</a:t>
            </a:r>
          </a:p>
          <a:p>
            <a:pPr marL="0" indent="0" algn="l">
              <a:buNone/>
            </a:pPr>
            <a:r>
              <a:rPr lang="pt-BR" sz="1800" i="1" dirty="0">
                <a:solidFill>
                  <a:srgbClr val="000000"/>
                </a:solidFill>
                <a:latin typeface="Consolas" panose="020B0609020204030204" pitchFamily="49" charset="0"/>
              </a:rPr>
              <a:t>			</a:t>
            </a:r>
            <a:r>
              <a:rPr lang="pt-BR" sz="1800" i="1" dirty="0" err="1">
                <a:solidFill>
                  <a:srgbClr val="000000"/>
                </a:solidFill>
                <a:latin typeface="Consolas" panose="020B0609020204030204" pitchFamily="49" charset="0"/>
              </a:rPr>
              <a:t>inOrdem</a:t>
            </a:r>
            <a:r>
              <a:rPr lang="pt-BR" sz="1800" i="1" dirty="0">
                <a:solidFill>
                  <a:srgbClr val="000000"/>
                </a:solidFill>
                <a:latin typeface="Consolas" panose="020B0609020204030204" pitchFamily="49" charset="0"/>
              </a:rPr>
              <a:t>(</a:t>
            </a:r>
            <a:r>
              <a:rPr lang="pt-BR" sz="1800" i="1" dirty="0" err="1">
                <a:solidFill>
                  <a:srgbClr val="6A3E3E"/>
                </a:solidFill>
                <a:latin typeface="Consolas" panose="020B0609020204030204" pitchFamily="49" charset="0"/>
              </a:rPr>
              <a:t>p</a:t>
            </a:r>
            <a:r>
              <a:rPr lang="pt-BR" sz="1800" i="1" dirty="0" err="1">
                <a:solidFill>
                  <a:srgbClr val="000000"/>
                </a:solidFill>
                <a:latin typeface="Consolas" panose="020B0609020204030204" pitchFamily="49" charset="0"/>
              </a:rPr>
              <a:t>.</a:t>
            </a:r>
            <a:r>
              <a:rPr lang="pt-BR" sz="1800" i="1" dirty="0" err="1">
                <a:solidFill>
                  <a:srgbClr val="0000C0"/>
                </a:solidFill>
                <a:latin typeface="Consolas" panose="020B0609020204030204" pitchFamily="49" charset="0"/>
              </a:rPr>
              <a:t>dir</a:t>
            </a:r>
            <a:r>
              <a:rPr lang="pt-BR" sz="1800" i="1" dirty="0">
                <a:solidFill>
                  <a:srgbClr val="000000"/>
                </a:solidFill>
                <a:latin typeface="Consolas" panose="020B0609020204030204" pitchFamily="49" charset="0"/>
              </a:rPr>
              <a:t>);</a:t>
            </a:r>
          </a:p>
          <a:p>
            <a:pPr marL="0" indent="0" algn="l">
              <a:buNone/>
            </a:pPr>
            <a:r>
              <a:rPr lang="pt-BR" sz="1800" dirty="0">
                <a:solidFill>
                  <a:srgbClr val="000000"/>
                </a:solidFill>
                <a:latin typeface="Consolas" panose="020B0609020204030204" pitchFamily="49" charset="0"/>
              </a:rPr>
              <a:t>	}</a:t>
            </a:r>
          </a:p>
          <a:p>
            <a:pPr marL="0" indent="0" algn="l">
              <a:buNone/>
            </a:pPr>
            <a:r>
              <a:rPr lang="pt-BR" sz="1800" dirty="0">
                <a:solidFill>
                  <a:srgbClr val="000000"/>
                </a:solidFill>
                <a:latin typeface="Consolas" panose="020B0609020204030204" pitchFamily="49" charset="0"/>
              </a:rPr>
              <a:t>}</a:t>
            </a:r>
            <a:endParaRPr lang="pt-BR" sz="2000" dirty="0">
              <a:latin typeface="Consolas" pitchFamily="49" charset="0"/>
              <a:cs typeface="Consolas" pitchFamily="49" charset="0"/>
            </a:endParaRPr>
          </a:p>
          <a:p>
            <a:pPr marL="0" indent="0" algn="l">
              <a:buNone/>
            </a:pPr>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void</a:t>
            </a:r>
            <a:r>
              <a:rPr lang="en-US" sz="1800" b="1" dirty="0">
                <a:solidFill>
                  <a:srgbClr val="000000"/>
                </a:solidFill>
                <a:latin typeface="Consolas" panose="020B0609020204030204" pitchFamily="49" charset="0"/>
              </a:rPr>
              <a:t> main(String[] </a:t>
            </a:r>
            <a:r>
              <a:rPr lang="en-US" sz="1800" b="1" dirty="0" err="1">
                <a:solidFill>
                  <a:srgbClr val="6A3E3E"/>
                </a:solidFill>
                <a:latin typeface="Consolas" panose="020B0609020204030204" pitchFamily="49" charset="0"/>
              </a:rPr>
              <a:t>args</a:t>
            </a:r>
            <a:r>
              <a:rPr lang="en-US" sz="1800" b="1" dirty="0">
                <a:solidFill>
                  <a:srgbClr val="000000"/>
                </a:solidFill>
                <a:latin typeface="Consolas" panose="020B0609020204030204" pitchFamily="49" charset="0"/>
              </a:rPr>
              <a:t>) {</a:t>
            </a:r>
            <a:endParaRPr lang="pt-BR" sz="1800" dirty="0">
              <a:latin typeface="Consolas" panose="020B0609020204030204" pitchFamily="49" charset="0"/>
            </a:endParaRPr>
          </a:p>
          <a:p>
            <a:pPr marL="0" indent="0" algn="l">
              <a:buNone/>
            </a:pPr>
            <a:r>
              <a:rPr lang="pt-BR" sz="1800" dirty="0">
                <a:solidFill>
                  <a:srgbClr val="000000"/>
                </a:solidFill>
                <a:latin typeface="Consolas" panose="020B0609020204030204" pitchFamily="49" charset="0"/>
              </a:rPr>
              <a:t>	NO </a:t>
            </a:r>
            <a:r>
              <a:rPr lang="pt-BR" sz="1800" dirty="0">
                <a:solidFill>
                  <a:srgbClr val="6A3E3E"/>
                </a:solidFill>
                <a:latin typeface="Consolas" panose="020B0609020204030204" pitchFamily="49" charset="0"/>
              </a:rPr>
              <a:t>root</a:t>
            </a:r>
            <a:r>
              <a:rPr lang="pt-BR" sz="1800" dirty="0">
                <a:solidFill>
                  <a:srgbClr val="000000"/>
                </a:solidFill>
                <a:latin typeface="Consolas" panose="020B0609020204030204" pitchFamily="49" charset="0"/>
              </a:rPr>
              <a:t> = </a:t>
            </a:r>
            <a:r>
              <a:rPr lang="pt-BR" sz="1800" b="1" dirty="0" err="1">
                <a:solidFill>
                  <a:srgbClr val="7F0055"/>
                </a:solidFill>
                <a:latin typeface="Consolas" panose="020B0609020204030204" pitchFamily="49" charset="0"/>
              </a:rPr>
              <a:t>null</a:t>
            </a:r>
            <a:r>
              <a:rPr lang="pt-BR" sz="1800" b="1" dirty="0">
                <a:solidFill>
                  <a:srgbClr val="000000"/>
                </a:solidFill>
                <a:latin typeface="Consolas" panose="020B0609020204030204" pitchFamily="49" charset="0"/>
              </a:rPr>
              <a:t>;</a:t>
            </a:r>
          </a:p>
          <a:p>
            <a:pPr marL="0" indent="0" algn="l">
              <a:buNone/>
            </a:pPr>
            <a:r>
              <a:rPr lang="pt-BR" sz="1800" dirty="0">
                <a:solidFill>
                  <a:srgbClr val="3F7F5F"/>
                </a:solidFill>
                <a:latin typeface="Consolas" panose="020B0609020204030204" pitchFamily="49" charset="0"/>
              </a:rPr>
              <a:t>	// insere alguns nós...</a:t>
            </a:r>
          </a:p>
          <a:p>
            <a:pPr marL="0" indent="0" algn="l">
              <a:buNone/>
            </a:pPr>
            <a:r>
              <a:rPr lang="pt-BR" sz="1800" i="1" dirty="0">
                <a:solidFill>
                  <a:srgbClr val="000000"/>
                </a:solidFill>
                <a:latin typeface="Consolas" panose="020B0609020204030204" pitchFamily="49" charset="0"/>
              </a:rPr>
              <a:t>	</a:t>
            </a:r>
            <a:r>
              <a:rPr lang="pt-BR" sz="1800" i="1" dirty="0" err="1">
                <a:solidFill>
                  <a:srgbClr val="000000"/>
                </a:solidFill>
                <a:latin typeface="Consolas" panose="020B0609020204030204" pitchFamily="49" charset="0"/>
              </a:rPr>
              <a:t>inOrdem</a:t>
            </a:r>
            <a:r>
              <a:rPr lang="pt-BR" sz="1800" i="1" dirty="0">
                <a:solidFill>
                  <a:srgbClr val="000000"/>
                </a:solidFill>
                <a:latin typeface="Consolas" panose="020B0609020204030204" pitchFamily="49" charset="0"/>
              </a:rPr>
              <a:t>(</a:t>
            </a:r>
            <a:r>
              <a:rPr lang="pt-BR" sz="1800" i="1" dirty="0">
                <a:solidFill>
                  <a:srgbClr val="6A3E3E"/>
                </a:solidFill>
                <a:latin typeface="Consolas" panose="020B0609020204030204" pitchFamily="49" charset="0"/>
              </a:rPr>
              <a:t>root</a:t>
            </a:r>
            <a:r>
              <a:rPr lang="pt-BR" sz="1800" i="1" dirty="0">
                <a:solidFill>
                  <a:srgbClr val="000000"/>
                </a:solidFill>
                <a:latin typeface="Consolas" panose="020B0609020204030204" pitchFamily="49" charset="0"/>
              </a:rPr>
              <a:t>);</a:t>
            </a:r>
          </a:p>
          <a:p>
            <a:pPr marL="0" indent="0">
              <a:lnSpc>
                <a:spcPct val="80000"/>
              </a:lnSpc>
              <a:buNone/>
            </a:pPr>
            <a:r>
              <a:rPr lang="pt-BR" sz="2000" dirty="0">
                <a:latin typeface="Consolas" pitchFamily="49" charset="0"/>
                <a:cs typeface="Consolas" pitchFamily="49" charset="0"/>
              </a:rPr>
              <a:t>	...</a:t>
            </a:r>
          </a:p>
          <a:p>
            <a:pPr>
              <a:lnSpc>
                <a:spcPct val="80000"/>
              </a:lnSpc>
              <a:buNone/>
            </a:pPr>
            <a:r>
              <a:rPr lang="pt-BR" sz="2000" dirty="0">
                <a:latin typeface="Consolas" pitchFamily="49" charset="0"/>
                <a:cs typeface="Consolas" pitchFamily="49" charset="0"/>
              </a:rPr>
              <a:t>}</a:t>
            </a:r>
            <a:endParaRPr lang="pt-BR" sz="2400" dirty="0">
              <a:latin typeface="Consolas" pitchFamily="49" charset="0"/>
              <a:cs typeface="Consolas" pitchFamily="49" charset="0"/>
            </a:endParaRPr>
          </a:p>
        </p:txBody>
      </p:sp>
      <p:sp>
        <p:nvSpPr>
          <p:cNvPr id="4" name="Espaço Reservado para Número de Slide 3"/>
          <p:cNvSpPr>
            <a:spLocks noGrp="1"/>
          </p:cNvSpPr>
          <p:nvPr>
            <p:ph type="sldNum" sz="quarter" idx="11"/>
          </p:nvPr>
        </p:nvSpPr>
        <p:spPr/>
        <p:txBody>
          <a:bodyPr/>
          <a:lstStyle/>
          <a:p>
            <a:fld id="{0DBB9FE3-D63C-4A40-B010-4651D12E128D}" type="slidenum">
              <a:rPr lang="pt-BR" smtClean="0"/>
              <a:pPr/>
              <a:t>38</a:t>
            </a:fld>
            <a:endParaRPr lang="pt-BR"/>
          </a:p>
        </p:txBody>
      </p:sp>
    </p:spTree>
    <p:extLst>
      <p:ext uri="{BB962C8B-B14F-4D97-AF65-F5344CB8AC3E}">
        <p14:creationId xmlns:p14="http://schemas.microsoft.com/office/powerpoint/2010/main" val="566686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ço Reservado para Número de Slide 20"/>
          <p:cNvSpPr>
            <a:spLocks noGrp="1"/>
          </p:cNvSpPr>
          <p:nvPr>
            <p:ph type="sldNum" sz="quarter" idx="12"/>
          </p:nvPr>
        </p:nvSpPr>
        <p:spPr/>
        <p:txBody>
          <a:bodyPr/>
          <a:lstStyle/>
          <a:p>
            <a:fld id="{0DBB9FE3-D63C-4A40-B010-4651D12E128D}" type="slidenum">
              <a:rPr lang="pt-BR" smtClean="0"/>
              <a:pPr/>
              <a:t>39</a:t>
            </a:fld>
            <a:endParaRPr lang="pt-BR" dirty="0"/>
          </a:p>
        </p:txBody>
      </p:sp>
      <p:sp>
        <p:nvSpPr>
          <p:cNvPr id="29" name="Rectangle 3"/>
          <p:cNvSpPr txBox="1">
            <a:spLocks noChangeArrowheads="1"/>
          </p:cNvSpPr>
          <p:nvPr/>
        </p:nvSpPr>
        <p:spPr>
          <a:xfrm>
            <a:off x="0" y="112012"/>
            <a:ext cx="4823158" cy="3029105"/>
          </a:xfrm>
          <a:prstGeom prst="rect">
            <a:avLst/>
          </a:prstGeom>
          <a:solidFill>
            <a:schemeClr val="accent2">
              <a:lumMod val="20000"/>
              <a:lumOff val="80000"/>
            </a:schemeClr>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solidFill>
                  <a:srgbClr val="FF0000"/>
                </a:solidFill>
                <a:effectLst/>
                <a:uLnTx/>
                <a:uFillTx/>
                <a:latin typeface="+mn-lt"/>
                <a:ea typeface="+mn-ea"/>
                <a:cs typeface="+mn-cs"/>
              </a:rPr>
              <a:t>ATIVAÇÃO 1</a:t>
            </a:r>
          </a:p>
          <a:p>
            <a:pPr marL="342900" lvl="0" indent="-342900" defTabSz="457200">
              <a:lnSpc>
                <a:spcPct val="80000"/>
              </a:lnSpc>
              <a:spcBef>
                <a:spcPct val="20000"/>
              </a:spcBef>
              <a:defRPr/>
            </a:pPr>
            <a:r>
              <a:rPr lang="pt-BR" sz="1800" b="1" dirty="0" err="1">
                <a:solidFill>
                  <a:srgbClr val="7F0055"/>
                </a:solidFill>
                <a:latin typeface="Consolas" panose="020B0609020204030204" pitchFamily="49" charset="0"/>
              </a:rPr>
              <a:t>public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static</a:t>
            </a: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void</a:t>
            </a:r>
            <a:r>
              <a:rPr lang="pt-BR" sz="1800" b="1" dirty="0">
                <a:solidFill>
                  <a:srgbClr val="7F0055"/>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kumimoji="0" lang="pt-BR" sz="1800" b="0" i="0" u="none" strike="noStrike" kern="1200" cap="none" spc="0" normalizeH="0" baseline="0" noProof="0" dirty="0">
                <a:ln>
                  <a:noFill/>
                </a:ln>
                <a:solidFill>
                  <a:schemeClr val="tx1"/>
                </a:solidFill>
                <a:effectLst/>
                <a:uLnTx/>
                <a:uFillTx/>
                <a:latin typeface="+mn-lt"/>
                <a:ea typeface="+mn-ea"/>
                <a:cs typeface="+mn-cs"/>
              </a:rPr>
              <a:t>(NO </a:t>
            </a:r>
            <a:r>
              <a:rPr lang="pt-BR" sz="2000" b="1" dirty="0">
                <a:solidFill>
                  <a:srgbClr val="FF0000"/>
                </a:solidFill>
              </a:rPr>
              <a:t>p</a:t>
            </a:r>
            <a:r>
              <a:rPr lang="pt-BR" dirty="0"/>
              <a:t>) {</a:t>
            </a:r>
          </a:p>
          <a:p>
            <a:pPr marL="342900" lvl="0" indent="-342900" defTabSz="457200">
              <a:lnSpc>
                <a:spcPct val="80000"/>
              </a:lnSpc>
              <a:spcBef>
                <a:spcPct val="20000"/>
              </a:spcBef>
              <a:defRPr/>
            </a:pPr>
            <a:r>
              <a:rPr lang="pt-BR" dirty="0"/>
              <a:t>	</a:t>
            </a:r>
            <a:r>
              <a:rPr lang="pt-BR" b="1" dirty="0" err="1"/>
              <a:t>if</a:t>
            </a:r>
            <a:r>
              <a:rPr lang="pt-BR" b="1" dirty="0"/>
              <a:t> (p != </a:t>
            </a:r>
            <a:r>
              <a:rPr lang="pt-BR" b="1" dirty="0" err="1"/>
              <a:t>null</a:t>
            </a:r>
            <a:r>
              <a:rPr lang="pt-BR" b="1" dirty="0"/>
              <a:t>) {</a:t>
            </a:r>
          </a:p>
          <a:p>
            <a:pPr marL="342900" lvl="0" indent="-342900" defTabSz="457200">
              <a:lnSpc>
                <a:spcPct val="80000"/>
              </a:lnSpc>
              <a:spcBef>
                <a:spcPct val="20000"/>
              </a:spcBef>
              <a:defRPr/>
            </a:pPr>
            <a:r>
              <a:rPr lang="pt-BR" b="1" dirty="0"/>
              <a:t>        </a:t>
            </a:r>
            <a:r>
              <a:rPr lang="pt-BR" b="1" dirty="0" err="1"/>
              <a:t>if</a:t>
            </a:r>
            <a:r>
              <a:rPr lang="pt-BR" b="1" dirty="0"/>
              <a:t> (</a:t>
            </a:r>
            <a:r>
              <a:rPr lang="pt-BR" b="1" dirty="0" err="1">
                <a:solidFill>
                  <a:srgbClr val="0CA41A"/>
                </a:solidFill>
              </a:rPr>
              <a:t>p.esq</a:t>
            </a:r>
            <a:r>
              <a:rPr lang="pt-BR" b="1" dirty="0"/>
              <a:t> != </a:t>
            </a:r>
            <a:r>
              <a:rPr lang="pt-BR" b="1" dirty="0" err="1"/>
              <a:t>null</a:t>
            </a:r>
            <a:r>
              <a:rPr lang="pt-BR" b="1" dirty="0"/>
              <a:t>)</a:t>
            </a:r>
          </a:p>
          <a:p>
            <a:pPr marL="342900" lvl="0" indent="-342900" defTabSz="457200">
              <a:lnSpc>
                <a:spcPct val="80000"/>
              </a:lnSpc>
              <a:spcBef>
                <a:spcPct val="20000"/>
              </a:spcBef>
              <a:defRPr/>
            </a:pPr>
            <a:r>
              <a:rPr lang="pt-BR" dirty="0"/>
              <a:t>			</a:t>
            </a:r>
            <a:r>
              <a:rPr lang="pt-BR" sz="1800" b="1" dirty="0">
                <a:solidFill>
                  <a:srgbClr val="000000"/>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lang="pt-BR" b="1" dirty="0"/>
              <a:t>(</a:t>
            </a:r>
            <a:r>
              <a:rPr lang="pt-BR" b="1" dirty="0" err="1">
                <a:solidFill>
                  <a:srgbClr val="0CA41A"/>
                </a:solidFill>
              </a:rPr>
              <a:t>p.esq</a:t>
            </a:r>
            <a:r>
              <a:rPr lang="pt-BR" b="1" dirty="0"/>
              <a:t>);</a:t>
            </a:r>
          </a:p>
          <a:p>
            <a:pPr marL="342900" lvl="0" indent="-342900" defTabSz="457200">
              <a:lnSpc>
                <a:spcPct val="80000"/>
              </a:lnSpc>
              <a:spcBef>
                <a:spcPct val="20000"/>
              </a:spcBef>
              <a:defRPr/>
            </a:pPr>
            <a:r>
              <a:rPr lang="pt-BR" dirty="0"/>
              <a:t>		System.</a:t>
            </a:r>
            <a:r>
              <a:rPr lang="pt-BR" dirty="0" err="1"/>
              <a:t>out.println</a:t>
            </a:r>
            <a:r>
              <a:rPr lang="pt-BR" dirty="0"/>
              <a:t>(" "  + </a:t>
            </a:r>
            <a:r>
              <a:rPr lang="pt-BR" dirty="0" err="1"/>
              <a:t>p.dado</a:t>
            </a:r>
            <a:r>
              <a:rPr lang="pt-BR" dirty="0"/>
              <a:t>);</a:t>
            </a:r>
          </a:p>
          <a:p>
            <a:pPr marL="342900" indent="-342900" defTabSz="457200">
              <a:lnSpc>
                <a:spcPct val="80000"/>
              </a:lnSpc>
              <a:spcBef>
                <a:spcPct val="20000"/>
              </a:spcBef>
              <a:defRPr/>
            </a:pPr>
            <a:r>
              <a:rPr lang="pt-BR" dirty="0"/>
              <a:t>		</a:t>
            </a:r>
            <a:r>
              <a:rPr lang="pt-BR" dirty="0" err="1"/>
              <a:t>if</a:t>
            </a:r>
            <a:r>
              <a:rPr lang="pt-BR" dirty="0"/>
              <a:t> (</a:t>
            </a:r>
            <a:r>
              <a:rPr lang="pt-BR" dirty="0" err="1"/>
              <a:t>p.dir</a:t>
            </a:r>
            <a:r>
              <a:rPr lang="pt-BR" dirty="0"/>
              <a:t> != </a:t>
            </a:r>
            <a:r>
              <a:rPr lang="pt-BR" dirty="0" err="1"/>
              <a:t>null</a:t>
            </a:r>
            <a:r>
              <a:rPr lang="pt-BR" dirty="0"/>
              <a:t>)</a:t>
            </a:r>
          </a:p>
          <a:p>
            <a:pPr marL="342900" lvl="0" indent="-342900" defTabSz="457200">
              <a:lnSpc>
                <a:spcPct val="80000"/>
              </a:lnSpc>
              <a:spcBef>
                <a:spcPct val="20000"/>
              </a:spcBef>
              <a:defRPr/>
            </a:pPr>
            <a:r>
              <a:rPr lang="pt-BR" dirty="0"/>
              <a:t>			</a:t>
            </a:r>
            <a:r>
              <a:rPr lang="pt-BR" sz="1800" b="1" dirty="0">
                <a:solidFill>
                  <a:srgbClr val="000000"/>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lang="pt-BR" dirty="0"/>
              <a:t>(</a:t>
            </a:r>
            <a:r>
              <a:rPr lang="pt-BR" dirty="0" err="1"/>
              <a:t>p.dir</a:t>
            </a:r>
            <a:r>
              <a:rPr lang="pt-BR" dirty="0"/>
              <a:t>);</a:t>
            </a:r>
          </a:p>
          <a:p>
            <a:pPr marL="342900" lvl="0" indent="-342900" defTabSz="457200">
              <a:lnSpc>
                <a:spcPct val="80000"/>
              </a:lnSpc>
              <a:spcBef>
                <a:spcPct val="20000"/>
              </a:spcBef>
              <a:defRPr/>
            </a:pPr>
            <a:r>
              <a:rPr lang="pt-BR" dirty="0"/>
              <a:t>		}</a:t>
            </a:r>
          </a:p>
          <a:p>
            <a:pPr marL="342900" lvl="0" indent="-342900" defTabSz="457200">
              <a:lnSpc>
                <a:spcPct val="80000"/>
              </a:lnSpc>
              <a:spcBef>
                <a:spcPct val="20000"/>
              </a:spcBef>
              <a:defRPr/>
            </a:pPr>
            <a:r>
              <a:rPr lang="pt-BR" dirty="0"/>
              <a:t>}</a:t>
            </a:r>
            <a:endParaRPr kumimoji="0" lang="pt-BR" b="0" i="0" u="none" strike="noStrike" kern="1200" cap="none" spc="0" normalizeH="0" baseline="0" noProof="0" dirty="0">
              <a:ln>
                <a:noFill/>
              </a:ln>
              <a:solidFill>
                <a:schemeClr val="tx1"/>
              </a:solidFill>
              <a:effectLst/>
              <a:uLnTx/>
              <a:uFillTx/>
              <a:latin typeface="+mn-lt"/>
              <a:ea typeface="+mn-ea"/>
              <a:cs typeface="+mn-cs"/>
            </a:endParaRPr>
          </a:p>
        </p:txBody>
      </p:sp>
      <p:sp>
        <p:nvSpPr>
          <p:cNvPr id="37" name="CaixaDeTexto 36"/>
          <p:cNvSpPr txBox="1"/>
          <p:nvPr/>
        </p:nvSpPr>
        <p:spPr>
          <a:xfrm>
            <a:off x="225704" y="4148122"/>
            <a:ext cx="3568807" cy="646331"/>
          </a:xfrm>
          <a:prstGeom prst="rect">
            <a:avLst/>
          </a:prstGeom>
          <a:noFill/>
          <a:ln>
            <a:solidFill>
              <a:schemeClr val="tx1"/>
            </a:solidFill>
          </a:ln>
        </p:spPr>
        <p:txBody>
          <a:bodyPr wrap="square" rtlCol="0">
            <a:spAutoFit/>
          </a:bodyPr>
          <a:lstStyle/>
          <a:p>
            <a:r>
              <a:rPr lang="pt-BR" dirty="0"/>
              <a:t>Tela de Saída:</a:t>
            </a:r>
          </a:p>
          <a:p>
            <a:endParaRPr lang="pt-BR" dirty="0"/>
          </a:p>
        </p:txBody>
      </p:sp>
      <p:grpSp>
        <p:nvGrpSpPr>
          <p:cNvPr id="19" name="Grupo 18"/>
          <p:cNvGrpSpPr/>
          <p:nvPr/>
        </p:nvGrpSpPr>
        <p:grpSpPr>
          <a:xfrm>
            <a:off x="4823158" y="537621"/>
            <a:ext cx="4231442" cy="4058747"/>
            <a:chOff x="4863372" y="1963413"/>
            <a:chExt cx="4231442" cy="4058747"/>
          </a:xfrm>
        </p:grpSpPr>
        <p:grpSp>
          <p:nvGrpSpPr>
            <p:cNvPr id="2" name="Grupo 1"/>
            <p:cNvGrpSpPr/>
            <p:nvPr/>
          </p:nvGrpSpPr>
          <p:grpSpPr>
            <a:xfrm>
              <a:off x="4863372" y="2585258"/>
              <a:ext cx="4231442" cy="3436902"/>
              <a:chOff x="4863372" y="2585258"/>
              <a:chExt cx="4231442" cy="3436902"/>
            </a:xfrm>
          </p:grpSpPr>
          <p:sp>
            <p:nvSpPr>
              <p:cNvPr id="37892" name="Oval 4"/>
              <p:cNvSpPr>
                <a:spLocks noChangeArrowheads="1"/>
              </p:cNvSpPr>
              <p:nvPr/>
            </p:nvSpPr>
            <p:spPr bwMode="auto">
              <a:xfrm>
                <a:off x="6549829" y="2585258"/>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37</a:t>
                </a:r>
              </a:p>
            </p:txBody>
          </p:sp>
          <p:sp>
            <p:nvSpPr>
              <p:cNvPr id="37893" name="Oval 5"/>
              <p:cNvSpPr>
                <a:spLocks noChangeArrowheads="1"/>
              </p:cNvSpPr>
              <p:nvPr/>
            </p:nvSpPr>
            <p:spPr bwMode="auto">
              <a:xfrm>
                <a:off x="4863372"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23</a:t>
                </a:r>
              </a:p>
            </p:txBody>
          </p:sp>
          <p:sp>
            <p:nvSpPr>
              <p:cNvPr id="37895" name="Oval 7"/>
              <p:cNvSpPr>
                <a:spLocks noChangeArrowheads="1"/>
              </p:cNvSpPr>
              <p:nvPr/>
            </p:nvSpPr>
            <p:spPr bwMode="auto">
              <a:xfrm>
                <a:off x="8278786" y="3765240"/>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42</a:t>
                </a:r>
              </a:p>
            </p:txBody>
          </p:sp>
          <p:sp>
            <p:nvSpPr>
              <p:cNvPr id="37897" name="Oval 9"/>
              <p:cNvSpPr>
                <a:spLocks noChangeArrowheads="1"/>
              </p:cNvSpPr>
              <p:nvPr/>
            </p:nvSpPr>
            <p:spPr bwMode="auto">
              <a:xfrm>
                <a:off x="5652198" y="5191032"/>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29</a:t>
                </a:r>
              </a:p>
            </p:txBody>
          </p:sp>
          <p:sp>
            <p:nvSpPr>
              <p:cNvPr id="37918" name="Line 30"/>
              <p:cNvSpPr>
                <a:spLocks noChangeShapeType="1"/>
              </p:cNvSpPr>
              <p:nvPr/>
            </p:nvSpPr>
            <p:spPr bwMode="auto">
              <a:xfrm flipH="1">
                <a:off x="5468535" y="3123801"/>
                <a:ext cx="1081294" cy="693497"/>
              </a:xfrm>
              <a:prstGeom prst="line">
                <a:avLst/>
              </a:prstGeom>
              <a:noFill/>
              <a:ln w="9525">
                <a:solidFill>
                  <a:schemeClr val="tx1"/>
                </a:solidFill>
                <a:miter lim="800000"/>
                <a:headEnd/>
                <a:tailEnd/>
              </a:ln>
              <a:effectLst/>
            </p:spPr>
            <p:txBody>
              <a:bodyPr wrap="none"/>
              <a:lstStyle/>
              <a:p>
                <a:endParaRPr lang="pt-BR" sz="1200"/>
              </a:p>
            </p:txBody>
          </p:sp>
          <p:sp>
            <p:nvSpPr>
              <p:cNvPr id="37919" name="Line 31"/>
              <p:cNvSpPr>
                <a:spLocks noChangeShapeType="1"/>
              </p:cNvSpPr>
              <p:nvPr/>
            </p:nvSpPr>
            <p:spPr bwMode="auto">
              <a:xfrm>
                <a:off x="7365857" y="3141117"/>
                <a:ext cx="1280554" cy="624123"/>
              </a:xfrm>
              <a:prstGeom prst="line">
                <a:avLst/>
              </a:prstGeom>
              <a:noFill/>
              <a:ln w="9525">
                <a:solidFill>
                  <a:schemeClr val="tx1"/>
                </a:solidFill>
                <a:miter lim="800000"/>
                <a:headEnd/>
                <a:tailEnd/>
              </a:ln>
              <a:effectLst/>
            </p:spPr>
            <p:txBody>
              <a:bodyPr wrap="none"/>
              <a:lstStyle/>
              <a:p>
                <a:endParaRPr lang="pt-BR" sz="1200"/>
              </a:p>
            </p:txBody>
          </p:sp>
          <p:sp>
            <p:nvSpPr>
              <p:cNvPr id="37921" name="Line 33"/>
              <p:cNvSpPr>
                <a:spLocks noChangeShapeType="1"/>
              </p:cNvSpPr>
              <p:nvPr/>
            </p:nvSpPr>
            <p:spPr bwMode="auto">
              <a:xfrm>
                <a:off x="5522937" y="4532548"/>
                <a:ext cx="537276" cy="681511"/>
              </a:xfrm>
              <a:prstGeom prst="line">
                <a:avLst/>
              </a:prstGeom>
              <a:noFill/>
              <a:ln w="9525">
                <a:solidFill>
                  <a:schemeClr val="tx1"/>
                </a:solidFill>
                <a:miter lim="800000"/>
                <a:headEnd/>
                <a:tailEnd/>
              </a:ln>
              <a:effectLst/>
            </p:spPr>
            <p:txBody>
              <a:bodyPr wrap="none"/>
              <a:lstStyle/>
              <a:p>
                <a:endParaRPr lang="pt-BR" sz="1200"/>
              </a:p>
            </p:txBody>
          </p:sp>
        </p:grpSp>
        <p:cxnSp>
          <p:nvCxnSpPr>
            <p:cNvPr id="27" name="Conector de seta reta 26"/>
            <p:cNvCxnSpPr>
              <a:endCxn id="37892" idx="0"/>
            </p:cNvCxnSpPr>
            <p:nvPr/>
          </p:nvCxnSpPr>
          <p:spPr>
            <a:xfrm rot="16200000" flipH="1">
              <a:off x="6637439" y="2264854"/>
              <a:ext cx="621844" cy="18963"/>
            </a:xfrm>
            <a:prstGeom prst="straightConnector1">
              <a:avLst/>
            </a:prstGeom>
            <a:ln w="28575">
              <a:solidFill>
                <a:srgbClr val="F40C0C"/>
              </a:solidFill>
              <a:tailEnd type="arrow"/>
            </a:ln>
          </p:spPr>
          <p:style>
            <a:lnRef idx="2">
              <a:schemeClr val="accent1"/>
            </a:lnRef>
            <a:fillRef idx="0">
              <a:schemeClr val="accent1"/>
            </a:fillRef>
            <a:effectRef idx="1">
              <a:schemeClr val="accent1"/>
            </a:effectRef>
            <a:fontRef idx="minor">
              <a:schemeClr val="tx1"/>
            </a:fontRef>
          </p:style>
        </p:cxnSp>
        <p:sp>
          <p:nvSpPr>
            <p:cNvPr id="28" name="CaixaDeTexto 27"/>
            <p:cNvSpPr txBox="1"/>
            <p:nvPr/>
          </p:nvSpPr>
          <p:spPr>
            <a:xfrm>
              <a:off x="6519254" y="1963413"/>
              <a:ext cx="696475" cy="523221"/>
            </a:xfrm>
            <a:prstGeom prst="rect">
              <a:avLst/>
            </a:prstGeom>
            <a:noFill/>
          </p:spPr>
          <p:txBody>
            <a:bodyPr wrap="square" rtlCol="0">
              <a:spAutoFit/>
            </a:bodyPr>
            <a:lstStyle/>
            <a:p>
              <a:r>
                <a:rPr lang="pt-BR" sz="2800" b="1" dirty="0">
                  <a:solidFill>
                    <a:srgbClr val="FF0000"/>
                  </a:solidFill>
                </a:rPr>
                <a:t>p</a:t>
              </a:r>
              <a:endParaRPr lang="pt-BR" b="1" dirty="0">
                <a:solidFill>
                  <a:srgbClr val="FF0000"/>
                </a:solidFill>
              </a:endParaRPr>
            </a:p>
          </p:txBody>
        </p:sp>
        <p:cxnSp>
          <p:nvCxnSpPr>
            <p:cNvPr id="18" name="Conector de seta reta 17"/>
            <p:cNvCxnSpPr>
              <a:stCxn id="37918" idx="0"/>
            </p:cNvCxnSpPr>
            <p:nvPr/>
          </p:nvCxnSpPr>
          <p:spPr>
            <a:xfrm flipH="1">
              <a:off x="5464833" y="3123801"/>
              <a:ext cx="1084996" cy="701156"/>
            </a:xfrm>
            <a:prstGeom prst="straightConnector1">
              <a:avLst/>
            </a:prstGeom>
            <a:ln w="28575">
              <a:solidFill>
                <a:srgbClr val="00B050"/>
              </a:solidFill>
              <a:tailEnd type="arrow"/>
            </a:ln>
          </p:spPr>
          <p:style>
            <a:lnRef idx="2">
              <a:schemeClr val="accent1"/>
            </a:lnRef>
            <a:fillRef idx="0">
              <a:schemeClr val="accent1"/>
            </a:fillRef>
            <a:effectRef idx="1">
              <a:schemeClr val="accent1"/>
            </a:effectRef>
            <a:fontRef idx="minor">
              <a:schemeClr val="tx1"/>
            </a:fontRef>
          </p:style>
        </p:cxn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ço Reservado para Número de Slide 20"/>
          <p:cNvSpPr>
            <a:spLocks noGrp="1"/>
          </p:cNvSpPr>
          <p:nvPr>
            <p:ph type="sldNum" sz="quarter" idx="12"/>
          </p:nvPr>
        </p:nvSpPr>
        <p:spPr/>
        <p:txBody>
          <a:bodyPr/>
          <a:lstStyle/>
          <a:p>
            <a:fld id="{0DBB9FE3-D63C-4A40-B010-4651D12E128D}" type="slidenum">
              <a:rPr lang="pt-BR" smtClean="0"/>
              <a:pPr/>
              <a:t>40</a:t>
            </a:fld>
            <a:endParaRPr lang="pt-BR"/>
          </a:p>
        </p:txBody>
      </p:sp>
      <p:grpSp>
        <p:nvGrpSpPr>
          <p:cNvPr id="24" name="Grupo 23"/>
          <p:cNvGrpSpPr/>
          <p:nvPr/>
        </p:nvGrpSpPr>
        <p:grpSpPr>
          <a:xfrm>
            <a:off x="4876799" y="422872"/>
            <a:ext cx="4140024" cy="4109676"/>
            <a:chOff x="4914400" y="1963413"/>
            <a:chExt cx="4140024" cy="4109676"/>
          </a:xfrm>
        </p:grpSpPr>
        <p:grpSp>
          <p:nvGrpSpPr>
            <p:cNvPr id="2" name="Grupo 1"/>
            <p:cNvGrpSpPr/>
            <p:nvPr/>
          </p:nvGrpSpPr>
          <p:grpSpPr>
            <a:xfrm>
              <a:off x="4914400" y="3753366"/>
              <a:ext cx="1545076" cy="2319723"/>
              <a:chOff x="4914400" y="3753366"/>
              <a:chExt cx="1545076" cy="2319723"/>
            </a:xfrm>
          </p:grpSpPr>
          <p:sp>
            <p:nvSpPr>
              <p:cNvPr id="37893" name="Oval 5"/>
              <p:cNvSpPr>
                <a:spLocks noChangeArrowheads="1"/>
              </p:cNvSpPr>
              <p:nvPr/>
            </p:nvSpPr>
            <p:spPr bwMode="auto">
              <a:xfrm>
                <a:off x="4914400"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23</a:t>
                </a:r>
              </a:p>
            </p:txBody>
          </p:sp>
          <p:sp>
            <p:nvSpPr>
              <p:cNvPr id="37897" name="Oval 9"/>
              <p:cNvSpPr>
                <a:spLocks noChangeArrowheads="1"/>
              </p:cNvSpPr>
              <p:nvPr/>
            </p:nvSpPr>
            <p:spPr bwMode="auto">
              <a:xfrm>
                <a:off x="5643448" y="5241961"/>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29</a:t>
                </a:r>
              </a:p>
            </p:txBody>
          </p:sp>
          <p:sp>
            <p:nvSpPr>
              <p:cNvPr id="37921" name="Line 33"/>
              <p:cNvSpPr>
                <a:spLocks noChangeShapeType="1"/>
              </p:cNvSpPr>
              <p:nvPr/>
            </p:nvSpPr>
            <p:spPr bwMode="auto">
              <a:xfrm>
                <a:off x="5573965" y="4532548"/>
                <a:ext cx="461075" cy="709413"/>
              </a:xfrm>
              <a:prstGeom prst="line">
                <a:avLst/>
              </a:prstGeom>
              <a:noFill/>
              <a:ln w="28575">
                <a:solidFill>
                  <a:srgbClr val="5035F5"/>
                </a:solidFill>
                <a:miter lim="800000"/>
                <a:headEnd type="none" w="med" len="med"/>
                <a:tailEnd type="triangle" w="med" len="med"/>
              </a:ln>
              <a:effectLst/>
            </p:spPr>
            <p:txBody>
              <a:bodyPr wrap="none"/>
              <a:lstStyle/>
              <a:p>
                <a:endParaRPr lang="pt-BR" sz="1200"/>
              </a:p>
            </p:txBody>
          </p:sp>
        </p:grpSp>
        <p:grpSp>
          <p:nvGrpSpPr>
            <p:cNvPr id="22" name="Grupo 21"/>
            <p:cNvGrpSpPr/>
            <p:nvPr/>
          </p:nvGrpSpPr>
          <p:grpSpPr>
            <a:xfrm>
              <a:off x="5610924" y="1963413"/>
              <a:ext cx="3443500" cy="2621081"/>
              <a:chOff x="5610924" y="1963413"/>
              <a:chExt cx="3443500" cy="2621081"/>
            </a:xfrm>
          </p:grpSpPr>
          <p:sp>
            <p:nvSpPr>
              <p:cNvPr id="37892" name="Oval 4"/>
              <p:cNvSpPr>
                <a:spLocks noChangeArrowheads="1"/>
              </p:cNvSpPr>
              <p:nvPr/>
            </p:nvSpPr>
            <p:spPr bwMode="auto">
              <a:xfrm>
                <a:off x="6600857" y="2585258"/>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37</a:t>
                </a:r>
              </a:p>
            </p:txBody>
          </p:sp>
          <p:sp>
            <p:nvSpPr>
              <p:cNvPr id="37895" name="Oval 7"/>
              <p:cNvSpPr>
                <a:spLocks noChangeArrowheads="1"/>
              </p:cNvSpPr>
              <p:nvPr/>
            </p:nvSpPr>
            <p:spPr bwMode="auto">
              <a:xfrm>
                <a:off x="8238396"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42</a:t>
                </a:r>
              </a:p>
            </p:txBody>
          </p:sp>
          <p:sp>
            <p:nvSpPr>
              <p:cNvPr id="37919" name="Line 31"/>
              <p:cNvSpPr>
                <a:spLocks noChangeShapeType="1"/>
              </p:cNvSpPr>
              <p:nvPr/>
            </p:nvSpPr>
            <p:spPr bwMode="auto">
              <a:xfrm>
                <a:off x="7416884" y="3131521"/>
                <a:ext cx="1091849" cy="712359"/>
              </a:xfrm>
              <a:prstGeom prst="line">
                <a:avLst/>
              </a:prstGeom>
              <a:noFill/>
              <a:ln w="9525">
                <a:solidFill>
                  <a:schemeClr val="tx1"/>
                </a:solidFill>
                <a:miter lim="800000"/>
                <a:headEnd/>
                <a:tailEnd/>
              </a:ln>
              <a:effectLst/>
            </p:spPr>
            <p:txBody>
              <a:bodyPr wrap="none"/>
              <a:lstStyle/>
              <a:p>
                <a:endParaRPr lang="pt-BR" sz="1200"/>
              </a:p>
            </p:txBody>
          </p:sp>
          <p:cxnSp>
            <p:nvCxnSpPr>
              <p:cNvPr id="27" name="Conector de seta reta 26"/>
              <p:cNvCxnSpPr>
                <a:endCxn id="37892" idx="0"/>
              </p:cNvCxnSpPr>
              <p:nvPr/>
            </p:nvCxnSpPr>
            <p:spPr>
              <a:xfrm rot="16200000" flipH="1">
                <a:off x="6688467" y="2264854"/>
                <a:ext cx="621844" cy="18963"/>
              </a:xfrm>
              <a:prstGeom prst="straightConnector1">
                <a:avLst/>
              </a:prstGeom>
              <a:ln w="28575">
                <a:solidFill>
                  <a:srgbClr val="F40C0C"/>
                </a:solidFill>
                <a:tailEnd type="arrow"/>
              </a:ln>
            </p:spPr>
            <p:style>
              <a:lnRef idx="2">
                <a:schemeClr val="accent1"/>
              </a:lnRef>
              <a:fillRef idx="0">
                <a:schemeClr val="accent1"/>
              </a:fillRef>
              <a:effectRef idx="1">
                <a:schemeClr val="accent1"/>
              </a:effectRef>
              <a:fontRef idx="minor">
                <a:schemeClr val="tx1"/>
              </a:fontRef>
            </p:style>
          </p:cxnSp>
          <p:sp>
            <p:nvSpPr>
              <p:cNvPr id="28" name="CaixaDeTexto 27"/>
              <p:cNvSpPr txBox="1"/>
              <p:nvPr/>
            </p:nvSpPr>
            <p:spPr>
              <a:xfrm>
                <a:off x="6519254" y="1963413"/>
                <a:ext cx="696475" cy="523221"/>
              </a:xfrm>
              <a:prstGeom prst="rect">
                <a:avLst/>
              </a:prstGeom>
              <a:noFill/>
            </p:spPr>
            <p:txBody>
              <a:bodyPr wrap="square" rtlCol="0">
                <a:spAutoFit/>
              </a:bodyPr>
              <a:lstStyle/>
              <a:p>
                <a:r>
                  <a:rPr lang="pt-BR" sz="2800" b="1" dirty="0">
                    <a:solidFill>
                      <a:srgbClr val="FF0000"/>
                    </a:solidFill>
                  </a:rPr>
                  <a:t>p</a:t>
                </a:r>
                <a:endParaRPr lang="pt-BR" b="1" dirty="0">
                  <a:solidFill>
                    <a:srgbClr val="FF0000"/>
                  </a:solidFill>
                </a:endParaRPr>
              </a:p>
            </p:txBody>
          </p:sp>
          <p:sp>
            <p:nvSpPr>
              <p:cNvPr id="19" name="CaixaDeTexto 18"/>
              <p:cNvSpPr txBox="1"/>
              <p:nvPr/>
            </p:nvSpPr>
            <p:spPr>
              <a:xfrm>
                <a:off x="5703225" y="2798258"/>
                <a:ext cx="696475" cy="523221"/>
              </a:xfrm>
              <a:prstGeom prst="rect">
                <a:avLst/>
              </a:prstGeom>
              <a:noFill/>
            </p:spPr>
            <p:txBody>
              <a:bodyPr wrap="square" rtlCol="0">
                <a:spAutoFit/>
              </a:bodyPr>
              <a:lstStyle/>
              <a:p>
                <a:r>
                  <a:rPr lang="pt-BR" sz="2800" b="1" dirty="0">
                    <a:solidFill>
                      <a:srgbClr val="00B050"/>
                    </a:solidFill>
                  </a:rPr>
                  <a:t>p</a:t>
                </a:r>
                <a:endParaRPr lang="pt-BR" b="1" dirty="0">
                  <a:solidFill>
                    <a:srgbClr val="00B050"/>
                  </a:solidFill>
                </a:endParaRPr>
              </a:p>
            </p:txBody>
          </p:sp>
          <p:cxnSp>
            <p:nvCxnSpPr>
              <p:cNvPr id="20" name="Conector de seta reta 19"/>
              <p:cNvCxnSpPr>
                <a:endCxn id="37893" idx="7"/>
              </p:cNvCxnSpPr>
              <p:nvPr/>
            </p:nvCxnSpPr>
            <p:spPr>
              <a:xfrm rot="10800000" flipV="1">
                <a:off x="5610924" y="3131522"/>
                <a:ext cx="989933" cy="743559"/>
              </a:xfrm>
              <a:prstGeom prst="straightConnector1">
                <a:avLst/>
              </a:prstGeom>
              <a:ln w="28575">
                <a:solidFill>
                  <a:srgbClr val="00B050"/>
                </a:solidFill>
                <a:tailEnd type="arrow"/>
              </a:ln>
            </p:spPr>
            <p:style>
              <a:lnRef idx="2">
                <a:schemeClr val="accent1"/>
              </a:lnRef>
              <a:fillRef idx="0">
                <a:schemeClr val="accent1"/>
              </a:fillRef>
              <a:effectRef idx="1">
                <a:schemeClr val="accent1"/>
              </a:effectRef>
              <a:fontRef idx="minor">
                <a:schemeClr val="tx1"/>
              </a:fontRef>
            </p:style>
          </p:cxnSp>
        </p:grpSp>
      </p:grpSp>
      <p:sp>
        <p:nvSpPr>
          <p:cNvPr id="23" name="CaixaDeTexto 22"/>
          <p:cNvSpPr txBox="1"/>
          <p:nvPr/>
        </p:nvSpPr>
        <p:spPr>
          <a:xfrm>
            <a:off x="213188" y="4261328"/>
            <a:ext cx="3568807" cy="646331"/>
          </a:xfrm>
          <a:prstGeom prst="rect">
            <a:avLst/>
          </a:prstGeom>
          <a:noFill/>
          <a:ln>
            <a:solidFill>
              <a:schemeClr val="tx1"/>
            </a:solidFill>
          </a:ln>
        </p:spPr>
        <p:txBody>
          <a:bodyPr wrap="square" rtlCol="0">
            <a:spAutoFit/>
          </a:bodyPr>
          <a:lstStyle/>
          <a:p>
            <a:r>
              <a:rPr lang="pt-BR" dirty="0"/>
              <a:t>Tela de Saída:</a:t>
            </a:r>
          </a:p>
          <a:p>
            <a:r>
              <a:rPr lang="pt-BR" b="1" dirty="0"/>
              <a:t>23</a:t>
            </a:r>
          </a:p>
        </p:txBody>
      </p:sp>
      <p:sp>
        <p:nvSpPr>
          <p:cNvPr id="25" name="Rectangle 3"/>
          <p:cNvSpPr txBox="1">
            <a:spLocks noChangeArrowheads="1"/>
          </p:cNvSpPr>
          <p:nvPr/>
        </p:nvSpPr>
        <p:spPr>
          <a:xfrm>
            <a:off x="0" y="112012"/>
            <a:ext cx="4823158" cy="3029105"/>
          </a:xfrm>
          <a:prstGeom prst="rect">
            <a:avLst/>
          </a:prstGeom>
          <a:solidFill>
            <a:schemeClr val="accent2">
              <a:lumMod val="60000"/>
              <a:lumOff val="40000"/>
              <a:alpha val="13000"/>
            </a:schemeClr>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solidFill>
                  <a:srgbClr val="FF0000"/>
                </a:solidFill>
                <a:effectLst/>
                <a:uLnTx/>
                <a:uFillTx/>
                <a:latin typeface="+mn-lt"/>
                <a:ea typeface="+mn-ea"/>
                <a:cs typeface="+mn-cs"/>
              </a:rPr>
              <a:t>ATIVAÇÃO 1</a:t>
            </a:r>
          </a:p>
          <a:p>
            <a:pPr marL="342900" lvl="0" indent="-342900" defTabSz="457200">
              <a:lnSpc>
                <a:spcPct val="80000"/>
              </a:lnSpc>
              <a:spcBef>
                <a:spcPct val="20000"/>
              </a:spcBef>
              <a:defRPr/>
            </a:pPr>
            <a:r>
              <a:rPr lang="pt-BR" dirty="0" err="1"/>
              <a:t>private</a:t>
            </a:r>
            <a:r>
              <a:rPr lang="pt-BR" dirty="0"/>
              <a:t> </a:t>
            </a:r>
            <a:r>
              <a:rPr lang="pt-BR" dirty="0" err="1"/>
              <a:t>static</a:t>
            </a:r>
            <a:r>
              <a:rPr lang="pt-BR" dirty="0"/>
              <a:t> </a:t>
            </a:r>
            <a:r>
              <a:rPr lang="pt-BR" dirty="0" err="1"/>
              <a:t>void</a:t>
            </a:r>
            <a:r>
              <a:rPr lang="pt-BR" dirty="0"/>
              <a:t> </a:t>
            </a:r>
            <a:r>
              <a:rPr lang="pt-BR" dirty="0" err="1"/>
              <a:t>mostra_em_ordem</a:t>
            </a:r>
            <a:r>
              <a:rPr lang="pt-BR" dirty="0"/>
              <a:t>(ARVORE p) {</a:t>
            </a:r>
          </a:p>
          <a:p>
            <a:pPr marL="342900" lvl="0" indent="-342900" defTabSz="457200">
              <a:lnSpc>
                <a:spcPct val="80000"/>
              </a:lnSpc>
              <a:spcBef>
                <a:spcPct val="20000"/>
              </a:spcBef>
              <a:defRPr/>
            </a:pPr>
            <a:r>
              <a:rPr lang="pt-BR" dirty="0"/>
              <a:t>	</a:t>
            </a:r>
            <a:r>
              <a:rPr lang="pt-BR" b="1" dirty="0" err="1"/>
              <a:t>if</a:t>
            </a:r>
            <a:r>
              <a:rPr lang="pt-BR" b="1" dirty="0"/>
              <a:t> (p != </a:t>
            </a:r>
            <a:r>
              <a:rPr lang="pt-BR" b="1" dirty="0" err="1"/>
              <a:t>null</a:t>
            </a:r>
            <a:r>
              <a:rPr lang="pt-BR" b="1" dirty="0"/>
              <a:t>) {</a:t>
            </a:r>
          </a:p>
          <a:p>
            <a:pPr marL="342900" lvl="0" indent="-342900" defTabSz="457200">
              <a:lnSpc>
                <a:spcPct val="80000"/>
              </a:lnSpc>
              <a:spcBef>
                <a:spcPct val="20000"/>
              </a:spcBef>
              <a:defRPr/>
            </a:pPr>
            <a:r>
              <a:rPr lang="pt-BR" b="1" dirty="0"/>
              <a:t>        </a:t>
            </a:r>
            <a:r>
              <a:rPr lang="pt-BR" b="1" dirty="0" err="1"/>
              <a:t>if</a:t>
            </a:r>
            <a:r>
              <a:rPr lang="pt-BR" b="1" dirty="0"/>
              <a:t> (</a:t>
            </a:r>
            <a:r>
              <a:rPr lang="pt-BR" b="1" dirty="0" err="1">
                <a:solidFill>
                  <a:srgbClr val="0CA41A"/>
                </a:solidFill>
              </a:rPr>
              <a:t>p.esq</a:t>
            </a:r>
            <a:r>
              <a:rPr lang="pt-BR" b="1" dirty="0"/>
              <a:t> != </a:t>
            </a:r>
            <a:r>
              <a:rPr lang="pt-BR" b="1" dirty="0" err="1"/>
              <a:t>null</a:t>
            </a:r>
            <a:r>
              <a:rPr lang="pt-BR" b="1" dirty="0"/>
              <a:t>)</a:t>
            </a:r>
          </a:p>
          <a:p>
            <a:pPr marL="342900" lvl="0" indent="-342900" defTabSz="457200">
              <a:lnSpc>
                <a:spcPct val="80000"/>
              </a:lnSpc>
              <a:spcBef>
                <a:spcPct val="20000"/>
              </a:spcBef>
              <a:defRPr/>
            </a:pPr>
            <a:r>
              <a:rPr lang="pt-BR" dirty="0"/>
              <a:t>			</a:t>
            </a:r>
            <a:r>
              <a:rPr lang="pt-BR" b="1" dirty="0" err="1"/>
              <a:t>mostra_em_ordem</a:t>
            </a:r>
            <a:r>
              <a:rPr lang="pt-BR" b="1" dirty="0"/>
              <a:t>(</a:t>
            </a:r>
            <a:r>
              <a:rPr lang="pt-BR" b="1" dirty="0" err="1">
                <a:solidFill>
                  <a:srgbClr val="0CA41A"/>
                </a:solidFill>
              </a:rPr>
              <a:t>p.esq</a:t>
            </a:r>
            <a:r>
              <a:rPr lang="pt-BR" b="1" dirty="0"/>
              <a:t>);</a:t>
            </a:r>
          </a:p>
          <a:p>
            <a:pPr marL="342900" lvl="0" indent="-342900" defTabSz="457200">
              <a:lnSpc>
                <a:spcPct val="80000"/>
              </a:lnSpc>
              <a:spcBef>
                <a:spcPct val="20000"/>
              </a:spcBef>
              <a:defRPr/>
            </a:pPr>
            <a:r>
              <a:rPr lang="pt-BR" dirty="0"/>
              <a:t>		System.</a:t>
            </a:r>
            <a:r>
              <a:rPr lang="pt-BR" dirty="0" err="1"/>
              <a:t>out.println</a:t>
            </a:r>
            <a:r>
              <a:rPr lang="pt-BR" dirty="0"/>
              <a:t>(" "  + </a:t>
            </a:r>
            <a:r>
              <a:rPr lang="pt-BR" dirty="0" err="1"/>
              <a:t>p.dado</a:t>
            </a:r>
            <a:r>
              <a:rPr lang="pt-BR" dirty="0"/>
              <a:t>);</a:t>
            </a:r>
          </a:p>
          <a:p>
            <a:pPr marL="342900" indent="-342900" defTabSz="457200">
              <a:lnSpc>
                <a:spcPct val="80000"/>
              </a:lnSpc>
              <a:spcBef>
                <a:spcPct val="20000"/>
              </a:spcBef>
              <a:defRPr/>
            </a:pPr>
            <a:r>
              <a:rPr lang="pt-BR" dirty="0"/>
              <a:t>		</a:t>
            </a:r>
            <a:r>
              <a:rPr lang="pt-BR" dirty="0" err="1"/>
              <a:t>if</a:t>
            </a:r>
            <a:r>
              <a:rPr lang="pt-BR" dirty="0"/>
              <a:t>(</a:t>
            </a:r>
            <a:r>
              <a:rPr lang="pt-BR" dirty="0" err="1"/>
              <a:t>p.dir</a:t>
            </a:r>
            <a:r>
              <a:rPr lang="pt-BR" dirty="0"/>
              <a:t> != </a:t>
            </a:r>
            <a:r>
              <a:rPr lang="pt-BR" dirty="0" err="1"/>
              <a:t>null</a:t>
            </a:r>
            <a:r>
              <a:rPr lang="pt-BR" dirty="0"/>
              <a:t>)</a:t>
            </a:r>
          </a:p>
          <a:p>
            <a:pPr marL="342900" lvl="0" indent="-342900" defTabSz="457200">
              <a:lnSpc>
                <a:spcPct val="80000"/>
              </a:lnSpc>
              <a:spcBef>
                <a:spcPct val="20000"/>
              </a:spcBef>
              <a:defRPr/>
            </a:pPr>
            <a:r>
              <a:rPr lang="pt-BR" dirty="0"/>
              <a:t>			</a:t>
            </a:r>
            <a:r>
              <a:rPr lang="pt-BR" dirty="0" err="1"/>
              <a:t>mostra_em_ordem</a:t>
            </a:r>
            <a:r>
              <a:rPr lang="pt-BR" dirty="0"/>
              <a:t>(</a:t>
            </a:r>
            <a:r>
              <a:rPr lang="pt-BR" dirty="0" err="1"/>
              <a:t>p.dir</a:t>
            </a:r>
            <a:r>
              <a:rPr lang="pt-BR" dirty="0"/>
              <a:t>);</a:t>
            </a:r>
          </a:p>
          <a:p>
            <a:pPr marL="342900" lvl="0" indent="-342900" defTabSz="457200">
              <a:lnSpc>
                <a:spcPct val="80000"/>
              </a:lnSpc>
              <a:spcBef>
                <a:spcPct val="20000"/>
              </a:spcBef>
              <a:defRPr/>
            </a:pPr>
            <a:r>
              <a:rPr lang="pt-BR" dirty="0"/>
              <a:t>		}</a:t>
            </a:r>
          </a:p>
          <a:p>
            <a:pPr marL="342900" lvl="0" indent="-342900" defTabSz="457200">
              <a:lnSpc>
                <a:spcPct val="80000"/>
              </a:lnSpc>
              <a:spcBef>
                <a:spcPct val="20000"/>
              </a:spcBef>
              <a:defRPr/>
            </a:pPr>
            <a:r>
              <a:rPr lang="pt-BR" dirty="0"/>
              <a:t>}</a:t>
            </a:r>
            <a:endParaRPr kumimoji="0" lang="pt-BR" b="0" i="0" u="none" strike="noStrike" kern="1200" cap="none" spc="0" normalizeH="0" baseline="0" noProof="0" dirty="0">
              <a:ln>
                <a:noFill/>
              </a:ln>
              <a:solidFill>
                <a:schemeClr val="tx1"/>
              </a:solidFill>
              <a:effectLst/>
              <a:uLnTx/>
              <a:uFillTx/>
              <a:latin typeface="+mn-lt"/>
              <a:ea typeface="+mn-ea"/>
              <a:cs typeface="+mn-cs"/>
            </a:endParaRPr>
          </a:p>
        </p:txBody>
      </p:sp>
      <p:sp>
        <p:nvSpPr>
          <p:cNvPr id="18" name="Rectangle 3"/>
          <p:cNvSpPr txBox="1">
            <a:spLocks noChangeArrowheads="1"/>
          </p:cNvSpPr>
          <p:nvPr/>
        </p:nvSpPr>
        <p:spPr>
          <a:xfrm>
            <a:off x="0" y="431676"/>
            <a:ext cx="4876799" cy="3321690"/>
          </a:xfrm>
          <a:prstGeom prst="rect">
            <a:avLst/>
          </a:prstGeom>
          <a:solidFill>
            <a:schemeClr val="accent3">
              <a:lumMod val="40000"/>
              <a:lumOff val="60000"/>
            </a:schemeClr>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effectLst/>
                <a:uLnTx/>
                <a:uFillTx/>
                <a:latin typeface="+mn-lt"/>
                <a:ea typeface="+mn-ea"/>
                <a:cs typeface="+mn-cs"/>
              </a:rPr>
              <a:t>ATIVAÇÃO 2</a:t>
            </a:r>
          </a:p>
          <a:p>
            <a:pPr marL="342900" lvl="0" indent="-342900" defTabSz="457200">
              <a:lnSpc>
                <a:spcPct val="80000"/>
              </a:lnSpc>
              <a:spcBef>
                <a:spcPct val="20000"/>
              </a:spcBef>
              <a:defRPr/>
            </a:pPr>
            <a:r>
              <a:rPr lang="pt-BR" sz="1800" b="1" dirty="0" err="1">
                <a:solidFill>
                  <a:srgbClr val="7F0055"/>
                </a:solidFill>
                <a:latin typeface="Consolas" panose="020B0609020204030204" pitchFamily="49" charset="0"/>
              </a:rPr>
              <a:t>public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static</a:t>
            </a: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void</a:t>
            </a:r>
            <a:r>
              <a:rPr lang="pt-BR" sz="1800" b="1" dirty="0">
                <a:solidFill>
                  <a:srgbClr val="7F0055"/>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kumimoji="0" lang="pt-BR" sz="1800" b="0" i="0" u="none" strike="noStrike" kern="1200" cap="none" spc="0" normalizeH="0" baseline="0" noProof="0" dirty="0">
                <a:ln>
                  <a:noFill/>
                </a:ln>
                <a:solidFill>
                  <a:schemeClr val="tx1"/>
                </a:solidFill>
                <a:effectLst/>
                <a:uLnTx/>
                <a:uFillTx/>
                <a:latin typeface="+mn-lt"/>
                <a:ea typeface="+mn-ea"/>
                <a:cs typeface="+mn-cs"/>
              </a:rPr>
              <a:t>(NO </a:t>
            </a:r>
            <a:r>
              <a:rPr lang="pt-BR" b="1" dirty="0">
                <a:solidFill>
                  <a:srgbClr val="0CA41A"/>
                </a:solidFill>
              </a:rPr>
              <a:t>p</a:t>
            </a:r>
            <a:r>
              <a:rPr lang="pt-BR" dirty="0"/>
              <a:t>) {</a:t>
            </a:r>
          </a:p>
          <a:p>
            <a:pPr marL="342900" lvl="0" indent="-342900" defTabSz="457200">
              <a:lnSpc>
                <a:spcPct val="80000"/>
              </a:lnSpc>
              <a:spcBef>
                <a:spcPct val="20000"/>
              </a:spcBef>
              <a:defRPr/>
            </a:pPr>
            <a:r>
              <a:rPr lang="pt-BR" dirty="0"/>
              <a:t>	</a:t>
            </a:r>
            <a:r>
              <a:rPr lang="pt-BR" b="1" dirty="0" err="1"/>
              <a:t>if</a:t>
            </a:r>
            <a:r>
              <a:rPr lang="pt-BR" b="1" dirty="0"/>
              <a:t> (p != </a:t>
            </a:r>
            <a:r>
              <a:rPr lang="pt-BR" b="1" dirty="0" err="1"/>
              <a:t>null</a:t>
            </a:r>
            <a:r>
              <a:rPr lang="pt-BR" b="1" dirty="0"/>
              <a:t>) {</a:t>
            </a:r>
          </a:p>
          <a:p>
            <a:pPr marL="342900" lvl="0" indent="-342900" defTabSz="457200">
              <a:lnSpc>
                <a:spcPct val="80000"/>
              </a:lnSpc>
              <a:spcBef>
                <a:spcPct val="20000"/>
              </a:spcBef>
              <a:defRPr/>
            </a:pPr>
            <a:r>
              <a:rPr lang="pt-BR" b="1" dirty="0"/>
              <a:t>        </a:t>
            </a:r>
            <a:r>
              <a:rPr lang="pt-BR" b="1" dirty="0" err="1"/>
              <a:t>if</a:t>
            </a:r>
            <a:r>
              <a:rPr lang="pt-BR" b="1" dirty="0"/>
              <a:t> (</a:t>
            </a:r>
            <a:r>
              <a:rPr lang="pt-BR" b="1" dirty="0" err="1"/>
              <a:t>p.esq</a:t>
            </a:r>
            <a:r>
              <a:rPr lang="pt-BR" b="1" dirty="0"/>
              <a:t> != </a:t>
            </a:r>
            <a:r>
              <a:rPr lang="pt-BR" b="1" dirty="0" err="1"/>
              <a:t>null</a:t>
            </a:r>
            <a:r>
              <a:rPr lang="pt-BR" b="1" dirty="0"/>
              <a:t>)</a:t>
            </a:r>
          </a:p>
          <a:p>
            <a:pPr marL="342900" lvl="0" indent="-342900" defTabSz="457200">
              <a:lnSpc>
                <a:spcPct val="80000"/>
              </a:lnSpc>
              <a:spcBef>
                <a:spcPct val="20000"/>
              </a:spcBef>
              <a:defRPr/>
            </a:pPr>
            <a:r>
              <a:rPr lang="pt-BR" dirty="0"/>
              <a:t>			</a:t>
            </a:r>
            <a:r>
              <a:rPr lang="pt-BR" sz="1800" b="1" dirty="0">
                <a:solidFill>
                  <a:srgbClr val="000000"/>
                </a:solidFill>
                <a:latin typeface="Consolas" panose="020B0609020204030204" pitchFamily="49" charset="0"/>
              </a:rPr>
              <a:t> </a:t>
            </a:r>
            <a:r>
              <a:rPr lang="pt-BR" sz="1800" dirty="0" err="1">
                <a:solidFill>
                  <a:srgbClr val="000000"/>
                </a:solidFill>
                <a:latin typeface="Consolas" panose="020B0609020204030204" pitchFamily="49" charset="0"/>
              </a:rPr>
              <a:t>inOrdem</a:t>
            </a:r>
            <a:r>
              <a:rPr lang="pt-BR" dirty="0"/>
              <a:t>(</a:t>
            </a:r>
            <a:r>
              <a:rPr lang="pt-BR" dirty="0" err="1"/>
              <a:t>p.esq</a:t>
            </a:r>
            <a:r>
              <a:rPr lang="pt-BR" dirty="0"/>
              <a:t>);</a:t>
            </a:r>
          </a:p>
          <a:p>
            <a:pPr marL="342900" lvl="0" indent="-342900" defTabSz="457200">
              <a:lnSpc>
                <a:spcPct val="80000"/>
              </a:lnSpc>
              <a:spcBef>
                <a:spcPct val="20000"/>
              </a:spcBef>
              <a:defRPr/>
            </a:pPr>
            <a:r>
              <a:rPr lang="pt-BR" dirty="0"/>
              <a:t>		</a:t>
            </a:r>
            <a:r>
              <a:rPr lang="pt-BR" b="1" dirty="0"/>
              <a:t>System.</a:t>
            </a:r>
            <a:r>
              <a:rPr lang="pt-BR" b="1" dirty="0" err="1"/>
              <a:t>out.println</a:t>
            </a:r>
            <a:r>
              <a:rPr lang="pt-BR" b="1" dirty="0"/>
              <a:t>(" "  + </a:t>
            </a:r>
            <a:r>
              <a:rPr lang="pt-BR" b="1" dirty="0" err="1"/>
              <a:t>p.dado</a:t>
            </a:r>
            <a:r>
              <a:rPr lang="pt-BR" b="1" dirty="0"/>
              <a:t>);</a:t>
            </a:r>
          </a:p>
          <a:p>
            <a:pPr marL="342900" indent="-342900" defTabSz="457200">
              <a:lnSpc>
                <a:spcPct val="80000"/>
              </a:lnSpc>
              <a:spcBef>
                <a:spcPct val="20000"/>
              </a:spcBef>
              <a:defRPr/>
            </a:pPr>
            <a:r>
              <a:rPr lang="pt-BR" dirty="0"/>
              <a:t>	</a:t>
            </a:r>
            <a:r>
              <a:rPr lang="pt-BR" b="1" dirty="0"/>
              <a:t>	</a:t>
            </a:r>
            <a:r>
              <a:rPr lang="pt-BR" b="1" dirty="0" err="1"/>
              <a:t>if</a:t>
            </a:r>
            <a:r>
              <a:rPr lang="pt-BR" b="1" dirty="0"/>
              <a:t>(</a:t>
            </a:r>
            <a:r>
              <a:rPr lang="pt-BR" b="1" dirty="0" err="1">
                <a:solidFill>
                  <a:srgbClr val="4639F1"/>
                </a:solidFill>
              </a:rPr>
              <a:t>p.dir</a:t>
            </a:r>
            <a:r>
              <a:rPr lang="pt-BR" b="1" dirty="0"/>
              <a:t> != </a:t>
            </a:r>
            <a:r>
              <a:rPr lang="pt-BR" b="1" dirty="0" err="1"/>
              <a:t>null</a:t>
            </a:r>
            <a:r>
              <a:rPr lang="pt-BR" b="1" dirty="0"/>
              <a:t>)</a:t>
            </a:r>
          </a:p>
          <a:p>
            <a:pPr marL="342900" lvl="0" indent="-342900" defTabSz="457200">
              <a:lnSpc>
                <a:spcPct val="80000"/>
              </a:lnSpc>
              <a:spcBef>
                <a:spcPct val="20000"/>
              </a:spcBef>
              <a:defRPr/>
            </a:pPr>
            <a:r>
              <a:rPr lang="pt-BR" b="1" dirty="0"/>
              <a:t>			</a:t>
            </a:r>
            <a:r>
              <a:rPr lang="pt-BR" sz="1800" b="1" dirty="0">
                <a:solidFill>
                  <a:srgbClr val="000000"/>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lang="pt-BR" b="1" dirty="0"/>
              <a:t>(</a:t>
            </a:r>
            <a:r>
              <a:rPr lang="pt-BR" b="1" dirty="0" err="1">
                <a:solidFill>
                  <a:srgbClr val="5035F5"/>
                </a:solidFill>
              </a:rPr>
              <a:t>p.dir</a:t>
            </a:r>
            <a:r>
              <a:rPr lang="pt-BR" b="1" dirty="0"/>
              <a:t>);</a:t>
            </a:r>
          </a:p>
          <a:p>
            <a:pPr marL="342900" lvl="0" indent="-342900" defTabSz="457200">
              <a:lnSpc>
                <a:spcPct val="80000"/>
              </a:lnSpc>
              <a:spcBef>
                <a:spcPct val="20000"/>
              </a:spcBef>
              <a:defRPr/>
            </a:pPr>
            <a:r>
              <a:rPr lang="pt-BR" dirty="0"/>
              <a:t>		}</a:t>
            </a:r>
          </a:p>
          <a:p>
            <a:pPr marL="342900" lvl="0" indent="-342900" defTabSz="457200">
              <a:lnSpc>
                <a:spcPct val="80000"/>
              </a:lnSpc>
              <a:spcBef>
                <a:spcPct val="20000"/>
              </a:spcBef>
              <a:defRPr/>
            </a:pPr>
            <a:r>
              <a:rPr lang="pt-BR" dirty="0"/>
              <a:t>}</a:t>
            </a:r>
            <a:endParaRPr kumimoji="0" lang="pt-BR"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ço Reservado para Número de Slide 20"/>
          <p:cNvSpPr>
            <a:spLocks noGrp="1"/>
          </p:cNvSpPr>
          <p:nvPr>
            <p:ph type="sldNum" sz="quarter" idx="12"/>
          </p:nvPr>
        </p:nvSpPr>
        <p:spPr/>
        <p:txBody>
          <a:bodyPr/>
          <a:lstStyle/>
          <a:p>
            <a:fld id="{0DBB9FE3-D63C-4A40-B010-4651D12E128D}" type="slidenum">
              <a:rPr lang="pt-BR" smtClean="0"/>
              <a:pPr/>
              <a:t>41</a:t>
            </a:fld>
            <a:endParaRPr lang="pt-BR"/>
          </a:p>
        </p:txBody>
      </p:sp>
      <p:sp>
        <p:nvSpPr>
          <p:cNvPr id="29" name="Rectangle 3"/>
          <p:cNvSpPr txBox="1">
            <a:spLocks noChangeArrowheads="1"/>
          </p:cNvSpPr>
          <p:nvPr/>
        </p:nvSpPr>
        <p:spPr>
          <a:xfrm>
            <a:off x="1" y="94696"/>
            <a:ext cx="4876798" cy="3321690"/>
          </a:xfrm>
          <a:prstGeom prst="rect">
            <a:avLst/>
          </a:prstGeom>
          <a:solidFill>
            <a:schemeClr val="accent2">
              <a:lumMod val="20000"/>
              <a:lumOff val="80000"/>
              <a:alpha val="68000"/>
            </a:schemeClr>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solidFill>
                  <a:srgbClr val="FF0000"/>
                </a:solidFill>
                <a:effectLst/>
                <a:uLnTx/>
                <a:uFillTx/>
                <a:latin typeface="+mn-lt"/>
                <a:ea typeface="+mn-ea"/>
                <a:cs typeface="+mn-cs"/>
              </a:rPr>
              <a:t>ATIVAÇÃO 1</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err="1">
                <a:ln>
                  <a:noFill/>
                </a:ln>
                <a:solidFill>
                  <a:schemeClr val="tx1"/>
                </a:solidFill>
                <a:effectLst/>
                <a:uLnTx/>
                <a:uFillTx/>
                <a:latin typeface="+mn-lt"/>
                <a:ea typeface="+mn-ea"/>
                <a:cs typeface="+mn-cs"/>
              </a:rPr>
              <a:t>void</a:t>
            </a:r>
            <a:r>
              <a:rPr kumimoji="0" lang="pt-BR" sz="2000" b="0" i="0" u="none" strike="noStrike" kern="1200" cap="none" spc="0" normalizeH="0" baseline="0" noProof="0" dirty="0">
                <a:ln>
                  <a:noFill/>
                </a:ln>
                <a:solidFill>
                  <a:schemeClr val="tx1"/>
                </a:solidFill>
                <a:effectLst/>
                <a:uLnTx/>
                <a:uFillTx/>
                <a:latin typeface="+mn-lt"/>
                <a:ea typeface="+mn-ea"/>
                <a:cs typeface="+mn-cs"/>
              </a:rPr>
              <a:t> </a:t>
            </a:r>
            <a:r>
              <a:rPr kumimoji="0" lang="pt-BR" sz="2000" b="0" i="0" u="none" strike="noStrike" kern="1200" cap="none" spc="0" normalizeH="0" baseline="0" noProof="0" dirty="0" err="1">
                <a:ln>
                  <a:noFill/>
                </a:ln>
                <a:solidFill>
                  <a:schemeClr val="tx1"/>
                </a:solidFill>
                <a:effectLst/>
                <a:uLnTx/>
                <a:uFillTx/>
                <a:latin typeface="+mn-lt"/>
                <a:ea typeface="+mn-ea"/>
                <a:cs typeface="+mn-cs"/>
              </a:rPr>
              <a:t>lista_em_ordem</a:t>
            </a:r>
            <a:r>
              <a:rPr kumimoji="0" lang="pt-BR" sz="2000" b="0" i="0" u="none" strike="noStrike" kern="1200" cap="none" spc="0" normalizeH="0" baseline="0" noProof="0" dirty="0">
                <a:ln>
                  <a:noFill/>
                </a:ln>
                <a:solidFill>
                  <a:schemeClr val="tx1"/>
                </a:solidFill>
                <a:effectLst/>
                <a:uLnTx/>
                <a:uFillTx/>
                <a:latin typeface="+mn-lt"/>
                <a:ea typeface="+mn-ea"/>
                <a:cs typeface="+mn-cs"/>
              </a:rPr>
              <a:t>(</a:t>
            </a:r>
            <a:r>
              <a:rPr kumimoji="0" lang="pt-BR" sz="2000" b="0" i="0" u="none" strike="noStrike" kern="1200" cap="none" spc="0" normalizeH="0" baseline="0" noProof="0" dirty="0" err="1">
                <a:ln>
                  <a:noFill/>
                </a:ln>
                <a:solidFill>
                  <a:schemeClr val="tx1"/>
                </a:solidFill>
                <a:effectLst/>
                <a:uLnTx/>
                <a:uFillTx/>
                <a:latin typeface="+mn-lt"/>
                <a:ea typeface="+mn-ea"/>
                <a:cs typeface="+mn-cs"/>
              </a:rPr>
              <a:t>TipoArvore</a:t>
            </a:r>
            <a:r>
              <a:rPr kumimoji="0" lang="pt-BR" sz="2000" b="0" i="0" u="none" strike="noStrike" kern="1200" cap="none" spc="0" normalizeH="0" baseline="0" noProof="0" dirty="0">
                <a:ln>
                  <a:noFill/>
                </a:ln>
                <a:solidFill>
                  <a:schemeClr val="tx1"/>
                </a:solidFill>
                <a:effectLst/>
                <a:uLnTx/>
                <a:uFillTx/>
                <a:latin typeface="+mn-lt"/>
                <a:ea typeface="+mn-ea"/>
                <a:cs typeface="+mn-cs"/>
              </a:rPr>
              <a:t>  </a:t>
            </a:r>
            <a:r>
              <a:rPr kumimoji="0" lang="pt-BR" sz="2400" b="1" i="0" u="none" strike="noStrike" kern="1200" cap="none" spc="0" normalizeH="0" baseline="0" noProof="0" dirty="0">
                <a:ln>
                  <a:noFill/>
                </a:ln>
                <a:solidFill>
                  <a:srgbClr val="FF0000"/>
                </a:solidFill>
                <a:effectLst/>
                <a:uLnTx/>
                <a:uFillTx/>
                <a:latin typeface="+mn-lt"/>
                <a:ea typeface="+mn-ea"/>
                <a:cs typeface="+mn-cs"/>
              </a:rPr>
              <a:t>p</a:t>
            </a:r>
            <a:r>
              <a:rPr kumimoji="0" lang="pt-BR" sz="2000" b="0" i="0" u="none" strike="noStrike" kern="1200" cap="none" spc="0" normalizeH="0" baseline="0" noProof="0" dirty="0">
                <a:ln>
                  <a:noFill/>
                </a:ln>
                <a:solidFill>
                  <a:schemeClr val="tx1"/>
                </a:solidFill>
                <a:effectLst/>
                <a:uLnTx/>
                <a:uFillTx/>
                <a:latin typeface="+mn-lt"/>
                <a:ea typeface="+mn-ea"/>
                <a:cs typeface="+mn-cs"/>
              </a:rPr>
              <a:t>)</a:t>
            </a:r>
            <a:r>
              <a:rPr kumimoji="0" lang="pt-BR" sz="2000" b="0" i="0" u="none" strike="noStrike" kern="1200" cap="none" spc="0" normalizeH="0" noProof="0" dirty="0">
                <a:ln>
                  <a:noFill/>
                </a:ln>
                <a:solidFill>
                  <a:schemeClr val="tx1"/>
                </a:solidFill>
                <a:effectLst/>
                <a:uLnTx/>
                <a:uFillTx/>
                <a:latin typeface="+mn-lt"/>
                <a:ea typeface="+mn-ea"/>
                <a:cs typeface="+mn-cs"/>
              </a:rPr>
              <a:t>  </a:t>
            </a:r>
            <a:r>
              <a:rPr kumimoji="0" lang="pt-BR" sz="20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1" i="0" u="none" strike="noStrike" kern="1200" cap="none" spc="0" normalizeH="0" baseline="0" noProof="0" dirty="0" err="1">
                <a:ln>
                  <a:noFill/>
                </a:ln>
                <a:solidFill>
                  <a:schemeClr val="tx1"/>
                </a:solidFill>
                <a:effectLst/>
                <a:uLnTx/>
                <a:uFillTx/>
                <a:latin typeface="+mn-lt"/>
                <a:ea typeface="+mn-ea"/>
                <a:cs typeface="+mn-cs"/>
              </a:rPr>
              <a:t>if</a:t>
            </a:r>
            <a:r>
              <a:rPr kumimoji="0" lang="pt-BR" sz="2000" b="1" i="0" u="none" strike="noStrike" kern="1200" cap="none" spc="0" normalizeH="0" baseline="0" noProof="0" dirty="0">
                <a:ln>
                  <a:noFill/>
                </a:ln>
                <a:solidFill>
                  <a:schemeClr val="tx1"/>
                </a:solidFill>
                <a:effectLst/>
                <a:uLnTx/>
                <a:uFillTx/>
                <a:latin typeface="+mn-lt"/>
                <a:ea typeface="+mn-ea"/>
                <a:cs typeface="+mn-cs"/>
              </a:rPr>
              <a:t> (p!=NULL)  {</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1" i="0" u="none" strike="noStrike" kern="1200" cap="none" spc="0" normalizeH="0" baseline="0" noProof="0" dirty="0">
                <a:ln>
                  <a:noFill/>
                </a:ln>
                <a:solidFill>
                  <a:schemeClr val="tx1"/>
                </a:solidFill>
                <a:effectLst/>
                <a:uLnTx/>
                <a:uFillTx/>
                <a:latin typeface="+mn-lt"/>
                <a:ea typeface="+mn-ea"/>
                <a:cs typeface="+mn-cs"/>
              </a:rPr>
              <a:t>     </a:t>
            </a:r>
            <a:r>
              <a:rPr kumimoji="0" lang="pt-BR" sz="2000" b="1" i="0" u="none" strike="noStrike" kern="1200" cap="none" spc="0" normalizeH="0" baseline="0" noProof="0" dirty="0" err="1">
                <a:ln>
                  <a:noFill/>
                </a:ln>
                <a:solidFill>
                  <a:schemeClr val="tx1"/>
                </a:solidFill>
                <a:effectLst/>
                <a:uLnTx/>
                <a:uFillTx/>
                <a:latin typeface="+mn-lt"/>
                <a:ea typeface="+mn-ea"/>
                <a:cs typeface="+mn-cs"/>
              </a:rPr>
              <a:t>if</a:t>
            </a:r>
            <a:r>
              <a:rPr kumimoji="0" lang="pt-BR" sz="2000" b="1" i="0" u="none" strike="noStrike" kern="1200" cap="none" spc="0" normalizeH="0" baseline="0" noProof="0" dirty="0">
                <a:ln>
                  <a:noFill/>
                </a:ln>
                <a:solidFill>
                  <a:schemeClr val="tx1"/>
                </a:solidFill>
                <a:effectLst/>
                <a:uLnTx/>
                <a:uFillTx/>
                <a:latin typeface="+mn-lt"/>
                <a:ea typeface="+mn-ea"/>
                <a:cs typeface="+mn-cs"/>
              </a:rPr>
              <a:t>(p-&gt;</a:t>
            </a:r>
            <a:r>
              <a:rPr kumimoji="0" lang="pt-BR" sz="2000" b="1" i="0" u="none" strike="noStrike" kern="1200" cap="none" spc="0" normalizeH="0" baseline="0" noProof="0" dirty="0" err="1">
                <a:ln>
                  <a:noFill/>
                </a:ln>
                <a:solidFill>
                  <a:schemeClr val="tx1"/>
                </a:solidFill>
                <a:effectLst/>
                <a:uLnTx/>
                <a:uFillTx/>
                <a:latin typeface="+mn-lt"/>
                <a:ea typeface="+mn-ea"/>
                <a:cs typeface="+mn-cs"/>
              </a:rPr>
              <a:t>esq</a:t>
            </a:r>
            <a:r>
              <a:rPr kumimoji="0" lang="pt-BR" sz="2000" b="1" i="0" u="none" strike="noStrike" kern="1200" cap="none" spc="0" normalizeH="0" baseline="0" noProof="0" dirty="0">
                <a:ln>
                  <a:noFill/>
                </a:ln>
                <a:solidFill>
                  <a:schemeClr val="tx1"/>
                </a:solidFill>
                <a:effectLst/>
                <a:uLnTx/>
                <a:uFillTx/>
                <a:latin typeface="+mn-lt"/>
                <a:ea typeface="+mn-ea"/>
                <a:cs typeface="+mn-cs"/>
              </a:rPr>
              <a:t>!=NULL) </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1" i="0" u="none" strike="noStrike" kern="1200" cap="none" spc="0" normalizeH="0" baseline="0" noProof="0" dirty="0">
                <a:ln>
                  <a:noFill/>
                </a:ln>
                <a:solidFill>
                  <a:schemeClr val="tx1"/>
                </a:solidFill>
                <a:effectLst/>
                <a:uLnTx/>
                <a:uFillTx/>
                <a:latin typeface="+mn-lt"/>
                <a:ea typeface="+mn-ea"/>
                <a:cs typeface="+mn-cs"/>
              </a:rPr>
              <a:t>            </a:t>
            </a:r>
            <a:r>
              <a:rPr kumimoji="0" lang="pt-BR" sz="2000" b="1" i="0" u="none" strike="noStrike" kern="1200" cap="none" spc="0" normalizeH="0" baseline="0" noProof="0" dirty="0" err="1">
                <a:ln>
                  <a:noFill/>
                </a:ln>
                <a:solidFill>
                  <a:schemeClr val="tx1"/>
                </a:solidFill>
                <a:effectLst/>
                <a:uLnTx/>
                <a:uFillTx/>
                <a:latin typeface="+mn-lt"/>
                <a:ea typeface="+mn-ea"/>
                <a:cs typeface="+mn-cs"/>
              </a:rPr>
              <a:t>lista_em_ordem</a:t>
            </a:r>
            <a:r>
              <a:rPr kumimoji="0" lang="pt-BR" sz="2000" b="1" i="0" u="none" strike="noStrike" kern="1200" cap="none" spc="0" normalizeH="0" baseline="0" noProof="0" dirty="0">
                <a:ln>
                  <a:noFill/>
                </a:ln>
                <a:solidFill>
                  <a:schemeClr val="tx1"/>
                </a:solidFill>
                <a:effectLst/>
                <a:uLnTx/>
                <a:uFillTx/>
                <a:latin typeface="+mn-lt"/>
                <a:ea typeface="+mn-ea"/>
                <a:cs typeface="+mn-cs"/>
              </a:rPr>
              <a:t>(</a:t>
            </a:r>
            <a:r>
              <a:rPr kumimoji="0" lang="pt-BR" sz="2000" b="1" i="0" u="none" strike="noStrike" kern="1200" cap="none" spc="0" normalizeH="0" baseline="0" noProof="0" dirty="0">
                <a:ln>
                  <a:noFill/>
                </a:ln>
                <a:solidFill>
                  <a:srgbClr val="00B050"/>
                </a:solidFill>
                <a:effectLst/>
                <a:uLnTx/>
                <a:uFillTx/>
                <a:latin typeface="+mn-lt"/>
                <a:ea typeface="+mn-ea"/>
                <a:cs typeface="+mn-cs"/>
              </a:rPr>
              <a:t>p-&gt;</a:t>
            </a:r>
            <a:r>
              <a:rPr kumimoji="0" lang="pt-BR" sz="2000" b="1" i="0" u="none" strike="noStrike" kern="1200" cap="none" spc="0" normalizeH="0" baseline="0" noProof="0" dirty="0" err="1">
                <a:ln>
                  <a:noFill/>
                </a:ln>
                <a:solidFill>
                  <a:srgbClr val="00B050"/>
                </a:solidFill>
                <a:effectLst/>
                <a:uLnTx/>
                <a:uFillTx/>
                <a:latin typeface="+mn-lt"/>
                <a:ea typeface="+mn-ea"/>
                <a:cs typeface="+mn-cs"/>
              </a:rPr>
              <a:t>esq</a:t>
            </a:r>
            <a:r>
              <a:rPr kumimoji="0" lang="pt-BR" sz="2000" b="1"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a:ln>
                  <a:noFill/>
                </a:ln>
                <a:solidFill>
                  <a:schemeClr val="tx1"/>
                </a:solidFill>
                <a:effectLst/>
                <a:uLnTx/>
                <a:uFillTx/>
                <a:latin typeface="+mn-lt"/>
                <a:ea typeface="+mn-ea"/>
                <a:cs typeface="+mn-cs"/>
              </a:rPr>
              <a:t>     </a:t>
            </a:r>
            <a:r>
              <a:rPr kumimoji="0" lang="pt-BR" sz="2000" b="0" i="0" u="none" strike="noStrike" kern="1200" cap="none" spc="0" normalizeH="0" baseline="0" noProof="0" dirty="0" err="1">
                <a:ln>
                  <a:noFill/>
                </a:ln>
                <a:solidFill>
                  <a:schemeClr val="tx1"/>
                </a:solidFill>
                <a:effectLst/>
                <a:uLnTx/>
                <a:uFillTx/>
                <a:latin typeface="+mn-lt"/>
                <a:ea typeface="+mn-ea"/>
                <a:cs typeface="+mn-cs"/>
              </a:rPr>
              <a:t>printf</a:t>
            </a:r>
            <a:r>
              <a:rPr kumimoji="0" lang="pt-BR" sz="2000" b="0" i="0" u="none" strike="noStrike" kern="1200" cap="none" spc="0" normalizeH="0" baseline="0" noProof="0" dirty="0">
                <a:ln>
                  <a:noFill/>
                </a:ln>
                <a:solidFill>
                  <a:schemeClr val="tx1"/>
                </a:solidFill>
                <a:effectLst/>
                <a:uLnTx/>
                <a:uFillTx/>
                <a:latin typeface="+mn-lt"/>
                <a:ea typeface="+mn-ea"/>
                <a:cs typeface="+mn-cs"/>
              </a:rPr>
              <a:t>("%d ",p-&gt;dado);</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a:ln>
                  <a:noFill/>
                </a:ln>
                <a:solidFill>
                  <a:schemeClr val="tx1"/>
                </a:solidFill>
                <a:effectLst/>
                <a:uLnTx/>
                <a:uFillTx/>
                <a:latin typeface="+mn-lt"/>
                <a:ea typeface="+mn-ea"/>
                <a:cs typeface="+mn-cs"/>
              </a:rPr>
              <a:t>     </a:t>
            </a:r>
            <a:r>
              <a:rPr kumimoji="0" lang="pt-BR" sz="2000" b="0" i="0" u="none" strike="noStrike" kern="1200" cap="none" spc="0" normalizeH="0" baseline="0" noProof="0" dirty="0" err="1">
                <a:ln>
                  <a:noFill/>
                </a:ln>
                <a:solidFill>
                  <a:schemeClr val="tx1"/>
                </a:solidFill>
                <a:effectLst/>
                <a:uLnTx/>
                <a:uFillTx/>
                <a:latin typeface="+mn-lt"/>
                <a:ea typeface="+mn-ea"/>
                <a:cs typeface="+mn-cs"/>
              </a:rPr>
              <a:t>if</a:t>
            </a:r>
            <a:r>
              <a:rPr kumimoji="0" lang="pt-BR" sz="2000" b="0" i="0" u="none" strike="noStrike" kern="1200" cap="none" spc="0" normalizeH="0" baseline="0" noProof="0" dirty="0">
                <a:ln>
                  <a:noFill/>
                </a:ln>
                <a:solidFill>
                  <a:schemeClr val="tx1"/>
                </a:solidFill>
                <a:effectLst/>
                <a:uLnTx/>
                <a:uFillTx/>
                <a:latin typeface="+mn-lt"/>
                <a:ea typeface="+mn-ea"/>
                <a:cs typeface="+mn-cs"/>
              </a:rPr>
              <a:t>(p-&gt;</a:t>
            </a:r>
            <a:r>
              <a:rPr kumimoji="0" lang="pt-BR" sz="2000" b="0" i="0" u="none" strike="noStrike" kern="1200" cap="none" spc="0" normalizeH="0" baseline="0" noProof="0" dirty="0" err="1">
                <a:ln>
                  <a:noFill/>
                </a:ln>
                <a:solidFill>
                  <a:schemeClr val="tx1"/>
                </a:solidFill>
                <a:effectLst/>
                <a:uLnTx/>
                <a:uFillTx/>
                <a:latin typeface="+mn-lt"/>
                <a:ea typeface="+mn-ea"/>
                <a:cs typeface="+mn-cs"/>
              </a:rPr>
              <a:t>dir</a:t>
            </a:r>
            <a:r>
              <a:rPr kumimoji="0" lang="pt-BR" sz="2000" b="0" i="0" u="none" strike="noStrike" kern="1200" cap="none" spc="0" normalizeH="0" baseline="0" noProof="0" dirty="0">
                <a:ln>
                  <a:noFill/>
                </a:ln>
                <a:solidFill>
                  <a:schemeClr val="tx1"/>
                </a:solidFill>
                <a:effectLst/>
                <a:uLnTx/>
                <a:uFillTx/>
                <a:latin typeface="+mn-lt"/>
                <a:ea typeface="+mn-ea"/>
                <a:cs typeface="+mn-cs"/>
              </a:rPr>
              <a:t>!=NULL)</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a:ln>
                  <a:noFill/>
                </a:ln>
                <a:solidFill>
                  <a:schemeClr val="tx1"/>
                </a:solidFill>
                <a:effectLst/>
                <a:uLnTx/>
                <a:uFillTx/>
                <a:latin typeface="+mn-lt"/>
                <a:ea typeface="+mn-ea"/>
                <a:cs typeface="+mn-cs"/>
              </a:rPr>
              <a:t>             </a:t>
            </a:r>
            <a:r>
              <a:rPr kumimoji="0" lang="pt-BR" sz="2000" b="0" i="0" u="none" strike="noStrike" kern="1200" cap="none" spc="0" normalizeH="0" baseline="0" noProof="0" dirty="0" err="1">
                <a:ln>
                  <a:noFill/>
                </a:ln>
                <a:solidFill>
                  <a:schemeClr val="tx1"/>
                </a:solidFill>
                <a:effectLst/>
                <a:uLnTx/>
                <a:uFillTx/>
                <a:latin typeface="+mn-lt"/>
                <a:ea typeface="+mn-ea"/>
                <a:cs typeface="+mn-cs"/>
              </a:rPr>
              <a:t>lista_em_ordem</a:t>
            </a:r>
            <a:r>
              <a:rPr kumimoji="0" lang="pt-BR" sz="2000" b="0" i="0" u="none" strike="noStrike" kern="1200" cap="none" spc="0" normalizeH="0" baseline="0" noProof="0" dirty="0">
                <a:ln>
                  <a:noFill/>
                </a:ln>
                <a:solidFill>
                  <a:schemeClr val="tx1"/>
                </a:solidFill>
                <a:effectLst/>
                <a:uLnTx/>
                <a:uFillTx/>
                <a:latin typeface="+mn-lt"/>
                <a:ea typeface="+mn-ea"/>
                <a:cs typeface="+mn-cs"/>
              </a:rPr>
              <a:t>(p-&gt;</a:t>
            </a:r>
            <a:r>
              <a:rPr kumimoji="0" lang="pt-BR" sz="2000" b="0" i="0" u="none" strike="noStrike" kern="1200" cap="none" spc="0" normalizeH="0" baseline="0" noProof="0" dirty="0" err="1">
                <a:ln>
                  <a:noFill/>
                </a:ln>
                <a:solidFill>
                  <a:schemeClr val="tx1"/>
                </a:solidFill>
                <a:effectLst/>
                <a:uLnTx/>
                <a:uFillTx/>
                <a:latin typeface="+mn-lt"/>
                <a:ea typeface="+mn-ea"/>
                <a:cs typeface="+mn-cs"/>
              </a:rPr>
              <a:t>dir</a:t>
            </a:r>
            <a:r>
              <a:rPr kumimoji="0" lang="pt-BR" sz="20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a:ln>
                  <a:noFill/>
                </a:ln>
                <a:solidFill>
                  <a:schemeClr val="tx1"/>
                </a:solidFill>
                <a:effectLst/>
                <a:uLnTx/>
                <a:uFillTx/>
                <a:latin typeface="+mn-lt"/>
                <a:ea typeface="+mn-ea"/>
                <a:cs typeface="+mn-cs"/>
              </a:rPr>
              <a:t>     }</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457200" rtl="0" eaLnBrk="1" fontAlgn="auto" latinLnBrk="0" hangingPunct="1">
              <a:lnSpc>
                <a:spcPct val="80000"/>
              </a:lnSpc>
              <a:spcBef>
                <a:spcPct val="20000"/>
              </a:spcBef>
              <a:spcAft>
                <a:spcPts val="0"/>
              </a:spcAft>
              <a:buClrTx/>
              <a:buSzTx/>
              <a:buFont typeface="Arial"/>
              <a:buChar char="•"/>
              <a:tabLst/>
              <a:defRPr/>
            </a:pPr>
            <a:endParaRPr kumimoji="0" lang="pt-BR"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8" name="Rectangle 3"/>
          <p:cNvSpPr txBox="1">
            <a:spLocks noChangeArrowheads="1"/>
          </p:cNvSpPr>
          <p:nvPr/>
        </p:nvSpPr>
        <p:spPr>
          <a:xfrm>
            <a:off x="0" y="431676"/>
            <a:ext cx="4876799" cy="3321690"/>
          </a:xfrm>
          <a:prstGeom prst="rect">
            <a:avLst/>
          </a:prstGeom>
          <a:solidFill>
            <a:schemeClr val="accent3">
              <a:lumMod val="40000"/>
              <a:lumOff val="60000"/>
            </a:schemeClr>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effectLst/>
                <a:uLnTx/>
                <a:uFillTx/>
                <a:latin typeface="+mn-lt"/>
                <a:ea typeface="+mn-ea"/>
                <a:cs typeface="+mn-cs"/>
              </a:rPr>
              <a:t>ATIVAÇÃO 2</a:t>
            </a:r>
          </a:p>
          <a:p>
            <a:pPr marL="342900" lvl="0" indent="-342900" defTabSz="457200">
              <a:lnSpc>
                <a:spcPct val="80000"/>
              </a:lnSpc>
              <a:spcBef>
                <a:spcPct val="20000"/>
              </a:spcBef>
              <a:defRPr/>
            </a:pPr>
            <a:r>
              <a:rPr lang="pt-BR" dirty="0" err="1"/>
              <a:t>private</a:t>
            </a:r>
            <a:r>
              <a:rPr lang="pt-BR" dirty="0"/>
              <a:t> </a:t>
            </a:r>
            <a:r>
              <a:rPr lang="pt-BR" dirty="0" err="1"/>
              <a:t>static</a:t>
            </a:r>
            <a:r>
              <a:rPr lang="pt-BR" dirty="0"/>
              <a:t> </a:t>
            </a:r>
            <a:r>
              <a:rPr lang="pt-BR" dirty="0" err="1"/>
              <a:t>void</a:t>
            </a:r>
            <a:r>
              <a:rPr lang="pt-BR" dirty="0"/>
              <a:t> </a:t>
            </a:r>
            <a:r>
              <a:rPr lang="pt-BR" dirty="0" err="1"/>
              <a:t>mostra_em_ordem</a:t>
            </a:r>
            <a:r>
              <a:rPr lang="pt-BR" dirty="0"/>
              <a:t>(ARVORE </a:t>
            </a:r>
            <a:r>
              <a:rPr lang="pt-BR" b="1" dirty="0">
                <a:solidFill>
                  <a:srgbClr val="0CA41A"/>
                </a:solidFill>
              </a:rPr>
              <a:t>p</a:t>
            </a:r>
            <a:r>
              <a:rPr lang="pt-BR" dirty="0"/>
              <a:t>) {</a:t>
            </a:r>
          </a:p>
          <a:p>
            <a:pPr marL="342900" lvl="0" indent="-342900" defTabSz="457200">
              <a:lnSpc>
                <a:spcPct val="80000"/>
              </a:lnSpc>
              <a:spcBef>
                <a:spcPct val="20000"/>
              </a:spcBef>
              <a:defRPr/>
            </a:pPr>
            <a:r>
              <a:rPr lang="pt-BR" dirty="0"/>
              <a:t>	</a:t>
            </a:r>
            <a:r>
              <a:rPr lang="pt-BR" b="1" dirty="0" err="1"/>
              <a:t>if</a:t>
            </a:r>
            <a:r>
              <a:rPr lang="pt-BR" b="1" dirty="0"/>
              <a:t> (p != </a:t>
            </a:r>
            <a:r>
              <a:rPr lang="pt-BR" b="1" dirty="0" err="1"/>
              <a:t>null</a:t>
            </a:r>
            <a:r>
              <a:rPr lang="pt-BR" b="1" dirty="0"/>
              <a:t>) {</a:t>
            </a:r>
          </a:p>
          <a:p>
            <a:pPr marL="342900" lvl="0" indent="-342900" defTabSz="457200">
              <a:lnSpc>
                <a:spcPct val="80000"/>
              </a:lnSpc>
              <a:spcBef>
                <a:spcPct val="20000"/>
              </a:spcBef>
              <a:defRPr/>
            </a:pPr>
            <a:r>
              <a:rPr lang="pt-BR" b="1" dirty="0"/>
              <a:t>        </a:t>
            </a:r>
            <a:r>
              <a:rPr lang="pt-BR" b="1" dirty="0" err="1"/>
              <a:t>if</a:t>
            </a:r>
            <a:r>
              <a:rPr lang="pt-BR" b="1" dirty="0"/>
              <a:t> (</a:t>
            </a:r>
            <a:r>
              <a:rPr lang="pt-BR" b="1" dirty="0" err="1"/>
              <a:t>p.esq</a:t>
            </a:r>
            <a:r>
              <a:rPr lang="pt-BR" b="1" dirty="0"/>
              <a:t> != </a:t>
            </a:r>
            <a:r>
              <a:rPr lang="pt-BR" b="1" dirty="0" err="1"/>
              <a:t>null</a:t>
            </a:r>
            <a:r>
              <a:rPr lang="pt-BR" b="1" dirty="0"/>
              <a:t>)</a:t>
            </a:r>
          </a:p>
          <a:p>
            <a:pPr marL="342900" lvl="0" indent="-342900" defTabSz="457200">
              <a:lnSpc>
                <a:spcPct val="80000"/>
              </a:lnSpc>
              <a:spcBef>
                <a:spcPct val="20000"/>
              </a:spcBef>
              <a:defRPr/>
            </a:pPr>
            <a:r>
              <a:rPr lang="pt-BR" dirty="0"/>
              <a:t>			</a:t>
            </a:r>
            <a:r>
              <a:rPr lang="pt-BR" dirty="0" err="1"/>
              <a:t>mostra_em_ordem</a:t>
            </a:r>
            <a:r>
              <a:rPr lang="pt-BR" dirty="0"/>
              <a:t>(</a:t>
            </a:r>
            <a:r>
              <a:rPr lang="pt-BR" dirty="0" err="1"/>
              <a:t>p.esq</a:t>
            </a:r>
            <a:r>
              <a:rPr lang="pt-BR" dirty="0"/>
              <a:t>);</a:t>
            </a:r>
          </a:p>
          <a:p>
            <a:pPr marL="342900" lvl="0" indent="-342900" defTabSz="457200">
              <a:lnSpc>
                <a:spcPct val="80000"/>
              </a:lnSpc>
              <a:spcBef>
                <a:spcPct val="20000"/>
              </a:spcBef>
              <a:defRPr/>
            </a:pPr>
            <a:r>
              <a:rPr lang="pt-BR" dirty="0"/>
              <a:t>		</a:t>
            </a:r>
            <a:r>
              <a:rPr lang="pt-BR" b="1" dirty="0"/>
              <a:t>System.</a:t>
            </a:r>
            <a:r>
              <a:rPr lang="pt-BR" b="1" dirty="0" err="1"/>
              <a:t>out.println</a:t>
            </a:r>
            <a:r>
              <a:rPr lang="pt-BR" b="1" dirty="0"/>
              <a:t>(" "  + </a:t>
            </a:r>
            <a:r>
              <a:rPr lang="pt-BR" b="1" dirty="0" err="1"/>
              <a:t>p.dado</a:t>
            </a:r>
            <a:r>
              <a:rPr lang="pt-BR" b="1" dirty="0"/>
              <a:t>);</a:t>
            </a:r>
          </a:p>
          <a:p>
            <a:pPr marL="342900" indent="-342900" defTabSz="457200">
              <a:lnSpc>
                <a:spcPct val="80000"/>
              </a:lnSpc>
              <a:spcBef>
                <a:spcPct val="20000"/>
              </a:spcBef>
              <a:defRPr/>
            </a:pPr>
            <a:r>
              <a:rPr lang="pt-BR" dirty="0"/>
              <a:t>	</a:t>
            </a:r>
            <a:r>
              <a:rPr lang="pt-BR" b="1" dirty="0"/>
              <a:t>	</a:t>
            </a:r>
            <a:r>
              <a:rPr lang="pt-BR" b="1" dirty="0" err="1"/>
              <a:t>if</a:t>
            </a:r>
            <a:r>
              <a:rPr lang="pt-BR" b="1" dirty="0"/>
              <a:t>(</a:t>
            </a:r>
            <a:r>
              <a:rPr lang="pt-BR" b="1" dirty="0" err="1">
                <a:solidFill>
                  <a:srgbClr val="4639F1"/>
                </a:solidFill>
              </a:rPr>
              <a:t>p.dir</a:t>
            </a:r>
            <a:r>
              <a:rPr lang="pt-BR" b="1" dirty="0"/>
              <a:t> != </a:t>
            </a:r>
            <a:r>
              <a:rPr lang="pt-BR" b="1" dirty="0" err="1"/>
              <a:t>null</a:t>
            </a:r>
            <a:r>
              <a:rPr lang="pt-BR" b="1" dirty="0"/>
              <a:t>)</a:t>
            </a:r>
          </a:p>
          <a:p>
            <a:pPr marL="342900" lvl="0" indent="-342900" defTabSz="457200">
              <a:lnSpc>
                <a:spcPct val="80000"/>
              </a:lnSpc>
              <a:spcBef>
                <a:spcPct val="20000"/>
              </a:spcBef>
              <a:defRPr/>
            </a:pPr>
            <a:r>
              <a:rPr lang="pt-BR" b="1" dirty="0"/>
              <a:t>			</a:t>
            </a:r>
            <a:r>
              <a:rPr lang="pt-BR" b="1" dirty="0" err="1"/>
              <a:t>mostra_em_ordem</a:t>
            </a:r>
            <a:r>
              <a:rPr lang="pt-BR" b="1" dirty="0"/>
              <a:t>(</a:t>
            </a:r>
            <a:r>
              <a:rPr lang="pt-BR" b="1" dirty="0" err="1">
                <a:solidFill>
                  <a:srgbClr val="5035F5"/>
                </a:solidFill>
              </a:rPr>
              <a:t>p.dir</a:t>
            </a:r>
            <a:r>
              <a:rPr lang="pt-BR" b="1" dirty="0"/>
              <a:t>);</a:t>
            </a:r>
          </a:p>
          <a:p>
            <a:pPr marL="342900" lvl="0" indent="-342900" defTabSz="457200">
              <a:lnSpc>
                <a:spcPct val="80000"/>
              </a:lnSpc>
              <a:spcBef>
                <a:spcPct val="20000"/>
              </a:spcBef>
              <a:defRPr/>
            </a:pPr>
            <a:r>
              <a:rPr lang="pt-BR" dirty="0"/>
              <a:t>		}</a:t>
            </a:r>
          </a:p>
          <a:p>
            <a:pPr marL="342900" lvl="0" indent="-342900" defTabSz="457200">
              <a:lnSpc>
                <a:spcPct val="80000"/>
              </a:lnSpc>
              <a:spcBef>
                <a:spcPct val="20000"/>
              </a:spcBef>
              <a:defRPr/>
            </a:pPr>
            <a:r>
              <a:rPr lang="pt-BR" dirty="0"/>
              <a:t>}</a:t>
            </a:r>
            <a:endParaRPr kumimoji="0" lang="pt-BR" b="0" i="0" u="none" strike="noStrike" kern="1200" cap="none" spc="0" normalizeH="0" baseline="0" noProof="0" dirty="0">
              <a:ln>
                <a:noFill/>
              </a:ln>
              <a:solidFill>
                <a:schemeClr val="tx1"/>
              </a:solidFill>
              <a:effectLst/>
              <a:uLnTx/>
              <a:uFillTx/>
              <a:latin typeface="+mn-lt"/>
              <a:ea typeface="+mn-ea"/>
              <a:cs typeface="+mn-cs"/>
            </a:endParaRPr>
          </a:p>
        </p:txBody>
      </p:sp>
      <p:grpSp>
        <p:nvGrpSpPr>
          <p:cNvPr id="2" name="Grupo 23"/>
          <p:cNvGrpSpPr/>
          <p:nvPr/>
        </p:nvGrpSpPr>
        <p:grpSpPr>
          <a:xfrm>
            <a:off x="4876799" y="422872"/>
            <a:ext cx="4140024" cy="4109676"/>
            <a:chOff x="4914400" y="1963413"/>
            <a:chExt cx="4140024" cy="4109676"/>
          </a:xfrm>
        </p:grpSpPr>
        <p:grpSp>
          <p:nvGrpSpPr>
            <p:cNvPr id="3" name="Grupo 1"/>
            <p:cNvGrpSpPr/>
            <p:nvPr/>
          </p:nvGrpSpPr>
          <p:grpSpPr>
            <a:xfrm>
              <a:off x="4914400" y="3753366"/>
              <a:ext cx="1545076" cy="2319723"/>
              <a:chOff x="4914400" y="3753366"/>
              <a:chExt cx="1545076" cy="2319723"/>
            </a:xfrm>
          </p:grpSpPr>
          <p:sp>
            <p:nvSpPr>
              <p:cNvPr id="37893" name="Oval 5"/>
              <p:cNvSpPr>
                <a:spLocks noChangeArrowheads="1"/>
              </p:cNvSpPr>
              <p:nvPr/>
            </p:nvSpPr>
            <p:spPr bwMode="auto">
              <a:xfrm>
                <a:off x="4914400"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23</a:t>
                </a:r>
              </a:p>
            </p:txBody>
          </p:sp>
          <p:sp>
            <p:nvSpPr>
              <p:cNvPr id="37897" name="Oval 9"/>
              <p:cNvSpPr>
                <a:spLocks noChangeArrowheads="1"/>
              </p:cNvSpPr>
              <p:nvPr/>
            </p:nvSpPr>
            <p:spPr bwMode="auto">
              <a:xfrm>
                <a:off x="5643448" y="5241961"/>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29</a:t>
                </a:r>
              </a:p>
            </p:txBody>
          </p:sp>
          <p:sp>
            <p:nvSpPr>
              <p:cNvPr id="37921" name="Line 33"/>
              <p:cNvSpPr>
                <a:spLocks noChangeShapeType="1"/>
              </p:cNvSpPr>
              <p:nvPr/>
            </p:nvSpPr>
            <p:spPr bwMode="auto">
              <a:xfrm>
                <a:off x="5573965" y="4532548"/>
                <a:ext cx="461075" cy="709413"/>
              </a:xfrm>
              <a:prstGeom prst="line">
                <a:avLst/>
              </a:prstGeom>
              <a:noFill/>
              <a:ln w="28575">
                <a:solidFill>
                  <a:srgbClr val="5035F5"/>
                </a:solidFill>
                <a:miter lim="800000"/>
                <a:headEnd type="none" w="med" len="med"/>
                <a:tailEnd type="triangle" w="med" len="med"/>
              </a:ln>
              <a:effectLst/>
            </p:spPr>
            <p:txBody>
              <a:bodyPr wrap="none"/>
              <a:lstStyle/>
              <a:p>
                <a:endParaRPr lang="pt-BR" sz="1200"/>
              </a:p>
            </p:txBody>
          </p:sp>
        </p:grpSp>
        <p:grpSp>
          <p:nvGrpSpPr>
            <p:cNvPr id="4" name="Grupo 21"/>
            <p:cNvGrpSpPr/>
            <p:nvPr/>
          </p:nvGrpSpPr>
          <p:grpSpPr>
            <a:xfrm>
              <a:off x="5610924" y="1963413"/>
              <a:ext cx="3443500" cy="2621081"/>
              <a:chOff x="5610924" y="1963413"/>
              <a:chExt cx="3443500" cy="2621081"/>
            </a:xfrm>
          </p:grpSpPr>
          <p:sp>
            <p:nvSpPr>
              <p:cNvPr id="37892" name="Oval 4"/>
              <p:cNvSpPr>
                <a:spLocks noChangeArrowheads="1"/>
              </p:cNvSpPr>
              <p:nvPr/>
            </p:nvSpPr>
            <p:spPr bwMode="auto">
              <a:xfrm>
                <a:off x="6600857" y="2585258"/>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37</a:t>
                </a:r>
              </a:p>
            </p:txBody>
          </p:sp>
          <p:sp>
            <p:nvSpPr>
              <p:cNvPr id="37895" name="Oval 7"/>
              <p:cNvSpPr>
                <a:spLocks noChangeArrowheads="1"/>
              </p:cNvSpPr>
              <p:nvPr/>
            </p:nvSpPr>
            <p:spPr bwMode="auto">
              <a:xfrm>
                <a:off x="8238396"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42</a:t>
                </a:r>
              </a:p>
            </p:txBody>
          </p:sp>
          <p:sp>
            <p:nvSpPr>
              <p:cNvPr id="37919" name="Line 31"/>
              <p:cNvSpPr>
                <a:spLocks noChangeShapeType="1"/>
              </p:cNvSpPr>
              <p:nvPr/>
            </p:nvSpPr>
            <p:spPr bwMode="auto">
              <a:xfrm>
                <a:off x="7416884" y="3131521"/>
                <a:ext cx="1091849" cy="712359"/>
              </a:xfrm>
              <a:prstGeom prst="line">
                <a:avLst/>
              </a:prstGeom>
              <a:noFill/>
              <a:ln w="9525">
                <a:solidFill>
                  <a:schemeClr val="tx1"/>
                </a:solidFill>
                <a:miter lim="800000"/>
                <a:headEnd/>
                <a:tailEnd/>
              </a:ln>
              <a:effectLst/>
            </p:spPr>
            <p:txBody>
              <a:bodyPr wrap="none"/>
              <a:lstStyle/>
              <a:p>
                <a:endParaRPr lang="pt-BR" sz="1200"/>
              </a:p>
            </p:txBody>
          </p:sp>
          <p:cxnSp>
            <p:nvCxnSpPr>
              <p:cNvPr id="27" name="Conector de seta reta 26"/>
              <p:cNvCxnSpPr>
                <a:endCxn id="37892" idx="0"/>
              </p:cNvCxnSpPr>
              <p:nvPr/>
            </p:nvCxnSpPr>
            <p:spPr>
              <a:xfrm rot="16200000" flipH="1">
                <a:off x="6688467" y="2264854"/>
                <a:ext cx="621844" cy="18963"/>
              </a:xfrm>
              <a:prstGeom prst="straightConnector1">
                <a:avLst/>
              </a:prstGeom>
              <a:ln w="28575">
                <a:solidFill>
                  <a:srgbClr val="F40C0C"/>
                </a:solidFill>
                <a:tailEnd type="arrow"/>
              </a:ln>
            </p:spPr>
            <p:style>
              <a:lnRef idx="2">
                <a:schemeClr val="accent1"/>
              </a:lnRef>
              <a:fillRef idx="0">
                <a:schemeClr val="accent1"/>
              </a:fillRef>
              <a:effectRef idx="1">
                <a:schemeClr val="accent1"/>
              </a:effectRef>
              <a:fontRef idx="minor">
                <a:schemeClr val="tx1"/>
              </a:fontRef>
            </p:style>
          </p:cxnSp>
          <p:sp>
            <p:nvSpPr>
              <p:cNvPr id="28" name="CaixaDeTexto 27"/>
              <p:cNvSpPr txBox="1"/>
              <p:nvPr/>
            </p:nvSpPr>
            <p:spPr>
              <a:xfrm>
                <a:off x="6519254" y="1963413"/>
                <a:ext cx="696475" cy="523221"/>
              </a:xfrm>
              <a:prstGeom prst="rect">
                <a:avLst/>
              </a:prstGeom>
              <a:noFill/>
            </p:spPr>
            <p:txBody>
              <a:bodyPr wrap="square" rtlCol="0">
                <a:spAutoFit/>
              </a:bodyPr>
              <a:lstStyle/>
              <a:p>
                <a:r>
                  <a:rPr lang="pt-BR" sz="2800" b="1" dirty="0">
                    <a:solidFill>
                      <a:srgbClr val="FF0000"/>
                    </a:solidFill>
                  </a:rPr>
                  <a:t>p</a:t>
                </a:r>
                <a:endParaRPr lang="pt-BR" b="1" dirty="0">
                  <a:solidFill>
                    <a:srgbClr val="FF0000"/>
                  </a:solidFill>
                </a:endParaRPr>
              </a:p>
            </p:txBody>
          </p:sp>
          <p:sp>
            <p:nvSpPr>
              <p:cNvPr id="19" name="CaixaDeTexto 18"/>
              <p:cNvSpPr txBox="1"/>
              <p:nvPr/>
            </p:nvSpPr>
            <p:spPr>
              <a:xfrm>
                <a:off x="5703225" y="2798258"/>
                <a:ext cx="696475" cy="523221"/>
              </a:xfrm>
              <a:prstGeom prst="rect">
                <a:avLst/>
              </a:prstGeom>
              <a:noFill/>
            </p:spPr>
            <p:txBody>
              <a:bodyPr wrap="square" rtlCol="0">
                <a:spAutoFit/>
              </a:bodyPr>
              <a:lstStyle/>
              <a:p>
                <a:r>
                  <a:rPr lang="pt-BR" sz="2800" b="1" dirty="0">
                    <a:solidFill>
                      <a:srgbClr val="00B050"/>
                    </a:solidFill>
                  </a:rPr>
                  <a:t>p</a:t>
                </a:r>
                <a:endParaRPr lang="pt-BR" b="1" dirty="0">
                  <a:solidFill>
                    <a:srgbClr val="00B050"/>
                  </a:solidFill>
                </a:endParaRPr>
              </a:p>
            </p:txBody>
          </p:sp>
          <p:cxnSp>
            <p:nvCxnSpPr>
              <p:cNvPr id="20" name="Conector de seta reta 19"/>
              <p:cNvCxnSpPr>
                <a:endCxn id="37893" idx="7"/>
              </p:cNvCxnSpPr>
              <p:nvPr/>
            </p:nvCxnSpPr>
            <p:spPr>
              <a:xfrm rot="10800000" flipV="1">
                <a:off x="5610924" y="3131522"/>
                <a:ext cx="989933" cy="743559"/>
              </a:xfrm>
              <a:prstGeom prst="straightConnector1">
                <a:avLst/>
              </a:prstGeom>
              <a:ln w="28575">
                <a:solidFill>
                  <a:srgbClr val="00B050"/>
                </a:solidFill>
                <a:tailEnd type="arrow"/>
              </a:ln>
            </p:spPr>
            <p:style>
              <a:lnRef idx="2">
                <a:schemeClr val="accent1"/>
              </a:lnRef>
              <a:fillRef idx="0">
                <a:schemeClr val="accent1"/>
              </a:fillRef>
              <a:effectRef idx="1">
                <a:schemeClr val="accent1"/>
              </a:effectRef>
              <a:fontRef idx="minor">
                <a:schemeClr val="tx1"/>
              </a:fontRef>
            </p:style>
          </p:cxnSp>
        </p:grpSp>
      </p:grpSp>
      <p:sp>
        <p:nvSpPr>
          <p:cNvPr id="23" name="CaixaDeTexto 22"/>
          <p:cNvSpPr txBox="1"/>
          <p:nvPr/>
        </p:nvSpPr>
        <p:spPr>
          <a:xfrm>
            <a:off x="213188" y="4584494"/>
            <a:ext cx="3568807" cy="646331"/>
          </a:xfrm>
          <a:prstGeom prst="rect">
            <a:avLst/>
          </a:prstGeom>
          <a:noFill/>
          <a:ln>
            <a:solidFill>
              <a:schemeClr val="tx1"/>
            </a:solidFill>
          </a:ln>
        </p:spPr>
        <p:txBody>
          <a:bodyPr wrap="square" rtlCol="0">
            <a:spAutoFit/>
          </a:bodyPr>
          <a:lstStyle/>
          <a:p>
            <a:r>
              <a:rPr lang="pt-BR" dirty="0"/>
              <a:t>Tela de Saída:</a:t>
            </a:r>
          </a:p>
          <a:p>
            <a:r>
              <a:rPr lang="pt-BR" b="1" dirty="0"/>
              <a:t>23  29</a:t>
            </a:r>
          </a:p>
        </p:txBody>
      </p:sp>
      <p:sp>
        <p:nvSpPr>
          <p:cNvPr id="24" name="Rectangle 3"/>
          <p:cNvSpPr txBox="1">
            <a:spLocks noChangeArrowheads="1"/>
          </p:cNvSpPr>
          <p:nvPr/>
        </p:nvSpPr>
        <p:spPr>
          <a:xfrm>
            <a:off x="1" y="724261"/>
            <a:ext cx="4876798" cy="3029105"/>
          </a:xfrm>
          <a:prstGeom prst="rect">
            <a:avLst/>
          </a:prstGeom>
          <a:solidFill>
            <a:srgbClr val="CCECFF"/>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solidFill>
                  <a:srgbClr val="5035F5"/>
                </a:solidFill>
                <a:effectLst/>
                <a:uLnTx/>
                <a:uFillTx/>
                <a:latin typeface="+mn-lt"/>
                <a:ea typeface="+mn-ea"/>
                <a:cs typeface="+mn-cs"/>
              </a:rPr>
              <a:t>ATIVAÇÃO 3</a:t>
            </a:r>
          </a:p>
          <a:p>
            <a:pPr marL="342900" lvl="0" indent="-342900" defTabSz="457200">
              <a:lnSpc>
                <a:spcPct val="80000"/>
              </a:lnSpc>
              <a:spcBef>
                <a:spcPct val="20000"/>
              </a:spcBef>
              <a:defRPr/>
            </a:pPr>
            <a:r>
              <a:rPr lang="pt-BR" sz="1800" b="1" dirty="0" err="1">
                <a:solidFill>
                  <a:srgbClr val="7F0055"/>
                </a:solidFill>
                <a:latin typeface="Consolas" panose="020B0609020204030204" pitchFamily="49" charset="0"/>
              </a:rPr>
              <a:t>public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static</a:t>
            </a: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void</a:t>
            </a:r>
            <a:r>
              <a:rPr lang="pt-BR" sz="1800" b="1" dirty="0">
                <a:solidFill>
                  <a:srgbClr val="7F0055"/>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kumimoji="0" lang="pt-BR" sz="1800" b="0" i="0" u="none" strike="noStrike" kern="1200" cap="none" spc="0" normalizeH="0" baseline="0" noProof="0" dirty="0">
                <a:ln>
                  <a:noFill/>
                </a:ln>
                <a:solidFill>
                  <a:schemeClr val="tx1"/>
                </a:solidFill>
                <a:effectLst/>
                <a:uLnTx/>
                <a:uFillTx/>
                <a:latin typeface="+mn-lt"/>
                <a:ea typeface="+mn-ea"/>
                <a:cs typeface="+mn-cs"/>
              </a:rPr>
              <a:t>(NO</a:t>
            </a:r>
            <a:r>
              <a:rPr lang="pt-BR" dirty="0"/>
              <a:t> </a:t>
            </a:r>
            <a:r>
              <a:rPr lang="pt-BR" b="1" dirty="0">
                <a:solidFill>
                  <a:srgbClr val="5035F5"/>
                </a:solidFill>
              </a:rPr>
              <a:t>p</a:t>
            </a:r>
            <a:r>
              <a:rPr lang="pt-BR" dirty="0"/>
              <a:t>) </a:t>
            </a:r>
            <a:r>
              <a:rPr lang="pt-BR" b="1" dirty="0"/>
              <a:t>{</a:t>
            </a:r>
          </a:p>
          <a:p>
            <a:pPr marL="342900" lvl="0" indent="-342900" defTabSz="457200">
              <a:lnSpc>
                <a:spcPct val="80000"/>
              </a:lnSpc>
              <a:spcBef>
                <a:spcPct val="20000"/>
              </a:spcBef>
              <a:defRPr/>
            </a:pPr>
            <a:r>
              <a:rPr lang="pt-BR" dirty="0"/>
              <a:t>	</a:t>
            </a:r>
            <a:r>
              <a:rPr lang="pt-BR" b="1" dirty="0" err="1"/>
              <a:t>if</a:t>
            </a:r>
            <a:r>
              <a:rPr lang="pt-BR" b="1" dirty="0"/>
              <a:t> (p != </a:t>
            </a:r>
            <a:r>
              <a:rPr lang="pt-BR" b="1" dirty="0" err="1"/>
              <a:t>null</a:t>
            </a:r>
            <a:r>
              <a:rPr lang="pt-BR" b="1" dirty="0"/>
              <a:t>) {</a:t>
            </a:r>
          </a:p>
          <a:p>
            <a:pPr marL="342900" lvl="0" indent="-342900" defTabSz="457200">
              <a:lnSpc>
                <a:spcPct val="80000"/>
              </a:lnSpc>
              <a:spcBef>
                <a:spcPct val="20000"/>
              </a:spcBef>
              <a:defRPr/>
            </a:pPr>
            <a:r>
              <a:rPr lang="pt-BR" b="1" dirty="0"/>
              <a:t>        </a:t>
            </a:r>
            <a:r>
              <a:rPr lang="pt-BR" b="1" dirty="0" err="1"/>
              <a:t>if</a:t>
            </a:r>
            <a:r>
              <a:rPr lang="pt-BR" b="1" dirty="0"/>
              <a:t> (</a:t>
            </a:r>
            <a:r>
              <a:rPr lang="pt-BR" b="1" dirty="0" err="1"/>
              <a:t>p.esq</a:t>
            </a:r>
            <a:r>
              <a:rPr lang="pt-BR" b="1" dirty="0"/>
              <a:t> != </a:t>
            </a:r>
            <a:r>
              <a:rPr lang="pt-BR" b="1" dirty="0" err="1"/>
              <a:t>null</a:t>
            </a:r>
            <a:r>
              <a:rPr lang="pt-BR" b="1" dirty="0"/>
              <a:t>)</a:t>
            </a:r>
          </a:p>
          <a:p>
            <a:pPr marL="342900" lvl="0" indent="-342900" defTabSz="457200">
              <a:lnSpc>
                <a:spcPct val="80000"/>
              </a:lnSpc>
              <a:spcBef>
                <a:spcPct val="20000"/>
              </a:spcBef>
              <a:defRPr/>
            </a:pPr>
            <a:r>
              <a:rPr lang="pt-BR" dirty="0"/>
              <a:t>	</a:t>
            </a:r>
            <a:r>
              <a:rPr lang="pt-BR" b="1" dirty="0"/>
              <a:t>	</a:t>
            </a:r>
            <a:r>
              <a:rPr lang="pt-BR" dirty="0"/>
              <a:t>	</a:t>
            </a:r>
            <a:r>
              <a:rPr lang="pt-BR" sz="1800" b="1" dirty="0">
                <a:solidFill>
                  <a:srgbClr val="000000"/>
                </a:solidFill>
                <a:latin typeface="Consolas" panose="020B0609020204030204" pitchFamily="49" charset="0"/>
              </a:rPr>
              <a:t> </a:t>
            </a:r>
            <a:r>
              <a:rPr lang="pt-BR" sz="1800" dirty="0" err="1">
                <a:solidFill>
                  <a:srgbClr val="000000"/>
                </a:solidFill>
                <a:latin typeface="Consolas" panose="020B0609020204030204" pitchFamily="49" charset="0"/>
              </a:rPr>
              <a:t>inOrdem</a:t>
            </a:r>
            <a:r>
              <a:rPr lang="pt-BR" dirty="0"/>
              <a:t>(</a:t>
            </a:r>
            <a:r>
              <a:rPr lang="pt-BR" dirty="0" err="1"/>
              <a:t>p.esq</a:t>
            </a:r>
            <a:r>
              <a:rPr lang="pt-BR" dirty="0"/>
              <a:t>);</a:t>
            </a:r>
          </a:p>
          <a:p>
            <a:pPr marL="342900" lvl="0" indent="-342900" defTabSz="457200">
              <a:lnSpc>
                <a:spcPct val="80000"/>
              </a:lnSpc>
              <a:spcBef>
                <a:spcPct val="20000"/>
              </a:spcBef>
              <a:defRPr/>
            </a:pPr>
            <a:r>
              <a:rPr lang="pt-BR" dirty="0"/>
              <a:t>		</a:t>
            </a:r>
            <a:r>
              <a:rPr lang="pt-BR" b="1" dirty="0"/>
              <a:t>System.</a:t>
            </a:r>
            <a:r>
              <a:rPr lang="pt-BR" b="1" dirty="0" err="1"/>
              <a:t>out.println</a:t>
            </a:r>
            <a:r>
              <a:rPr lang="pt-BR" b="1" dirty="0"/>
              <a:t>(" "  + </a:t>
            </a:r>
            <a:r>
              <a:rPr lang="pt-BR" b="1" dirty="0" err="1"/>
              <a:t>p.dado</a:t>
            </a:r>
            <a:r>
              <a:rPr lang="pt-BR" b="1" dirty="0"/>
              <a:t>);</a:t>
            </a:r>
          </a:p>
          <a:p>
            <a:pPr marL="342900" indent="-342900" defTabSz="457200">
              <a:lnSpc>
                <a:spcPct val="80000"/>
              </a:lnSpc>
              <a:spcBef>
                <a:spcPct val="20000"/>
              </a:spcBef>
              <a:defRPr/>
            </a:pPr>
            <a:r>
              <a:rPr lang="pt-BR" dirty="0"/>
              <a:t>		</a:t>
            </a:r>
            <a:r>
              <a:rPr lang="pt-BR" b="1" dirty="0" err="1"/>
              <a:t>if</a:t>
            </a:r>
            <a:r>
              <a:rPr lang="pt-BR" b="1" dirty="0"/>
              <a:t>(</a:t>
            </a:r>
            <a:r>
              <a:rPr lang="pt-BR" b="1" dirty="0" err="1"/>
              <a:t>p.dir</a:t>
            </a:r>
            <a:r>
              <a:rPr lang="pt-BR" b="1" dirty="0"/>
              <a:t> != </a:t>
            </a:r>
            <a:r>
              <a:rPr lang="pt-BR" b="1" dirty="0" err="1"/>
              <a:t>null</a:t>
            </a:r>
            <a:r>
              <a:rPr lang="pt-BR" b="1" dirty="0"/>
              <a:t>)</a:t>
            </a:r>
          </a:p>
          <a:p>
            <a:pPr marL="342900" lvl="0" indent="-342900" defTabSz="457200">
              <a:lnSpc>
                <a:spcPct val="80000"/>
              </a:lnSpc>
              <a:spcBef>
                <a:spcPct val="20000"/>
              </a:spcBef>
              <a:defRPr/>
            </a:pPr>
            <a:r>
              <a:rPr lang="pt-BR" dirty="0"/>
              <a:t>			</a:t>
            </a:r>
            <a:r>
              <a:rPr lang="pt-BR" sz="1800" dirty="0">
                <a:solidFill>
                  <a:srgbClr val="000000"/>
                </a:solidFill>
                <a:latin typeface="Consolas" panose="020B0609020204030204" pitchFamily="49" charset="0"/>
              </a:rPr>
              <a:t> </a:t>
            </a:r>
            <a:r>
              <a:rPr lang="pt-BR" sz="1800" dirty="0" err="1">
                <a:solidFill>
                  <a:srgbClr val="000000"/>
                </a:solidFill>
                <a:latin typeface="Consolas" panose="020B0609020204030204" pitchFamily="49" charset="0"/>
              </a:rPr>
              <a:t>inOrdem</a:t>
            </a:r>
            <a:r>
              <a:rPr lang="pt-BR" dirty="0"/>
              <a:t>(</a:t>
            </a:r>
            <a:r>
              <a:rPr lang="pt-BR" dirty="0" err="1"/>
              <a:t>p.dir</a:t>
            </a:r>
            <a:r>
              <a:rPr lang="pt-BR" dirty="0"/>
              <a:t>);</a:t>
            </a:r>
          </a:p>
          <a:p>
            <a:pPr marL="342900" lvl="0" indent="-342900" defTabSz="457200">
              <a:lnSpc>
                <a:spcPct val="80000"/>
              </a:lnSpc>
              <a:spcBef>
                <a:spcPct val="20000"/>
              </a:spcBef>
              <a:defRPr/>
            </a:pPr>
            <a:r>
              <a:rPr lang="pt-BR" dirty="0"/>
              <a:t>	</a:t>
            </a:r>
            <a:r>
              <a:rPr lang="pt-BR" b="1" dirty="0"/>
              <a:t>	}</a:t>
            </a:r>
          </a:p>
          <a:p>
            <a:pPr marL="342900" lvl="0" indent="-342900" defTabSz="457200">
              <a:lnSpc>
                <a:spcPct val="80000"/>
              </a:lnSpc>
              <a:spcBef>
                <a:spcPct val="20000"/>
              </a:spcBef>
              <a:defRPr/>
            </a:pPr>
            <a:r>
              <a:rPr lang="pt-BR" b="1" dirty="0"/>
              <a:t>}</a:t>
            </a:r>
            <a:endParaRPr kumimoji="0" lang="pt-BR" b="1" i="0" u="none" strike="noStrike" kern="1200" cap="none" spc="0" normalizeH="0" baseline="0" noProof="0" dirty="0">
              <a:ln>
                <a:noFill/>
              </a:ln>
              <a:solidFill>
                <a:schemeClr val="tx1"/>
              </a:solidFill>
              <a:effectLst/>
              <a:uLnTx/>
              <a:uFillTx/>
              <a:latin typeface="+mn-lt"/>
              <a:ea typeface="+mn-ea"/>
              <a:cs typeface="+mn-cs"/>
            </a:endParaRPr>
          </a:p>
        </p:txBody>
      </p:sp>
      <p:sp>
        <p:nvSpPr>
          <p:cNvPr id="25" name="CaixaDeTexto 24"/>
          <p:cNvSpPr txBox="1"/>
          <p:nvPr/>
        </p:nvSpPr>
        <p:spPr>
          <a:xfrm>
            <a:off x="5856725" y="2893165"/>
            <a:ext cx="696475" cy="523221"/>
          </a:xfrm>
          <a:prstGeom prst="rect">
            <a:avLst/>
          </a:prstGeom>
          <a:noFill/>
        </p:spPr>
        <p:txBody>
          <a:bodyPr wrap="square" rtlCol="0">
            <a:spAutoFit/>
          </a:bodyPr>
          <a:lstStyle/>
          <a:p>
            <a:r>
              <a:rPr lang="pt-BR" sz="2800" b="1" dirty="0">
                <a:solidFill>
                  <a:srgbClr val="5035F5"/>
                </a:solidFill>
              </a:rPr>
              <a:t>p</a:t>
            </a:r>
            <a:endParaRPr lang="pt-BR" b="1" dirty="0">
              <a:solidFill>
                <a:srgbClr val="5035F5"/>
              </a:solidFill>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ço Reservado para Número de Slide 20"/>
          <p:cNvSpPr>
            <a:spLocks noGrp="1"/>
          </p:cNvSpPr>
          <p:nvPr>
            <p:ph type="sldNum" sz="quarter" idx="12"/>
          </p:nvPr>
        </p:nvSpPr>
        <p:spPr/>
        <p:txBody>
          <a:bodyPr/>
          <a:lstStyle/>
          <a:p>
            <a:fld id="{0DBB9FE3-D63C-4A40-B010-4651D12E128D}" type="slidenum">
              <a:rPr lang="pt-BR" smtClean="0"/>
              <a:pPr/>
              <a:t>42</a:t>
            </a:fld>
            <a:endParaRPr lang="pt-BR"/>
          </a:p>
        </p:txBody>
      </p:sp>
      <p:sp>
        <p:nvSpPr>
          <p:cNvPr id="29" name="Rectangle 3"/>
          <p:cNvSpPr txBox="1">
            <a:spLocks noChangeArrowheads="1"/>
          </p:cNvSpPr>
          <p:nvPr/>
        </p:nvSpPr>
        <p:spPr>
          <a:xfrm>
            <a:off x="1" y="94696"/>
            <a:ext cx="4876798" cy="3321690"/>
          </a:xfrm>
          <a:prstGeom prst="rect">
            <a:avLst/>
          </a:prstGeom>
          <a:solidFill>
            <a:schemeClr val="accent2">
              <a:lumMod val="60000"/>
              <a:lumOff val="40000"/>
              <a:alpha val="13000"/>
            </a:schemeClr>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solidFill>
                  <a:srgbClr val="FF0000"/>
                </a:solidFill>
                <a:effectLst/>
                <a:uLnTx/>
                <a:uFillTx/>
                <a:latin typeface="+mn-lt"/>
                <a:ea typeface="+mn-ea"/>
                <a:cs typeface="+mn-cs"/>
              </a:rPr>
              <a:t>ATIVAÇÃO 1</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err="1">
                <a:ln>
                  <a:noFill/>
                </a:ln>
                <a:solidFill>
                  <a:schemeClr val="tx1"/>
                </a:solidFill>
                <a:effectLst/>
                <a:uLnTx/>
                <a:uFillTx/>
                <a:latin typeface="+mn-lt"/>
                <a:ea typeface="+mn-ea"/>
                <a:cs typeface="+mn-cs"/>
              </a:rPr>
              <a:t>void</a:t>
            </a:r>
            <a:r>
              <a:rPr kumimoji="0" lang="pt-BR" sz="2000" b="0" i="0" u="none" strike="noStrike" kern="1200" cap="none" spc="0" normalizeH="0" baseline="0" noProof="0" dirty="0">
                <a:ln>
                  <a:noFill/>
                </a:ln>
                <a:solidFill>
                  <a:schemeClr val="tx1"/>
                </a:solidFill>
                <a:effectLst/>
                <a:uLnTx/>
                <a:uFillTx/>
                <a:latin typeface="+mn-lt"/>
                <a:ea typeface="+mn-ea"/>
                <a:cs typeface="+mn-cs"/>
              </a:rPr>
              <a:t> </a:t>
            </a:r>
            <a:r>
              <a:rPr kumimoji="0" lang="pt-BR" sz="2000" b="0" i="0" u="none" strike="noStrike" kern="1200" cap="none" spc="0" normalizeH="0" baseline="0" noProof="0" dirty="0" err="1">
                <a:ln>
                  <a:noFill/>
                </a:ln>
                <a:solidFill>
                  <a:schemeClr val="tx1"/>
                </a:solidFill>
                <a:effectLst/>
                <a:uLnTx/>
                <a:uFillTx/>
                <a:latin typeface="+mn-lt"/>
                <a:ea typeface="+mn-ea"/>
                <a:cs typeface="+mn-cs"/>
              </a:rPr>
              <a:t>lista_em_ordem</a:t>
            </a:r>
            <a:r>
              <a:rPr kumimoji="0" lang="pt-BR" sz="2000" b="0" i="0" u="none" strike="noStrike" kern="1200" cap="none" spc="0" normalizeH="0" baseline="0" noProof="0" dirty="0">
                <a:ln>
                  <a:noFill/>
                </a:ln>
                <a:solidFill>
                  <a:schemeClr val="tx1"/>
                </a:solidFill>
                <a:effectLst/>
                <a:uLnTx/>
                <a:uFillTx/>
                <a:latin typeface="+mn-lt"/>
                <a:ea typeface="+mn-ea"/>
                <a:cs typeface="+mn-cs"/>
              </a:rPr>
              <a:t>(</a:t>
            </a:r>
            <a:r>
              <a:rPr kumimoji="0" lang="pt-BR" sz="2000" b="0" i="0" u="none" strike="noStrike" kern="1200" cap="none" spc="0" normalizeH="0" baseline="0" noProof="0" dirty="0" err="1">
                <a:ln>
                  <a:noFill/>
                </a:ln>
                <a:solidFill>
                  <a:schemeClr val="tx1"/>
                </a:solidFill>
                <a:effectLst/>
                <a:uLnTx/>
                <a:uFillTx/>
                <a:latin typeface="+mn-lt"/>
                <a:ea typeface="+mn-ea"/>
                <a:cs typeface="+mn-cs"/>
              </a:rPr>
              <a:t>TipoArvore</a:t>
            </a:r>
            <a:r>
              <a:rPr kumimoji="0" lang="pt-BR" sz="2000" b="0" i="0" u="none" strike="noStrike" kern="1200" cap="none" spc="0" normalizeH="0" baseline="0" noProof="0" dirty="0">
                <a:ln>
                  <a:noFill/>
                </a:ln>
                <a:solidFill>
                  <a:schemeClr val="tx1"/>
                </a:solidFill>
                <a:effectLst/>
                <a:uLnTx/>
                <a:uFillTx/>
                <a:latin typeface="+mn-lt"/>
                <a:ea typeface="+mn-ea"/>
                <a:cs typeface="+mn-cs"/>
              </a:rPr>
              <a:t>  </a:t>
            </a:r>
            <a:r>
              <a:rPr kumimoji="0" lang="pt-BR" sz="2400" b="1" i="0" u="none" strike="noStrike" kern="1200" cap="none" spc="0" normalizeH="0" baseline="0" noProof="0" dirty="0">
                <a:ln>
                  <a:noFill/>
                </a:ln>
                <a:solidFill>
                  <a:srgbClr val="FF0000"/>
                </a:solidFill>
                <a:effectLst/>
                <a:uLnTx/>
                <a:uFillTx/>
                <a:latin typeface="+mn-lt"/>
                <a:ea typeface="+mn-ea"/>
                <a:cs typeface="+mn-cs"/>
              </a:rPr>
              <a:t>p</a:t>
            </a:r>
            <a:r>
              <a:rPr kumimoji="0" lang="pt-BR" sz="2000" b="0" i="0" u="none" strike="noStrike" kern="1200" cap="none" spc="0" normalizeH="0" baseline="0" noProof="0" dirty="0">
                <a:ln>
                  <a:noFill/>
                </a:ln>
                <a:solidFill>
                  <a:schemeClr val="tx1"/>
                </a:solidFill>
                <a:effectLst/>
                <a:uLnTx/>
                <a:uFillTx/>
                <a:latin typeface="+mn-lt"/>
                <a:ea typeface="+mn-ea"/>
                <a:cs typeface="+mn-cs"/>
              </a:rPr>
              <a:t>)</a:t>
            </a:r>
            <a:r>
              <a:rPr kumimoji="0" lang="pt-BR" sz="2000" b="0" i="0" u="none" strike="noStrike" kern="1200" cap="none" spc="0" normalizeH="0" noProof="0" dirty="0">
                <a:ln>
                  <a:noFill/>
                </a:ln>
                <a:solidFill>
                  <a:schemeClr val="tx1"/>
                </a:solidFill>
                <a:effectLst/>
                <a:uLnTx/>
                <a:uFillTx/>
                <a:latin typeface="+mn-lt"/>
                <a:ea typeface="+mn-ea"/>
                <a:cs typeface="+mn-cs"/>
              </a:rPr>
              <a:t>  </a:t>
            </a:r>
            <a:r>
              <a:rPr kumimoji="0" lang="pt-BR" sz="20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1" i="0" u="none" strike="noStrike" kern="1200" cap="none" spc="0" normalizeH="0" baseline="0" noProof="0" dirty="0" err="1">
                <a:ln>
                  <a:noFill/>
                </a:ln>
                <a:solidFill>
                  <a:schemeClr val="tx1"/>
                </a:solidFill>
                <a:effectLst/>
                <a:uLnTx/>
                <a:uFillTx/>
                <a:latin typeface="+mn-lt"/>
                <a:ea typeface="+mn-ea"/>
                <a:cs typeface="+mn-cs"/>
              </a:rPr>
              <a:t>if</a:t>
            </a:r>
            <a:r>
              <a:rPr kumimoji="0" lang="pt-BR" sz="2000" b="1" i="0" u="none" strike="noStrike" kern="1200" cap="none" spc="0" normalizeH="0" baseline="0" noProof="0" dirty="0">
                <a:ln>
                  <a:noFill/>
                </a:ln>
                <a:solidFill>
                  <a:schemeClr val="tx1"/>
                </a:solidFill>
                <a:effectLst/>
                <a:uLnTx/>
                <a:uFillTx/>
                <a:latin typeface="+mn-lt"/>
                <a:ea typeface="+mn-ea"/>
                <a:cs typeface="+mn-cs"/>
              </a:rPr>
              <a:t> (p!=NULL)  {</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1" i="0" u="none" strike="noStrike" kern="1200" cap="none" spc="0" normalizeH="0" baseline="0" noProof="0" dirty="0">
                <a:ln>
                  <a:noFill/>
                </a:ln>
                <a:solidFill>
                  <a:schemeClr val="tx1"/>
                </a:solidFill>
                <a:effectLst/>
                <a:uLnTx/>
                <a:uFillTx/>
                <a:latin typeface="+mn-lt"/>
                <a:ea typeface="+mn-ea"/>
                <a:cs typeface="+mn-cs"/>
              </a:rPr>
              <a:t>     </a:t>
            </a:r>
            <a:r>
              <a:rPr kumimoji="0" lang="pt-BR" sz="2000" b="1" i="0" u="none" strike="noStrike" kern="1200" cap="none" spc="0" normalizeH="0" baseline="0" noProof="0" dirty="0" err="1">
                <a:ln>
                  <a:noFill/>
                </a:ln>
                <a:solidFill>
                  <a:schemeClr val="tx1"/>
                </a:solidFill>
                <a:effectLst/>
                <a:uLnTx/>
                <a:uFillTx/>
                <a:latin typeface="+mn-lt"/>
                <a:ea typeface="+mn-ea"/>
                <a:cs typeface="+mn-cs"/>
              </a:rPr>
              <a:t>if</a:t>
            </a:r>
            <a:r>
              <a:rPr kumimoji="0" lang="pt-BR" sz="2000" b="1" i="0" u="none" strike="noStrike" kern="1200" cap="none" spc="0" normalizeH="0" baseline="0" noProof="0" dirty="0">
                <a:ln>
                  <a:noFill/>
                </a:ln>
                <a:solidFill>
                  <a:schemeClr val="tx1"/>
                </a:solidFill>
                <a:effectLst/>
                <a:uLnTx/>
                <a:uFillTx/>
                <a:latin typeface="+mn-lt"/>
                <a:ea typeface="+mn-ea"/>
                <a:cs typeface="+mn-cs"/>
              </a:rPr>
              <a:t>(p-&gt;</a:t>
            </a:r>
            <a:r>
              <a:rPr kumimoji="0" lang="pt-BR" sz="2000" b="1" i="0" u="none" strike="noStrike" kern="1200" cap="none" spc="0" normalizeH="0" baseline="0" noProof="0" dirty="0" err="1">
                <a:ln>
                  <a:noFill/>
                </a:ln>
                <a:solidFill>
                  <a:schemeClr val="tx1"/>
                </a:solidFill>
                <a:effectLst/>
                <a:uLnTx/>
                <a:uFillTx/>
                <a:latin typeface="+mn-lt"/>
                <a:ea typeface="+mn-ea"/>
                <a:cs typeface="+mn-cs"/>
              </a:rPr>
              <a:t>esq</a:t>
            </a:r>
            <a:r>
              <a:rPr kumimoji="0" lang="pt-BR" sz="2000" b="1" i="0" u="none" strike="noStrike" kern="1200" cap="none" spc="0" normalizeH="0" baseline="0" noProof="0" dirty="0">
                <a:ln>
                  <a:noFill/>
                </a:ln>
                <a:solidFill>
                  <a:schemeClr val="tx1"/>
                </a:solidFill>
                <a:effectLst/>
                <a:uLnTx/>
                <a:uFillTx/>
                <a:latin typeface="+mn-lt"/>
                <a:ea typeface="+mn-ea"/>
                <a:cs typeface="+mn-cs"/>
              </a:rPr>
              <a:t>!=NULL) </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1" i="0" u="none" strike="noStrike" kern="1200" cap="none" spc="0" normalizeH="0" baseline="0" noProof="0" dirty="0">
                <a:ln>
                  <a:noFill/>
                </a:ln>
                <a:solidFill>
                  <a:schemeClr val="tx1"/>
                </a:solidFill>
                <a:effectLst/>
                <a:uLnTx/>
                <a:uFillTx/>
                <a:latin typeface="+mn-lt"/>
                <a:ea typeface="+mn-ea"/>
                <a:cs typeface="+mn-cs"/>
              </a:rPr>
              <a:t>            </a:t>
            </a:r>
            <a:r>
              <a:rPr kumimoji="0" lang="pt-BR" sz="2000" b="1" i="0" u="none" strike="noStrike" kern="1200" cap="none" spc="0" normalizeH="0" baseline="0" noProof="0" dirty="0" err="1">
                <a:ln>
                  <a:noFill/>
                </a:ln>
                <a:solidFill>
                  <a:schemeClr val="tx1"/>
                </a:solidFill>
                <a:effectLst/>
                <a:uLnTx/>
                <a:uFillTx/>
                <a:latin typeface="+mn-lt"/>
                <a:ea typeface="+mn-ea"/>
                <a:cs typeface="+mn-cs"/>
              </a:rPr>
              <a:t>lista_em_ordem</a:t>
            </a:r>
            <a:r>
              <a:rPr kumimoji="0" lang="pt-BR" sz="2000" b="1" i="0" u="none" strike="noStrike" kern="1200" cap="none" spc="0" normalizeH="0" baseline="0" noProof="0" dirty="0">
                <a:ln>
                  <a:noFill/>
                </a:ln>
                <a:solidFill>
                  <a:schemeClr val="tx1"/>
                </a:solidFill>
                <a:effectLst/>
                <a:uLnTx/>
                <a:uFillTx/>
                <a:latin typeface="+mn-lt"/>
                <a:ea typeface="+mn-ea"/>
                <a:cs typeface="+mn-cs"/>
              </a:rPr>
              <a:t>(</a:t>
            </a:r>
            <a:r>
              <a:rPr kumimoji="0" lang="pt-BR" sz="2000" b="1" i="0" u="none" strike="noStrike" kern="1200" cap="none" spc="0" normalizeH="0" baseline="0" noProof="0" dirty="0">
                <a:ln>
                  <a:noFill/>
                </a:ln>
                <a:solidFill>
                  <a:srgbClr val="00B050"/>
                </a:solidFill>
                <a:effectLst/>
                <a:uLnTx/>
                <a:uFillTx/>
                <a:latin typeface="+mn-lt"/>
                <a:ea typeface="+mn-ea"/>
                <a:cs typeface="+mn-cs"/>
              </a:rPr>
              <a:t>p-&gt;</a:t>
            </a:r>
            <a:r>
              <a:rPr kumimoji="0" lang="pt-BR" sz="2000" b="1" i="0" u="none" strike="noStrike" kern="1200" cap="none" spc="0" normalizeH="0" baseline="0" noProof="0" dirty="0" err="1">
                <a:ln>
                  <a:noFill/>
                </a:ln>
                <a:solidFill>
                  <a:srgbClr val="00B050"/>
                </a:solidFill>
                <a:effectLst/>
                <a:uLnTx/>
                <a:uFillTx/>
                <a:latin typeface="+mn-lt"/>
                <a:ea typeface="+mn-ea"/>
                <a:cs typeface="+mn-cs"/>
              </a:rPr>
              <a:t>esq</a:t>
            </a:r>
            <a:r>
              <a:rPr kumimoji="0" lang="pt-BR" sz="2000" b="1"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a:ln>
                  <a:noFill/>
                </a:ln>
                <a:solidFill>
                  <a:schemeClr val="tx1"/>
                </a:solidFill>
                <a:effectLst/>
                <a:uLnTx/>
                <a:uFillTx/>
                <a:latin typeface="+mn-lt"/>
                <a:ea typeface="+mn-ea"/>
                <a:cs typeface="+mn-cs"/>
              </a:rPr>
              <a:t>     </a:t>
            </a:r>
            <a:r>
              <a:rPr kumimoji="0" lang="pt-BR" sz="2000" b="0" i="0" u="none" strike="noStrike" kern="1200" cap="none" spc="0" normalizeH="0" baseline="0" noProof="0" dirty="0" err="1">
                <a:ln>
                  <a:noFill/>
                </a:ln>
                <a:solidFill>
                  <a:schemeClr val="tx1"/>
                </a:solidFill>
                <a:effectLst/>
                <a:uLnTx/>
                <a:uFillTx/>
                <a:latin typeface="+mn-lt"/>
                <a:ea typeface="+mn-ea"/>
                <a:cs typeface="+mn-cs"/>
              </a:rPr>
              <a:t>printf</a:t>
            </a:r>
            <a:r>
              <a:rPr kumimoji="0" lang="pt-BR" sz="2000" b="0" i="0" u="none" strike="noStrike" kern="1200" cap="none" spc="0" normalizeH="0" baseline="0" noProof="0" dirty="0">
                <a:ln>
                  <a:noFill/>
                </a:ln>
                <a:solidFill>
                  <a:schemeClr val="tx1"/>
                </a:solidFill>
                <a:effectLst/>
                <a:uLnTx/>
                <a:uFillTx/>
                <a:latin typeface="+mn-lt"/>
                <a:ea typeface="+mn-ea"/>
                <a:cs typeface="+mn-cs"/>
              </a:rPr>
              <a:t>("%d ",p-&gt;dado);</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a:ln>
                  <a:noFill/>
                </a:ln>
                <a:solidFill>
                  <a:schemeClr val="tx1"/>
                </a:solidFill>
                <a:effectLst/>
                <a:uLnTx/>
                <a:uFillTx/>
                <a:latin typeface="+mn-lt"/>
                <a:ea typeface="+mn-ea"/>
                <a:cs typeface="+mn-cs"/>
              </a:rPr>
              <a:t>     </a:t>
            </a:r>
            <a:r>
              <a:rPr kumimoji="0" lang="pt-BR" sz="2000" b="0" i="0" u="none" strike="noStrike" kern="1200" cap="none" spc="0" normalizeH="0" baseline="0" noProof="0" dirty="0" err="1">
                <a:ln>
                  <a:noFill/>
                </a:ln>
                <a:solidFill>
                  <a:schemeClr val="tx1"/>
                </a:solidFill>
                <a:effectLst/>
                <a:uLnTx/>
                <a:uFillTx/>
                <a:latin typeface="+mn-lt"/>
                <a:ea typeface="+mn-ea"/>
                <a:cs typeface="+mn-cs"/>
              </a:rPr>
              <a:t>if</a:t>
            </a:r>
            <a:r>
              <a:rPr kumimoji="0" lang="pt-BR" sz="2000" b="0" i="0" u="none" strike="noStrike" kern="1200" cap="none" spc="0" normalizeH="0" baseline="0" noProof="0" dirty="0">
                <a:ln>
                  <a:noFill/>
                </a:ln>
                <a:solidFill>
                  <a:schemeClr val="tx1"/>
                </a:solidFill>
                <a:effectLst/>
                <a:uLnTx/>
                <a:uFillTx/>
                <a:latin typeface="+mn-lt"/>
                <a:ea typeface="+mn-ea"/>
                <a:cs typeface="+mn-cs"/>
              </a:rPr>
              <a:t>(p-&gt;</a:t>
            </a:r>
            <a:r>
              <a:rPr kumimoji="0" lang="pt-BR" sz="2000" b="0" i="0" u="none" strike="noStrike" kern="1200" cap="none" spc="0" normalizeH="0" baseline="0" noProof="0" dirty="0" err="1">
                <a:ln>
                  <a:noFill/>
                </a:ln>
                <a:solidFill>
                  <a:schemeClr val="tx1"/>
                </a:solidFill>
                <a:effectLst/>
                <a:uLnTx/>
                <a:uFillTx/>
                <a:latin typeface="+mn-lt"/>
                <a:ea typeface="+mn-ea"/>
                <a:cs typeface="+mn-cs"/>
              </a:rPr>
              <a:t>dir</a:t>
            </a:r>
            <a:r>
              <a:rPr kumimoji="0" lang="pt-BR" sz="2000" b="0" i="0" u="none" strike="noStrike" kern="1200" cap="none" spc="0" normalizeH="0" baseline="0" noProof="0" dirty="0">
                <a:ln>
                  <a:noFill/>
                </a:ln>
                <a:solidFill>
                  <a:schemeClr val="tx1"/>
                </a:solidFill>
                <a:effectLst/>
                <a:uLnTx/>
                <a:uFillTx/>
                <a:latin typeface="+mn-lt"/>
                <a:ea typeface="+mn-ea"/>
                <a:cs typeface="+mn-cs"/>
              </a:rPr>
              <a:t>!=NULL)</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a:ln>
                  <a:noFill/>
                </a:ln>
                <a:solidFill>
                  <a:schemeClr val="tx1"/>
                </a:solidFill>
                <a:effectLst/>
                <a:uLnTx/>
                <a:uFillTx/>
                <a:latin typeface="+mn-lt"/>
                <a:ea typeface="+mn-ea"/>
                <a:cs typeface="+mn-cs"/>
              </a:rPr>
              <a:t>             </a:t>
            </a:r>
            <a:r>
              <a:rPr kumimoji="0" lang="pt-BR" sz="2000" b="0" i="0" u="none" strike="noStrike" kern="1200" cap="none" spc="0" normalizeH="0" baseline="0" noProof="0" dirty="0" err="1">
                <a:ln>
                  <a:noFill/>
                </a:ln>
                <a:solidFill>
                  <a:schemeClr val="tx1"/>
                </a:solidFill>
                <a:effectLst/>
                <a:uLnTx/>
                <a:uFillTx/>
                <a:latin typeface="+mn-lt"/>
                <a:ea typeface="+mn-ea"/>
                <a:cs typeface="+mn-cs"/>
              </a:rPr>
              <a:t>lista_em_ordem</a:t>
            </a:r>
            <a:r>
              <a:rPr kumimoji="0" lang="pt-BR" sz="2000" b="0" i="0" u="none" strike="noStrike" kern="1200" cap="none" spc="0" normalizeH="0" baseline="0" noProof="0" dirty="0">
                <a:ln>
                  <a:noFill/>
                </a:ln>
                <a:solidFill>
                  <a:schemeClr val="tx1"/>
                </a:solidFill>
                <a:effectLst/>
                <a:uLnTx/>
                <a:uFillTx/>
                <a:latin typeface="+mn-lt"/>
                <a:ea typeface="+mn-ea"/>
                <a:cs typeface="+mn-cs"/>
              </a:rPr>
              <a:t>(p-&gt;</a:t>
            </a:r>
            <a:r>
              <a:rPr kumimoji="0" lang="pt-BR" sz="2000" b="0" i="0" u="none" strike="noStrike" kern="1200" cap="none" spc="0" normalizeH="0" baseline="0" noProof="0" dirty="0" err="1">
                <a:ln>
                  <a:noFill/>
                </a:ln>
                <a:solidFill>
                  <a:schemeClr val="tx1"/>
                </a:solidFill>
                <a:effectLst/>
                <a:uLnTx/>
                <a:uFillTx/>
                <a:latin typeface="+mn-lt"/>
                <a:ea typeface="+mn-ea"/>
                <a:cs typeface="+mn-cs"/>
              </a:rPr>
              <a:t>dir</a:t>
            </a:r>
            <a:r>
              <a:rPr kumimoji="0" lang="pt-BR" sz="20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a:ln>
                  <a:noFill/>
                </a:ln>
                <a:solidFill>
                  <a:schemeClr val="tx1"/>
                </a:solidFill>
                <a:effectLst/>
                <a:uLnTx/>
                <a:uFillTx/>
                <a:latin typeface="+mn-lt"/>
                <a:ea typeface="+mn-ea"/>
                <a:cs typeface="+mn-cs"/>
              </a:rPr>
              <a:t>     }</a:t>
            </a:r>
          </a:p>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sz="20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457200" rtl="0" eaLnBrk="1" fontAlgn="auto" latinLnBrk="0" hangingPunct="1">
              <a:lnSpc>
                <a:spcPct val="80000"/>
              </a:lnSpc>
              <a:spcBef>
                <a:spcPct val="20000"/>
              </a:spcBef>
              <a:spcAft>
                <a:spcPts val="0"/>
              </a:spcAft>
              <a:buClrTx/>
              <a:buSzTx/>
              <a:buFont typeface="Arial"/>
              <a:buChar char="•"/>
              <a:tabLst/>
              <a:defRPr/>
            </a:pPr>
            <a:endParaRPr kumimoji="0" lang="pt-BR"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8" name="Rectangle 3"/>
          <p:cNvSpPr txBox="1">
            <a:spLocks noChangeArrowheads="1"/>
          </p:cNvSpPr>
          <p:nvPr/>
        </p:nvSpPr>
        <p:spPr>
          <a:xfrm>
            <a:off x="0" y="431676"/>
            <a:ext cx="4876799" cy="3321690"/>
          </a:xfrm>
          <a:prstGeom prst="rect">
            <a:avLst/>
          </a:prstGeom>
          <a:solidFill>
            <a:schemeClr val="accent3">
              <a:lumMod val="40000"/>
              <a:lumOff val="60000"/>
            </a:schemeClr>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effectLst/>
                <a:uLnTx/>
                <a:uFillTx/>
                <a:latin typeface="+mn-lt"/>
                <a:ea typeface="+mn-ea"/>
                <a:cs typeface="+mn-cs"/>
              </a:rPr>
              <a:t>ATIVAÇÃO 2</a:t>
            </a:r>
          </a:p>
          <a:p>
            <a:pPr marL="342900" lvl="0" indent="-342900" defTabSz="457200">
              <a:lnSpc>
                <a:spcPct val="80000"/>
              </a:lnSpc>
              <a:spcBef>
                <a:spcPct val="20000"/>
              </a:spcBef>
              <a:defRPr/>
            </a:pPr>
            <a:r>
              <a:rPr lang="pt-BR" sz="1800" b="1" dirty="0" err="1">
                <a:solidFill>
                  <a:srgbClr val="7F0055"/>
                </a:solidFill>
                <a:latin typeface="Consolas" panose="020B0609020204030204" pitchFamily="49" charset="0"/>
              </a:rPr>
              <a:t>public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static</a:t>
            </a: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void</a:t>
            </a:r>
            <a:r>
              <a:rPr lang="pt-BR" sz="1800" b="1" dirty="0">
                <a:solidFill>
                  <a:srgbClr val="7F0055"/>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kumimoji="0" lang="pt-BR" sz="1800" b="0" i="0" u="none" strike="noStrike" kern="1200" cap="none" spc="0" normalizeH="0" baseline="0" noProof="0" dirty="0">
                <a:ln>
                  <a:noFill/>
                </a:ln>
                <a:solidFill>
                  <a:schemeClr val="tx1"/>
                </a:solidFill>
                <a:effectLst/>
                <a:uLnTx/>
                <a:uFillTx/>
                <a:latin typeface="+mn-lt"/>
                <a:ea typeface="+mn-ea"/>
                <a:cs typeface="+mn-cs"/>
              </a:rPr>
              <a:t>(NO </a:t>
            </a:r>
            <a:r>
              <a:rPr lang="pt-BR" b="1" dirty="0">
                <a:solidFill>
                  <a:srgbClr val="0CA41A"/>
                </a:solidFill>
              </a:rPr>
              <a:t>p</a:t>
            </a:r>
            <a:r>
              <a:rPr lang="pt-BR" dirty="0"/>
              <a:t>) {</a:t>
            </a:r>
          </a:p>
          <a:p>
            <a:pPr marL="342900" lvl="0" indent="-342900" defTabSz="457200">
              <a:lnSpc>
                <a:spcPct val="80000"/>
              </a:lnSpc>
              <a:spcBef>
                <a:spcPct val="20000"/>
              </a:spcBef>
              <a:defRPr/>
            </a:pPr>
            <a:r>
              <a:rPr lang="pt-BR" dirty="0"/>
              <a:t>	</a:t>
            </a:r>
            <a:r>
              <a:rPr lang="pt-BR" b="1" dirty="0" err="1"/>
              <a:t>if</a:t>
            </a:r>
            <a:r>
              <a:rPr lang="pt-BR" b="1" dirty="0"/>
              <a:t> (p != </a:t>
            </a:r>
            <a:r>
              <a:rPr lang="pt-BR" b="1" dirty="0" err="1"/>
              <a:t>null</a:t>
            </a:r>
            <a:r>
              <a:rPr lang="pt-BR" b="1" dirty="0"/>
              <a:t>) {</a:t>
            </a:r>
          </a:p>
          <a:p>
            <a:pPr marL="342900" lvl="0" indent="-342900" defTabSz="457200">
              <a:lnSpc>
                <a:spcPct val="80000"/>
              </a:lnSpc>
              <a:spcBef>
                <a:spcPct val="20000"/>
              </a:spcBef>
              <a:defRPr/>
            </a:pPr>
            <a:r>
              <a:rPr lang="pt-BR" b="1" dirty="0"/>
              <a:t>        </a:t>
            </a:r>
            <a:r>
              <a:rPr lang="pt-BR" b="1" dirty="0" err="1"/>
              <a:t>if</a:t>
            </a:r>
            <a:r>
              <a:rPr lang="pt-BR" b="1" dirty="0"/>
              <a:t> (</a:t>
            </a:r>
            <a:r>
              <a:rPr lang="pt-BR" b="1" dirty="0" err="1"/>
              <a:t>p.esq</a:t>
            </a:r>
            <a:r>
              <a:rPr lang="pt-BR" b="1" dirty="0"/>
              <a:t> != </a:t>
            </a:r>
            <a:r>
              <a:rPr lang="pt-BR" b="1" dirty="0" err="1"/>
              <a:t>null</a:t>
            </a:r>
            <a:r>
              <a:rPr lang="pt-BR" b="1" dirty="0"/>
              <a:t>)</a:t>
            </a:r>
          </a:p>
          <a:p>
            <a:pPr marL="342900" lvl="0" indent="-342900" defTabSz="457200">
              <a:lnSpc>
                <a:spcPct val="80000"/>
              </a:lnSpc>
              <a:spcBef>
                <a:spcPct val="20000"/>
              </a:spcBef>
              <a:defRPr/>
            </a:pPr>
            <a:r>
              <a:rPr lang="pt-BR" dirty="0"/>
              <a:t>			</a:t>
            </a:r>
            <a:r>
              <a:rPr lang="pt-BR" sz="1800" dirty="0">
                <a:solidFill>
                  <a:srgbClr val="000000"/>
                </a:solidFill>
                <a:latin typeface="Consolas" panose="020B0609020204030204" pitchFamily="49" charset="0"/>
              </a:rPr>
              <a:t> </a:t>
            </a:r>
            <a:r>
              <a:rPr lang="pt-BR" sz="1800" dirty="0" err="1">
                <a:solidFill>
                  <a:srgbClr val="000000"/>
                </a:solidFill>
                <a:latin typeface="Consolas" panose="020B0609020204030204" pitchFamily="49" charset="0"/>
              </a:rPr>
              <a:t>inOrdem</a:t>
            </a:r>
            <a:r>
              <a:rPr lang="pt-BR" dirty="0"/>
              <a:t>(</a:t>
            </a:r>
            <a:r>
              <a:rPr lang="pt-BR" dirty="0" err="1"/>
              <a:t>p.esq</a:t>
            </a:r>
            <a:r>
              <a:rPr lang="pt-BR" dirty="0"/>
              <a:t>);</a:t>
            </a:r>
          </a:p>
          <a:p>
            <a:pPr marL="342900" lvl="0" indent="-342900" defTabSz="457200">
              <a:lnSpc>
                <a:spcPct val="80000"/>
              </a:lnSpc>
              <a:spcBef>
                <a:spcPct val="20000"/>
              </a:spcBef>
              <a:defRPr/>
            </a:pPr>
            <a:r>
              <a:rPr lang="pt-BR" dirty="0"/>
              <a:t>		</a:t>
            </a:r>
            <a:r>
              <a:rPr lang="pt-BR" b="1" dirty="0"/>
              <a:t>System.</a:t>
            </a:r>
            <a:r>
              <a:rPr lang="pt-BR" b="1" dirty="0" err="1"/>
              <a:t>out.println</a:t>
            </a:r>
            <a:r>
              <a:rPr lang="pt-BR" b="1" dirty="0"/>
              <a:t>(" "  + </a:t>
            </a:r>
            <a:r>
              <a:rPr lang="pt-BR" b="1" dirty="0" err="1"/>
              <a:t>p.dado</a:t>
            </a:r>
            <a:r>
              <a:rPr lang="pt-BR" b="1" dirty="0"/>
              <a:t>);</a:t>
            </a:r>
          </a:p>
          <a:p>
            <a:pPr marL="342900" indent="-342900" defTabSz="457200">
              <a:lnSpc>
                <a:spcPct val="80000"/>
              </a:lnSpc>
              <a:spcBef>
                <a:spcPct val="20000"/>
              </a:spcBef>
              <a:defRPr/>
            </a:pPr>
            <a:r>
              <a:rPr lang="pt-BR" dirty="0"/>
              <a:t>	</a:t>
            </a:r>
            <a:r>
              <a:rPr lang="pt-BR" b="1" dirty="0"/>
              <a:t>	</a:t>
            </a:r>
            <a:r>
              <a:rPr lang="pt-BR" b="1" dirty="0" err="1"/>
              <a:t>if</a:t>
            </a:r>
            <a:r>
              <a:rPr lang="pt-BR" b="1" dirty="0"/>
              <a:t>(</a:t>
            </a:r>
            <a:r>
              <a:rPr lang="pt-BR" b="1" dirty="0" err="1"/>
              <a:t>p.dir</a:t>
            </a:r>
            <a:r>
              <a:rPr lang="pt-BR" b="1" dirty="0"/>
              <a:t> != </a:t>
            </a:r>
            <a:r>
              <a:rPr lang="pt-BR" b="1" dirty="0" err="1"/>
              <a:t>null</a:t>
            </a:r>
            <a:r>
              <a:rPr lang="pt-BR" b="1" dirty="0"/>
              <a:t>)</a:t>
            </a:r>
          </a:p>
          <a:p>
            <a:pPr marL="342900" lvl="0" indent="-342900" defTabSz="457200">
              <a:lnSpc>
                <a:spcPct val="80000"/>
              </a:lnSpc>
              <a:spcBef>
                <a:spcPct val="20000"/>
              </a:spcBef>
              <a:defRPr/>
            </a:pPr>
            <a:r>
              <a:rPr lang="pt-BR" b="1" dirty="0"/>
              <a:t>			</a:t>
            </a:r>
            <a:r>
              <a:rPr lang="pt-BR" sz="1800" dirty="0">
                <a:solidFill>
                  <a:srgbClr val="000000"/>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lang="pt-BR" b="1" dirty="0"/>
              <a:t>(</a:t>
            </a:r>
            <a:r>
              <a:rPr lang="pt-BR" b="1" dirty="0" err="1"/>
              <a:t>p.dir</a:t>
            </a:r>
            <a:r>
              <a:rPr lang="pt-BR" b="1" dirty="0"/>
              <a:t>);</a:t>
            </a:r>
          </a:p>
          <a:p>
            <a:pPr marL="342900" lvl="0" indent="-342900" defTabSz="457200">
              <a:lnSpc>
                <a:spcPct val="80000"/>
              </a:lnSpc>
              <a:spcBef>
                <a:spcPct val="20000"/>
              </a:spcBef>
              <a:defRPr/>
            </a:pPr>
            <a:r>
              <a:rPr lang="pt-BR" b="1" dirty="0"/>
              <a:t>		}</a:t>
            </a:r>
          </a:p>
          <a:p>
            <a:pPr marL="342900" lvl="0" indent="-342900" defTabSz="457200">
              <a:lnSpc>
                <a:spcPct val="80000"/>
              </a:lnSpc>
              <a:spcBef>
                <a:spcPct val="20000"/>
              </a:spcBef>
              <a:defRPr/>
            </a:pPr>
            <a:r>
              <a:rPr lang="pt-BR" b="1" dirty="0"/>
              <a:t>}</a:t>
            </a:r>
            <a:endParaRPr kumimoji="0" lang="pt-BR" b="1" i="0" u="none" strike="noStrike" kern="1200" cap="none" spc="0" normalizeH="0" baseline="0" noProof="0" dirty="0">
              <a:ln>
                <a:noFill/>
              </a:ln>
              <a:effectLst/>
              <a:uLnTx/>
              <a:uFillTx/>
              <a:latin typeface="+mn-lt"/>
              <a:ea typeface="+mn-ea"/>
              <a:cs typeface="+mn-cs"/>
            </a:endParaRPr>
          </a:p>
        </p:txBody>
      </p:sp>
      <p:grpSp>
        <p:nvGrpSpPr>
          <p:cNvPr id="3" name="Grupo 1"/>
          <p:cNvGrpSpPr/>
          <p:nvPr/>
        </p:nvGrpSpPr>
        <p:grpSpPr>
          <a:xfrm>
            <a:off x="4876799" y="2212825"/>
            <a:ext cx="1545076" cy="2319723"/>
            <a:chOff x="4914400" y="3753366"/>
            <a:chExt cx="1545076" cy="2319723"/>
          </a:xfrm>
        </p:grpSpPr>
        <p:sp>
          <p:nvSpPr>
            <p:cNvPr id="37893" name="Oval 5"/>
            <p:cNvSpPr>
              <a:spLocks noChangeArrowheads="1"/>
            </p:cNvSpPr>
            <p:nvPr/>
          </p:nvSpPr>
          <p:spPr bwMode="auto">
            <a:xfrm>
              <a:off x="4914400"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23</a:t>
              </a:r>
            </a:p>
          </p:txBody>
        </p:sp>
        <p:sp>
          <p:nvSpPr>
            <p:cNvPr id="37897" name="Oval 9"/>
            <p:cNvSpPr>
              <a:spLocks noChangeArrowheads="1"/>
            </p:cNvSpPr>
            <p:nvPr/>
          </p:nvSpPr>
          <p:spPr bwMode="auto">
            <a:xfrm>
              <a:off x="5643448" y="5241961"/>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29</a:t>
              </a:r>
            </a:p>
          </p:txBody>
        </p:sp>
      </p:grpSp>
      <p:grpSp>
        <p:nvGrpSpPr>
          <p:cNvPr id="4" name="Grupo 21"/>
          <p:cNvGrpSpPr/>
          <p:nvPr/>
        </p:nvGrpSpPr>
        <p:grpSpPr>
          <a:xfrm>
            <a:off x="5573323" y="422872"/>
            <a:ext cx="3443500" cy="2621081"/>
            <a:chOff x="5610924" y="1963413"/>
            <a:chExt cx="3443500" cy="2621081"/>
          </a:xfrm>
        </p:grpSpPr>
        <p:sp>
          <p:nvSpPr>
            <p:cNvPr id="37892" name="Oval 4"/>
            <p:cNvSpPr>
              <a:spLocks noChangeArrowheads="1"/>
            </p:cNvSpPr>
            <p:nvPr/>
          </p:nvSpPr>
          <p:spPr bwMode="auto">
            <a:xfrm>
              <a:off x="6600857" y="2585258"/>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37</a:t>
              </a:r>
            </a:p>
          </p:txBody>
        </p:sp>
        <p:sp>
          <p:nvSpPr>
            <p:cNvPr id="37895" name="Oval 7"/>
            <p:cNvSpPr>
              <a:spLocks noChangeArrowheads="1"/>
            </p:cNvSpPr>
            <p:nvPr/>
          </p:nvSpPr>
          <p:spPr bwMode="auto">
            <a:xfrm>
              <a:off x="8238396"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42</a:t>
              </a:r>
            </a:p>
          </p:txBody>
        </p:sp>
        <p:sp>
          <p:nvSpPr>
            <p:cNvPr id="37919" name="Line 31"/>
            <p:cNvSpPr>
              <a:spLocks noChangeShapeType="1"/>
            </p:cNvSpPr>
            <p:nvPr/>
          </p:nvSpPr>
          <p:spPr bwMode="auto">
            <a:xfrm>
              <a:off x="7416884" y="3131521"/>
              <a:ext cx="1091849" cy="712359"/>
            </a:xfrm>
            <a:prstGeom prst="line">
              <a:avLst/>
            </a:prstGeom>
            <a:noFill/>
            <a:ln w="9525">
              <a:solidFill>
                <a:schemeClr val="tx1"/>
              </a:solidFill>
              <a:miter lim="800000"/>
              <a:headEnd/>
              <a:tailEnd/>
            </a:ln>
            <a:effectLst/>
          </p:spPr>
          <p:txBody>
            <a:bodyPr wrap="none"/>
            <a:lstStyle/>
            <a:p>
              <a:endParaRPr lang="pt-BR" sz="1200"/>
            </a:p>
          </p:txBody>
        </p:sp>
        <p:cxnSp>
          <p:nvCxnSpPr>
            <p:cNvPr id="27" name="Conector de seta reta 26"/>
            <p:cNvCxnSpPr>
              <a:endCxn id="37892" idx="0"/>
            </p:cNvCxnSpPr>
            <p:nvPr/>
          </p:nvCxnSpPr>
          <p:spPr>
            <a:xfrm rot="16200000" flipH="1">
              <a:off x="6688467" y="2264854"/>
              <a:ext cx="621844" cy="18963"/>
            </a:xfrm>
            <a:prstGeom prst="straightConnector1">
              <a:avLst/>
            </a:prstGeom>
            <a:ln w="28575">
              <a:solidFill>
                <a:srgbClr val="F40C0C"/>
              </a:solidFill>
              <a:tailEnd type="arrow"/>
            </a:ln>
          </p:spPr>
          <p:style>
            <a:lnRef idx="2">
              <a:schemeClr val="accent1"/>
            </a:lnRef>
            <a:fillRef idx="0">
              <a:schemeClr val="accent1"/>
            </a:fillRef>
            <a:effectRef idx="1">
              <a:schemeClr val="accent1"/>
            </a:effectRef>
            <a:fontRef idx="minor">
              <a:schemeClr val="tx1"/>
            </a:fontRef>
          </p:style>
        </p:cxnSp>
        <p:sp>
          <p:nvSpPr>
            <p:cNvPr id="28" name="CaixaDeTexto 27"/>
            <p:cNvSpPr txBox="1"/>
            <p:nvPr/>
          </p:nvSpPr>
          <p:spPr>
            <a:xfrm>
              <a:off x="6519254" y="1963413"/>
              <a:ext cx="696475" cy="523221"/>
            </a:xfrm>
            <a:prstGeom prst="rect">
              <a:avLst/>
            </a:prstGeom>
            <a:noFill/>
          </p:spPr>
          <p:txBody>
            <a:bodyPr wrap="square" rtlCol="0">
              <a:spAutoFit/>
            </a:bodyPr>
            <a:lstStyle/>
            <a:p>
              <a:r>
                <a:rPr lang="pt-BR" sz="2800" b="1" dirty="0">
                  <a:solidFill>
                    <a:srgbClr val="FF0000"/>
                  </a:solidFill>
                </a:rPr>
                <a:t>p</a:t>
              </a:r>
              <a:endParaRPr lang="pt-BR" b="1" dirty="0">
                <a:solidFill>
                  <a:srgbClr val="FF0000"/>
                </a:solidFill>
              </a:endParaRPr>
            </a:p>
          </p:txBody>
        </p:sp>
        <p:sp>
          <p:nvSpPr>
            <p:cNvPr id="19" name="CaixaDeTexto 18"/>
            <p:cNvSpPr txBox="1"/>
            <p:nvPr/>
          </p:nvSpPr>
          <p:spPr>
            <a:xfrm>
              <a:off x="5703225" y="2798258"/>
              <a:ext cx="696475" cy="523221"/>
            </a:xfrm>
            <a:prstGeom prst="rect">
              <a:avLst/>
            </a:prstGeom>
            <a:noFill/>
          </p:spPr>
          <p:txBody>
            <a:bodyPr wrap="square" rtlCol="0">
              <a:spAutoFit/>
            </a:bodyPr>
            <a:lstStyle/>
            <a:p>
              <a:r>
                <a:rPr lang="pt-BR" sz="2800" b="1" dirty="0">
                  <a:solidFill>
                    <a:srgbClr val="00B050"/>
                  </a:solidFill>
                </a:rPr>
                <a:t>p</a:t>
              </a:r>
              <a:endParaRPr lang="pt-BR" b="1" dirty="0">
                <a:solidFill>
                  <a:srgbClr val="00B050"/>
                </a:solidFill>
              </a:endParaRPr>
            </a:p>
          </p:txBody>
        </p:sp>
        <p:cxnSp>
          <p:nvCxnSpPr>
            <p:cNvPr id="20" name="Conector de seta reta 19"/>
            <p:cNvCxnSpPr>
              <a:endCxn id="37893" idx="7"/>
            </p:cNvCxnSpPr>
            <p:nvPr/>
          </p:nvCxnSpPr>
          <p:spPr>
            <a:xfrm rot="10800000" flipV="1">
              <a:off x="5610924" y="3131522"/>
              <a:ext cx="989933" cy="743559"/>
            </a:xfrm>
            <a:prstGeom prst="straightConnector1">
              <a:avLst/>
            </a:prstGeom>
            <a:ln w="28575">
              <a:solidFill>
                <a:srgbClr val="00B050"/>
              </a:solidFill>
              <a:tailEnd type="arrow"/>
            </a:ln>
          </p:spPr>
          <p:style>
            <a:lnRef idx="2">
              <a:schemeClr val="accent1"/>
            </a:lnRef>
            <a:fillRef idx="0">
              <a:schemeClr val="accent1"/>
            </a:fillRef>
            <a:effectRef idx="1">
              <a:schemeClr val="accent1"/>
            </a:effectRef>
            <a:fontRef idx="minor">
              <a:schemeClr val="tx1"/>
            </a:fontRef>
          </p:style>
        </p:cxnSp>
      </p:grpSp>
      <p:sp>
        <p:nvSpPr>
          <p:cNvPr id="23" name="CaixaDeTexto 22"/>
          <p:cNvSpPr txBox="1"/>
          <p:nvPr/>
        </p:nvSpPr>
        <p:spPr>
          <a:xfrm>
            <a:off x="213188" y="4584494"/>
            <a:ext cx="3568807" cy="646331"/>
          </a:xfrm>
          <a:prstGeom prst="rect">
            <a:avLst/>
          </a:prstGeom>
          <a:noFill/>
          <a:ln>
            <a:solidFill>
              <a:schemeClr val="tx1"/>
            </a:solidFill>
          </a:ln>
        </p:spPr>
        <p:txBody>
          <a:bodyPr wrap="square" rtlCol="0">
            <a:spAutoFit/>
          </a:bodyPr>
          <a:lstStyle/>
          <a:p>
            <a:r>
              <a:rPr lang="pt-BR" dirty="0"/>
              <a:t>Tela de Saída:</a:t>
            </a:r>
          </a:p>
          <a:p>
            <a:r>
              <a:rPr lang="pt-BR" b="1" dirty="0"/>
              <a:t>23  29</a:t>
            </a:r>
          </a:p>
        </p:txBody>
      </p:sp>
      <p:sp>
        <p:nvSpPr>
          <p:cNvPr id="22" name="Line 31"/>
          <p:cNvSpPr>
            <a:spLocks noChangeShapeType="1"/>
          </p:cNvSpPr>
          <p:nvPr/>
        </p:nvSpPr>
        <p:spPr bwMode="auto">
          <a:xfrm>
            <a:off x="5471408" y="2989061"/>
            <a:ext cx="570164" cy="712359"/>
          </a:xfrm>
          <a:prstGeom prst="line">
            <a:avLst/>
          </a:prstGeom>
          <a:noFill/>
          <a:ln w="9525">
            <a:solidFill>
              <a:schemeClr val="tx1"/>
            </a:solidFill>
            <a:miter lim="800000"/>
            <a:headEnd/>
            <a:tailEnd/>
          </a:ln>
          <a:effectLst/>
        </p:spPr>
        <p:txBody>
          <a:bodyPr wrap="none"/>
          <a:lstStyle/>
          <a:p>
            <a:endParaRPr lang="pt-BR" sz="120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ço Reservado para Número de Slide 20"/>
          <p:cNvSpPr>
            <a:spLocks noGrp="1"/>
          </p:cNvSpPr>
          <p:nvPr>
            <p:ph type="sldNum" sz="quarter" idx="12"/>
          </p:nvPr>
        </p:nvSpPr>
        <p:spPr/>
        <p:txBody>
          <a:bodyPr/>
          <a:lstStyle/>
          <a:p>
            <a:fld id="{0DBB9FE3-D63C-4A40-B010-4651D12E128D}" type="slidenum">
              <a:rPr lang="pt-BR" smtClean="0"/>
              <a:pPr/>
              <a:t>43</a:t>
            </a:fld>
            <a:endParaRPr lang="pt-BR"/>
          </a:p>
        </p:txBody>
      </p:sp>
      <p:grpSp>
        <p:nvGrpSpPr>
          <p:cNvPr id="2" name="Grupo 1"/>
          <p:cNvGrpSpPr/>
          <p:nvPr/>
        </p:nvGrpSpPr>
        <p:grpSpPr>
          <a:xfrm>
            <a:off x="4876799" y="2212825"/>
            <a:ext cx="1545076" cy="2319723"/>
            <a:chOff x="4914400" y="3753366"/>
            <a:chExt cx="1545076" cy="2319723"/>
          </a:xfrm>
        </p:grpSpPr>
        <p:sp>
          <p:nvSpPr>
            <p:cNvPr id="37893" name="Oval 5"/>
            <p:cNvSpPr>
              <a:spLocks noChangeArrowheads="1"/>
            </p:cNvSpPr>
            <p:nvPr/>
          </p:nvSpPr>
          <p:spPr bwMode="auto">
            <a:xfrm>
              <a:off x="4914400"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23</a:t>
              </a:r>
            </a:p>
          </p:txBody>
        </p:sp>
        <p:sp>
          <p:nvSpPr>
            <p:cNvPr id="37897" name="Oval 9"/>
            <p:cNvSpPr>
              <a:spLocks noChangeArrowheads="1"/>
            </p:cNvSpPr>
            <p:nvPr/>
          </p:nvSpPr>
          <p:spPr bwMode="auto">
            <a:xfrm>
              <a:off x="5643448" y="5241961"/>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29</a:t>
              </a:r>
            </a:p>
          </p:txBody>
        </p:sp>
      </p:grpSp>
      <p:sp>
        <p:nvSpPr>
          <p:cNvPr id="37892" name="Oval 4"/>
          <p:cNvSpPr>
            <a:spLocks noChangeArrowheads="1"/>
          </p:cNvSpPr>
          <p:nvPr/>
        </p:nvSpPr>
        <p:spPr bwMode="auto">
          <a:xfrm>
            <a:off x="6563256" y="1044717"/>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37</a:t>
            </a:r>
          </a:p>
        </p:txBody>
      </p:sp>
      <p:sp>
        <p:nvSpPr>
          <p:cNvPr id="37895" name="Oval 7"/>
          <p:cNvSpPr>
            <a:spLocks noChangeArrowheads="1"/>
          </p:cNvSpPr>
          <p:nvPr/>
        </p:nvSpPr>
        <p:spPr bwMode="auto">
          <a:xfrm>
            <a:off x="8200795" y="2212825"/>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42</a:t>
            </a:r>
          </a:p>
        </p:txBody>
      </p:sp>
      <p:sp>
        <p:nvSpPr>
          <p:cNvPr id="37919" name="Line 31"/>
          <p:cNvSpPr>
            <a:spLocks noChangeShapeType="1"/>
          </p:cNvSpPr>
          <p:nvPr/>
        </p:nvSpPr>
        <p:spPr bwMode="auto">
          <a:xfrm>
            <a:off x="7379283" y="1590980"/>
            <a:ext cx="1091849" cy="621845"/>
          </a:xfrm>
          <a:prstGeom prst="line">
            <a:avLst/>
          </a:prstGeom>
          <a:ln w="28575">
            <a:solidFill>
              <a:srgbClr val="00B050"/>
            </a:solidFill>
            <a:tailEnd type="arrow"/>
          </a:ln>
        </p:spPr>
        <p:style>
          <a:lnRef idx="2">
            <a:schemeClr val="accent1"/>
          </a:lnRef>
          <a:fillRef idx="0">
            <a:schemeClr val="accent1"/>
          </a:fillRef>
          <a:effectRef idx="1">
            <a:schemeClr val="accent1"/>
          </a:effectRef>
          <a:fontRef idx="minor">
            <a:schemeClr val="tx1"/>
          </a:fontRef>
        </p:style>
        <p:txBody>
          <a:bodyPr wrap="none"/>
          <a:lstStyle/>
          <a:p>
            <a:endParaRPr lang="pt-BR" sz="1200"/>
          </a:p>
        </p:txBody>
      </p:sp>
      <p:cxnSp>
        <p:nvCxnSpPr>
          <p:cNvPr id="27" name="Conector de seta reta 26"/>
          <p:cNvCxnSpPr>
            <a:endCxn id="37892" idx="0"/>
          </p:cNvCxnSpPr>
          <p:nvPr/>
        </p:nvCxnSpPr>
        <p:spPr>
          <a:xfrm rot="16200000" flipH="1">
            <a:off x="6650866" y="724313"/>
            <a:ext cx="621844" cy="18963"/>
          </a:xfrm>
          <a:prstGeom prst="straightConnector1">
            <a:avLst/>
          </a:prstGeom>
          <a:ln w="28575">
            <a:solidFill>
              <a:srgbClr val="F40C0C"/>
            </a:solidFill>
            <a:tailEnd type="arrow"/>
          </a:ln>
        </p:spPr>
        <p:style>
          <a:lnRef idx="2">
            <a:schemeClr val="accent1"/>
          </a:lnRef>
          <a:fillRef idx="0">
            <a:schemeClr val="accent1"/>
          </a:fillRef>
          <a:effectRef idx="1">
            <a:schemeClr val="accent1"/>
          </a:effectRef>
          <a:fontRef idx="minor">
            <a:schemeClr val="tx1"/>
          </a:fontRef>
        </p:style>
      </p:cxnSp>
      <p:sp>
        <p:nvSpPr>
          <p:cNvPr id="28" name="CaixaDeTexto 27"/>
          <p:cNvSpPr txBox="1"/>
          <p:nvPr/>
        </p:nvSpPr>
        <p:spPr>
          <a:xfrm>
            <a:off x="6481653" y="422872"/>
            <a:ext cx="696475" cy="523221"/>
          </a:xfrm>
          <a:prstGeom prst="rect">
            <a:avLst/>
          </a:prstGeom>
          <a:noFill/>
        </p:spPr>
        <p:txBody>
          <a:bodyPr wrap="square" rtlCol="0">
            <a:spAutoFit/>
          </a:bodyPr>
          <a:lstStyle/>
          <a:p>
            <a:r>
              <a:rPr lang="pt-BR" sz="2800" b="1" dirty="0">
                <a:solidFill>
                  <a:srgbClr val="FF0000"/>
                </a:solidFill>
              </a:rPr>
              <a:t>p</a:t>
            </a:r>
            <a:endParaRPr lang="pt-BR" b="1" dirty="0">
              <a:solidFill>
                <a:srgbClr val="FF0000"/>
              </a:solidFill>
            </a:endParaRPr>
          </a:p>
        </p:txBody>
      </p:sp>
      <p:cxnSp>
        <p:nvCxnSpPr>
          <p:cNvPr id="20" name="Conector de seta reta 19"/>
          <p:cNvCxnSpPr>
            <a:endCxn id="37893" idx="7"/>
          </p:cNvCxnSpPr>
          <p:nvPr/>
        </p:nvCxnSpPr>
        <p:spPr>
          <a:xfrm rot="10800000" flipV="1">
            <a:off x="5573323" y="1590981"/>
            <a:ext cx="989933" cy="743559"/>
          </a:xfrm>
          <a:prstGeom prst="straightConnector1">
            <a:avLst/>
          </a:prstGeom>
          <a:noFill/>
          <a:ln w="9525">
            <a:solidFill>
              <a:schemeClr val="tx1"/>
            </a:solidFill>
            <a:miter lim="800000"/>
            <a:headEnd/>
            <a:tailEnd/>
          </a:ln>
          <a:effectLst/>
        </p:spPr>
      </p:cxnSp>
      <p:sp>
        <p:nvSpPr>
          <p:cNvPr id="23" name="CaixaDeTexto 22"/>
          <p:cNvSpPr txBox="1"/>
          <p:nvPr/>
        </p:nvSpPr>
        <p:spPr>
          <a:xfrm>
            <a:off x="213188" y="4584494"/>
            <a:ext cx="3568807" cy="646331"/>
          </a:xfrm>
          <a:prstGeom prst="rect">
            <a:avLst/>
          </a:prstGeom>
          <a:noFill/>
          <a:ln>
            <a:solidFill>
              <a:schemeClr val="tx1"/>
            </a:solidFill>
          </a:ln>
        </p:spPr>
        <p:txBody>
          <a:bodyPr wrap="square" rtlCol="0">
            <a:spAutoFit/>
          </a:bodyPr>
          <a:lstStyle/>
          <a:p>
            <a:r>
              <a:rPr lang="pt-BR" dirty="0"/>
              <a:t>Tela de Saída:</a:t>
            </a:r>
          </a:p>
          <a:p>
            <a:r>
              <a:rPr lang="pt-BR" b="1" dirty="0"/>
              <a:t>23  29  37</a:t>
            </a:r>
          </a:p>
        </p:txBody>
      </p:sp>
      <p:sp>
        <p:nvSpPr>
          <p:cNvPr id="22" name="Line 31"/>
          <p:cNvSpPr>
            <a:spLocks noChangeShapeType="1"/>
          </p:cNvSpPr>
          <p:nvPr/>
        </p:nvSpPr>
        <p:spPr bwMode="auto">
          <a:xfrm>
            <a:off x="5471408" y="2989061"/>
            <a:ext cx="570164" cy="712359"/>
          </a:xfrm>
          <a:prstGeom prst="line">
            <a:avLst/>
          </a:prstGeom>
          <a:noFill/>
          <a:ln w="9525">
            <a:solidFill>
              <a:schemeClr val="tx1"/>
            </a:solidFill>
            <a:miter lim="800000"/>
            <a:headEnd/>
            <a:tailEnd/>
          </a:ln>
          <a:effectLst/>
        </p:spPr>
        <p:txBody>
          <a:bodyPr wrap="none"/>
          <a:lstStyle/>
          <a:p>
            <a:endParaRPr lang="pt-BR" sz="1200"/>
          </a:p>
        </p:txBody>
      </p:sp>
      <p:sp>
        <p:nvSpPr>
          <p:cNvPr id="24" name="Rectangle 3"/>
          <p:cNvSpPr txBox="1">
            <a:spLocks noChangeArrowheads="1"/>
          </p:cNvSpPr>
          <p:nvPr/>
        </p:nvSpPr>
        <p:spPr>
          <a:xfrm>
            <a:off x="0" y="112012"/>
            <a:ext cx="4823158" cy="3029105"/>
          </a:xfrm>
          <a:prstGeom prst="rect">
            <a:avLst/>
          </a:prstGeom>
          <a:solidFill>
            <a:schemeClr val="accent2">
              <a:lumMod val="20000"/>
              <a:lumOff val="80000"/>
              <a:alpha val="89000"/>
            </a:schemeClr>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solidFill>
                  <a:srgbClr val="FF0000"/>
                </a:solidFill>
                <a:effectLst/>
                <a:uLnTx/>
                <a:uFillTx/>
                <a:latin typeface="+mn-lt"/>
                <a:ea typeface="+mn-ea"/>
                <a:cs typeface="+mn-cs"/>
              </a:rPr>
              <a:t>ATIVAÇÃO 1</a:t>
            </a:r>
          </a:p>
          <a:p>
            <a:pPr marL="342900" lvl="0" indent="-342900" defTabSz="457200">
              <a:lnSpc>
                <a:spcPct val="80000"/>
              </a:lnSpc>
              <a:spcBef>
                <a:spcPct val="20000"/>
              </a:spcBef>
              <a:defRPr/>
            </a:pPr>
            <a:r>
              <a:rPr lang="pt-BR" sz="1800" b="1" dirty="0" err="1">
                <a:solidFill>
                  <a:srgbClr val="7F0055"/>
                </a:solidFill>
                <a:latin typeface="Consolas" panose="020B0609020204030204" pitchFamily="49" charset="0"/>
              </a:rPr>
              <a:t>public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static</a:t>
            </a: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void</a:t>
            </a:r>
            <a:r>
              <a:rPr lang="pt-BR" sz="1800" b="1" dirty="0">
                <a:solidFill>
                  <a:srgbClr val="7F0055"/>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kumimoji="0" lang="pt-BR" sz="1800" b="0" i="0" u="none" strike="noStrike" kern="1200" cap="none" spc="0" normalizeH="0" baseline="0" noProof="0" dirty="0">
                <a:ln>
                  <a:noFill/>
                </a:ln>
                <a:solidFill>
                  <a:schemeClr val="tx1"/>
                </a:solidFill>
                <a:effectLst/>
                <a:uLnTx/>
                <a:uFillTx/>
                <a:latin typeface="+mn-lt"/>
                <a:ea typeface="+mn-ea"/>
                <a:cs typeface="+mn-cs"/>
              </a:rPr>
              <a:t>(NO </a:t>
            </a:r>
            <a:r>
              <a:rPr lang="pt-BR" b="1" dirty="0">
                <a:solidFill>
                  <a:srgbClr val="FF0000"/>
                </a:solidFill>
              </a:rPr>
              <a:t>p</a:t>
            </a:r>
            <a:r>
              <a:rPr lang="pt-BR" dirty="0"/>
              <a:t>) {</a:t>
            </a:r>
          </a:p>
          <a:p>
            <a:pPr marL="342900" lvl="0" indent="-342900" defTabSz="457200">
              <a:lnSpc>
                <a:spcPct val="80000"/>
              </a:lnSpc>
              <a:spcBef>
                <a:spcPct val="20000"/>
              </a:spcBef>
              <a:defRPr/>
            </a:pPr>
            <a:r>
              <a:rPr lang="pt-BR" dirty="0"/>
              <a:t>	</a:t>
            </a:r>
            <a:r>
              <a:rPr lang="pt-BR" b="1" dirty="0" err="1"/>
              <a:t>if</a:t>
            </a:r>
            <a:r>
              <a:rPr lang="pt-BR" b="1" dirty="0"/>
              <a:t> (p != </a:t>
            </a:r>
            <a:r>
              <a:rPr lang="pt-BR" b="1" dirty="0" err="1"/>
              <a:t>null</a:t>
            </a:r>
            <a:r>
              <a:rPr lang="pt-BR" b="1" dirty="0"/>
              <a:t>) {</a:t>
            </a:r>
          </a:p>
          <a:p>
            <a:pPr marL="342900" lvl="0" indent="-342900" defTabSz="457200">
              <a:lnSpc>
                <a:spcPct val="80000"/>
              </a:lnSpc>
              <a:spcBef>
                <a:spcPct val="20000"/>
              </a:spcBef>
              <a:defRPr/>
            </a:pPr>
            <a:r>
              <a:rPr lang="pt-BR" b="1" dirty="0"/>
              <a:t>        </a:t>
            </a:r>
            <a:r>
              <a:rPr lang="pt-BR" b="1" dirty="0" err="1"/>
              <a:t>if</a:t>
            </a:r>
            <a:r>
              <a:rPr lang="pt-BR" b="1" dirty="0"/>
              <a:t> (</a:t>
            </a:r>
            <a:r>
              <a:rPr lang="pt-BR" b="1" dirty="0" err="1"/>
              <a:t>p.esq</a:t>
            </a:r>
            <a:r>
              <a:rPr lang="pt-BR" b="1" dirty="0"/>
              <a:t> != </a:t>
            </a:r>
            <a:r>
              <a:rPr lang="pt-BR" b="1" dirty="0" err="1"/>
              <a:t>null</a:t>
            </a:r>
            <a:r>
              <a:rPr lang="pt-BR" b="1" dirty="0"/>
              <a:t>)</a:t>
            </a:r>
          </a:p>
          <a:p>
            <a:pPr marL="342900" lvl="0" indent="-342900" defTabSz="457200">
              <a:lnSpc>
                <a:spcPct val="80000"/>
              </a:lnSpc>
              <a:spcBef>
                <a:spcPct val="20000"/>
              </a:spcBef>
              <a:defRPr/>
            </a:pPr>
            <a:r>
              <a:rPr lang="pt-BR" dirty="0"/>
              <a:t>			</a:t>
            </a:r>
            <a:r>
              <a:rPr lang="pt-BR" sz="1800" dirty="0">
                <a:solidFill>
                  <a:srgbClr val="000000"/>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lang="pt-BR" b="1" dirty="0"/>
              <a:t>(</a:t>
            </a:r>
            <a:r>
              <a:rPr lang="pt-BR" b="1" dirty="0" err="1"/>
              <a:t>p.esq</a:t>
            </a:r>
            <a:r>
              <a:rPr lang="pt-BR" b="1" dirty="0"/>
              <a:t>);</a:t>
            </a:r>
          </a:p>
          <a:p>
            <a:pPr marL="342900" lvl="0" indent="-342900" defTabSz="457200">
              <a:lnSpc>
                <a:spcPct val="80000"/>
              </a:lnSpc>
              <a:spcBef>
                <a:spcPct val="20000"/>
              </a:spcBef>
              <a:defRPr/>
            </a:pPr>
            <a:r>
              <a:rPr lang="pt-BR" b="1" dirty="0"/>
              <a:t>		System.</a:t>
            </a:r>
            <a:r>
              <a:rPr lang="pt-BR" b="1" dirty="0" err="1"/>
              <a:t>out.println</a:t>
            </a:r>
            <a:r>
              <a:rPr lang="pt-BR" b="1" dirty="0"/>
              <a:t>(" "  + </a:t>
            </a:r>
            <a:r>
              <a:rPr lang="pt-BR" b="1" dirty="0" err="1"/>
              <a:t>p.dado</a:t>
            </a:r>
            <a:r>
              <a:rPr lang="pt-BR" b="1" dirty="0"/>
              <a:t>);</a:t>
            </a:r>
          </a:p>
          <a:p>
            <a:pPr marL="342900" indent="-342900" defTabSz="457200">
              <a:lnSpc>
                <a:spcPct val="80000"/>
              </a:lnSpc>
              <a:spcBef>
                <a:spcPct val="20000"/>
              </a:spcBef>
              <a:defRPr/>
            </a:pPr>
            <a:r>
              <a:rPr lang="pt-BR" b="1" dirty="0"/>
              <a:t>		</a:t>
            </a:r>
            <a:r>
              <a:rPr lang="pt-BR" b="1" dirty="0" err="1"/>
              <a:t>if</a:t>
            </a:r>
            <a:r>
              <a:rPr lang="pt-BR" b="1" dirty="0"/>
              <a:t>(</a:t>
            </a:r>
            <a:r>
              <a:rPr lang="pt-BR" b="1" dirty="0" err="1">
                <a:solidFill>
                  <a:srgbClr val="0CA41A"/>
                </a:solidFill>
              </a:rPr>
              <a:t>p.dir</a:t>
            </a:r>
            <a:r>
              <a:rPr lang="pt-BR" b="1" dirty="0">
                <a:solidFill>
                  <a:srgbClr val="0CA41A"/>
                </a:solidFill>
              </a:rPr>
              <a:t> </a:t>
            </a:r>
            <a:r>
              <a:rPr lang="pt-BR" b="1" dirty="0"/>
              <a:t>!= </a:t>
            </a:r>
            <a:r>
              <a:rPr lang="pt-BR" b="1" dirty="0" err="1"/>
              <a:t>null</a:t>
            </a:r>
            <a:r>
              <a:rPr lang="pt-BR" b="1" dirty="0"/>
              <a:t>)</a:t>
            </a:r>
          </a:p>
          <a:p>
            <a:pPr marL="342900" lvl="0" indent="-342900" defTabSz="457200">
              <a:lnSpc>
                <a:spcPct val="80000"/>
              </a:lnSpc>
              <a:spcBef>
                <a:spcPct val="20000"/>
              </a:spcBef>
              <a:defRPr/>
            </a:pPr>
            <a:r>
              <a:rPr lang="pt-BR" b="1" dirty="0"/>
              <a:t>			</a:t>
            </a:r>
            <a:r>
              <a:rPr lang="pt-BR" sz="1800" dirty="0">
                <a:solidFill>
                  <a:srgbClr val="000000"/>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lang="pt-BR" b="1" dirty="0"/>
              <a:t>(</a:t>
            </a:r>
            <a:r>
              <a:rPr lang="pt-BR" b="1" dirty="0" err="1">
                <a:solidFill>
                  <a:srgbClr val="0CA41A"/>
                </a:solidFill>
              </a:rPr>
              <a:t>p.dir</a:t>
            </a:r>
            <a:r>
              <a:rPr lang="pt-BR" b="1" dirty="0"/>
              <a:t>);</a:t>
            </a:r>
          </a:p>
          <a:p>
            <a:pPr marL="342900" lvl="0" indent="-342900" defTabSz="457200">
              <a:lnSpc>
                <a:spcPct val="80000"/>
              </a:lnSpc>
              <a:spcBef>
                <a:spcPct val="20000"/>
              </a:spcBef>
              <a:defRPr/>
            </a:pPr>
            <a:r>
              <a:rPr lang="pt-BR" dirty="0"/>
              <a:t>		}</a:t>
            </a:r>
          </a:p>
          <a:p>
            <a:pPr marL="342900" lvl="0" indent="-342900" defTabSz="457200">
              <a:lnSpc>
                <a:spcPct val="80000"/>
              </a:lnSpc>
              <a:spcBef>
                <a:spcPct val="20000"/>
              </a:spcBef>
              <a:defRPr/>
            </a:pPr>
            <a:r>
              <a:rPr lang="pt-BR" dirty="0"/>
              <a:t>}</a:t>
            </a:r>
            <a:endParaRPr kumimoji="0" lang="pt-BR"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ço Reservado para Número de Slide 20"/>
          <p:cNvSpPr>
            <a:spLocks noGrp="1"/>
          </p:cNvSpPr>
          <p:nvPr>
            <p:ph type="sldNum" sz="quarter" idx="12"/>
          </p:nvPr>
        </p:nvSpPr>
        <p:spPr/>
        <p:txBody>
          <a:bodyPr/>
          <a:lstStyle/>
          <a:p>
            <a:fld id="{0DBB9FE3-D63C-4A40-B010-4651D12E128D}" type="slidenum">
              <a:rPr lang="pt-BR" smtClean="0"/>
              <a:pPr/>
              <a:t>44</a:t>
            </a:fld>
            <a:endParaRPr lang="pt-BR"/>
          </a:p>
        </p:txBody>
      </p:sp>
      <p:grpSp>
        <p:nvGrpSpPr>
          <p:cNvPr id="2" name="Grupo 1"/>
          <p:cNvGrpSpPr/>
          <p:nvPr/>
        </p:nvGrpSpPr>
        <p:grpSpPr>
          <a:xfrm>
            <a:off x="4876799" y="2212825"/>
            <a:ext cx="1545076" cy="2319723"/>
            <a:chOff x="4914400" y="3753366"/>
            <a:chExt cx="1545076" cy="2319723"/>
          </a:xfrm>
        </p:grpSpPr>
        <p:sp>
          <p:nvSpPr>
            <p:cNvPr id="37893" name="Oval 5"/>
            <p:cNvSpPr>
              <a:spLocks noChangeArrowheads="1"/>
            </p:cNvSpPr>
            <p:nvPr/>
          </p:nvSpPr>
          <p:spPr bwMode="auto">
            <a:xfrm>
              <a:off x="4914400"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23</a:t>
              </a:r>
            </a:p>
          </p:txBody>
        </p:sp>
        <p:sp>
          <p:nvSpPr>
            <p:cNvPr id="37897" name="Oval 9"/>
            <p:cNvSpPr>
              <a:spLocks noChangeArrowheads="1"/>
            </p:cNvSpPr>
            <p:nvPr/>
          </p:nvSpPr>
          <p:spPr bwMode="auto">
            <a:xfrm>
              <a:off x="5643448" y="5241961"/>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29</a:t>
              </a:r>
            </a:p>
          </p:txBody>
        </p:sp>
      </p:grpSp>
      <p:sp>
        <p:nvSpPr>
          <p:cNvPr id="37892" name="Oval 4"/>
          <p:cNvSpPr>
            <a:spLocks noChangeArrowheads="1"/>
          </p:cNvSpPr>
          <p:nvPr/>
        </p:nvSpPr>
        <p:spPr bwMode="auto">
          <a:xfrm>
            <a:off x="6563256" y="1044717"/>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37</a:t>
            </a:r>
          </a:p>
        </p:txBody>
      </p:sp>
      <p:sp>
        <p:nvSpPr>
          <p:cNvPr id="37895" name="Oval 7"/>
          <p:cNvSpPr>
            <a:spLocks noChangeArrowheads="1"/>
          </p:cNvSpPr>
          <p:nvPr/>
        </p:nvSpPr>
        <p:spPr bwMode="auto">
          <a:xfrm>
            <a:off x="8200795" y="2212825"/>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42</a:t>
            </a:r>
          </a:p>
        </p:txBody>
      </p:sp>
      <p:sp>
        <p:nvSpPr>
          <p:cNvPr id="37919" name="Line 31"/>
          <p:cNvSpPr>
            <a:spLocks noChangeShapeType="1"/>
          </p:cNvSpPr>
          <p:nvPr/>
        </p:nvSpPr>
        <p:spPr bwMode="auto">
          <a:xfrm>
            <a:off x="7379283" y="1590980"/>
            <a:ext cx="1091849" cy="621845"/>
          </a:xfrm>
          <a:prstGeom prst="line">
            <a:avLst/>
          </a:prstGeom>
          <a:ln w="28575">
            <a:solidFill>
              <a:srgbClr val="00B050"/>
            </a:solidFill>
            <a:tailEnd type="arrow"/>
          </a:ln>
        </p:spPr>
        <p:style>
          <a:lnRef idx="2">
            <a:schemeClr val="accent1"/>
          </a:lnRef>
          <a:fillRef idx="0">
            <a:schemeClr val="accent1"/>
          </a:fillRef>
          <a:effectRef idx="1">
            <a:schemeClr val="accent1"/>
          </a:effectRef>
          <a:fontRef idx="minor">
            <a:schemeClr val="tx1"/>
          </a:fontRef>
        </p:style>
        <p:txBody>
          <a:bodyPr wrap="none"/>
          <a:lstStyle/>
          <a:p>
            <a:endParaRPr lang="pt-BR" sz="1200"/>
          </a:p>
        </p:txBody>
      </p:sp>
      <p:cxnSp>
        <p:nvCxnSpPr>
          <p:cNvPr id="27" name="Conector de seta reta 26"/>
          <p:cNvCxnSpPr>
            <a:endCxn id="37892" idx="0"/>
          </p:cNvCxnSpPr>
          <p:nvPr/>
        </p:nvCxnSpPr>
        <p:spPr>
          <a:xfrm rot="16200000" flipH="1">
            <a:off x="6650866" y="724313"/>
            <a:ext cx="621844" cy="18963"/>
          </a:xfrm>
          <a:prstGeom prst="straightConnector1">
            <a:avLst/>
          </a:prstGeom>
          <a:ln w="28575">
            <a:solidFill>
              <a:srgbClr val="F40C0C"/>
            </a:solidFill>
            <a:tailEnd type="arrow"/>
          </a:ln>
        </p:spPr>
        <p:style>
          <a:lnRef idx="2">
            <a:schemeClr val="accent1"/>
          </a:lnRef>
          <a:fillRef idx="0">
            <a:schemeClr val="accent1"/>
          </a:fillRef>
          <a:effectRef idx="1">
            <a:schemeClr val="accent1"/>
          </a:effectRef>
          <a:fontRef idx="minor">
            <a:schemeClr val="tx1"/>
          </a:fontRef>
        </p:style>
      </p:cxnSp>
      <p:sp>
        <p:nvSpPr>
          <p:cNvPr id="28" name="CaixaDeTexto 27"/>
          <p:cNvSpPr txBox="1"/>
          <p:nvPr/>
        </p:nvSpPr>
        <p:spPr>
          <a:xfrm>
            <a:off x="6481653" y="422872"/>
            <a:ext cx="696475" cy="523221"/>
          </a:xfrm>
          <a:prstGeom prst="rect">
            <a:avLst/>
          </a:prstGeom>
          <a:noFill/>
        </p:spPr>
        <p:txBody>
          <a:bodyPr wrap="square" rtlCol="0">
            <a:spAutoFit/>
          </a:bodyPr>
          <a:lstStyle/>
          <a:p>
            <a:r>
              <a:rPr lang="pt-BR" sz="2800" b="1" dirty="0">
                <a:solidFill>
                  <a:srgbClr val="FF0000"/>
                </a:solidFill>
              </a:rPr>
              <a:t>p</a:t>
            </a:r>
            <a:endParaRPr lang="pt-BR" b="1" dirty="0">
              <a:solidFill>
                <a:srgbClr val="FF0000"/>
              </a:solidFill>
            </a:endParaRPr>
          </a:p>
        </p:txBody>
      </p:sp>
      <p:sp>
        <p:nvSpPr>
          <p:cNvPr id="19" name="CaixaDeTexto 18"/>
          <p:cNvSpPr txBox="1"/>
          <p:nvPr/>
        </p:nvSpPr>
        <p:spPr>
          <a:xfrm>
            <a:off x="7852557" y="1257717"/>
            <a:ext cx="696475" cy="523221"/>
          </a:xfrm>
          <a:prstGeom prst="rect">
            <a:avLst/>
          </a:prstGeom>
          <a:noFill/>
        </p:spPr>
        <p:txBody>
          <a:bodyPr wrap="square" rtlCol="0">
            <a:spAutoFit/>
          </a:bodyPr>
          <a:lstStyle/>
          <a:p>
            <a:r>
              <a:rPr lang="pt-BR" sz="2800" b="1" dirty="0">
                <a:solidFill>
                  <a:srgbClr val="00B050"/>
                </a:solidFill>
              </a:rPr>
              <a:t>p</a:t>
            </a:r>
            <a:endParaRPr lang="pt-BR" b="1" dirty="0">
              <a:solidFill>
                <a:srgbClr val="00B050"/>
              </a:solidFill>
            </a:endParaRPr>
          </a:p>
        </p:txBody>
      </p:sp>
      <p:cxnSp>
        <p:nvCxnSpPr>
          <p:cNvPr id="20" name="Conector de seta reta 19"/>
          <p:cNvCxnSpPr>
            <a:endCxn id="37893" idx="7"/>
          </p:cNvCxnSpPr>
          <p:nvPr/>
        </p:nvCxnSpPr>
        <p:spPr>
          <a:xfrm rot="10800000" flipV="1">
            <a:off x="5573323" y="1590981"/>
            <a:ext cx="989933" cy="743559"/>
          </a:xfrm>
          <a:prstGeom prst="straightConnector1">
            <a:avLst/>
          </a:prstGeom>
          <a:noFill/>
          <a:ln w="9525">
            <a:solidFill>
              <a:schemeClr val="tx1"/>
            </a:solidFill>
            <a:miter lim="800000"/>
            <a:headEnd/>
            <a:tailEnd/>
          </a:ln>
          <a:effectLst/>
        </p:spPr>
      </p:cxnSp>
      <p:sp>
        <p:nvSpPr>
          <p:cNvPr id="23" name="CaixaDeTexto 22"/>
          <p:cNvSpPr txBox="1"/>
          <p:nvPr/>
        </p:nvSpPr>
        <p:spPr>
          <a:xfrm>
            <a:off x="213188" y="4584494"/>
            <a:ext cx="3568807" cy="646331"/>
          </a:xfrm>
          <a:prstGeom prst="rect">
            <a:avLst/>
          </a:prstGeom>
          <a:noFill/>
          <a:ln>
            <a:solidFill>
              <a:schemeClr val="tx1"/>
            </a:solidFill>
          </a:ln>
        </p:spPr>
        <p:txBody>
          <a:bodyPr wrap="square" rtlCol="0">
            <a:spAutoFit/>
          </a:bodyPr>
          <a:lstStyle/>
          <a:p>
            <a:r>
              <a:rPr lang="pt-BR" dirty="0"/>
              <a:t>Tela de Saída:</a:t>
            </a:r>
          </a:p>
          <a:p>
            <a:r>
              <a:rPr lang="pt-BR" b="1" dirty="0"/>
              <a:t>23  29  37  42</a:t>
            </a:r>
          </a:p>
        </p:txBody>
      </p:sp>
      <p:sp>
        <p:nvSpPr>
          <p:cNvPr id="22" name="Line 31"/>
          <p:cNvSpPr>
            <a:spLocks noChangeShapeType="1"/>
          </p:cNvSpPr>
          <p:nvPr/>
        </p:nvSpPr>
        <p:spPr bwMode="auto">
          <a:xfrm>
            <a:off x="5471408" y="2989061"/>
            <a:ext cx="570164" cy="712359"/>
          </a:xfrm>
          <a:prstGeom prst="line">
            <a:avLst/>
          </a:prstGeom>
          <a:noFill/>
          <a:ln w="9525">
            <a:solidFill>
              <a:schemeClr val="tx1"/>
            </a:solidFill>
            <a:miter lim="800000"/>
            <a:headEnd/>
            <a:tailEnd/>
          </a:ln>
          <a:effectLst/>
        </p:spPr>
        <p:txBody>
          <a:bodyPr wrap="none"/>
          <a:lstStyle/>
          <a:p>
            <a:endParaRPr lang="pt-BR" sz="1200"/>
          </a:p>
        </p:txBody>
      </p:sp>
      <p:sp>
        <p:nvSpPr>
          <p:cNvPr id="24" name="Rectangle 3"/>
          <p:cNvSpPr txBox="1">
            <a:spLocks noChangeArrowheads="1"/>
          </p:cNvSpPr>
          <p:nvPr/>
        </p:nvSpPr>
        <p:spPr>
          <a:xfrm>
            <a:off x="0" y="112012"/>
            <a:ext cx="4823158" cy="3029105"/>
          </a:xfrm>
          <a:prstGeom prst="rect">
            <a:avLst/>
          </a:prstGeom>
          <a:solidFill>
            <a:schemeClr val="accent2">
              <a:lumMod val="60000"/>
              <a:lumOff val="40000"/>
              <a:alpha val="13000"/>
            </a:schemeClr>
          </a:solidFill>
        </p:spPr>
        <p:txBody>
          <a:bodyPr vert="horz" lIns="91440" tIns="45720" rIns="91440" bIns="45720" rtlCol="0">
            <a:noAutofit/>
          </a:bodyPr>
          <a:lstStyle/>
          <a:p>
            <a:pPr marL="342900" marR="0" lvl="0" indent="-342900" defTabSz="457200" fontAlgn="auto">
              <a:lnSpc>
                <a:spcPct val="80000"/>
              </a:lnSpc>
              <a:spcBef>
                <a:spcPct val="20000"/>
              </a:spcBef>
              <a:spcAft>
                <a:spcPts val="0"/>
              </a:spcAft>
              <a:buClrTx/>
              <a:buSzTx/>
              <a:buFont typeface="Wingdings" pitchFamily="2" charset="2"/>
              <a:buNone/>
              <a:tabLst/>
              <a:defRPr/>
            </a:pPr>
            <a:r>
              <a:rPr lang="pt-BR" b="1" dirty="0">
                <a:solidFill>
                  <a:srgbClr val="FF0000"/>
                </a:solidFill>
              </a:rPr>
              <a:t>ATIVAÇÃO 1</a:t>
            </a:r>
          </a:p>
          <a:p>
            <a:pPr marL="342900" lvl="0" indent="-342900" defTabSz="457200">
              <a:lnSpc>
                <a:spcPct val="80000"/>
              </a:lnSpc>
              <a:spcBef>
                <a:spcPct val="20000"/>
              </a:spcBef>
              <a:defRPr/>
            </a:pPr>
            <a:r>
              <a:rPr lang="pt-BR" b="1" dirty="0" err="1">
                <a:solidFill>
                  <a:srgbClr val="FF0000"/>
                </a:solidFill>
              </a:rPr>
              <a:t>private</a:t>
            </a:r>
            <a:r>
              <a:rPr lang="pt-BR" b="1" dirty="0">
                <a:solidFill>
                  <a:srgbClr val="FF0000"/>
                </a:solidFill>
              </a:rPr>
              <a:t> </a:t>
            </a:r>
            <a:r>
              <a:rPr lang="pt-BR" b="1" dirty="0" err="1">
                <a:solidFill>
                  <a:srgbClr val="FF0000"/>
                </a:solidFill>
              </a:rPr>
              <a:t>static</a:t>
            </a:r>
            <a:r>
              <a:rPr lang="pt-BR" b="1" dirty="0">
                <a:solidFill>
                  <a:srgbClr val="FF0000"/>
                </a:solidFill>
              </a:rPr>
              <a:t> </a:t>
            </a:r>
            <a:r>
              <a:rPr lang="pt-BR" b="1" dirty="0" err="1">
                <a:solidFill>
                  <a:srgbClr val="FF0000"/>
                </a:solidFill>
              </a:rPr>
              <a:t>void</a:t>
            </a:r>
            <a:r>
              <a:rPr lang="pt-BR" b="1" dirty="0">
                <a:solidFill>
                  <a:srgbClr val="FF0000"/>
                </a:solidFill>
              </a:rPr>
              <a:t> </a:t>
            </a:r>
            <a:r>
              <a:rPr lang="pt-BR" b="1" dirty="0" err="1">
                <a:solidFill>
                  <a:srgbClr val="FF0000"/>
                </a:solidFill>
              </a:rPr>
              <a:t>mostra_em_ordem</a:t>
            </a:r>
            <a:r>
              <a:rPr lang="pt-BR" b="1" dirty="0">
                <a:solidFill>
                  <a:srgbClr val="FF0000"/>
                </a:solidFill>
              </a:rPr>
              <a:t>(ARVORE p) {</a:t>
            </a:r>
          </a:p>
          <a:p>
            <a:pPr marL="342900" lvl="0" indent="-342900" defTabSz="457200">
              <a:lnSpc>
                <a:spcPct val="80000"/>
              </a:lnSpc>
              <a:spcBef>
                <a:spcPct val="20000"/>
              </a:spcBef>
              <a:defRPr/>
            </a:pPr>
            <a:r>
              <a:rPr lang="pt-BR" b="1" dirty="0">
                <a:solidFill>
                  <a:srgbClr val="FF0000"/>
                </a:solidFill>
              </a:rPr>
              <a:t>	</a:t>
            </a:r>
            <a:r>
              <a:rPr lang="pt-BR" b="1" dirty="0" err="1">
                <a:solidFill>
                  <a:srgbClr val="FF0000"/>
                </a:solidFill>
              </a:rPr>
              <a:t>if</a:t>
            </a:r>
            <a:r>
              <a:rPr lang="pt-BR" b="1" dirty="0">
                <a:solidFill>
                  <a:srgbClr val="FF0000"/>
                </a:solidFill>
              </a:rPr>
              <a:t> (p != </a:t>
            </a:r>
            <a:r>
              <a:rPr lang="pt-BR" b="1" dirty="0" err="1">
                <a:solidFill>
                  <a:srgbClr val="FF0000"/>
                </a:solidFill>
              </a:rPr>
              <a:t>null</a:t>
            </a:r>
            <a:r>
              <a:rPr lang="pt-BR" b="1" dirty="0">
                <a:solidFill>
                  <a:srgbClr val="FF0000"/>
                </a:solidFill>
              </a:rPr>
              <a:t>) {</a:t>
            </a:r>
          </a:p>
          <a:p>
            <a:pPr marL="342900" lvl="0" indent="-342900" defTabSz="457200">
              <a:lnSpc>
                <a:spcPct val="80000"/>
              </a:lnSpc>
              <a:spcBef>
                <a:spcPct val="20000"/>
              </a:spcBef>
              <a:defRPr/>
            </a:pPr>
            <a:r>
              <a:rPr lang="pt-BR" b="1" dirty="0">
                <a:solidFill>
                  <a:srgbClr val="FF0000"/>
                </a:solidFill>
              </a:rPr>
              <a:t>        </a:t>
            </a:r>
            <a:r>
              <a:rPr lang="pt-BR" b="1" dirty="0" err="1">
                <a:solidFill>
                  <a:srgbClr val="FF0000"/>
                </a:solidFill>
              </a:rPr>
              <a:t>if</a:t>
            </a:r>
            <a:r>
              <a:rPr lang="pt-BR" b="1" dirty="0">
                <a:solidFill>
                  <a:srgbClr val="FF0000"/>
                </a:solidFill>
              </a:rPr>
              <a:t> (</a:t>
            </a:r>
            <a:r>
              <a:rPr lang="pt-BR" b="1" dirty="0" err="1">
                <a:solidFill>
                  <a:srgbClr val="FF0000"/>
                </a:solidFill>
              </a:rPr>
              <a:t>p.esq</a:t>
            </a:r>
            <a:r>
              <a:rPr lang="pt-BR" b="1" dirty="0">
                <a:solidFill>
                  <a:srgbClr val="FF0000"/>
                </a:solidFill>
              </a:rPr>
              <a:t> != </a:t>
            </a:r>
            <a:r>
              <a:rPr lang="pt-BR" b="1" dirty="0" err="1">
                <a:solidFill>
                  <a:srgbClr val="FF0000"/>
                </a:solidFill>
              </a:rPr>
              <a:t>null</a:t>
            </a:r>
            <a:r>
              <a:rPr lang="pt-BR" b="1" dirty="0">
                <a:solidFill>
                  <a:srgbClr val="FF0000"/>
                </a:solidFill>
              </a:rPr>
              <a:t>)</a:t>
            </a:r>
          </a:p>
          <a:p>
            <a:pPr marL="342900" lvl="0" indent="-342900" defTabSz="457200">
              <a:lnSpc>
                <a:spcPct val="80000"/>
              </a:lnSpc>
              <a:spcBef>
                <a:spcPct val="20000"/>
              </a:spcBef>
              <a:defRPr/>
            </a:pPr>
            <a:r>
              <a:rPr lang="pt-BR" b="1" dirty="0">
                <a:solidFill>
                  <a:srgbClr val="FF0000"/>
                </a:solidFill>
              </a:rPr>
              <a:t>			</a:t>
            </a:r>
            <a:r>
              <a:rPr lang="pt-BR" b="1" dirty="0" err="1">
                <a:solidFill>
                  <a:srgbClr val="FF0000"/>
                </a:solidFill>
              </a:rPr>
              <a:t>mostra_em_ordem</a:t>
            </a:r>
            <a:r>
              <a:rPr lang="pt-BR" b="1" dirty="0">
                <a:solidFill>
                  <a:srgbClr val="FF0000"/>
                </a:solidFill>
              </a:rPr>
              <a:t>(</a:t>
            </a:r>
            <a:r>
              <a:rPr lang="pt-BR" b="1" dirty="0" err="1">
                <a:solidFill>
                  <a:srgbClr val="FF0000"/>
                </a:solidFill>
              </a:rPr>
              <a:t>p.esq</a:t>
            </a:r>
            <a:r>
              <a:rPr lang="pt-BR" b="1" dirty="0">
                <a:solidFill>
                  <a:srgbClr val="FF0000"/>
                </a:solidFill>
              </a:rPr>
              <a:t>);</a:t>
            </a:r>
          </a:p>
          <a:p>
            <a:pPr marL="342900" lvl="0" indent="-342900" defTabSz="457200">
              <a:lnSpc>
                <a:spcPct val="80000"/>
              </a:lnSpc>
              <a:spcBef>
                <a:spcPct val="20000"/>
              </a:spcBef>
              <a:defRPr/>
            </a:pPr>
            <a:r>
              <a:rPr lang="pt-BR" b="1" dirty="0">
                <a:solidFill>
                  <a:srgbClr val="FF0000"/>
                </a:solidFill>
              </a:rPr>
              <a:t>		System.</a:t>
            </a:r>
            <a:r>
              <a:rPr lang="pt-BR" b="1" dirty="0" err="1">
                <a:solidFill>
                  <a:srgbClr val="FF0000"/>
                </a:solidFill>
              </a:rPr>
              <a:t>out.println</a:t>
            </a:r>
            <a:r>
              <a:rPr lang="pt-BR" b="1" dirty="0">
                <a:solidFill>
                  <a:srgbClr val="FF0000"/>
                </a:solidFill>
              </a:rPr>
              <a:t>(" "  + </a:t>
            </a:r>
            <a:r>
              <a:rPr lang="pt-BR" b="1" dirty="0" err="1">
                <a:solidFill>
                  <a:srgbClr val="FF0000"/>
                </a:solidFill>
              </a:rPr>
              <a:t>p.dado</a:t>
            </a:r>
            <a:r>
              <a:rPr lang="pt-BR" b="1" dirty="0">
                <a:solidFill>
                  <a:srgbClr val="FF0000"/>
                </a:solidFill>
              </a:rPr>
              <a:t>);</a:t>
            </a:r>
          </a:p>
          <a:p>
            <a:pPr marL="342900" indent="-342900" defTabSz="457200">
              <a:lnSpc>
                <a:spcPct val="80000"/>
              </a:lnSpc>
              <a:spcBef>
                <a:spcPct val="20000"/>
              </a:spcBef>
              <a:defRPr/>
            </a:pPr>
            <a:r>
              <a:rPr lang="pt-BR" b="1" dirty="0">
                <a:solidFill>
                  <a:srgbClr val="FF0000"/>
                </a:solidFill>
              </a:rPr>
              <a:t>		</a:t>
            </a:r>
            <a:r>
              <a:rPr lang="pt-BR" b="1" dirty="0" err="1">
                <a:solidFill>
                  <a:srgbClr val="FF0000"/>
                </a:solidFill>
              </a:rPr>
              <a:t>if</a:t>
            </a:r>
            <a:r>
              <a:rPr lang="pt-BR" b="1" dirty="0">
                <a:solidFill>
                  <a:srgbClr val="FF0000"/>
                </a:solidFill>
              </a:rPr>
              <a:t>(</a:t>
            </a:r>
            <a:r>
              <a:rPr lang="pt-BR" b="1" dirty="0" err="1">
                <a:solidFill>
                  <a:srgbClr val="FF0000"/>
                </a:solidFill>
              </a:rPr>
              <a:t>p.dir</a:t>
            </a:r>
            <a:r>
              <a:rPr lang="pt-BR" b="1" dirty="0">
                <a:solidFill>
                  <a:srgbClr val="FF0000"/>
                </a:solidFill>
              </a:rPr>
              <a:t> != </a:t>
            </a:r>
            <a:r>
              <a:rPr lang="pt-BR" b="1" dirty="0" err="1">
                <a:solidFill>
                  <a:srgbClr val="FF0000"/>
                </a:solidFill>
              </a:rPr>
              <a:t>null</a:t>
            </a:r>
            <a:r>
              <a:rPr lang="pt-BR" b="1" dirty="0">
                <a:solidFill>
                  <a:srgbClr val="FF0000"/>
                </a:solidFill>
              </a:rPr>
              <a:t>)</a:t>
            </a:r>
          </a:p>
          <a:p>
            <a:pPr marL="342900" lvl="0" indent="-342900" defTabSz="457200">
              <a:lnSpc>
                <a:spcPct val="80000"/>
              </a:lnSpc>
              <a:spcBef>
                <a:spcPct val="20000"/>
              </a:spcBef>
              <a:defRPr/>
            </a:pPr>
            <a:r>
              <a:rPr lang="pt-BR" b="1" dirty="0">
                <a:solidFill>
                  <a:srgbClr val="FF0000"/>
                </a:solidFill>
              </a:rPr>
              <a:t>			</a:t>
            </a:r>
            <a:r>
              <a:rPr lang="pt-BR" b="1" dirty="0" err="1">
                <a:solidFill>
                  <a:srgbClr val="FF0000"/>
                </a:solidFill>
              </a:rPr>
              <a:t>mostra_em_ordem</a:t>
            </a:r>
            <a:r>
              <a:rPr lang="pt-BR" b="1" dirty="0">
                <a:solidFill>
                  <a:srgbClr val="FF0000"/>
                </a:solidFill>
              </a:rPr>
              <a:t>(</a:t>
            </a:r>
            <a:r>
              <a:rPr lang="pt-BR" b="1" dirty="0" err="1">
                <a:solidFill>
                  <a:srgbClr val="FF0000"/>
                </a:solidFill>
              </a:rPr>
              <a:t>p.dir</a:t>
            </a:r>
            <a:r>
              <a:rPr lang="pt-BR" b="1" dirty="0">
                <a:solidFill>
                  <a:srgbClr val="FF0000"/>
                </a:solidFill>
              </a:rPr>
              <a:t>);</a:t>
            </a:r>
          </a:p>
          <a:p>
            <a:pPr marL="342900" lvl="0" indent="-342900" defTabSz="457200">
              <a:lnSpc>
                <a:spcPct val="80000"/>
              </a:lnSpc>
              <a:spcBef>
                <a:spcPct val="20000"/>
              </a:spcBef>
              <a:defRPr/>
            </a:pPr>
            <a:r>
              <a:rPr lang="pt-BR" b="1" dirty="0">
                <a:solidFill>
                  <a:srgbClr val="FF0000"/>
                </a:solidFill>
              </a:rPr>
              <a:t>		}</a:t>
            </a:r>
          </a:p>
          <a:p>
            <a:pPr marL="342900" lvl="0" indent="-342900" defTabSz="457200">
              <a:lnSpc>
                <a:spcPct val="80000"/>
              </a:lnSpc>
              <a:spcBef>
                <a:spcPct val="20000"/>
              </a:spcBef>
              <a:defRPr/>
            </a:pPr>
            <a:r>
              <a:rPr lang="pt-BR" b="1" dirty="0">
                <a:solidFill>
                  <a:srgbClr val="FF0000"/>
                </a:solidFill>
              </a:rPr>
              <a:t>}</a:t>
            </a:r>
          </a:p>
        </p:txBody>
      </p:sp>
      <p:sp>
        <p:nvSpPr>
          <p:cNvPr id="16" name="Rectangle 3"/>
          <p:cNvSpPr txBox="1">
            <a:spLocks noChangeArrowheads="1"/>
          </p:cNvSpPr>
          <p:nvPr/>
        </p:nvSpPr>
        <p:spPr>
          <a:xfrm>
            <a:off x="0" y="431676"/>
            <a:ext cx="4876799" cy="3321690"/>
          </a:xfrm>
          <a:prstGeom prst="rect">
            <a:avLst/>
          </a:prstGeom>
          <a:solidFill>
            <a:schemeClr val="accent3">
              <a:lumMod val="40000"/>
              <a:lumOff val="60000"/>
            </a:schemeClr>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effectLst/>
                <a:uLnTx/>
                <a:uFillTx/>
                <a:latin typeface="+mn-lt"/>
                <a:ea typeface="+mn-ea"/>
                <a:cs typeface="+mn-cs"/>
              </a:rPr>
              <a:t>ATIVAÇÃO 2</a:t>
            </a:r>
          </a:p>
          <a:p>
            <a:pPr marL="342900" lvl="0" indent="-342900" defTabSz="457200">
              <a:lnSpc>
                <a:spcPct val="80000"/>
              </a:lnSpc>
              <a:spcBef>
                <a:spcPct val="20000"/>
              </a:spcBef>
              <a:defRPr/>
            </a:pPr>
            <a:r>
              <a:rPr lang="pt-BR" sz="1800" b="1" dirty="0" err="1">
                <a:solidFill>
                  <a:srgbClr val="7F0055"/>
                </a:solidFill>
                <a:latin typeface="Consolas" panose="020B0609020204030204" pitchFamily="49" charset="0"/>
              </a:rPr>
              <a:t>public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static</a:t>
            </a: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void</a:t>
            </a:r>
            <a:r>
              <a:rPr lang="pt-BR" sz="1800" b="1" dirty="0">
                <a:solidFill>
                  <a:srgbClr val="7F0055"/>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kumimoji="0" lang="pt-BR" sz="1800" b="0" i="0" u="none" strike="noStrike" kern="1200" cap="none" spc="0" normalizeH="0" baseline="0" noProof="0" dirty="0">
                <a:ln>
                  <a:noFill/>
                </a:ln>
                <a:solidFill>
                  <a:schemeClr val="tx1"/>
                </a:solidFill>
                <a:effectLst/>
                <a:uLnTx/>
                <a:uFillTx/>
                <a:latin typeface="+mn-lt"/>
                <a:ea typeface="+mn-ea"/>
                <a:cs typeface="+mn-cs"/>
              </a:rPr>
              <a:t>(NO </a:t>
            </a:r>
            <a:r>
              <a:rPr lang="pt-BR" b="1" dirty="0">
                <a:solidFill>
                  <a:srgbClr val="0CA41A"/>
                </a:solidFill>
              </a:rPr>
              <a:t>p</a:t>
            </a:r>
            <a:r>
              <a:rPr lang="pt-BR" dirty="0"/>
              <a:t>) {</a:t>
            </a:r>
          </a:p>
          <a:p>
            <a:pPr marL="342900" lvl="0" indent="-342900" defTabSz="457200">
              <a:lnSpc>
                <a:spcPct val="80000"/>
              </a:lnSpc>
              <a:spcBef>
                <a:spcPct val="20000"/>
              </a:spcBef>
              <a:defRPr/>
            </a:pPr>
            <a:r>
              <a:rPr lang="pt-BR" dirty="0"/>
              <a:t>	</a:t>
            </a:r>
            <a:r>
              <a:rPr lang="pt-BR" b="1" dirty="0" err="1"/>
              <a:t>if</a:t>
            </a:r>
            <a:r>
              <a:rPr lang="pt-BR" b="1" dirty="0"/>
              <a:t> (p != </a:t>
            </a:r>
            <a:r>
              <a:rPr lang="pt-BR" b="1" dirty="0" err="1"/>
              <a:t>null</a:t>
            </a:r>
            <a:r>
              <a:rPr lang="pt-BR" b="1" dirty="0"/>
              <a:t>) { </a:t>
            </a:r>
            <a:r>
              <a:rPr lang="pt-BR" dirty="0"/>
              <a:t>	</a:t>
            </a:r>
          </a:p>
          <a:p>
            <a:pPr marL="342900" lvl="0" indent="-342900" defTabSz="457200">
              <a:lnSpc>
                <a:spcPct val="80000"/>
              </a:lnSpc>
              <a:spcBef>
                <a:spcPct val="20000"/>
              </a:spcBef>
              <a:defRPr/>
            </a:pPr>
            <a:r>
              <a:rPr lang="pt-BR" b="1" dirty="0"/>
              <a:t>         </a:t>
            </a:r>
            <a:r>
              <a:rPr lang="pt-BR" b="1" dirty="0" err="1"/>
              <a:t>if</a:t>
            </a:r>
            <a:r>
              <a:rPr lang="pt-BR" b="1" dirty="0"/>
              <a:t> (</a:t>
            </a:r>
            <a:r>
              <a:rPr lang="pt-BR" b="1" dirty="0" err="1"/>
              <a:t>p.esq</a:t>
            </a:r>
            <a:r>
              <a:rPr lang="pt-BR" b="1" dirty="0"/>
              <a:t> != </a:t>
            </a:r>
            <a:r>
              <a:rPr lang="pt-BR" b="1" dirty="0" err="1"/>
              <a:t>null</a:t>
            </a:r>
            <a:r>
              <a:rPr lang="pt-BR" b="1" dirty="0"/>
              <a:t>)</a:t>
            </a:r>
          </a:p>
          <a:p>
            <a:pPr marL="342900" lvl="0" indent="-342900" defTabSz="457200">
              <a:lnSpc>
                <a:spcPct val="80000"/>
              </a:lnSpc>
              <a:spcBef>
                <a:spcPct val="20000"/>
              </a:spcBef>
              <a:defRPr/>
            </a:pPr>
            <a:r>
              <a:rPr lang="pt-BR" dirty="0"/>
              <a:t>			</a:t>
            </a:r>
            <a:r>
              <a:rPr lang="pt-BR" sz="1800" dirty="0">
                <a:solidFill>
                  <a:srgbClr val="000000"/>
                </a:solidFill>
                <a:latin typeface="Consolas" panose="020B0609020204030204" pitchFamily="49" charset="0"/>
              </a:rPr>
              <a:t> </a:t>
            </a:r>
            <a:r>
              <a:rPr lang="pt-BR" sz="1800" dirty="0" err="1">
                <a:solidFill>
                  <a:srgbClr val="000000"/>
                </a:solidFill>
                <a:latin typeface="Consolas" panose="020B0609020204030204" pitchFamily="49" charset="0"/>
              </a:rPr>
              <a:t>inOrdem</a:t>
            </a:r>
            <a:r>
              <a:rPr lang="pt-BR" dirty="0"/>
              <a:t>(</a:t>
            </a:r>
            <a:r>
              <a:rPr lang="pt-BR" dirty="0" err="1"/>
              <a:t>p.esq</a:t>
            </a:r>
            <a:r>
              <a:rPr lang="pt-BR" dirty="0"/>
              <a:t>);</a:t>
            </a:r>
          </a:p>
          <a:p>
            <a:pPr marL="342900" lvl="0" indent="-342900" defTabSz="457200">
              <a:lnSpc>
                <a:spcPct val="80000"/>
              </a:lnSpc>
              <a:spcBef>
                <a:spcPct val="20000"/>
              </a:spcBef>
              <a:defRPr/>
            </a:pPr>
            <a:r>
              <a:rPr lang="pt-BR" dirty="0"/>
              <a:t>		</a:t>
            </a:r>
            <a:r>
              <a:rPr lang="pt-BR" b="1" dirty="0"/>
              <a:t>System.</a:t>
            </a:r>
            <a:r>
              <a:rPr lang="pt-BR" b="1" dirty="0" err="1"/>
              <a:t>out.println</a:t>
            </a:r>
            <a:r>
              <a:rPr lang="pt-BR" b="1" dirty="0"/>
              <a:t>(" "  + </a:t>
            </a:r>
            <a:r>
              <a:rPr lang="pt-BR" b="1" dirty="0" err="1"/>
              <a:t>p.dado</a:t>
            </a:r>
            <a:r>
              <a:rPr lang="pt-BR" b="1" dirty="0"/>
              <a:t>);</a:t>
            </a:r>
          </a:p>
          <a:p>
            <a:pPr marL="342900" indent="-342900" defTabSz="457200">
              <a:lnSpc>
                <a:spcPct val="80000"/>
              </a:lnSpc>
              <a:spcBef>
                <a:spcPct val="20000"/>
              </a:spcBef>
              <a:defRPr/>
            </a:pPr>
            <a:r>
              <a:rPr lang="pt-BR" dirty="0"/>
              <a:t>	</a:t>
            </a:r>
            <a:r>
              <a:rPr lang="pt-BR" b="1" dirty="0"/>
              <a:t>	</a:t>
            </a:r>
            <a:r>
              <a:rPr lang="pt-BR" b="1" dirty="0" err="1"/>
              <a:t>if</a:t>
            </a:r>
            <a:r>
              <a:rPr lang="pt-BR" b="1" dirty="0"/>
              <a:t>(</a:t>
            </a:r>
            <a:r>
              <a:rPr lang="pt-BR" b="1" dirty="0" err="1"/>
              <a:t>p.dir</a:t>
            </a:r>
            <a:r>
              <a:rPr lang="pt-BR" b="1" dirty="0"/>
              <a:t> != </a:t>
            </a:r>
            <a:r>
              <a:rPr lang="pt-BR" b="1" dirty="0" err="1"/>
              <a:t>null</a:t>
            </a:r>
            <a:r>
              <a:rPr lang="pt-BR" b="1" dirty="0"/>
              <a:t>)</a:t>
            </a:r>
          </a:p>
          <a:p>
            <a:pPr marL="342900" lvl="0" indent="-342900" defTabSz="457200">
              <a:lnSpc>
                <a:spcPct val="80000"/>
              </a:lnSpc>
              <a:spcBef>
                <a:spcPct val="20000"/>
              </a:spcBef>
              <a:defRPr/>
            </a:pPr>
            <a:r>
              <a:rPr lang="pt-BR" b="1" dirty="0"/>
              <a:t>			</a:t>
            </a:r>
            <a:r>
              <a:rPr lang="pt-BR" sz="1800" dirty="0">
                <a:solidFill>
                  <a:srgbClr val="000000"/>
                </a:solidFill>
                <a:latin typeface="Consolas" panose="020B0609020204030204" pitchFamily="49" charset="0"/>
              </a:rPr>
              <a:t> </a:t>
            </a:r>
            <a:r>
              <a:rPr lang="pt-BR" sz="1800" dirty="0" err="1">
                <a:solidFill>
                  <a:srgbClr val="000000"/>
                </a:solidFill>
                <a:latin typeface="Consolas" panose="020B0609020204030204" pitchFamily="49" charset="0"/>
              </a:rPr>
              <a:t>inOrdem</a:t>
            </a:r>
            <a:r>
              <a:rPr lang="pt-BR" dirty="0"/>
              <a:t>(</a:t>
            </a:r>
            <a:r>
              <a:rPr lang="pt-BR" dirty="0" err="1"/>
              <a:t>p.dir</a:t>
            </a:r>
            <a:r>
              <a:rPr lang="pt-BR" dirty="0"/>
              <a:t>);</a:t>
            </a:r>
          </a:p>
          <a:p>
            <a:pPr marL="342900" lvl="0" indent="-342900" defTabSz="457200">
              <a:lnSpc>
                <a:spcPct val="80000"/>
              </a:lnSpc>
              <a:spcBef>
                <a:spcPct val="20000"/>
              </a:spcBef>
              <a:defRPr/>
            </a:pPr>
            <a:r>
              <a:rPr lang="pt-BR" b="1" dirty="0"/>
              <a:t>		}</a:t>
            </a:r>
          </a:p>
          <a:p>
            <a:pPr marL="342900" lvl="0" indent="-342900" defTabSz="457200">
              <a:lnSpc>
                <a:spcPct val="80000"/>
              </a:lnSpc>
              <a:spcBef>
                <a:spcPct val="20000"/>
              </a:spcBef>
              <a:defRPr/>
            </a:pPr>
            <a:r>
              <a:rPr lang="pt-BR" b="1" dirty="0"/>
              <a:t>}</a:t>
            </a:r>
            <a:endParaRPr kumimoji="0" lang="pt-BR" b="1" i="0" u="none" strike="noStrike" kern="1200" cap="none" spc="0" normalizeH="0" baseline="0" noProof="0" dirty="0">
              <a:ln>
                <a:noFill/>
              </a:ln>
              <a:effectLst/>
              <a:uLnTx/>
              <a:uFillTx/>
              <a:latin typeface="+mn-lt"/>
              <a:ea typeface="+mn-ea"/>
              <a:cs typeface="+mn-cs"/>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ço Reservado para Número de Slide 20"/>
          <p:cNvSpPr>
            <a:spLocks noGrp="1"/>
          </p:cNvSpPr>
          <p:nvPr>
            <p:ph type="sldNum" sz="quarter" idx="12"/>
          </p:nvPr>
        </p:nvSpPr>
        <p:spPr/>
        <p:txBody>
          <a:bodyPr/>
          <a:lstStyle/>
          <a:p>
            <a:fld id="{0DBB9FE3-D63C-4A40-B010-4651D12E128D}" type="slidenum">
              <a:rPr lang="pt-BR" smtClean="0"/>
              <a:pPr/>
              <a:t>45</a:t>
            </a:fld>
            <a:endParaRPr lang="pt-BR"/>
          </a:p>
        </p:txBody>
      </p:sp>
      <p:sp>
        <p:nvSpPr>
          <p:cNvPr id="23" name="CaixaDeTexto 22"/>
          <p:cNvSpPr txBox="1"/>
          <p:nvPr/>
        </p:nvSpPr>
        <p:spPr>
          <a:xfrm>
            <a:off x="213188" y="4584494"/>
            <a:ext cx="3568807" cy="646331"/>
          </a:xfrm>
          <a:prstGeom prst="rect">
            <a:avLst/>
          </a:prstGeom>
          <a:noFill/>
          <a:ln>
            <a:solidFill>
              <a:schemeClr val="tx1"/>
            </a:solidFill>
          </a:ln>
        </p:spPr>
        <p:txBody>
          <a:bodyPr wrap="square" rtlCol="0">
            <a:spAutoFit/>
          </a:bodyPr>
          <a:lstStyle/>
          <a:p>
            <a:r>
              <a:rPr lang="pt-BR" dirty="0"/>
              <a:t>Tela de Saída:</a:t>
            </a:r>
          </a:p>
          <a:p>
            <a:r>
              <a:rPr lang="pt-BR" b="1" dirty="0"/>
              <a:t>23  29  37  42</a:t>
            </a:r>
          </a:p>
        </p:txBody>
      </p:sp>
      <p:grpSp>
        <p:nvGrpSpPr>
          <p:cNvPr id="3" name="Agrupar 2">
            <a:extLst>
              <a:ext uri="{FF2B5EF4-FFF2-40B4-BE49-F238E27FC236}">
                <a16:creationId xmlns:a16="http://schemas.microsoft.com/office/drawing/2014/main" id="{05BFCA4D-9983-4790-A17F-060B6BE2C163}"/>
              </a:ext>
            </a:extLst>
          </p:cNvPr>
          <p:cNvGrpSpPr/>
          <p:nvPr/>
        </p:nvGrpSpPr>
        <p:grpSpPr>
          <a:xfrm>
            <a:off x="4876799" y="422872"/>
            <a:ext cx="4140024" cy="4109676"/>
            <a:chOff x="4876799" y="422872"/>
            <a:chExt cx="4140024" cy="4109676"/>
          </a:xfrm>
        </p:grpSpPr>
        <p:grpSp>
          <p:nvGrpSpPr>
            <p:cNvPr id="2" name="Grupo 1"/>
            <p:cNvGrpSpPr/>
            <p:nvPr/>
          </p:nvGrpSpPr>
          <p:grpSpPr>
            <a:xfrm>
              <a:off x="4876799" y="2212825"/>
              <a:ext cx="1545076" cy="2319723"/>
              <a:chOff x="4914400" y="3753366"/>
              <a:chExt cx="1545076" cy="2319723"/>
            </a:xfrm>
          </p:grpSpPr>
          <p:sp>
            <p:nvSpPr>
              <p:cNvPr id="37893" name="Oval 5"/>
              <p:cNvSpPr>
                <a:spLocks noChangeArrowheads="1"/>
              </p:cNvSpPr>
              <p:nvPr/>
            </p:nvSpPr>
            <p:spPr bwMode="auto">
              <a:xfrm>
                <a:off x="4914400"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23</a:t>
                </a:r>
              </a:p>
            </p:txBody>
          </p:sp>
          <p:sp>
            <p:nvSpPr>
              <p:cNvPr id="37897" name="Oval 9"/>
              <p:cNvSpPr>
                <a:spLocks noChangeArrowheads="1"/>
              </p:cNvSpPr>
              <p:nvPr/>
            </p:nvSpPr>
            <p:spPr bwMode="auto">
              <a:xfrm>
                <a:off x="5643448" y="5241961"/>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29</a:t>
                </a:r>
              </a:p>
            </p:txBody>
          </p:sp>
        </p:grpSp>
        <p:sp>
          <p:nvSpPr>
            <p:cNvPr id="37892" name="Oval 4"/>
            <p:cNvSpPr>
              <a:spLocks noChangeArrowheads="1"/>
            </p:cNvSpPr>
            <p:nvPr/>
          </p:nvSpPr>
          <p:spPr bwMode="auto">
            <a:xfrm>
              <a:off x="6563256" y="1044717"/>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37</a:t>
              </a:r>
            </a:p>
          </p:txBody>
        </p:sp>
        <p:sp>
          <p:nvSpPr>
            <p:cNvPr id="37895" name="Oval 7"/>
            <p:cNvSpPr>
              <a:spLocks noChangeArrowheads="1"/>
            </p:cNvSpPr>
            <p:nvPr/>
          </p:nvSpPr>
          <p:spPr bwMode="auto">
            <a:xfrm>
              <a:off x="8200795" y="2212825"/>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42</a:t>
              </a:r>
            </a:p>
          </p:txBody>
        </p:sp>
        <p:sp>
          <p:nvSpPr>
            <p:cNvPr id="37919" name="Line 31"/>
            <p:cNvSpPr>
              <a:spLocks noChangeShapeType="1"/>
            </p:cNvSpPr>
            <p:nvPr/>
          </p:nvSpPr>
          <p:spPr bwMode="auto">
            <a:xfrm>
              <a:off x="7379283" y="1590980"/>
              <a:ext cx="1091849" cy="621845"/>
            </a:xfrm>
            <a:prstGeom prst="line">
              <a:avLst/>
            </a:prstGeom>
            <a:noFill/>
            <a:ln w="9525">
              <a:solidFill>
                <a:schemeClr val="tx1"/>
              </a:solidFill>
              <a:miter lim="800000"/>
              <a:headEnd/>
              <a:tailEnd/>
            </a:ln>
            <a:effectLst/>
          </p:spPr>
          <p:txBody>
            <a:bodyPr wrap="none"/>
            <a:lstStyle/>
            <a:p>
              <a:endParaRPr lang="pt-BR" sz="1200"/>
            </a:p>
          </p:txBody>
        </p:sp>
        <p:cxnSp>
          <p:nvCxnSpPr>
            <p:cNvPr id="27" name="Conector de seta reta 26"/>
            <p:cNvCxnSpPr>
              <a:endCxn id="37892" idx="0"/>
            </p:cNvCxnSpPr>
            <p:nvPr/>
          </p:nvCxnSpPr>
          <p:spPr>
            <a:xfrm rot="16200000" flipH="1">
              <a:off x="6650866" y="724313"/>
              <a:ext cx="621844" cy="18963"/>
            </a:xfrm>
            <a:prstGeom prst="straightConnector1">
              <a:avLst/>
            </a:prstGeom>
            <a:ln w="28575">
              <a:solidFill>
                <a:srgbClr val="F40C0C"/>
              </a:solidFill>
              <a:tailEnd type="arrow"/>
            </a:ln>
          </p:spPr>
          <p:style>
            <a:lnRef idx="2">
              <a:schemeClr val="accent1"/>
            </a:lnRef>
            <a:fillRef idx="0">
              <a:schemeClr val="accent1"/>
            </a:fillRef>
            <a:effectRef idx="1">
              <a:schemeClr val="accent1"/>
            </a:effectRef>
            <a:fontRef idx="minor">
              <a:schemeClr val="tx1"/>
            </a:fontRef>
          </p:style>
        </p:cxnSp>
        <p:sp>
          <p:nvSpPr>
            <p:cNvPr id="28" name="CaixaDeTexto 27"/>
            <p:cNvSpPr txBox="1"/>
            <p:nvPr/>
          </p:nvSpPr>
          <p:spPr>
            <a:xfrm>
              <a:off x="6481653" y="422872"/>
              <a:ext cx="696475" cy="523221"/>
            </a:xfrm>
            <a:prstGeom prst="rect">
              <a:avLst/>
            </a:prstGeom>
            <a:noFill/>
          </p:spPr>
          <p:txBody>
            <a:bodyPr wrap="square" rtlCol="0">
              <a:spAutoFit/>
            </a:bodyPr>
            <a:lstStyle/>
            <a:p>
              <a:r>
                <a:rPr lang="pt-BR" sz="2800" b="1" dirty="0">
                  <a:solidFill>
                    <a:srgbClr val="FF0000"/>
                  </a:solidFill>
                </a:rPr>
                <a:t>p</a:t>
              </a:r>
              <a:endParaRPr lang="pt-BR" b="1" dirty="0">
                <a:solidFill>
                  <a:srgbClr val="FF0000"/>
                </a:solidFill>
              </a:endParaRPr>
            </a:p>
          </p:txBody>
        </p:sp>
        <p:cxnSp>
          <p:nvCxnSpPr>
            <p:cNvPr id="20" name="Conector de seta reta 19"/>
            <p:cNvCxnSpPr>
              <a:endCxn id="37893" idx="7"/>
            </p:cNvCxnSpPr>
            <p:nvPr/>
          </p:nvCxnSpPr>
          <p:spPr>
            <a:xfrm rot="10800000" flipV="1">
              <a:off x="5573323" y="1590981"/>
              <a:ext cx="989933" cy="743559"/>
            </a:xfrm>
            <a:prstGeom prst="straightConnector1">
              <a:avLst/>
            </a:prstGeom>
            <a:noFill/>
            <a:ln w="9525">
              <a:solidFill>
                <a:schemeClr val="tx1"/>
              </a:solidFill>
              <a:miter lim="800000"/>
              <a:headEnd/>
              <a:tailEnd/>
            </a:ln>
            <a:effectLst/>
          </p:spPr>
        </p:cxnSp>
        <p:sp>
          <p:nvSpPr>
            <p:cNvPr id="22" name="Line 31"/>
            <p:cNvSpPr>
              <a:spLocks noChangeShapeType="1"/>
            </p:cNvSpPr>
            <p:nvPr/>
          </p:nvSpPr>
          <p:spPr bwMode="auto">
            <a:xfrm>
              <a:off x="5471408" y="2989061"/>
              <a:ext cx="570164" cy="712359"/>
            </a:xfrm>
            <a:prstGeom prst="line">
              <a:avLst/>
            </a:prstGeom>
            <a:noFill/>
            <a:ln w="9525">
              <a:solidFill>
                <a:schemeClr val="tx1"/>
              </a:solidFill>
              <a:miter lim="800000"/>
              <a:headEnd/>
              <a:tailEnd/>
            </a:ln>
            <a:effectLst/>
          </p:spPr>
          <p:txBody>
            <a:bodyPr wrap="none"/>
            <a:lstStyle/>
            <a:p>
              <a:endParaRPr lang="pt-BR" sz="1200"/>
            </a:p>
          </p:txBody>
        </p:sp>
      </p:grpSp>
      <p:sp>
        <p:nvSpPr>
          <p:cNvPr id="24" name="Rectangle 3"/>
          <p:cNvSpPr txBox="1">
            <a:spLocks noChangeArrowheads="1"/>
          </p:cNvSpPr>
          <p:nvPr/>
        </p:nvSpPr>
        <p:spPr>
          <a:xfrm>
            <a:off x="0" y="112012"/>
            <a:ext cx="4823158" cy="3029105"/>
          </a:xfrm>
          <a:prstGeom prst="rect">
            <a:avLst/>
          </a:prstGeom>
          <a:solidFill>
            <a:schemeClr val="accent2">
              <a:lumMod val="20000"/>
              <a:lumOff val="80000"/>
            </a:schemeClr>
          </a:solidFill>
        </p:spPr>
        <p:txBody>
          <a:bodyPr vert="horz" lIns="91440" tIns="45720" rIns="91440" bIns="45720" rtlCol="0">
            <a:noAutofit/>
          </a:bodyPr>
          <a:lstStyle/>
          <a:p>
            <a:pPr marL="342900" marR="0" lvl="0" indent="-342900" algn="l" defTabSz="457200" rtl="0" eaLnBrk="1" fontAlgn="auto" latinLnBrk="0" hangingPunct="1">
              <a:lnSpc>
                <a:spcPct val="80000"/>
              </a:lnSpc>
              <a:spcBef>
                <a:spcPct val="20000"/>
              </a:spcBef>
              <a:spcAft>
                <a:spcPts val="0"/>
              </a:spcAft>
              <a:buClrTx/>
              <a:buSzTx/>
              <a:buFont typeface="Wingdings" pitchFamily="2" charset="2"/>
              <a:buNone/>
              <a:tabLst/>
              <a:defRPr/>
            </a:pPr>
            <a:r>
              <a:rPr kumimoji="0" lang="pt-BR" b="1" i="0" u="none" strike="noStrike" kern="1200" cap="none" spc="0" normalizeH="0" baseline="0" noProof="0" dirty="0">
                <a:ln>
                  <a:noFill/>
                </a:ln>
                <a:solidFill>
                  <a:srgbClr val="FF0000"/>
                </a:solidFill>
                <a:effectLst/>
                <a:uLnTx/>
                <a:uFillTx/>
                <a:latin typeface="+mn-lt"/>
                <a:ea typeface="+mn-ea"/>
                <a:cs typeface="+mn-cs"/>
              </a:rPr>
              <a:t>ATIVAÇÃO 1</a:t>
            </a:r>
          </a:p>
          <a:p>
            <a:pPr marL="342900" lvl="0" indent="-342900" defTabSz="457200">
              <a:lnSpc>
                <a:spcPct val="80000"/>
              </a:lnSpc>
              <a:spcBef>
                <a:spcPct val="20000"/>
              </a:spcBef>
              <a:defRPr/>
            </a:pPr>
            <a:r>
              <a:rPr lang="pt-BR" sz="1800" b="1" dirty="0" err="1">
                <a:solidFill>
                  <a:srgbClr val="7F0055"/>
                </a:solidFill>
                <a:latin typeface="Consolas" panose="020B0609020204030204" pitchFamily="49" charset="0"/>
              </a:rPr>
              <a:t>public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static</a:t>
            </a: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void</a:t>
            </a:r>
            <a:r>
              <a:rPr lang="pt-BR" sz="1800" b="1" dirty="0">
                <a:solidFill>
                  <a:srgbClr val="7F0055"/>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kumimoji="0" lang="pt-BR" sz="1800" b="0" i="0" u="none" strike="noStrike" kern="1200" cap="none" spc="0" normalizeH="0" baseline="0" noProof="0" dirty="0">
                <a:ln>
                  <a:noFill/>
                </a:ln>
                <a:solidFill>
                  <a:schemeClr val="tx1"/>
                </a:solidFill>
                <a:effectLst/>
                <a:uLnTx/>
                <a:uFillTx/>
                <a:latin typeface="+mn-lt"/>
                <a:ea typeface="+mn-ea"/>
                <a:cs typeface="+mn-cs"/>
              </a:rPr>
              <a:t>(NO </a:t>
            </a:r>
            <a:r>
              <a:rPr lang="pt-BR" sz="2000" b="1" dirty="0">
                <a:solidFill>
                  <a:srgbClr val="FF0000"/>
                </a:solidFill>
              </a:rPr>
              <a:t>p</a:t>
            </a:r>
            <a:r>
              <a:rPr lang="pt-BR" dirty="0"/>
              <a:t>) {</a:t>
            </a:r>
          </a:p>
          <a:p>
            <a:pPr marL="342900" lvl="0" indent="-342900" defTabSz="457200">
              <a:lnSpc>
                <a:spcPct val="80000"/>
              </a:lnSpc>
              <a:spcBef>
                <a:spcPct val="20000"/>
              </a:spcBef>
              <a:defRPr/>
            </a:pPr>
            <a:r>
              <a:rPr lang="pt-BR" dirty="0"/>
              <a:t>	</a:t>
            </a:r>
            <a:r>
              <a:rPr lang="pt-BR" b="1" dirty="0" err="1"/>
              <a:t>if</a:t>
            </a:r>
            <a:r>
              <a:rPr lang="pt-BR" b="1" dirty="0"/>
              <a:t> (p != </a:t>
            </a:r>
            <a:r>
              <a:rPr lang="pt-BR" b="1" dirty="0" err="1"/>
              <a:t>null</a:t>
            </a:r>
            <a:r>
              <a:rPr lang="pt-BR" b="1" dirty="0"/>
              <a:t>) {</a:t>
            </a:r>
          </a:p>
          <a:p>
            <a:pPr marL="342900" lvl="0" indent="-342900" defTabSz="457200">
              <a:lnSpc>
                <a:spcPct val="80000"/>
              </a:lnSpc>
              <a:spcBef>
                <a:spcPct val="20000"/>
              </a:spcBef>
              <a:defRPr/>
            </a:pPr>
            <a:r>
              <a:rPr lang="pt-BR" b="1" dirty="0"/>
              <a:t>        </a:t>
            </a:r>
            <a:r>
              <a:rPr lang="pt-BR" b="1" dirty="0" err="1"/>
              <a:t>if</a:t>
            </a:r>
            <a:r>
              <a:rPr lang="pt-BR" b="1" dirty="0"/>
              <a:t> (</a:t>
            </a:r>
            <a:r>
              <a:rPr lang="pt-BR" b="1" dirty="0" err="1"/>
              <a:t>p.esq</a:t>
            </a:r>
            <a:r>
              <a:rPr lang="pt-BR" b="1" dirty="0"/>
              <a:t> != </a:t>
            </a:r>
            <a:r>
              <a:rPr lang="pt-BR" b="1" dirty="0" err="1"/>
              <a:t>null</a:t>
            </a:r>
            <a:r>
              <a:rPr lang="pt-BR" b="1" dirty="0"/>
              <a:t>)</a:t>
            </a:r>
          </a:p>
          <a:p>
            <a:pPr marL="342900" lvl="0" indent="-342900" defTabSz="457200">
              <a:lnSpc>
                <a:spcPct val="80000"/>
              </a:lnSpc>
              <a:spcBef>
                <a:spcPct val="20000"/>
              </a:spcBef>
              <a:defRPr/>
            </a:pPr>
            <a:r>
              <a:rPr lang="pt-BR" dirty="0"/>
              <a:t>			</a:t>
            </a:r>
            <a:r>
              <a:rPr lang="pt-BR" sz="1800" dirty="0">
                <a:solidFill>
                  <a:srgbClr val="000000"/>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lang="pt-BR" b="1" dirty="0"/>
              <a:t>(</a:t>
            </a:r>
            <a:r>
              <a:rPr lang="pt-BR" b="1" dirty="0" err="1"/>
              <a:t>p.esq</a:t>
            </a:r>
            <a:r>
              <a:rPr lang="pt-BR" b="1" dirty="0"/>
              <a:t>);</a:t>
            </a:r>
          </a:p>
          <a:p>
            <a:pPr marL="342900" lvl="0" indent="-342900" defTabSz="457200">
              <a:lnSpc>
                <a:spcPct val="80000"/>
              </a:lnSpc>
              <a:spcBef>
                <a:spcPct val="20000"/>
              </a:spcBef>
              <a:defRPr/>
            </a:pPr>
            <a:r>
              <a:rPr lang="pt-BR" b="1" dirty="0"/>
              <a:t>		System.</a:t>
            </a:r>
            <a:r>
              <a:rPr lang="pt-BR" b="1" dirty="0" err="1"/>
              <a:t>out.println</a:t>
            </a:r>
            <a:r>
              <a:rPr lang="pt-BR" b="1" dirty="0"/>
              <a:t>(" "  + </a:t>
            </a:r>
            <a:r>
              <a:rPr lang="pt-BR" b="1" dirty="0" err="1"/>
              <a:t>p.dado</a:t>
            </a:r>
            <a:r>
              <a:rPr lang="pt-BR" b="1" dirty="0"/>
              <a:t>);</a:t>
            </a:r>
          </a:p>
          <a:p>
            <a:pPr marL="342900" indent="-342900" defTabSz="457200">
              <a:lnSpc>
                <a:spcPct val="80000"/>
              </a:lnSpc>
              <a:spcBef>
                <a:spcPct val="20000"/>
              </a:spcBef>
              <a:defRPr/>
            </a:pPr>
            <a:r>
              <a:rPr lang="pt-BR" b="1" dirty="0"/>
              <a:t>		</a:t>
            </a:r>
            <a:r>
              <a:rPr lang="pt-BR" b="1" dirty="0" err="1"/>
              <a:t>if</a:t>
            </a:r>
            <a:r>
              <a:rPr lang="pt-BR" b="1" dirty="0"/>
              <a:t>(</a:t>
            </a:r>
            <a:r>
              <a:rPr lang="pt-BR" b="1" dirty="0" err="1"/>
              <a:t>p.dir</a:t>
            </a:r>
            <a:r>
              <a:rPr lang="pt-BR" b="1" dirty="0"/>
              <a:t> != </a:t>
            </a:r>
            <a:r>
              <a:rPr lang="pt-BR" b="1" dirty="0" err="1"/>
              <a:t>null</a:t>
            </a:r>
            <a:r>
              <a:rPr lang="pt-BR" b="1" dirty="0"/>
              <a:t>)</a:t>
            </a:r>
          </a:p>
          <a:p>
            <a:pPr marL="342900" lvl="0" indent="-342900" defTabSz="457200">
              <a:lnSpc>
                <a:spcPct val="80000"/>
              </a:lnSpc>
              <a:spcBef>
                <a:spcPct val="20000"/>
              </a:spcBef>
              <a:defRPr/>
            </a:pPr>
            <a:r>
              <a:rPr lang="pt-BR" b="1" dirty="0"/>
              <a:t>			</a:t>
            </a:r>
            <a:r>
              <a:rPr lang="pt-BR" sz="1800" dirty="0">
                <a:solidFill>
                  <a:srgbClr val="000000"/>
                </a:solidFill>
                <a:latin typeface="Consolas" panose="020B0609020204030204" pitchFamily="49" charset="0"/>
              </a:rPr>
              <a:t> </a:t>
            </a:r>
            <a:r>
              <a:rPr lang="pt-BR" sz="1800" b="1" dirty="0" err="1">
                <a:solidFill>
                  <a:srgbClr val="000000"/>
                </a:solidFill>
                <a:latin typeface="Consolas" panose="020B0609020204030204" pitchFamily="49" charset="0"/>
              </a:rPr>
              <a:t>inOrdem</a:t>
            </a:r>
            <a:r>
              <a:rPr lang="pt-BR" b="1" dirty="0"/>
              <a:t>(</a:t>
            </a:r>
            <a:r>
              <a:rPr lang="pt-BR" b="1" dirty="0" err="1"/>
              <a:t>p.dir</a:t>
            </a:r>
            <a:r>
              <a:rPr lang="pt-BR" b="1" dirty="0"/>
              <a:t>);</a:t>
            </a:r>
          </a:p>
          <a:p>
            <a:pPr marL="342900" lvl="0" indent="-342900" defTabSz="457200">
              <a:lnSpc>
                <a:spcPct val="80000"/>
              </a:lnSpc>
              <a:spcBef>
                <a:spcPct val="20000"/>
              </a:spcBef>
              <a:defRPr/>
            </a:pPr>
            <a:r>
              <a:rPr lang="pt-BR" dirty="0"/>
              <a:t>	</a:t>
            </a:r>
            <a:r>
              <a:rPr lang="pt-BR" b="1" dirty="0"/>
              <a:t>	}</a:t>
            </a:r>
          </a:p>
          <a:p>
            <a:pPr marL="342900" lvl="0" indent="-342900" defTabSz="457200">
              <a:lnSpc>
                <a:spcPct val="80000"/>
              </a:lnSpc>
              <a:spcBef>
                <a:spcPct val="20000"/>
              </a:spcBef>
              <a:defRPr/>
            </a:pPr>
            <a:r>
              <a:rPr lang="pt-BR" b="1" dirty="0"/>
              <a:t>}</a:t>
            </a:r>
            <a:endParaRPr kumimoji="0" lang="pt-BR"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Tela de Saída</a:t>
            </a:r>
          </a:p>
        </p:txBody>
      </p:sp>
      <p:sp>
        <p:nvSpPr>
          <p:cNvPr id="3" name="Espaço Reservado para Número de Slide 2"/>
          <p:cNvSpPr>
            <a:spLocks noGrp="1"/>
          </p:cNvSpPr>
          <p:nvPr>
            <p:ph type="sldNum" sz="quarter" idx="11"/>
          </p:nvPr>
        </p:nvSpPr>
        <p:spPr/>
        <p:txBody>
          <a:bodyPr/>
          <a:lstStyle/>
          <a:p>
            <a:fld id="{0DBB9FE3-D63C-4A40-B010-4651D12E128D}" type="slidenum">
              <a:rPr lang="pt-BR" smtClean="0"/>
              <a:pPr/>
              <a:t>46</a:t>
            </a:fld>
            <a:endParaRPr lang="pt-BR"/>
          </a:p>
        </p:txBody>
      </p:sp>
      <p:sp>
        <p:nvSpPr>
          <p:cNvPr id="4" name="CaixaDeTexto 3"/>
          <p:cNvSpPr txBox="1"/>
          <p:nvPr/>
        </p:nvSpPr>
        <p:spPr>
          <a:xfrm>
            <a:off x="2984393" y="1881052"/>
            <a:ext cx="3568807" cy="461665"/>
          </a:xfrm>
          <a:prstGeom prst="rect">
            <a:avLst/>
          </a:prstGeom>
          <a:noFill/>
          <a:ln>
            <a:solidFill>
              <a:schemeClr val="tx1"/>
            </a:solidFill>
          </a:ln>
        </p:spPr>
        <p:txBody>
          <a:bodyPr wrap="square" rtlCol="0">
            <a:spAutoFit/>
          </a:bodyPr>
          <a:lstStyle/>
          <a:p>
            <a:pPr algn="ctr"/>
            <a:r>
              <a:rPr lang="pt-BR" sz="2400" b="1" dirty="0"/>
              <a:t>  23  29  37  42</a:t>
            </a:r>
          </a:p>
        </p:txBody>
      </p:sp>
      <p:sp>
        <p:nvSpPr>
          <p:cNvPr id="5" name="CaixaDeTexto 4"/>
          <p:cNvSpPr txBox="1"/>
          <p:nvPr/>
        </p:nvSpPr>
        <p:spPr>
          <a:xfrm>
            <a:off x="1661160" y="3794760"/>
            <a:ext cx="6400800" cy="830997"/>
          </a:xfrm>
          <a:prstGeom prst="rect">
            <a:avLst/>
          </a:prstGeom>
          <a:noFill/>
          <a:ln>
            <a:noFill/>
          </a:ln>
        </p:spPr>
        <p:txBody>
          <a:bodyPr wrap="square" rtlCol="0">
            <a:spAutoFit/>
          </a:bodyPr>
          <a:lstStyle/>
          <a:p>
            <a:r>
              <a:rPr lang="pt-BR" sz="2400" dirty="0">
                <a:solidFill>
                  <a:srgbClr val="5035F5"/>
                </a:solidFill>
              </a:rPr>
              <a:t>Como a árvore apresentada é uma ABB o percurso em ordem apresenta valores em ordem crescente</a:t>
            </a:r>
          </a:p>
        </p:txBody>
      </p:sp>
    </p:spTree>
    <p:extLst>
      <p:ext uri="{BB962C8B-B14F-4D97-AF65-F5344CB8AC3E}">
        <p14:creationId xmlns:p14="http://schemas.microsoft.com/office/powerpoint/2010/main" val="195675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pt-BR"/>
              <a:t>Árvores Binárias - Percursos</a:t>
            </a:r>
          </a:p>
        </p:txBody>
      </p:sp>
      <p:sp>
        <p:nvSpPr>
          <p:cNvPr id="46083" name="Rectangle 3"/>
          <p:cNvSpPr>
            <a:spLocks noGrp="1" noChangeArrowheads="1"/>
          </p:cNvSpPr>
          <p:nvPr>
            <p:ph type="body" idx="4294967295"/>
          </p:nvPr>
        </p:nvSpPr>
        <p:spPr>
          <a:xfrm>
            <a:off x="0" y="908050"/>
            <a:ext cx="7772400" cy="685800"/>
          </a:xfrm>
        </p:spPr>
        <p:txBody>
          <a:bodyPr/>
          <a:lstStyle/>
          <a:p>
            <a:r>
              <a:rPr lang="pt-BR">
                <a:solidFill>
                  <a:srgbClr val="000099"/>
                </a:solidFill>
              </a:rPr>
              <a:t>Pré-Ordem (Percurso em Profundidade)</a:t>
            </a:r>
          </a:p>
        </p:txBody>
      </p:sp>
      <p:sp>
        <p:nvSpPr>
          <p:cNvPr id="46084" name="Text Box 4"/>
          <p:cNvSpPr txBox="1">
            <a:spLocks noChangeArrowheads="1"/>
          </p:cNvSpPr>
          <p:nvPr/>
        </p:nvSpPr>
        <p:spPr bwMode="auto">
          <a:xfrm>
            <a:off x="1050925" y="1843088"/>
            <a:ext cx="4325800" cy="584775"/>
          </a:xfrm>
          <a:prstGeom prst="rect">
            <a:avLst/>
          </a:prstGeom>
          <a:noFill/>
          <a:ln w="9525">
            <a:noFill/>
            <a:miter lim="800000"/>
            <a:headEnd/>
            <a:tailEnd/>
          </a:ln>
          <a:effectLst/>
        </p:spPr>
        <p:txBody>
          <a:bodyPr wrap="none">
            <a:spAutoFit/>
          </a:bodyPr>
          <a:lstStyle/>
          <a:p>
            <a:r>
              <a:rPr kumimoji="1" lang="pt-BR" sz="3200" b="1" dirty="0">
                <a:latin typeface="Arial Narrow" pitchFamily="34" charset="0"/>
              </a:rPr>
              <a:t>1 – Apresentamos a </a:t>
            </a:r>
            <a:r>
              <a:rPr kumimoji="1" lang="pt-BR" sz="3200" b="1" dirty="0">
                <a:solidFill>
                  <a:srgbClr val="00FFCC"/>
                </a:solidFill>
                <a:latin typeface="Arial Narrow" pitchFamily="34" charset="0"/>
              </a:rPr>
              <a:t>RAIZ</a:t>
            </a:r>
            <a:r>
              <a:rPr kumimoji="1" lang="pt-BR" sz="3200" b="1" dirty="0">
                <a:latin typeface="Arial Narrow" pitchFamily="34" charset="0"/>
              </a:rPr>
              <a:t>.</a:t>
            </a:r>
          </a:p>
        </p:txBody>
      </p:sp>
      <p:sp>
        <p:nvSpPr>
          <p:cNvPr id="46086" name="Text Box 6"/>
          <p:cNvSpPr txBox="1">
            <a:spLocks noChangeArrowheads="1"/>
          </p:cNvSpPr>
          <p:nvPr/>
        </p:nvSpPr>
        <p:spPr bwMode="auto">
          <a:xfrm>
            <a:off x="1066800" y="4529138"/>
            <a:ext cx="2971800" cy="2041525"/>
          </a:xfrm>
          <a:prstGeom prst="rect">
            <a:avLst/>
          </a:prstGeom>
          <a:noFill/>
          <a:ln w="9525">
            <a:noFill/>
            <a:miter lim="800000"/>
            <a:headEnd/>
            <a:tailEnd/>
          </a:ln>
          <a:effectLst/>
        </p:spPr>
        <p:txBody>
          <a:bodyPr>
            <a:spAutoFit/>
          </a:bodyPr>
          <a:lstStyle/>
          <a:p>
            <a:r>
              <a:rPr kumimoji="1" lang="pt-BR" sz="3200" b="1">
                <a:latin typeface="Arial Narrow" pitchFamily="34" charset="0"/>
              </a:rPr>
              <a:t>3 – Percorremos a subárvore </a:t>
            </a:r>
            <a:r>
              <a:rPr kumimoji="1" lang="pt-BR" sz="3200" b="1">
                <a:solidFill>
                  <a:srgbClr val="00FFCC"/>
                </a:solidFill>
                <a:latin typeface="Arial Narrow" pitchFamily="34" charset="0"/>
              </a:rPr>
              <a:t>direita</a:t>
            </a:r>
            <a:r>
              <a:rPr kumimoji="1" lang="pt-BR" sz="3200" b="1">
                <a:latin typeface="Arial Narrow" pitchFamily="34" charset="0"/>
              </a:rPr>
              <a:t> em ordem      prévia.</a:t>
            </a:r>
          </a:p>
        </p:txBody>
      </p:sp>
      <p:sp>
        <p:nvSpPr>
          <p:cNvPr id="46087" name="Text Box 7"/>
          <p:cNvSpPr txBox="1">
            <a:spLocks noChangeArrowheads="1"/>
          </p:cNvSpPr>
          <p:nvPr/>
        </p:nvSpPr>
        <p:spPr bwMode="auto">
          <a:xfrm>
            <a:off x="1055688" y="2747963"/>
            <a:ext cx="3440112" cy="1554162"/>
          </a:xfrm>
          <a:prstGeom prst="rect">
            <a:avLst/>
          </a:prstGeom>
          <a:noFill/>
          <a:ln w="9525">
            <a:noFill/>
            <a:miter lim="800000"/>
            <a:headEnd/>
            <a:tailEnd/>
          </a:ln>
          <a:effectLst/>
        </p:spPr>
        <p:txBody>
          <a:bodyPr>
            <a:spAutoFit/>
          </a:bodyPr>
          <a:lstStyle/>
          <a:p>
            <a:r>
              <a:rPr kumimoji="1" lang="pt-BR" sz="3200" b="1">
                <a:latin typeface="Arial Narrow" pitchFamily="34" charset="0"/>
              </a:rPr>
              <a:t>2 – Percorremos a subárvore </a:t>
            </a:r>
            <a:r>
              <a:rPr kumimoji="1" lang="pt-BR" sz="3200" b="1">
                <a:solidFill>
                  <a:srgbClr val="00FFCC"/>
                </a:solidFill>
                <a:latin typeface="Arial Narrow" pitchFamily="34" charset="0"/>
              </a:rPr>
              <a:t>esquerda</a:t>
            </a:r>
            <a:r>
              <a:rPr kumimoji="1" lang="pt-BR" sz="3200" b="1">
                <a:latin typeface="Arial Narrow" pitchFamily="34" charset="0"/>
              </a:rPr>
              <a:t> em ordem prévia.</a:t>
            </a:r>
          </a:p>
        </p:txBody>
      </p:sp>
      <p:sp>
        <p:nvSpPr>
          <p:cNvPr id="46090" name="Line 10"/>
          <p:cNvSpPr>
            <a:spLocks noChangeShapeType="1"/>
          </p:cNvSpPr>
          <p:nvPr/>
        </p:nvSpPr>
        <p:spPr bwMode="auto">
          <a:xfrm flipH="1">
            <a:off x="5257800" y="2398713"/>
            <a:ext cx="1371600" cy="573087"/>
          </a:xfrm>
          <a:prstGeom prst="line">
            <a:avLst/>
          </a:prstGeom>
          <a:noFill/>
          <a:ln w="9525">
            <a:solidFill>
              <a:schemeClr val="tx1"/>
            </a:solidFill>
            <a:miter lim="800000"/>
            <a:headEnd/>
            <a:tailEnd/>
          </a:ln>
          <a:effectLst/>
        </p:spPr>
        <p:txBody>
          <a:bodyPr wrap="none"/>
          <a:lstStyle/>
          <a:p>
            <a:endParaRPr lang="pt-BR"/>
          </a:p>
        </p:txBody>
      </p:sp>
      <p:sp>
        <p:nvSpPr>
          <p:cNvPr id="46091" name="Line 11"/>
          <p:cNvSpPr>
            <a:spLocks noChangeShapeType="1"/>
          </p:cNvSpPr>
          <p:nvPr/>
        </p:nvSpPr>
        <p:spPr bwMode="auto">
          <a:xfrm>
            <a:off x="6545263" y="2387600"/>
            <a:ext cx="1524000" cy="720725"/>
          </a:xfrm>
          <a:prstGeom prst="line">
            <a:avLst/>
          </a:prstGeom>
          <a:noFill/>
          <a:ln w="9525">
            <a:solidFill>
              <a:schemeClr val="tx1"/>
            </a:solidFill>
            <a:miter lim="800000"/>
            <a:headEnd/>
            <a:tailEnd/>
          </a:ln>
          <a:effectLst/>
        </p:spPr>
        <p:txBody>
          <a:bodyPr wrap="none"/>
          <a:lstStyle/>
          <a:p>
            <a:endParaRPr lang="pt-BR"/>
          </a:p>
        </p:txBody>
      </p:sp>
      <p:sp>
        <p:nvSpPr>
          <p:cNvPr id="46094" name="Line 14"/>
          <p:cNvSpPr>
            <a:spLocks noChangeShapeType="1"/>
          </p:cNvSpPr>
          <p:nvPr/>
        </p:nvSpPr>
        <p:spPr bwMode="auto">
          <a:xfrm flipH="1">
            <a:off x="4710113" y="3433763"/>
            <a:ext cx="914400" cy="838200"/>
          </a:xfrm>
          <a:prstGeom prst="line">
            <a:avLst/>
          </a:prstGeom>
          <a:noFill/>
          <a:ln w="9525">
            <a:solidFill>
              <a:schemeClr val="tx1"/>
            </a:solidFill>
            <a:miter lim="800000"/>
            <a:headEnd/>
            <a:tailEnd/>
          </a:ln>
          <a:effectLst/>
        </p:spPr>
        <p:txBody>
          <a:bodyPr wrap="none"/>
          <a:lstStyle/>
          <a:p>
            <a:endParaRPr lang="pt-BR"/>
          </a:p>
        </p:txBody>
      </p:sp>
      <p:sp>
        <p:nvSpPr>
          <p:cNvPr id="46096" name="Oval 16"/>
          <p:cNvSpPr>
            <a:spLocks noChangeArrowheads="1"/>
          </p:cNvSpPr>
          <p:nvPr/>
        </p:nvSpPr>
        <p:spPr bwMode="auto">
          <a:xfrm>
            <a:off x="4546600" y="3781425"/>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2</a:t>
            </a:r>
          </a:p>
        </p:txBody>
      </p:sp>
      <p:sp>
        <p:nvSpPr>
          <p:cNvPr id="46097" name="Line 17"/>
          <p:cNvSpPr>
            <a:spLocks noChangeShapeType="1"/>
          </p:cNvSpPr>
          <p:nvPr/>
        </p:nvSpPr>
        <p:spPr bwMode="auto">
          <a:xfrm flipH="1">
            <a:off x="6953250" y="3171825"/>
            <a:ext cx="914400" cy="838200"/>
          </a:xfrm>
          <a:prstGeom prst="line">
            <a:avLst/>
          </a:prstGeom>
          <a:noFill/>
          <a:ln w="9525">
            <a:solidFill>
              <a:schemeClr val="tx1"/>
            </a:solidFill>
            <a:miter lim="800000"/>
            <a:headEnd/>
            <a:tailEnd/>
          </a:ln>
          <a:effectLst/>
        </p:spPr>
        <p:txBody>
          <a:bodyPr wrap="none"/>
          <a:lstStyle/>
          <a:p>
            <a:endParaRPr lang="pt-BR"/>
          </a:p>
        </p:txBody>
      </p:sp>
      <p:sp>
        <p:nvSpPr>
          <p:cNvPr id="46098" name="Line 18"/>
          <p:cNvSpPr>
            <a:spLocks noChangeShapeType="1"/>
          </p:cNvSpPr>
          <p:nvPr/>
        </p:nvSpPr>
        <p:spPr bwMode="auto">
          <a:xfrm>
            <a:off x="7902575" y="3136900"/>
            <a:ext cx="1066800" cy="914400"/>
          </a:xfrm>
          <a:prstGeom prst="line">
            <a:avLst/>
          </a:prstGeom>
          <a:noFill/>
          <a:ln w="9525">
            <a:solidFill>
              <a:schemeClr val="tx1"/>
            </a:solidFill>
            <a:miter lim="800000"/>
            <a:headEnd/>
            <a:tailEnd/>
          </a:ln>
          <a:effectLst/>
        </p:spPr>
        <p:txBody>
          <a:bodyPr wrap="none"/>
          <a:lstStyle/>
          <a:p>
            <a:endParaRPr lang="pt-BR"/>
          </a:p>
        </p:txBody>
      </p:sp>
      <p:sp>
        <p:nvSpPr>
          <p:cNvPr id="46100" name="Oval 20"/>
          <p:cNvSpPr>
            <a:spLocks noChangeArrowheads="1"/>
          </p:cNvSpPr>
          <p:nvPr/>
        </p:nvSpPr>
        <p:spPr bwMode="auto">
          <a:xfrm>
            <a:off x="8199438" y="3798888"/>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21</a:t>
            </a:r>
          </a:p>
        </p:txBody>
      </p:sp>
      <p:sp>
        <p:nvSpPr>
          <p:cNvPr id="46102" name="Oval 22"/>
          <p:cNvSpPr>
            <a:spLocks noChangeArrowheads="1"/>
          </p:cNvSpPr>
          <p:nvPr/>
        </p:nvSpPr>
        <p:spPr bwMode="auto">
          <a:xfrm>
            <a:off x="6176963" y="17526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10</a:t>
            </a:r>
          </a:p>
        </p:txBody>
      </p:sp>
      <p:sp>
        <p:nvSpPr>
          <p:cNvPr id="46103" name="Oval 23"/>
          <p:cNvSpPr>
            <a:spLocks noChangeArrowheads="1"/>
          </p:cNvSpPr>
          <p:nvPr/>
        </p:nvSpPr>
        <p:spPr bwMode="auto">
          <a:xfrm>
            <a:off x="5181600" y="27432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7</a:t>
            </a:r>
          </a:p>
        </p:txBody>
      </p:sp>
      <p:sp>
        <p:nvSpPr>
          <p:cNvPr id="46104" name="Oval 24"/>
          <p:cNvSpPr>
            <a:spLocks noChangeArrowheads="1"/>
          </p:cNvSpPr>
          <p:nvPr/>
        </p:nvSpPr>
        <p:spPr bwMode="auto">
          <a:xfrm>
            <a:off x="7543800" y="26670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14</a:t>
            </a:r>
          </a:p>
        </p:txBody>
      </p:sp>
      <p:sp>
        <p:nvSpPr>
          <p:cNvPr id="46113" name="Oval 33"/>
          <p:cNvSpPr>
            <a:spLocks noChangeArrowheads="1"/>
          </p:cNvSpPr>
          <p:nvPr/>
        </p:nvSpPr>
        <p:spPr bwMode="auto">
          <a:xfrm>
            <a:off x="6675438" y="3798888"/>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12</a:t>
            </a:r>
          </a:p>
        </p:txBody>
      </p:sp>
      <p:grpSp>
        <p:nvGrpSpPr>
          <p:cNvPr id="2" name="Group 40"/>
          <p:cNvGrpSpPr>
            <a:grpSpLocks/>
          </p:cNvGrpSpPr>
          <p:nvPr/>
        </p:nvGrpSpPr>
        <p:grpSpPr bwMode="auto">
          <a:xfrm>
            <a:off x="381000" y="1981200"/>
            <a:ext cx="838200" cy="4572000"/>
            <a:chOff x="240" y="1248"/>
            <a:chExt cx="528" cy="2880"/>
          </a:xfrm>
        </p:grpSpPr>
        <p:sp>
          <p:nvSpPr>
            <p:cNvPr id="46116" name="Text Box 36"/>
            <p:cNvSpPr txBox="1">
              <a:spLocks noChangeArrowheads="1"/>
            </p:cNvSpPr>
            <p:nvPr/>
          </p:nvSpPr>
          <p:spPr bwMode="auto">
            <a:xfrm>
              <a:off x="240" y="1612"/>
              <a:ext cx="239" cy="2128"/>
            </a:xfrm>
            <a:prstGeom prst="rect">
              <a:avLst/>
            </a:prstGeom>
            <a:noFill/>
            <a:ln w="9525">
              <a:noFill/>
              <a:miter lim="800000"/>
              <a:headEnd/>
              <a:tailEnd/>
            </a:ln>
            <a:effectLst/>
          </p:spPr>
          <p:txBody>
            <a:bodyPr wrap="none">
              <a:spAutoFit/>
            </a:bodyPr>
            <a:lstStyle/>
            <a:p>
              <a:r>
                <a:rPr kumimoji="1" lang="pt-BR" sz="2400" b="1">
                  <a:solidFill>
                    <a:srgbClr val="00FFCC"/>
                  </a:solidFill>
                  <a:latin typeface="Arial Narrow" pitchFamily="34" charset="0"/>
                </a:rPr>
                <a:t>R</a:t>
              </a:r>
            </a:p>
            <a:p>
              <a:r>
                <a:rPr kumimoji="1" lang="pt-BR" sz="2400" b="1">
                  <a:solidFill>
                    <a:srgbClr val="00FFCC"/>
                  </a:solidFill>
                  <a:latin typeface="Arial Narrow" pitchFamily="34" charset="0"/>
                </a:rPr>
                <a:t>E</a:t>
              </a:r>
            </a:p>
            <a:p>
              <a:r>
                <a:rPr kumimoji="1" lang="pt-BR" sz="2400" b="1">
                  <a:solidFill>
                    <a:srgbClr val="00FFCC"/>
                  </a:solidFill>
                  <a:latin typeface="Arial Narrow" pitchFamily="34" charset="0"/>
                </a:rPr>
                <a:t>C</a:t>
              </a:r>
            </a:p>
            <a:p>
              <a:r>
                <a:rPr kumimoji="1" lang="pt-BR" sz="2400" b="1">
                  <a:solidFill>
                    <a:srgbClr val="00FFCC"/>
                  </a:solidFill>
                  <a:latin typeface="Arial Narrow" pitchFamily="34" charset="0"/>
                </a:rPr>
                <a:t>U</a:t>
              </a:r>
            </a:p>
            <a:p>
              <a:r>
                <a:rPr kumimoji="1" lang="pt-BR" sz="2400" b="1">
                  <a:solidFill>
                    <a:srgbClr val="00FFCC"/>
                  </a:solidFill>
                  <a:latin typeface="Arial Narrow" pitchFamily="34" charset="0"/>
                </a:rPr>
                <a:t>R</a:t>
              </a:r>
            </a:p>
            <a:p>
              <a:r>
                <a:rPr kumimoji="1" lang="pt-BR" sz="2400" b="1">
                  <a:solidFill>
                    <a:srgbClr val="00FFCC"/>
                  </a:solidFill>
                  <a:latin typeface="Arial Narrow" pitchFamily="34" charset="0"/>
                </a:rPr>
                <a:t>S</a:t>
              </a:r>
            </a:p>
            <a:p>
              <a:r>
                <a:rPr kumimoji="1" lang="pt-BR" sz="2400" b="1">
                  <a:solidFill>
                    <a:srgbClr val="00FFCC"/>
                  </a:solidFill>
                  <a:latin typeface="Arial Narrow" pitchFamily="34" charset="0"/>
                </a:rPr>
                <a:t>I</a:t>
              </a:r>
            </a:p>
            <a:p>
              <a:r>
                <a:rPr kumimoji="1" lang="pt-BR" sz="2400" b="1">
                  <a:solidFill>
                    <a:srgbClr val="00FFCC"/>
                  </a:solidFill>
                  <a:latin typeface="Arial Narrow" pitchFamily="34" charset="0"/>
                </a:rPr>
                <a:t>V</a:t>
              </a:r>
            </a:p>
            <a:p>
              <a:r>
                <a:rPr kumimoji="1" lang="pt-BR" sz="2400" b="1">
                  <a:solidFill>
                    <a:srgbClr val="00FFCC"/>
                  </a:solidFill>
                  <a:latin typeface="Arial Narrow" pitchFamily="34" charset="0"/>
                </a:rPr>
                <a:t>O</a:t>
              </a:r>
            </a:p>
          </p:txBody>
        </p:sp>
        <p:sp>
          <p:nvSpPr>
            <p:cNvPr id="46118" name="AutoShape 38"/>
            <p:cNvSpPr>
              <a:spLocks/>
            </p:cNvSpPr>
            <p:nvPr/>
          </p:nvSpPr>
          <p:spPr bwMode="auto">
            <a:xfrm>
              <a:off x="528" y="1248"/>
              <a:ext cx="240" cy="2880"/>
            </a:xfrm>
            <a:prstGeom prst="leftBrace">
              <a:avLst>
                <a:gd name="adj1" fmla="val 100000"/>
                <a:gd name="adj2" fmla="val 50000"/>
              </a:avLst>
            </a:prstGeom>
            <a:noFill/>
            <a:ln w="57150">
              <a:solidFill>
                <a:srgbClr val="00FFCC"/>
              </a:solidFill>
              <a:miter lim="800000"/>
              <a:headEnd/>
              <a:tailEnd/>
            </a:ln>
            <a:effectLst/>
          </p:spPr>
          <p:txBody>
            <a:bodyPr wrap="none" anchor="ctr"/>
            <a:lstStyle/>
            <a:p>
              <a:endParaRPr lang="pt-BR"/>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z="2800" dirty="0">
                <a:solidFill>
                  <a:srgbClr val="000000"/>
                </a:solidFill>
                <a:latin typeface="Consolas" pitchFamily="49" charset="0"/>
                <a:ea typeface="Calibri" pitchFamily="34" charset="0"/>
                <a:cs typeface="Consolas" pitchFamily="49" charset="0"/>
              </a:rPr>
              <a:t>Percurso de arvore Binária </a:t>
            </a:r>
            <a:r>
              <a:rPr lang="pt-BR" sz="2800" dirty="0" err="1">
                <a:solidFill>
                  <a:srgbClr val="000000"/>
                </a:solidFill>
                <a:latin typeface="Consolas" pitchFamily="49" charset="0"/>
                <a:ea typeface="Calibri" pitchFamily="34" charset="0"/>
                <a:cs typeface="Consolas" pitchFamily="49" charset="0"/>
              </a:rPr>
              <a:t>Pré_Ordem</a:t>
            </a:r>
            <a:endParaRPr lang="pt-BR" dirty="0"/>
          </a:p>
        </p:txBody>
      </p:sp>
      <p:sp>
        <p:nvSpPr>
          <p:cNvPr id="3" name="Espaço Reservado para Número de Slide 2"/>
          <p:cNvSpPr>
            <a:spLocks noGrp="1"/>
          </p:cNvSpPr>
          <p:nvPr>
            <p:ph type="sldNum" sz="quarter" idx="11"/>
          </p:nvPr>
        </p:nvSpPr>
        <p:spPr/>
        <p:txBody>
          <a:bodyPr/>
          <a:lstStyle/>
          <a:p>
            <a:fld id="{0DBB9FE3-D63C-4A40-B010-4651D12E128D}" type="slidenum">
              <a:rPr lang="pt-BR" smtClean="0"/>
              <a:pPr/>
              <a:t>48</a:t>
            </a:fld>
            <a:endParaRPr lang="pt-BR"/>
          </a:p>
        </p:txBody>
      </p:sp>
      <p:sp>
        <p:nvSpPr>
          <p:cNvPr id="48130" name="Rectangle 2"/>
          <p:cNvSpPr>
            <a:spLocks noChangeArrowheads="1"/>
          </p:cNvSpPr>
          <p:nvPr/>
        </p:nvSpPr>
        <p:spPr bwMode="auto">
          <a:xfrm>
            <a:off x="481913" y="1165837"/>
            <a:ext cx="8217244" cy="31700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l"/>
            <a:r>
              <a:rPr lang="pt-BR" sz="2000" b="1" dirty="0" err="1">
                <a:solidFill>
                  <a:srgbClr val="7F0055"/>
                </a:solidFill>
                <a:latin typeface="Consolas" panose="020B0609020204030204" pitchFamily="49" charset="0"/>
              </a:rPr>
              <a:t>public</a:t>
            </a:r>
            <a:r>
              <a:rPr lang="pt-BR" sz="2000" b="1" dirty="0">
                <a:solidFill>
                  <a:srgbClr val="000000"/>
                </a:solidFill>
                <a:latin typeface="Consolas" panose="020B0609020204030204" pitchFamily="49" charset="0"/>
              </a:rPr>
              <a:t> </a:t>
            </a:r>
            <a:r>
              <a:rPr lang="pt-BR" sz="2000" b="1" dirty="0" err="1">
                <a:solidFill>
                  <a:srgbClr val="7F0055"/>
                </a:solidFill>
                <a:latin typeface="Consolas" panose="020B0609020204030204" pitchFamily="49" charset="0"/>
              </a:rPr>
              <a:t>static</a:t>
            </a:r>
            <a:r>
              <a:rPr lang="pt-BR" sz="2000" b="1" dirty="0">
                <a:solidFill>
                  <a:srgbClr val="000000"/>
                </a:solidFill>
                <a:latin typeface="Consolas" panose="020B0609020204030204" pitchFamily="49" charset="0"/>
              </a:rPr>
              <a:t> </a:t>
            </a:r>
            <a:r>
              <a:rPr lang="pt-BR" sz="2000" b="1" dirty="0" err="1">
                <a:solidFill>
                  <a:srgbClr val="7F0055"/>
                </a:solidFill>
                <a:latin typeface="Consolas" panose="020B0609020204030204" pitchFamily="49" charset="0"/>
              </a:rPr>
              <a:t>void</a:t>
            </a:r>
            <a:r>
              <a:rPr lang="pt-BR" sz="2000" b="1" dirty="0">
                <a:solidFill>
                  <a:srgbClr val="000000"/>
                </a:solidFill>
                <a:latin typeface="Consolas" panose="020B0609020204030204" pitchFamily="49" charset="0"/>
              </a:rPr>
              <a:t> </a:t>
            </a:r>
            <a:r>
              <a:rPr lang="pt-BR" sz="2000" b="1" dirty="0" err="1">
                <a:solidFill>
                  <a:srgbClr val="000000"/>
                </a:solidFill>
                <a:latin typeface="Consolas" panose="020B0609020204030204" pitchFamily="49" charset="0"/>
              </a:rPr>
              <a:t>preOrdem</a:t>
            </a:r>
            <a:r>
              <a:rPr lang="pt-BR" sz="2000" b="1" dirty="0">
                <a:solidFill>
                  <a:srgbClr val="000000"/>
                </a:solidFill>
                <a:latin typeface="Consolas" panose="020B0609020204030204" pitchFamily="49" charset="0"/>
              </a:rPr>
              <a:t>(NO </a:t>
            </a:r>
            <a:r>
              <a:rPr lang="pt-BR" sz="2000" b="1" dirty="0">
                <a:solidFill>
                  <a:srgbClr val="6A3E3E"/>
                </a:solidFill>
                <a:latin typeface="Consolas" panose="020B0609020204030204" pitchFamily="49" charset="0"/>
              </a:rPr>
              <a:t>p</a:t>
            </a:r>
            <a:r>
              <a:rPr lang="pt-BR" sz="2000" b="1" dirty="0">
                <a:solidFill>
                  <a:srgbClr val="000000"/>
                </a:solidFill>
                <a:latin typeface="Consolas" panose="020B0609020204030204" pitchFamily="49" charset="0"/>
              </a:rPr>
              <a:t>) {</a:t>
            </a:r>
          </a:p>
          <a:p>
            <a:pPr indent="441325" algn="l"/>
            <a:r>
              <a:rPr lang="pt-BR" sz="2000" b="1" dirty="0" err="1">
                <a:solidFill>
                  <a:srgbClr val="7F0055"/>
                </a:solidFill>
                <a:latin typeface="Consolas" panose="020B0609020204030204" pitchFamily="49" charset="0"/>
              </a:rPr>
              <a:t>if</a:t>
            </a:r>
            <a:r>
              <a:rPr lang="pt-BR" sz="2000" b="1" dirty="0">
                <a:solidFill>
                  <a:srgbClr val="000000"/>
                </a:solidFill>
                <a:latin typeface="Consolas" panose="020B0609020204030204" pitchFamily="49" charset="0"/>
              </a:rPr>
              <a:t> (</a:t>
            </a:r>
            <a:r>
              <a:rPr lang="pt-BR" sz="2000" b="1" dirty="0">
                <a:solidFill>
                  <a:srgbClr val="6A3E3E"/>
                </a:solidFill>
                <a:latin typeface="Consolas" panose="020B0609020204030204" pitchFamily="49" charset="0"/>
              </a:rPr>
              <a:t>p</a:t>
            </a:r>
            <a:r>
              <a:rPr lang="pt-BR" sz="2000" b="1" dirty="0">
                <a:solidFill>
                  <a:srgbClr val="000000"/>
                </a:solidFill>
                <a:latin typeface="Consolas" panose="020B0609020204030204" pitchFamily="49" charset="0"/>
              </a:rPr>
              <a:t>!=</a:t>
            </a:r>
            <a:r>
              <a:rPr lang="pt-BR" sz="2000" b="1" dirty="0" err="1">
                <a:solidFill>
                  <a:srgbClr val="7F0055"/>
                </a:solidFill>
                <a:latin typeface="Consolas" panose="020B0609020204030204" pitchFamily="49" charset="0"/>
              </a:rPr>
              <a:t>null</a:t>
            </a:r>
            <a:r>
              <a:rPr lang="pt-BR" sz="2000" b="1" dirty="0">
                <a:solidFill>
                  <a:srgbClr val="000000"/>
                </a:solidFill>
                <a:latin typeface="Consolas" panose="020B0609020204030204" pitchFamily="49" charset="0"/>
              </a:rPr>
              <a:t>) {</a:t>
            </a:r>
          </a:p>
          <a:p>
            <a:pPr indent="441325" algn="l"/>
            <a:r>
              <a:rPr lang="pt-BR" sz="2000" dirty="0">
                <a:solidFill>
                  <a:srgbClr val="000000"/>
                </a:solidFill>
                <a:latin typeface="Consolas" panose="020B0609020204030204" pitchFamily="49" charset="0"/>
              </a:rPr>
              <a:t>	</a:t>
            </a:r>
            <a:r>
              <a:rPr lang="pt-BR" sz="2000" dirty="0" err="1">
                <a:solidFill>
                  <a:srgbClr val="000000"/>
                </a:solidFill>
                <a:latin typeface="Consolas" panose="020B0609020204030204" pitchFamily="49" charset="0"/>
              </a:rPr>
              <a:t>System.</a:t>
            </a:r>
            <a:r>
              <a:rPr lang="pt-BR" sz="2000" b="1" i="1" dirty="0" err="1">
                <a:solidFill>
                  <a:srgbClr val="0000C0"/>
                </a:solidFill>
                <a:latin typeface="Consolas" panose="020B0609020204030204" pitchFamily="49" charset="0"/>
              </a:rPr>
              <a:t>out</a:t>
            </a:r>
            <a:r>
              <a:rPr lang="pt-BR" sz="2000" b="1" i="1" dirty="0" err="1">
                <a:solidFill>
                  <a:srgbClr val="000000"/>
                </a:solidFill>
                <a:latin typeface="Consolas" panose="020B0609020204030204" pitchFamily="49" charset="0"/>
              </a:rPr>
              <a:t>.println</a:t>
            </a:r>
            <a:r>
              <a:rPr lang="pt-BR" sz="2000" b="1" i="1" dirty="0">
                <a:solidFill>
                  <a:srgbClr val="000000"/>
                </a:solidFill>
                <a:latin typeface="Consolas" panose="020B0609020204030204" pitchFamily="49" charset="0"/>
              </a:rPr>
              <a:t>(</a:t>
            </a:r>
            <a:r>
              <a:rPr lang="pt-BR" sz="2000" b="1" i="1" dirty="0">
                <a:solidFill>
                  <a:srgbClr val="2A00FF"/>
                </a:solidFill>
                <a:latin typeface="Consolas" panose="020B0609020204030204" pitchFamily="49" charset="0"/>
              </a:rPr>
              <a:t>"dado: "</a:t>
            </a:r>
            <a:r>
              <a:rPr lang="pt-BR" sz="2000" b="1" i="1" dirty="0">
                <a:solidFill>
                  <a:srgbClr val="000000"/>
                </a:solidFill>
                <a:latin typeface="Consolas" panose="020B0609020204030204" pitchFamily="49" charset="0"/>
              </a:rPr>
              <a:t> + </a:t>
            </a:r>
            <a:r>
              <a:rPr lang="pt-BR" sz="2000" b="1" i="1" dirty="0" err="1">
                <a:solidFill>
                  <a:srgbClr val="6A3E3E"/>
                </a:solidFill>
                <a:latin typeface="Consolas" panose="020B0609020204030204" pitchFamily="49" charset="0"/>
              </a:rPr>
              <a:t>p</a:t>
            </a:r>
            <a:r>
              <a:rPr lang="pt-BR" sz="2000" b="1" i="1" dirty="0" err="1">
                <a:solidFill>
                  <a:srgbClr val="000000"/>
                </a:solidFill>
                <a:latin typeface="Consolas" panose="020B0609020204030204" pitchFamily="49" charset="0"/>
              </a:rPr>
              <a:t>.</a:t>
            </a:r>
            <a:r>
              <a:rPr lang="pt-BR" sz="2000" b="1" i="1" dirty="0" err="1">
                <a:solidFill>
                  <a:srgbClr val="0000C0"/>
                </a:solidFill>
                <a:latin typeface="Consolas" panose="020B0609020204030204" pitchFamily="49" charset="0"/>
              </a:rPr>
              <a:t>dado</a:t>
            </a:r>
            <a:r>
              <a:rPr lang="pt-BR" sz="2000" b="1" i="1" dirty="0">
                <a:solidFill>
                  <a:srgbClr val="000000"/>
                </a:solidFill>
                <a:latin typeface="Consolas" panose="020B0609020204030204" pitchFamily="49" charset="0"/>
              </a:rPr>
              <a:t>);</a:t>
            </a:r>
          </a:p>
          <a:p>
            <a:pPr indent="441325" algn="l"/>
            <a:r>
              <a:rPr lang="pt-BR" sz="2000" b="1" dirty="0">
                <a:solidFill>
                  <a:srgbClr val="7F0055"/>
                </a:solidFill>
                <a:latin typeface="Consolas" panose="020B0609020204030204" pitchFamily="49" charset="0"/>
              </a:rPr>
              <a:t>	</a:t>
            </a:r>
            <a:r>
              <a:rPr lang="pt-BR" sz="2000" b="1" dirty="0" err="1">
                <a:solidFill>
                  <a:srgbClr val="7F0055"/>
                </a:solidFill>
                <a:latin typeface="Consolas" panose="020B0609020204030204" pitchFamily="49" charset="0"/>
              </a:rPr>
              <a:t>if</a:t>
            </a:r>
            <a:r>
              <a:rPr lang="pt-BR" sz="2000" b="1" dirty="0">
                <a:solidFill>
                  <a:srgbClr val="000000"/>
                </a:solidFill>
                <a:latin typeface="Consolas" panose="020B0609020204030204" pitchFamily="49" charset="0"/>
              </a:rPr>
              <a:t> (</a:t>
            </a:r>
            <a:r>
              <a:rPr lang="pt-BR" sz="2000" b="1" dirty="0" err="1">
                <a:solidFill>
                  <a:srgbClr val="6A3E3E"/>
                </a:solidFill>
                <a:latin typeface="Consolas" panose="020B0609020204030204" pitchFamily="49" charset="0"/>
              </a:rPr>
              <a:t>p</a:t>
            </a:r>
            <a:r>
              <a:rPr lang="pt-BR" sz="2000" b="1" dirty="0" err="1">
                <a:solidFill>
                  <a:srgbClr val="000000"/>
                </a:solidFill>
                <a:latin typeface="Consolas" panose="020B0609020204030204" pitchFamily="49" charset="0"/>
              </a:rPr>
              <a:t>.</a:t>
            </a:r>
            <a:r>
              <a:rPr lang="pt-BR" sz="2000" b="1" dirty="0" err="1">
                <a:solidFill>
                  <a:srgbClr val="0000C0"/>
                </a:solidFill>
                <a:latin typeface="Consolas" panose="020B0609020204030204" pitchFamily="49" charset="0"/>
              </a:rPr>
              <a:t>esq</a:t>
            </a:r>
            <a:r>
              <a:rPr lang="pt-BR" sz="2000" b="1" dirty="0">
                <a:solidFill>
                  <a:srgbClr val="000000"/>
                </a:solidFill>
                <a:latin typeface="Consolas" panose="020B0609020204030204" pitchFamily="49" charset="0"/>
              </a:rPr>
              <a:t> != </a:t>
            </a:r>
            <a:r>
              <a:rPr lang="pt-BR" sz="2000" b="1" dirty="0" err="1">
                <a:solidFill>
                  <a:srgbClr val="7F0055"/>
                </a:solidFill>
                <a:latin typeface="Consolas" panose="020B0609020204030204" pitchFamily="49" charset="0"/>
              </a:rPr>
              <a:t>null</a:t>
            </a:r>
            <a:r>
              <a:rPr lang="pt-BR" sz="2000" b="1" dirty="0">
                <a:solidFill>
                  <a:srgbClr val="000000"/>
                </a:solidFill>
                <a:latin typeface="Consolas" panose="020B0609020204030204" pitchFamily="49" charset="0"/>
              </a:rPr>
              <a:t>) </a:t>
            </a:r>
          </a:p>
          <a:p>
            <a:pPr indent="441325" algn="l"/>
            <a:r>
              <a:rPr lang="pt-BR" sz="2000" i="1" dirty="0">
                <a:solidFill>
                  <a:srgbClr val="000000"/>
                </a:solidFill>
                <a:latin typeface="Consolas" panose="020B0609020204030204" pitchFamily="49" charset="0"/>
              </a:rPr>
              <a:t>		</a:t>
            </a:r>
            <a:r>
              <a:rPr lang="pt-BR" sz="2000" i="1" dirty="0" err="1">
                <a:solidFill>
                  <a:srgbClr val="000000"/>
                </a:solidFill>
                <a:latin typeface="Consolas" panose="020B0609020204030204" pitchFamily="49" charset="0"/>
              </a:rPr>
              <a:t>preOrdem</a:t>
            </a:r>
            <a:r>
              <a:rPr lang="pt-BR" sz="2000" i="1" dirty="0">
                <a:solidFill>
                  <a:srgbClr val="000000"/>
                </a:solidFill>
                <a:latin typeface="Consolas" panose="020B0609020204030204" pitchFamily="49" charset="0"/>
              </a:rPr>
              <a:t>(</a:t>
            </a:r>
            <a:r>
              <a:rPr lang="pt-BR" sz="2000" i="1" dirty="0" err="1">
                <a:solidFill>
                  <a:srgbClr val="6A3E3E"/>
                </a:solidFill>
                <a:latin typeface="Consolas" panose="020B0609020204030204" pitchFamily="49" charset="0"/>
              </a:rPr>
              <a:t>p</a:t>
            </a:r>
            <a:r>
              <a:rPr lang="pt-BR" sz="2000" i="1" dirty="0" err="1">
                <a:solidFill>
                  <a:srgbClr val="000000"/>
                </a:solidFill>
                <a:latin typeface="Consolas" panose="020B0609020204030204" pitchFamily="49" charset="0"/>
              </a:rPr>
              <a:t>.</a:t>
            </a:r>
            <a:r>
              <a:rPr lang="pt-BR" sz="2000" i="1" dirty="0" err="1">
                <a:solidFill>
                  <a:srgbClr val="0000C0"/>
                </a:solidFill>
                <a:latin typeface="Consolas" panose="020B0609020204030204" pitchFamily="49" charset="0"/>
              </a:rPr>
              <a:t>esq</a:t>
            </a:r>
            <a:r>
              <a:rPr lang="pt-BR" sz="2000" i="1" dirty="0">
                <a:solidFill>
                  <a:srgbClr val="000000"/>
                </a:solidFill>
                <a:latin typeface="Consolas" panose="020B0609020204030204" pitchFamily="49" charset="0"/>
              </a:rPr>
              <a:t>);</a:t>
            </a:r>
          </a:p>
          <a:p>
            <a:pPr indent="441325" algn="l"/>
            <a:endParaRPr lang="pt-BR" sz="2000" dirty="0">
              <a:latin typeface="Consolas" panose="020B0609020204030204" pitchFamily="49" charset="0"/>
            </a:endParaRPr>
          </a:p>
          <a:p>
            <a:pPr indent="441325" algn="l"/>
            <a:r>
              <a:rPr lang="pt-BR" sz="2000" b="1" dirty="0">
                <a:solidFill>
                  <a:srgbClr val="7F0055"/>
                </a:solidFill>
                <a:latin typeface="Consolas" panose="020B0609020204030204" pitchFamily="49" charset="0"/>
              </a:rPr>
              <a:t>	</a:t>
            </a:r>
            <a:r>
              <a:rPr lang="pt-BR" sz="2000" b="1" dirty="0" err="1">
                <a:solidFill>
                  <a:srgbClr val="7F0055"/>
                </a:solidFill>
                <a:latin typeface="Consolas" panose="020B0609020204030204" pitchFamily="49" charset="0"/>
              </a:rPr>
              <a:t>if</a:t>
            </a:r>
            <a:r>
              <a:rPr lang="pt-BR" sz="2000" b="1" dirty="0">
                <a:solidFill>
                  <a:srgbClr val="000000"/>
                </a:solidFill>
                <a:latin typeface="Consolas" panose="020B0609020204030204" pitchFamily="49" charset="0"/>
              </a:rPr>
              <a:t> (</a:t>
            </a:r>
            <a:r>
              <a:rPr lang="pt-BR" sz="2000" b="1" dirty="0" err="1">
                <a:solidFill>
                  <a:srgbClr val="6A3E3E"/>
                </a:solidFill>
                <a:latin typeface="Consolas" panose="020B0609020204030204" pitchFamily="49" charset="0"/>
              </a:rPr>
              <a:t>p</a:t>
            </a:r>
            <a:r>
              <a:rPr lang="pt-BR" sz="2000" b="1" dirty="0" err="1">
                <a:solidFill>
                  <a:srgbClr val="000000"/>
                </a:solidFill>
                <a:latin typeface="Consolas" panose="020B0609020204030204" pitchFamily="49" charset="0"/>
              </a:rPr>
              <a:t>.</a:t>
            </a:r>
            <a:r>
              <a:rPr lang="pt-BR" sz="2000" b="1" dirty="0" err="1">
                <a:solidFill>
                  <a:srgbClr val="0000C0"/>
                </a:solidFill>
                <a:latin typeface="Consolas" panose="020B0609020204030204" pitchFamily="49" charset="0"/>
              </a:rPr>
              <a:t>dir</a:t>
            </a:r>
            <a:r>
              <a:rPr lang="pt-BR" sz="2000" b="1" dirty="0">
                <a:solidFill>
                  <a:srgbClr val="000000"/>
                </a:solidFill>
                <a:latin typeface="Consolas" panose="020B0609020204030204" pitchFamily="49" charset="0"/>
              </a:rPr>
              <a:t> != </a:t>
            </a:r>
            <a:r>
              <a:rPr lang="pt-BR" sz="2000" b="1" dirty="0" err="1">
                <a:solidFill>
                  <a:srgbClr val="7F0055"/>
                </a:solidFill>
                <a:latin typeface="Consolas" panose="020B0609020204030204" pitchFamily="49" charset="0"/>
              </a:rPr>
              <a:t>null</a:t>
            </a:r>
            <a:r>
              <a:rPr lang="pt-BR" sz="2000" b="1" dirty="0">
                <a:solidFill>
                  <a:srgbClr val="000000"/>
                </a:solidFill>
                <a:latin typeface="Consolas" panose="020B0609020204030204" pitchFamily="49" charset="0"/>
              </a:rPr>
              <a:t>)</a:t>
            </a:r>
          </a:p>
          <a:p>
            <a:pPr indent="441325" algn="l"/>
            <a:r>
              <a:rPr lang="pt-BR" sz="2000" i="1" dirty="0">
                <a:solidFill>
                  <a:srgbClr val="000000"/>
                </a:solidFill>
                <a:latin typeface="Consolas" panose="020B0609020204030204" pitchFamily="49" charset="0"/>
              </a:rPr>
              <a:t>		</a:t>
            </a:r>
            <a:r>
              <a:rPr lang="pt-BR" sz="2000" i="1" dirty="0" err="1">
                <a:solidFill>
                  <a:srgbClr val="000000"/>
                </a:solidFill>
                <a:latin typeface="Consolas" panose="020B0609020204030204" pitchFamily="49" charset="0"/>
              </a:rPr>
              <a:t>preOrdem</a:t>
            </a:r>
            <a:r>
              <a:rPr lang="pt-BR" sz="2000" i="1" dirty="0">
                <a:solidFill>
                  <a:srgbClr val="000000"/>
                </a:solidFill>
                <a:latin typeface="Consolas" panose="020B0609020204030204" pitchFamily="49" charset="0"/>
              </a:rPr>
              <a:t>(</a:t>
            </a:r>
            <a:r>
              <a:rPr lang="pt-BR" sz="2000" i="1" dirty="0" err="1">
                <a:solidFill>
                  <a:srgbClr val="6A3E3E"/>
                </a:solidFill>
                <a:latin typeface="Consolas" panose="020B0609020204030204" pitchFamily="49" charset="0"/>
              </a:rPr>
              <a:t>p</a:t>
            </a:r>
            <a:r>
              <a:rPr lang="pt-BR" sz="2000" i="1" dirty="0" err="1">
                <a:solidFill>
                  <a:srgbClr val="000000"/>
                </a:solidFill>
                <a:latin typeface="Consolas" panose="020B0609020204030204" pitchFamily="49" charset="0"/>
              </a:rPr>
              <a:t>.</a:t>
            </a:r>
            <a:r>
              <a:rPr lang="pt-BR" sz="2000" i="1" dirty="0" err="1">
                <a:solidFill>
                  <a:srgbClr val="0000C0"/>
                </a:solidFill>
                <a:latin typeface="Consolas" panose="020B0609020204030204" pitchFamily="49" charset="0"/>
              </a:rPr>
              <a:t>dir</a:t>
            </a:r>
            <a:r>
              <a:rPr lang="pt-BR" sz="2000" i="1" dirty="0">
                <a:solidFill>
                  <a:srgbClr val="000000"/>
                </a:solidFill>
                <a:latin typeface="Consolas" panose="020B0609020204030204" pitchFamily="49" charset="0"/>
              </a:rPr>
              <a:t>);</a:t>
            </a:r>
          </a:p>
          <a:p>
            <a:pPr indent="441325" algn="l"/>
            <a:r>
              <a:rPr lang="pt-BR" sz="2000" dirty="0">
                <a:solidFill>
                  <a:srgbClr val="000000"/>
                </a:solidFill>
                <a:latin typeface="Consolas" panose="020B0609020204030204" pitchFamily="49" charset="0"/>
              </a:rPr>
              <a:t>}</a:t>
            </a:r>
          </a:p>
          <a:p>
            <a:pPr algn="l"/>
            <a:r>
              <a:rPr lang="pt-BR" sz="2000" dirty="0">
                <a:solidFill>
                  <a:srgbClr val="000000"/>
                </a:solidFill>
                <a:latin typeface="Consolas" panose="020B0609020204030204" pitchFamily="49" charset="0"/>
              </a:rPr>
              <a:t>}</a:t>
            </a:r>
            <a:endParaRPr lang="pt-BR" sz="2800" dirty="0">
              <a:latin typeface="Consolas" pitchFamily="49" charset="0"/>
              <a:cs typeface="Consolas" pitchFamily="49" charset="0"/>
            </a:endParaRPr>
          </a:p>
        </p:txBody>
      </p:sp>
      <p:grpSp>
        <p:nvGrpSpPr>
          <p:cNvPr id="5" name="Agrupar 4">
            <a:extLst>
              <a:ext uri="{FF2B5EF4-FFF2-40B4-BE49-F238E27FC236}">
                <a16:creationId xmlns:a16="http://schemas.microsoft.com/office/drawing/2014/main" id="{CFA1EB82-07DD-440F-A9B4-6C1220918622}"/>
              </a:ext>
            </a:extLst>
          </p:cNvPr>
          <p:cNvGrpSpPr/>
          <p:nvPr/>
        </p:nvGrpSpPr>
        <p:grpSpPr>
          <a:xfrm>
            <a:off x="5458364" y="2825925"/>
            <a:ext cx="3410976" cy="2941568"/>
            <a:chOff x="4876799" y="422872"/>
            <a:chExt cx="4140024" cy="4109676"/>
          </a:xfrm>
        </p:grpSpPr>
        <p:grpSp>
          <p:nvGrpSpPr>
            <p:cNvPr id="6" name="Grupo 1">
              <a:extLst>
                <a:ext uri="{FF2B5EF4-FFF2-40B4-BE49-F238E27FC236}">
                  <a16:creationId xmlns:a16="http://schemas.microsoft.com/office/drawing/2014/main" id="{FCEC6DE7-0D86-4EA3-BFB3-8D3749E89091}"/>
                </a:ext>
              </a:extLst>
            </p:cNvPr>
            <p:cNvGrpSpPr/>
            <p:nvPr/>
          </p:nvGrpSpPr>
          <p:grpSpPr>
            <a:xfrm>
              <a:off x="4876799" y="2212825"/>
              <a:ext cx="1545076" cy="2319723"/>
              <a:chOff x="4914400" y="3753366"/>
              <a:chExt cx="1545076" cy="2319723"/>
            </a:xfrm>
          </p:grpSpPr>
          <p:sp>
            <p:nvSpPr>
              <p:cNvPr id="14" name="Oval 5">
                <a:extLst>
                  <a:ext uri="{FF2B5EF4-FFF2-40B4-BE49-F238E27FC236}">
                    <a16:creationId xmlns:a16="http://schemas.microsoft.com/office/drawing/2014/main" id="{0CF48C8B-F812-4464-829A-779A902809E5}"/>
                  </a:ext>
                </a:extLst>
              </p:cNvPr>
              <p:cNvSpPr>
                <a:spLocks noChangeArrowheads="1"/>
              </p:cNvSpPr>
              <p:nvPr/>
            </p:nvSpPr>
            <p:spPr bwMode="auto">
              <a:xfrm>
                <a:off x="4914400"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23</a:t>
                </a:r>
              </a:p>
            </p:txBody>
          </p:sp>
          <p:sp>
            <p:nvSpPr>
              <p:cNvPr id="15" name="Oval 9">
                <a:extLst>
                  <a:ext uri="{FF2B5EF4-FFF2-40B4-BE49-F238E27FC236}">
                    <a16:creationId xmlns:a16="http://schemas.microsoft.com/office/drawing/2014/main" id="{FAF38C33-A41E-4E2A-8EF6-A7297E47A9BB}"/>
                  </a:ext>
                </a:extLst>
              </p:cNvPr>
              <p:cNvSpPr>
                <a:spLocks noChangeArrowheads="1"/>
              </p:cNvSpPr>
              <p:nvPr/>
            </p:nvSpPr>
            <p:spPr bwMode="auto">
              <a:xfrm>
                <a:off x="5643448" y="5241961"/>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29</a:t>
                </a:r>
              </a:p>
            </p:txBody>
          </p:sp>
        </p:grpSp>
        <p:sp>
          <p:nvSpPr>
            <p:cNvPr id="7" name="Oval 4">
              <a:extLst>
                <a:ext uri="{FF2B5EF4-FFF2-40B4-BE49-F238E27FC236}">
                  <a16:creationId xmlns:a16="http://schemas.microsoft.com/office/drawing/2014/main" id="{94532306-E513-48F4-81A4-4BFDC57FA656}"/>
                </a:ext>
              </a:extLst>
            </p:cNvPr>
            <p:cNvSpPr>
              <a:spLocks noChangeArrowheads="1"/>
            </p:cNvSpPr>
            <p:nvPr/>
          </p:nvSpPr>
          <p:spPr bwMode="auto">
            <a:xfrm>
              <a:off x="6563256" y="1044717"/>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37</a:t>
              </a:r>
            </a:p>
          </p:txBody>
        </p:sp>
        <p:sp>
          <p:nvSpPr>
            <p:cNvPr id="8" name="Oval 7">
              <a:extLst>
                <a:ext uri="{FF2B5EF4-FFF2-40B4-BE49-F238E27FC236}">
                  <a16:creationId xmlns:a16="http://schemas.microsoft.com/office/drawing/2014/main" id="{5FCE1FED-FEB3-4EE6-ACE2-896D12827CD9}"/>
                </a:ext>
              </a:extLst>
            </p:cNvPr>
            <p:cNvSpPr>
              <a:spLocks noChangeArrowheads="1"/>
            </p:cNvSpPr>
            <p:nvPr/>
          </p:nvSpPr>
          <p:spPr bwMode="auto">
            <a:xfrm>
              <a:off x="8200795" y="2212825"/>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42</a:t>
              </a:r>
            </a:p>
          </p:txBody>
        </p:sp>
        <p:sp>
          <p:nvSpPr>
            <p:cNvPr id="9" name="Line 31">
              <a:extLst>
                <a:ext uri="{FF2B5EF4-FFF2-40B4-BE49-F238E27FC236}">
                  <a16:creationId xmlns:a16="http://schemas.microsoft.com/office/drawing/2014/main" id="{15EFDA36-242B-41B0-9DA3-A1E32C995757}"/>
                </a:ext>
              </a:extLst>
            </p:cNvPr>
            <p:cNvSpPr>
              <a:spLocks noChangeShapeType="1"/>
            </p:cNvSpPr>
            <p:nvPr/>
          </p:nvSpPr>
          <p:spPr bwMode="auto">
            <a:xfrm>
              <a:off x="7379283" y="1590980"/>
              <a:ext cx="1091849" cy="621845"/>
            </a:xfrm>
            <a:prstGeom prst="line">
              <a:avLst/>
            </a:prstGeom>
            <a:noFill/>
            <a:ln w="9525">
              <a:solidFill>
                <a:schemeClr val="tx1"/>
              </a:solidFill>
              <a:miter lim="800000"/>
              <a:headEnd/>
              <a:tailEnd/>
            </a:ln>
            <a:effectLst/>
          </p:spPr>
          <p:txBody>
            <a:bodyPr wrap="none"/>
            <a:lstStyle/>
            <a:p>
              <a:endParaRPr lang="pt-BR" sz="1200"/>
            </a:p>
          </p:txBody>
        </p:sp>
        <p:cxnSp>
          <p:nvCxnSpPr>
            <p:cNvPr id="10" name="Conector de seta reta 26">
              <a:extLst>
                <a:ext uri="{FF2B5EF4-FFF2-40B4-BE49-F238E27FC236}">
                  <a16:creationId xmlns:a16="http://schemas.microsoft.com/office/drawing/2014/main" id="{471CA79C-E116-4603-B90E-20863E9B4AC9}"/>
                </a:ext>
              </a:extLst>
            </p:cNvPr>
            <p:cNvCxnSpPr>
              <a:endCxn id="7" idx="0"/>
            </p:cNvCxnSpPr>
            <p:nvPr/>
          </p:nvCxnSpPr>
          <p:spPr>
            <a:xfrm rot="16200000" flipH="1">
              <a:off x="6650866" y="724313"/>
              <a:ext cx="621844" cy="18963"/>
            </a:xfrm>
            <a:prstGeom prst="straightConnector1">
              <a:avLst/>
            </a:prstGeom>
            <a:ln w="28575">
              <a:solidFill>
                <a:srgbClr val="F40C0C"/>
              </a:solidFill>
              <a:tailEnd type="arrow"/>
            </a:ln>
          </p:spPr>
          <p:style>
            <a:lnRef idx="2">
              <a:schemeClr val="accent1"/>
            </a:lnRef>
            <a:fillRef idx="0">
              <a:schemeClr val="accent1"/>
            </a:fillRef>
            <a:effectRef idx="1">
              <a:schemeClr val="accent1"/>
            </a:effectRef>
            <a:fontRef idx="minor">
              <a:schemeClr val="tx1"/>
            </a:fontRef>
          </p:style>
        </p:cxnSp>
        <p:sp>
          <p:nvSpPr>
            <p:cNvPr id="11" name="CaixaDeTexto 10">
              <a:extLst>
                <a:ext uri="{FF2B5EF4-FFF2-40B4-BE49-F238E27FC236}">
                  <a16:creationId xmlns:a16="http://schemas.microsoft.com/office/drawing/2014/main" id="{33FFC667-F692-40CB-9CC1-9D2775E9FE48}"/>
                </a:ext>
              </a:extLst>
            </p:cNvPr>
            <p:cNvSpPr txBox="1"/>
            <p:nvPr/>
          </p:nvSpPr>
          <p:spPr>
            <a:xfrm>
              <a:off x="6343564" y="422872"/>
              <a:ext cx="696474" cy="730993"/>
            </a:xfrm>
            <a:prstGeom prst="rect">
              <a:avLst/>
            </a:prstGeom>
            <a:noFill/>
          </p:spPr>
          <p:txBody>
            <a:bodyPr wrap="square" rtlCol="0">
              <a:spAutoFit/>
            </a:bodyPr>
            <a:lstStyle/>
            <a:p>
              <a:r>
                <a:rPr lang="pt-BR" sz="2800" b="1" dirty="0">
                  <a:solidFill>
                    <a:srgbClr val="FF0000"/>
                  </a:solidFill>
                </a:rPr>
                <a:t>p1</a:t>
              </a:r>
              <a:endParaRPr lang="pt-BR" b="1" dirty="0">
                <a:solidFill>
                  <a:srgbClr val="FF0000"/>
                </a:solidFill>
              </a:endParaRPr>
            </a:p>
          </p:txBody>
        </p:sp>
        <p:cxnSp>
          <p:nvCxnSpPr>
            <p:cNvPr id="12" name="Conector de seta reta 19">
              <a:extLst>
                <a:ext uri="{FF2B5EF4-FFF2-40B4-BE49-F238E27FC236}">
                  <a16:creationId xmlns:a16="http://schemas.microsoft.com/office/drawing/2014/main" id="{9CEF65BE-AA97-4DA3-B24F-7A90E7F05F86}"/>
                </a:ext>
              </a:extLst>
            </p:cNvPr>
            <p:cNvCxnSpPr>
              <a:endCxn id="14" idx="7"/>
            </p:cNvCxnSpPr>
            <p:nvPr/>
          </p:nvCxnSpPr>
          <p:spPr>
            <a:xfrm rot="10800000" flipV="1">
              <a:off x="5573323" y="1590981"/>
              <a:ext cx="989933" cy="743559"/>
            </a:xfrm>
            <a:prstGeom prst="straightConnector1">
              <a:avLst/>
            </a:prstGeom>
            <a:noFill/>
            <a:ln w="9525">
              <a:solidFill>
                <a:schemeClr val="tx1"/>
              </a:solidFill>
              <a:miter lim="800000"/>
              <a:headEnd/>
              <a:tailEnd/>
            </a:ln>
            <a:effectLst/>
          </p:spPr>
        </p:cxnSp>
        <p:sp>
          <p:nvSpPr>
            <p:cNvPr id="13" name="Line 31">
              <a:extLst>
                <a:ext uri="{FF2B5EF4-FFF2-40B4-BE49-F238E27FC236}">
                  <a16:creationId xmlns:a16="http://schemas.microsoft.com/office/drawing/2014/main" id="{532D74F5-DAD2-4CEF-9B33-3463A6F27EB9}"/>
                </a:ext>
              </a:extLst>
            </p:cNvPr>
            <p:cNvSpPr>
              <a:spLocks noChangeShapeType="1"/>
            </p:cNvSpPr>
            <p:nvPr/>
          </p:nvSpPr>
          <p:spPr bwMode="auto">
            <a:xfrm>
              <a:off x="5471408" y="2989061"/>
              <a:ext cx="570164" cy="712359"/>
            </a:xfrm>
            <a:prstGeom prst="line">
              <a:avLst/>
            </a:prstGeom>
            <a:noFill/>
            <a:ln w="9525">
              <a:solidFill>
                <a:schemeClr val="tx1"/>
              </a:solidFill>
              <a:miter lim="800000"/>
              <a:headEnd/>
              <a:tailEnd/>
            </a:ln>
            <a:effectLst/>
          </p:spPr>
          <p:txBody>
            <a:bodyPr wrap="none"/>
            <a:lstStyle/>
            <a:p>
              <a:endParaRPr lang="pt-BR" sz="1200"/>
            </a:p>
          </p:txBody>
        </p:sp>
      </p:grpSp>
      <p:sp>
        <p:nvSpPr>
          <p:cNvPr id="4" name="CaixaDeTexto 3">
            <a:extLst>
              <a:ext uri="{FF2B5EF4-FFF2-40B4-BE49-F238E27FC236}">
                <a16:creationId xmlns:a16="http://schemas.microsoft.com/office/drawing/2014/main" id="{A0893BEB-E451-409E-A763-F948000FEACE}"/>
              </a:ext>
            </a:extLst>
          </p:cNvPr>
          <p:cNvSpPr txBox="1"/>
          <p:nvPr/>
        </p:nvSpPr>
        <p:spPr>
          <a:xfrm>
            <a:off x="323850" y="5019675"/>
            <a:ext cx="2761123" cy="369332"/>
          </a:xfrm>
          <a:prstGeom prst="rect">
            <a:avLst/>
          </a:prstGeom>
          <a:noFill/>
        </p:spPr>
        <p:txBody>
          <a:bodyPr wrap="square" rtlCol="0">
            <a:spAutoFit/>
          </a:bodyPr>
          <a:lstStyle/>
          <a:p>
            <a:r>
              <a:rPr lang="pt-BR" dirty="0"/>
              <a:t>37  23  29  42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pt-BR"/>
              <a:t>Árvores Binárias - Percursos</a:t>
            </a:r>
          </a:p>
        </p:txBody>
      </p:sp>
      <p:sp>
        <p:nvSpPr>
          <p:cNvPr id="49155" name="Rectangle 3"/>
          <p:cNvSpPr>
            <a:spLocks noGrp="1" noChangeArrowheads="1"/>
          </p:cNvSpPr>
          <p:nvPr>
            <p:ph type="body" idx="4294967295"/>
          </p:nvPr>
        </p:nvSpPr>
        <p:spPr>
          <a:xfrm>
            <a:off x="1371600" y="981075"/>
            <a:ext cx="7772400" cy="685800"/>
          </a:xfrm>
        </p:spPr>
        <p:txBody>
          <a:bodyPr/>
          <a:lstStyle/>
          <a:p>
            <a:r>
              <a:rPr lang="pt-BR">
                <a:solidFill>
                  <a:srgbClr val="000099"/>
                </a:solidFill>
              </a:rPr>
              <a:t>Pós-Ordem</a:t>
            </a:r>
          </a:p>
        </p:txBody>
      </p:sp>
      <p:sp>
        <p:nvSpPr>
          <p:cNvPr id="49156" name="Text Box 4"/>
          <p:cNvSpPr txBox="1">
            <a:spLocks noChangeArrowheads="1"/>
          </p:cNvSpPr>
          <p:nvPr/>
        </p:nvSpPr>
        <p:spPr bwMode="auto">
          <a:xfrm>
            <a:off x="1066800" y="5476875"/>
            <a:ext cx="4325800" cy="584775"/>
          </a:xfrm>
          <a:prstGeom prst="rect">
            <a:avLst/>
          </a:prstGeom>
          <a:noFill/>
          <a:ln w="9525">
            <a:noFill/>
            <a:miter lim="800000"/>
            <a:headEnd/>
            <a:tailEnd/>
          </a:ln>
          <a:effectLst/>
        </p:spPr>
        <p:txBody>
          <a:bodyPr wrap="none">
            <a:spAutoFit/>
          </a:bodyPr>
          <a:lstStyle/>
          <a:p>
            <a:r>
              <a:rPr kumimoji="1" lang="pt-BR" sz="3200" b="1" dirty="0">
                <a:latin typeface="Arial Narrow" pitchFamily="34" charset="0"/>
              </a:rPr>
              <a:t>3 – Apresentamos a </a:t>
            </a:r>
            <a:r>
              <a:rPr kumimoji="1" lang="pt-BR" sz="3200" b="1" dirty="0">
                <a:solidFill>
                  <a:srgbClr val="00FFCC"/>
                </a:solidFill>
                <a:latin typeface="Arial Narrow" pitchFamily="34" charset="0"/>
              </a:rPr>
              <a:t>RAIZ</a:t>
            </a:r>
            <a:r>
              <a:rPr kumimoji="1" lang="pt-BR" sz="3200" b="1" dirty="0">
                <a:latin typeface="Arial Narrow" pitchFamily="34" charset="0"/>
              </a:rPr>
              <a:t>.</a:t>
            </a:r>
          </a:p>
        </p:txBody>
      </p:sp>
      <p:sp>
        <p:nvSpPr>
          <p:cNvPr id="49157" name="Text Box 5"/>
          <p:cNvSpPr txBox="1">
            <a:spLocks noChangeArrowheads="1"/>
          </p:cNvSpPr>
          <p:nvPr/>
        </p:nvSpPr>
        <p:spPr bwMode="auto">
          <a:xfrm>
            <a:off x="1090613" y="3514725"/>
            <a:ext cx="3440112" cy="1554163"/>
          </a:xfrm>
          <a:prstGeom prst="rect">
            <a:avLst/>
          </a:prstGeom>
          <a:noFill/>
          <a:ln w="9525">
            <a:noFill/>
            <a:miter lim="800000"/>
            <a:headEnd/>
            <a:tailEnd/>
          </a:ln>
          <a:effectLst/>
        </p:spPr>
        <p:txBody>
          <a:bodyPr>
            <a:spAutoFit/>
          </a:bodyPr>
          <a:lstStyle/>
          <a:p>
            <a:r>
              <a:rPr kumimoji="1" lang="pt-BR" sz="3200" b="1">
                <a:latin typeface="Arial Narrow" pitchFamily="34" charset="0"/>
              </a:rPr>
              <a:t>2 – Percorremos a subárvore </a:t>
            </a:r>
            <a:r>
              <a:rPr kumimoji="1" lang="pt-BR" sz="3200" b="1">
                <a:solidFill>
                  <a:srgbClr val="00FFCC"/>
                </a:solidFill>
                <a:latin typeface="Arial Narrow" pitchFamily="34" charset="0"/>
              </a:rPr>
              <a:t>direita</a:t>
            </a:r>
            <a:r>
              <a:rPr kumimoji="1" lang="pt-BR" sz="3200" b="1">
                <a:latin typeface="Arial Narrow" pitchFamily="34" charset="0"/>
              </a:rPr>
              <a:t> em ordem posterior.</a:t>
            </a:r>
          </a:p>
        </p:txBody>
      </p:sp>
      <p:sp>
        <p:nvSpPr>
          <p:cNvPr id="49158" name="Line 6"/>
          <p:cNvSpPr>
            <a:spLocks noChangeShapeType="1"/>
          </p:cNvSpPr>
          <p:nvPr/>
        </p:nvSpPr>
        <p:spPr bwMode="auto">
          <a:xfrm flipH="1">
            <a:off x="5257800" y="2398713"/>
            <a:ext cx="1371600" cy="573087"/>
          </a:xfrm>
          <a:prstGeom prst="line">
            <a:avLst/>
          </a:prstGeom>
          <a:noFill/>
          <a:ln w="9525">
            <a:solidFill>
              <a:schemeClr val="tx1"/>
            </a:solidFill>
            <a:miter lim="800000"/>
            <a:headEnd/>
            <a:tailEnd/>
          </a:ln>
          <a:effectLst/>
        </p:spPr>
        <p:txBody>
          <a:bodyPr wrap="none"/>
          <a:lstStyle/>
          <a:p>
            <a:endParaRPr lang="pt-BR"/>
          </a:p>
        </p:txBody>
      </p:sp>
      <p:sp>
        <p:nvSpPr>
          <p:cNvPr id="49159" name="Line 7"/>
          <p:cNvSpPr>
            <a:spLocks noChangeShapeType="1"/>
          </p:cNvSpPr>
          <p:nvPr/>
        </p:nvSpPr>
        <p:spPr bwMode="auto">
          <a:xfrm>
            <a:off x="6545263" y="2387600"/>
            <a:ext cx="1524000" cy="720725"/>
          </a:xfrm>
          <a:prstGeom prst="line">
            <a:avLst/>
          </a:prstGeom>
          <a:noFill/>
          <a:ln w="9525">
            <a:solidFill>
              <a:schemeClr val="tx1"/>
            </a:solidFill>
            <a:miter lim="800000"/>
            <a:headEnd/>
            <a:tailEnd/>
          </a:ln>
          <a:effectLst/>
        </p:spPr>
        <p:txBody>
          <a:bodyPr wrap="none"/>
          <a:lstStyle/>
          <a:p>
            <a:endParaRPr lang="pt-BR"/>
          </a:p>
        </p:txBody>
      </p:sp>
      <p:sp>
        <p:nvSpPr>
          <p:cNvPr id="49160" name="Line 8"/>
          <p:cNvSpPr>
            <a:spLocks noChangeShapeType="1"/>
          </p:cNvSpPr>
          <p:nvPr/>
        </p:nvSpPr>
        <p:spPr bwMode="auto">
          <a:xfrm flipH="1">
            <a:off x="4710113" y="3433763"/>
            <a:ext cx="914400" cy="838200"/>
          </a:xfrm>
          <a:prstGeom prst="line">
            <a:avLst/>
          </a:prstGeom>
          <a:noFill/>
          <a:ln w="9525">
            <a:solidFill>
              <a:schemeClr val="tx1"/>
            </a:solidFill>
            <a:miter lim="800000"/>
            <a:headEnd/>
            <a:tailEnd/>
          </a:ln>
          <a:effectLst/>
        </p:spPr>
        <p:txBody>
          <a:bodyPr wrap="none"/>
          <a:lstStyle/>
          <a:p>
            <a:endParaRPr lang="pt-BR"/>
          </a:p>
        </p:txBody>
      </p:sp>
      <p:sp>
        <p:nvSpPr>
          <p:cNvPr id="49162" name="Oval 10"/>
          <p:cNvSpPr>
            <a:spLocks noChangeArrowheads="1"/>
          </p:cNvSpPr>
          <p:nvPr/>
        </p:nvSpPr>
        <p:spPr bwMode="auto">
          <a:xfrm>
            <a:off x="4546600" y="3781425"/>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2</a:t>
            </a:r>
          </a:p>
        </p:txBody>
      </p:sp>
      <p:sp>
        <p:nvSpPr>
          <p:cNvPr id="49163" name="Line 11"/>
          <p:cNvSpPr>
            <a:spLocks noChangeShapeType="1"/>
          </p:cNvSpPr>
          <p:nvPr/>
        </p:nvSpPr>
        <p:spPr bwMode="auto">
          <a:xfrm flipH="1">
            <a:off x="6953250" y="3171825"/>
            <a:ext cx="914400" cy="838200"/>
          </a:xfrm>
          <a:prstGeom prst="line">
            <a:avLst/>
          </a:prstGeom>
          <a:noFill/>
          <a:ln w="9525">
            <a:solidFill>
              <a:schemeClr val="tx1"/>
            </a:solidFill>
            <a:miter lim="800000"/>
            <a:headEnd/>
            <a:tailEnd/>
          </a:ln>
          <a:effectLst/>
        </p:spPr>
        <p:txBody>
          <a:bodyPr wrap="none"/>
          <a:lstStyle/>
          <a:p>
            <a:endParaRPr lang="pt-BR"/>
          </a:p>
        </p:txBody>
      </p:sp>
      <p:sp>
        <p:nvSpPr>
          <p:cNvPr id="49164" name="Line 12"/>
          <p:cNvSpPr>
            <a:spLocks noChangeShapeType="1"/>
          </p:cNvSpPr>
          <p:nvPr/>
        </p:nvSpPr>
        <p:spPr bwMode="auto">
          <a:xfrm>
            <a:off x="7902575" y="3136900"/>
            <a:ext cx="1066800" cy="914400"/>
          </a:xfrm>
          <a:prstGeom prst="line">
            <a:avLst/>
          </a:prstGeom>
          <a:noFill/>
          <a:ln w="9525">
            <a:solidFill>
              <a:schemeClr val="tx1"/>
            </a:solidFill>
            <a:miter lim="800000"/>
            <a:headEnd/>
            <a:tailEnd/>
          </a:ln>
          <a:effectLst/>
        </p:spPr>
        <p:txBody>
          <a:bodyPr wrap="none"/>
          <a:lstStyle/>
          <a:p>
            <a:endParaRPr lang="pt-BR"/>
          </a:p>
        </p:txBody>
      </p:sp>
      <p:sp>
        <p:nvSpPr>
          <p:cNvPr id="49165" name="Oval 13"/>
          <p:cNvSpPr>
            <a:spLocks noChangeArrowheads="1"/>
          </p:cNvSpPr>
          <p:nvPr/>
        </p:nvSpPr>
        <p:spPr bwMode="auto">
          <a:xfrm>
            <a:off x="8199438" y="3798888"/>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21</a:t>
            </a:r>
          </a:p>
        </p:txBody>
      </p:sp>
      <p:sp>
        <p:nvSpPr>
          <p:cNvPr id="49167" name="Oval 15"/>
          <p:cNvSpPr>
            <a:spLocks noChangeArrowheads="1"/>
          </p:cNvSpPr>
          <p:nvPr/>
        </p:nvSpPr>
        <p:spPr bwMode="auto">
          <a:xfrm>
            <a:off x="6176963" y="17526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10</a:t>
            </a:r>
          </a:p>
        </p:txBody>
      </p:sp>
      <p:sp>
        <p:nvSpPr>
          <p:cNvPr id="49168" name="Oval 16"/>
          <p:cNvSpPr>
            <a:spLocks noChangeArrowheads="1"/>
          </p:cNvSpPr>
          <p:nvPr/>
        </p:nvSpPr>
        <p:spPr bwMode="auto">
          <a:xfrm>
            <a:off x="5181600" y="27432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7</a:t>
            </a:r>
          </a:p>
        </p:txBody>
      </p:sp>
      <p:sp>
        <p:nvSpPr>
          <p:cNvPr id="49169" name="Oval 17"/>
          <p:cNvSpPr>
            <a:spLocks noChangeArrowheads="1"/>
          </p:cNvSpPr>
          <p:nvPr/>
        </p:nvSpPr>
        <p:spPr bwMode="auto">
          <a:xfrm>
            <a:off x="7543800" y="26670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14</a:t>
            </a:r>
          </a:p>
        </p:txBody>
      </p:sp>
      <p:sp>
        <p:nvSpPr>
          <p:cNvPr id="49174" name="Oval 22"/>
          <p:cNvSpPr>
            <a:spLocks noChangeArrowheads="1"/>
          </p:cNvSpPr>
          <p:nvPr/>
        </p:nvSpPr>
        <p:spPr bwMode="auto">
          <a:xfrm>
            <a:off x="6675438" y="3798888"/>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12</a:t>
            </a:r>
          </a:p>
        </p:txBody>
      </p:sp>
      <p:sp>
        <p:nvSpPr>
          <p:cNvPr id="49178" name="Text Box 26"/>
          <p:cNvSpPr txBox="1">
            <a:spLocks noChangeArrowheads="1"/>
          </p:cNvSpPr>
          <p:nvPr/>
        </p:nvSpPr>
        <p:spPr bwMode="auto">
          <a:xfrm>
            <a:off x="1076325" y="1600200"/>
            <a:ext cx="3440113" cy="1554163"/>
          </a:xfrm>
          <a:prstGeom prst="rect">
            <a:avLst/>
          </a:prstGeom>
          <a:noFill/>
          <a:ln w="9525">
            <a:noFill/>
            <a:miter lim="800000"/>
            <a:headEnd/>
            <a:tailEnd/>
          </a:ln>
          <a:effectLst/>
        </p:spPr>
        <p:txBody>
          <a:bodyPr>
            <a:spAutoFit/>
          </a:bodyPr>
          <a:lstStyle/>
          <a:p>
            <a:r>
              <a:rPr kumimoji="1" lang="pt-BR" sz="3200" b="1">
                <a:latin typeface="Arial Narrow" pitchFamily="34" charset="0"/>
              </a:rPr>
              <a:t>1 – Percorremos a subárvore </a:t>
            </a:r>
            <a:r>
              <a:rPr kumimoji="1" lang="pt-BR" sz="3200" b="1">
                <a:solidFill>
                  <a:srgbClr val="00FFCC"/>
                </a:solidFill>
                <a:latin typeface="Arial Narrow" pitchFamily="34" charset="0"/>
              </a:rPr>
              <a:t>esquerda</a:t>
            </a:r>
            <a:r>
              <a:rPr kumimoji="1" lang="pt-BR" sz="3200" b="1">
                <a:latin typeface="Arial Narrow" pitchFamily="34" charset="0"/>
              </a:rPr>
              <a:t> em ordem posterior.</a:t>
            </a:r>
          </a:p>
        </p:txBody>
      </p:sp>
      <p:sp>
        <p:nvSpPr>
          <p:cNvPr id="27" name="Espaço Reservado para Número de Slide 26"/>
          <p:cNvSpPr>
            <a:spLocks noGrp="1"/>
          </p:cNvSpPr>
          <p:nvPr>
            <p:ph type="sldNum" sz="quarter" idx="11"/>
          </p:nvPr>
        </p:nvSpPr>
        <p:spPr/>
        <p:txBody>
          <a:bodyPr/>
          <a:lstStyle/>
          <a:p>
            <a:fld id="{0DBB9FE3-D63C-4A40-B010-4651D12E128D}" type="slidenum">
              <a:rPr lang="pt-BR" smtClean="0"/>
              <a:pPr/>
              <a:t>49</a:t>
            </a:fld>
            <a:endParaRPr lang="pt-BR"/>
          </a:p>
        </p:txBody>
      </p:sp>
      <p:grpSp>
        <p:nvGrpSpPr>
          <p:cNvPr id="31" name="Grupo 30"/>
          <p:cNvGrpSpPr/>
          <p:nvPr/>
        </p:nvGrpSpPr>
        <p:grpSpPr>
          <a:xfrm>
            <a:off x="381000" y="1828800"/>
            <a:ext cx="685800" cy="4724400"/>
            <a:chOff x="381000" y="1828800"/>
            <a:chExt cx="685800" cy="4724400"/>
          </a:xfrm>
        </p:grpSpPr>
        <p:sp>
          <p:nvSpPr>
            <p:cNvPr id="49177" name="AutoShape 25"/>
            <p:cNvSpPr>
              <a:spLocks/>
            </p:cNvSpPr>
            <p:nvPr/>
          </p:nvSpPr>
          <p:spPr bwMode="auto">
            <a:xfrm>
              <a:off x="838200" y="1828800"/>
              <a:ext cx="228600" cy="4724400"/>
            </a:xfrm>
            <a:prstGeom prst="leftBrace">
              <a:avLst>
                <a:gd name="adj1" fmla="val 172222"/>
                <a:gd name="adj2" fmla="val 50000"/>
              </a:avLst>
            </a:prstGeom>
            <a:noFill/>
            <a:ln w="57150">
              <a:solidFill>
                <a:srgbClr val="00FFCC"/>
              </a:solidFill>
              <a:miter lim="800000"/>
              <a:headEnd/>
              <a:tailEnd/>
            </a:ln>
            <a:effectLst/>
          </p:spPr>
          <p:txBody>
            <a:bodyPr wrap="none" anchor="ctr"/>
            <a:lstStyle/>
            <a:p>
              <a:endParaRPr lang="pt-BR"/>
            </a:p>
          </p:txBody>
        </p:sp>
        <p:sp>
          <p:nvSpPr>
            <p:cNvPr id="29" name="Text Box 36"/>
            <p:cNvSpPr txBox="1">
              <a:spLocks noChangeArrowheads="1"/>
            </p:cNvSpPr>
            <p:nvPr/>
          </p:nvSpPr>
          <p:spPr bwMode="auto">
            <a:xfrm>
              <a:off x="381000" y="2559050"/>
              <a:ext cx="379413" cy="3378200"/>
            </a:xfrm>
            <a:prstGeom prst="rect">
              <a:avLst/>
            </a:prstGeom>
            <a:noFill/>
            <a:ln w="9525">
              <a:noFill/>
              <a:miter lim="800000"/>
              <a:headEnd/>
              <a:tailEnd/>
            </a:ln>
            <a:effectLst/>
          </p:spPr>
          <p:txBody>
            <a:bodyPr wrap="none">
              <a:spAutoFit/>
            </a:bodyPr>
            <a:lstStyle/>
            <a:p>
              <a:r>
                <a:rPr kumimoji="1" lang="pt-BR" sz="2400" b="1">
                  <a:solidFill>
                    <a:srgbClr val="00FFCC"/>
                  </a:solidFill>
                  <a:latin typeface="Arial Narrow" pitchFamily="34" charset="0"/>
                </a:rPr>
                <a:t>R</a:t>
              </a:r>
            </a:p>
            <a:p>
              <a:r>
                <a:rPr kumimoji="1" lang="pt-BR" sz="2400" b="1">
                  <a:solidFill>
                    <a:srgbClr val="00FFCC"/>
                  </a:solidFill>
                  <a:latin typeface="Arial Narrow" pitchFamily="34" charset="0"/>
                </a:rPr>
                <a:t>E</a:t>
              </a:r>
            </a:p>
            <a:p>
              <a:r>
                <a:rPr kumimoji="1" lang="pt-BR" sz="2400" b="1">
                  <a:solidFill>
                    <a:srgbClr val="00FFCC"/>
                  </a:solidFill>
                  <a:latin typeface="Arial Narrow" pitchFamily="34" charset="0"/>
                </a:rPr>
                <a:t>C</a:t>
              </a:r>
            </a:p>
            <a:p>
              <a:r>
                <a:rPr kumimoji="1" lang="pt-BR" sz="2400" b="1">
                  <a:solidFill>
                    <a:srgbClr val="00FFCC"/>
                  </a:solidFill>
                  <a:latin typeface="Arial Narrow" pitchFamily="34" charset="0"/>
                </a:rPr>
                <a:t>U</a:t>
              </a:r>
            </a:p>
            <a:p>
              <a:r>
                <a:rPr kumimoji="1" lang="pt-BR" sz="2400" b="1">
                  <a:solidFill>
                    <a:srgbClr val="00FFCC"/>
                  </a:solidFill>
                  <a:latin typeface="Arial Narrow" pitchFamily="34" charset="0"/>
                </a:rPr>
                <a:t>R</a:t>
              </a:r>
            </a:p>
            <a:p>
              <a:r>
                <a:rPr kumimoji="1" lang="pt-BR" sz="2400" b="1">
                  <a:solidFill>
                    <a:srgbClr val="00FFCC"/>
                  </a:solidFill>
                  <a:latin typeface="Arial Narrow" pitchFamily="34" charset="0"/>
                </a:rPr>
                <a:t>S</a:t>
              </a:r>
            </a:p>
            <a:p>
              <a:r>
                <a:rPr kumimoji="1" lang="pt-BR" sz="2400" b="1">
                  <a:solidFill>
                    <a:srgbClr val="00FFCC"/>
                  </a:solidFill>
                  <a:latin typeface="Arial Narrow" pitchFamily="34" charset="0"/>
                </a:rPr>
                <a:t>I</a:t>
              </a:r>
            </a:p>
            <a:p>
              <a:r>
                <a:rPr kumimoji="1" lang="pt-BR" sz="2400" b="1">
                  <a:solidFill>
                    <a:srgbClr val="00FFCC"/>
                  </a:solidFill>
                  <a:latin typeface="Arial Narrow" pitchFamily="34" charset="0"/>
                </a:rPr>
                <a:t>V</a:t>
              </a:r>
            </a:p>
            <a:p>
              <a:r>
                <a:rPr kumimoji="1" lang="pt-BR" sz="2400" b="1">
                  <a:solidFill>
                    <a:srgbClr val="00FFCC"/>
                  </a:solidFill>
                  <a:latin typeface="Arial Narrow" pitchFamily="34" charset="0"/>
                </a:rPr>
                <a:t>O</a:t>
              </a:r>
            </a:p>
          </p:txBody>
        </p:sp>
      </p:gr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z="2800" dirty="0">
                <a:solidFill>
                  <a:srgbClr val="000000"/>
                </a:solidFill>
                <a:latin typeface="Consolas" pitchFamily="49" charset="0"/>
                <a:ea typeface="Calibri" pitchFamily="34" charset="0"/>
                <a:cs typeface="Consolas" pitchFamily="49" charset="0"/>
              </a:rPr>
              <a:t>Percurso de arvore Binária </a:t>
            </a:r>
            <a:r>
              <a:rPr lang="pt-BR" sz="2800" dirty="0" err="1">
                <a:solidFill>
                  <a:srgbClr val="000000"/>
                </a:solidFill>
                <a:latin typeface="Consolas" pitchFamily="49" charset="0"/>
                <a:ea typeface="Calibri" pitchFamily="34" charset="0"/>
                <a:cs typeface="Consolas" pitchFamily="49" charset="0"/>
              </a:rPr>
              <a:t>Pós_Ordem</a:t>
            </a:r>
            <a:endParaRPr lang="pt-BR" dirty="0"/>
          </a:p>
        </p:txBody>
      </p:sp>
      <p:sp>
        <p:nvSpPr>
          <p:cNvPr id="3" name="Espaço Reservado para Número de Slide 2"/>
          <p:cNvSpPr>
            <a:spLocks noGrp="1"/>
          </p:cNvSpPr>
          <p:nvPr>
            <p:ph type="sldNum" sz="quarter" idx="11"/>
          </p:nvPr>
        </p:nvSpPr>
        <p:spPr/>
        <p:txBody>
          <a:bodyPr/>
          <a:lstStyle/>
          <a:p>
            <a:fld id="{0DBB9FE3-D63C-4A40-B010-4651D12E128D}" type="slidenum">
              <a:rPr lang="pt-BR" smtClean="0"/>
              <a:pPr/>
              <a:t>50</a:t>
            </a:fld>
            <a:endParaRPr lang="pt-BR"/>
          </a:p>
        </p:txBody>
      </p:sp>
      <p:sp>
        <p:nvSpPr>
          <p:cNvPr id="6" name="CaixaDeTexto 5">
            <a:extLst>
              <a:ext uri="{FF2B5EF4-FFF2-40B4-BE49-F238E27FC236}">
                <a16:creationId xmlns:a16="http://schemas.microsoft.com/office/drawing/2014/main" id="{826B7489-45CA-4540-8AD1-3ADE111DBA65}"/>
              </a:ext>
            </a:extLst>
          </p:cNvPr>
          <p:cNvSpPr txBox="1"/>
          <p:nvPr/>
        </p:nvSpPr>
        <p:spPr>
          <a:xfrm>
            <a:off x="1466726" y="1540638"/>
            <a:ext cx="6995948" cy="2862322"/>
          </a:xfrm>
          <a:prstGeom prst="rect">
            <a:avLst/>
          </a:prstGeom>
          <a:noFill/>
        </p:spPr>
        <p:txBody>
          <a:bodyPr wrap="square">
            <a:spAutoFit/>
          </a:bodyPr>
          <a:lstStyle/>
          <a:p>
            <a:pPr algn="l"/>
            <a:r>
              <a:rPr lang="pt-BR" sz="2000" b="1" dirty="0" err="1">
                <a:solidFill>
                  <a:srgbClr val="7F0055"/>
                </a:solidFill>
                <a:latin typeface="Consolas" panose="020B0609020204030204" pitchFamily="49" charset="0"/>
              </a:rPr>
              <a:t>public</a:t>
            </a:r>
            <a:r>
              <a:rPr lang="pt-BR" sz="2000" b="1" dirty="0">
                <a:solidFill>
                  <a:srgbClr val="000000"/>
                </a:solidFill>
                <a:latin typeface="Consolas" panose="020B0609020204030204" pitchFamily="49" charset="0"/>
              </a:rPr>
              <a:t> </a:t>
            </a:r>
            <a:r>
              <a:rPr lang="pt-BR" sz="2000" b="1" dirty="0" err="1">
                <a:solidFill>
                  <a:srgbClr val="7F0055"/>
                </a:solidFill>
                <a:latin typeface="Consolas" panose="020B0609020204030204" pitchFamily="49" charset="0"/>
              </a:rPr>
              <a:t>static</a:t>
            </a:r>
            <a:r>
              <a:rPr lang="pt-BR" sz="2000" b="1" dirty="0">
                <a:solidFill>
                  <a:srgbClr val="000000"/>
                </a:solidFill>
                <a:latin typeface="Consolas" panose="020B0609020204030204" pitchFamily="49" charset="0"/>
              </a:rPr>
              <a:t> </a:t>
            </a:r>
            <a:r>
              <a:rPr lang="pt-BR" sz="2000" b="1" dirty="0" err="1">
                <a:solidFill>
                  <a:srgbClr val="7F0055"/>
                </a:solidFill>
                <a:latin typeface="Consolas" panose="020B0609020204030204" pitchFamily="49" charset="0"/>
              </a:rPr>
              <a:t>void</a:t>
            </a:r>
            <a:r>
              <a:rPr lang="pt-BR" sz="2000" b="1" dirty="0">
                <a:solidFill>
                  <a:srgbClr val="000000"/>
                </a:solidFill>
                <a:latin typeface="Consolas" panose="020B0609020204030204" pitchFamily="49" charset="0"/>
              </a:rPr>
              <a:t> </a:t>
            </a:r>
            <a:r>
              <a:rPr lang="pt-BR" sz="2000" b="1" dirty="0" err="1">
                <a:solidFill>
                  <a:srgbClr val="000000"/>
                </a:solidFill>
                <a:latin typeface="Consolas" panose="020B0609020204030204" pitchFamily="49" charset="0"/>
              </a:rPr>
              <a:t>posOrdem</a:t>
            </a:r>
            <a:r>
              <a:rPr lang="pt-BR" sz="2000" b="1" dirty="0">
                <a:solidFill>
                  <a:srgbClr val="000000"/>
                </a:solidFill>
                <a:latin typeface="Consolas" panose="020B0609020204030204" pitchFamily="49" charset="0"/>
              </a:rPr>
              <a:t>(NO </a:t>
            </a:r>
            <a:r>
              <a:rPr lang="pt-BR" sz="2000" b="1" dirty="0">
                <a:solidFill>
                  <a:srgbClr val="6A3E3E"/>
                </a:solidFill>
                <a:latin typeface="Consolas" panose="020B0609020204030204" pitchFamily="49" charset="0"/>
              </a:rPr>
              <a:t>p</a:t>
            </a:r>
            <a:r>
              <a:rPr lang="pt-BR" sz="2000" b="1" dirty="0">
                <a:solidFill>
                  <a:srgbClr val="000000"/>
                </a:solidFill>
                <a:latin typeface="Consolas" panose="020B0609020204030204" pitchFamily="49" charset="0"/>
              </a:rPr>
              <a:t>) {</a:t>
            </a:r>
          </a:p>
          <a:p>
            <a:pPr indent="536575" algn="l"/>
            <a:r>
              <a:rPr lang="pt-BR" sz="2000" b="1" dirty="0" err="1">
                <a:solidFill>
                  <a:srgbClr val="7F0055"/>
                </a:solidFill>
                <a:latin typeface="Consolas" panose="020B0609020204030204" pitchFamily="49" charset="0"/>
              </a:rPr>
              <a:t>if</a:t>
            </a:r>
            <a:r>
              <a:rPr lang="pt-BR" sz="2000" b="1" dirty="0">
                <a:solidFill>
                  <a:srgbClr val="000000"/>
                </a:solidFill>
                <a:latin typeface="Consolas" panose="020B0609020204030204" pitchFamily="49" charset="0"/>
              </a:rPr>
              <a:t> (</a:t>
            </a:r>
            <a:r>
              <a:rPr lang="pt-BR" sz="2000" b="1" dirty="0">
                <a:solidFill>
                  <a:srgbClr val="6A3E3E"/>
                </a:solidFill>
                <a:latin typeface="Consolas" panose="020B0609020204030204" pitchFamily="49" charset="0"/>
              </a:rPr>
              <a:t>p</a:t>
            </a:r>
            <a:r>
              <a:rPr lang="pt-BR" sz="2000" b="1" dirty="0">
                <a:solidFill>
                  <a:srgbClr val="000000"/>
                </a:solidFill>
                <a:latin typeface="Consolas" panose="020B0609020204030204" pitchFamily="49" charset="0"/>
              </a:rPr>
              <a:t>!=</a:t>
            </a:r>
            <a:r>
              <a:rPr lang="pt-BR" sz="2000" b="1" dirty="0" err="1">
                <a:solidFill>
                  <a:srgbClr val="7F0055"/>
                </a:solidFill>
                <a:latin typeface="Consolas" panose="020B0609020204030204" pitchFamily="49" charset="0"/>
              </a:rPr>
              <a:t>null</a:t>
            </a:r>
            <a:r>
              <a:rPr lang="pt-BR" sz="2000" b="1" dirty="0">
                <a:solidFill>
                  <a:srgbClr val="000000"/>
                </a:solidFill>
                <a:latin typeface="Consolas" panose="020B0609020204030204" pitchFamily="49" charset="0"/>
              </a:rPr>
              <a:t>) {</a:t>
            </a:r>
          </a:p>
          <a:p>
            <a:pPr indent="536575" algn="l"/>
            <a:r>
              <a:rPr lang="pt-BR" sz="2000" b="1" dirty="0">
                <a:solidFill>
                  <a:srgbClr val="7F0055"/>
                </a:solidFill>
                <a:latin typeface="Consolas" panose="020B0609020204030204" pitchFamily="49" charset="0"/>
              </a:rPr>
              <a:t>	</a:t>
            </a:r>
            <a:r>
              <a:rPr lang="pt-BR" sz="2000" b="1" dirty="0" err="1">
                <a:solidFill>
                  <a:srgbClr val="7F0055"/>
                </a:solidFill>
                <a:latin typeface="Consolas" panose="020B0609020204030204" pitchFamily="49" charset="0"/>
              </a:rPr>
              <a:t>if</a:t>
            </a:r>
            <a:r>
              <a:rPr lang="pt-BR" sz="2000" b="1" dirty="0">
                <a:solidFill>
                  <a:srgbClr val="000000"/>
                </a:solidFill>
                <a:latin typeface="Consolas" panose="020B0609020204030204" pitchFamily="49" charset="0"/>
              </a:rPr>
              <a:t> (</a:t>
            </a:r>
            <a:r>
              <a:rPr lang="pt-BR" sz="2000" b="1" dirty="0" err="1">
                <a:solidFill>
                  <a:srgbClr val="6A3E3E"/>
                </a:solidFill>
                <a:latin typeface="Consolas" panose="020B0609020204030204" pitchFamily="49" charset="0"/>
              </a:rPr>
              <a:t>p</a:t>
            </a:r>
            <a:r>
              <a:rPr lang="pt-BR" sz="2000" b="1" dirty="0" err="1">
                <a:solidFill>
                  <a:srgbClr val="000000"/>
                </a:solidFill>
                <a:latin typeface="Consolas" panose="020B0609020204030204" pitchFamily="49" charset="0"/>
              </a:rPr>
              <a:t>.</a:t>
            </a:r>
            <a:r>
              <a:rPr lang="pt-BR" sz="2000" b="1" dirty="0" err="1">
                <a:solidFill>
                  <a:srgbClr val="0000C0"/>
                </a:solidFill>
                <a:latin typeface="Consolas" panose="020B0609020204030204" pitchFamily="49" charset="0"/>
              </a:rPr>
              <a:t>esq</a:t>
            </a:r>
            <a:r>
              <a:rPr lang="pt-BR" sz="2000" b="1" dirty="0">
                <a:solidFill>
                  <a:srgbClr val="000000"/>
                </a:solidFill>
                <a:latin typeface="Consolas" panose="020B0609020204030204" pitchFamily="49" charset="0"/>
              </a:rPr>
              <a:t> != </a:t>
            </a:r>
            <a:r>
              <a:rPr lang="pt-BR" sz="2000" b="1" dirty="0" err="1">
                <a:solidFill>
                  <a:srgbClr val="7F0055"/>
                </a:solidFill>
                <a:latin typeface="Consolas" panose="020B0609020204030204" pitchFamily="49" charset="0"/>
              </a:rPr>
              <a:t>null</a:t>
            </a:r>
            <a:r>
              <a:rPr lang="pt-BR" sz="2000" b="1" dirty="0">
                <a:solidFill>
                  <a:srgbClr val="000000"/>
                </a:solidFill>
                <a:latin typeface="Consolas" panose="020B0609020204030204" pitchFamily="49" charset="0"/>
              </a:rPr>
              <a:t>) </a:t>
            </a:r>
          </a:p>
          <a:p>
            <a:pPr indent="536575" algn="l"/>
            <a:r>
              <a:rPr lang="pt-BR" sz="2000" i="1" dirty="0">
                <a:solidFill>
                  <a:srgbClr val="000000"/>
                </a:solidFill>
                <a:latin typeface="Consolas" panose="020B0609020204030204" pitchFamily="49" charset="0"/>
              </a:rPr>
              <a:t>		</a:t>
            </a:r>
            <a:r>
              <a:rPr lang="pt-BR" sz="2000" i="1" dirty="0" err="1">
                <a:solidFill>
                  <a:srgbClr val="000000"/>
                </a:solidFill>
                <a:latin typeface="Consolas" panose="020B0609020204030204" pitchFamily="49" charset="0"/>
              </a:rPr>
              <a:t>posOrdem</a:t>
            </a:r>
            <a:r>
              <a:rPr lang="pt-BR" sz="2000" i="1" dirty="0">
                <a:solidFill>
                  <a:srgbClr val="000000"/>
                </a:solidFill>
                <a:latin typeface="Consolas" panose="020B0609020204030204" pitchFamily="49" charset="0"/>
              </a:rPr>
              <a:t>(</a:t>
            </a:r>
            <a:r>
              <a:rPr lang="pt-BR" sz="2000" i="1" dirty="0" err="1">
                <a:solidFill>
                  <a:srgbClr val="6A3E3E"/>
                </a:solidFill>
                <a:latin typeface="Consolas" panose="020B0609020204030204" pitchFamily="49" charset="0"/>
              </a:rPr>
              <a:t>p</a:t>
            </a:r>
            <a:r>
              <a:rPr lang="pt-BR" sz="2000" i="1" dirty="0" err="1">
                <a:solidFill>
                  <a:srgbClr val="000000"/>
                </a:solidFill>
                <a:latin typeface="Consolas" panose="020B0609020204030204" pitchFamily="49" charset="0"/>
              </a:rPr>
              <a:t>.</a:t>
            </a:r>
            <a:r>
              <a:rPr lang="pt-BR" sz="2000" i="1" dirty="0" err="1">
                <a:solidFill>
                  <a:srgbClr val="0000C0"/>
                </a:solidFill>
                <a:latin typeface="Consolas" panose="020B0609020204030204" pitchFamily="49" charset="0"/>
              </a:rPr>
              <a:t>esq</a:t>
            </a:r>
            <a:r>
              <a:rPr lang="pt-BR" sz="2000" i="1" dirty="0">
                <a:solidFill>
                  <a:srgbClr val="000000"/>
                </a:solidFill>
                <a:latin typeface="Consolas" panose="020B0609020204030204" pitchFamily="49" charset="0"/>
              </a:rPr>
              <a:t>);</a:t>
            </a:r>
          </a:p>
          <a:p>
            <a:pPr indent="536575" algn="l"/>
            <a:r>
              <a:rPr lang="pt-BR" sz="2000" b="1" dirty="0">
                <a:solidFill>
                  <a:srgbClr val="7F0055"/>
                </a:solidFill>
                <a:latin typeface="Consolas" panose="020B0609020204030204" pitchFamily="49" charset="0"/>
              </a:rPr>
              <a:t>	</a:t>
            </a:r>
            <a:r>
              <a:rPr lang="pt-BR" sz="2000" b="1" dirty="0" err="1">
                <a:solidFill>
                  <a:srgbClr val="7F0055"/>
                </a:solidFill>
                <a:latin typeface="Consolas" panose="020B0609020204030204" pitchFamily="49" charset="0"/>
              </a:rPr>
              <a:t>if</a:t>
            </a:r>
            <a:r>
              <a:rPr lang="pt-BR" sz="2000" b="1" dirty="0">
                <a:solidFill>
                  <a:srgbClr val="000000"/>
                </a:solidFill>
                <a:latin typeface="Consolas" panose="020B0609020204030204" pitchFamily="49" charset="0"/>
              </a:rPr>
              <a:t> (</a:t>
            </a:r>
            <a:r>
              <a:rPr lang="pt-BR" sz="2000" b="1" dirty="0" err="1">
                <a:solidFill>
                  <a:srgbClr val="6A3E3E"/>
                </a:solidFill>
                <a:latin typeface="Consolas" panose="020B0609020204030204" pitchFamily="49" charset="0"/>
              </a:rPr>
              <a:t>p</a:t>
            </a:r>
            <a:r>
              <a:rPr lang="pt-BR" sz="2000" b="1" dirty="0" err="1">
                <a:solidFill>
                  <a:srgbClr val="000000"/>
                </a:solidFill>
                <a:latin typeface="Consolas" panose="020B0609020204030204" pitchFamily="49" charset="0"/>
              </a:rPr>
              <a:t>.</a:t>
            </a:r>
            <a:r>
              <a:rPr lang="pt-BR" sz="2000" b="1" dirty="0" err="1">
                <a:solidFill>
                  <a:srgbClr val="0000C0"/>
                </a:solidFill>
                <a:latin typeface="Consolas" panose="020B0609020204030204" pitchFamily="49" charset="0"/>
              </a:rPr>
              <a:t>dir</a:t>
            </a:r>
            <a:r>
              <a:rPr lang="pt-BR" sz="2000" b="1" dirty="0">
                <a:solidFill>
                  <a:srgbClr val="000000"/>
                </a:solidFill>
                <a:latin typeface="Consolas" panose="020B0609020204030204" pitchFamily="49" charset="0"/>
              </a:rPr>
              <a:t> != </a:t>
            </a:r>
            <a:r>
              <a:rPr lang="pt-BR" sz="2000" b="1" dirty="0" err="1">
                <a:solidFill>
                  <a:srgbClr val="7F0055"/>
                </a:solidFill>
                <a:latin typeface="Consolas" panose="020B0609020204030204" pitchFamily="49" charset="0"/>
              </a:rPr>
              <a:t>null</a:t>
            </a:r>
            <a:r>
              <a:rPr lang="pt-BR" sz="2000" b="1" dirty="0">
                <a:solidFill>
                  <a:srgbClr val="000000"/>
                </a:solidFill>
                <a:latin typeface="Consolas" panose="020B0609020204030204" pitchFamily="49" charset="0"/>
              </a:rPr>
              <a:t>)</a:t>
            </a:r>
          </a:p>
          <a:p>
            <a:pPr indent="536575" algn="l"/>
            <a:r>
              <a:rPr lang="pt-BR" sz="2000" i="1" dirty="0">
                <a:solidFill>
                  <a:srgbClr val="000000"/>
                </a:solidFill>
                <a:latin typeface="Consolas" panose="020B0609020204030204" pitchFamily="49" charset="0"/>
              </a:rPr>
              <a:t>		</a:t>
            </a:r>
            <a:r>
              <a:rPr lang="pt-BR" sz="2000" i="1" dirty="0" err="1">
                <a:solidFill>
                  <a:srgbClr val="000000"/>
                </a:solidFill>
                <a:latin typeface="Consolas" panose="020B0609020204030204" pitchFamily="49" charset="0"/>
              </a:rPr>
              <a:t>posOrdem</a:t>
            </a:r>
            <a:r>
              <a:rPr lang="pt-BR" sz="2000" i="1" dirty="0">
                <a:solidFill>
                  <a:srgbClr val="000000"/>
                </a:solidFill>
                <a:latin typeface="Consolas" panose="020B0609020204030204" pitchFamily="49" charset="0"/>
              </a:rPr>
              <a:t>(</a:t>
            </a:r>
            <a:r>
              <a:rPr lang="pt-BR" sz="2000" i="1" dirty="0" err="1">
                <a:solidFill>
                  <a:srgbClr val="6A3E3E"/>
                </a:solidFill>
                <a:latin typeface="Consolas" panose="020B0609020204030204" pitchFamily="49" charset="0"/>
              </a:rPr>
              <a:t>p</a:t>
            </a:r>
            <a:r>
              <a:rPr lang="pt-BR" sz="2000" i="1" dirty="0" err="1">
                <a:solidFill>
                  <a:srgbClr val="000000"/>
                </a:solidFill>
                <a:latin typeface="Consolas" panose="020B0609020204030204" pitchFamily="49" charset="0"/>
              </a:rPr>
              <a:t>.</a:t>
            </a:r>
            <a:r>
              <a:rPr lang="pt-BR" sz="2000" i="1" dirty="0" err="1">
                <a:solidFill>
                  <a:srgbClr val="0000C0"/>
                </a:solidFill>
                <a:latin typeface="Consolas" panose="020B0609020204030204" pitchFamily="49" charset="0"/>
              </a:rPr>
              <a:t>dir</a:t>
            </a:r>
            <a:r>
              <a:rPr lang="pt-BR" sz="2000" i="1" dirty="0">
                <a:solidFill>
                  <a:srgbClr val="000000"/>
                </a:solidFill>
                <a:latin typeface="Consolas" panose="020B0609020204030204" pitchFamily="49" charset="0"/>
              </a:rPr>
              <a:t>);</a:t>
            </a:r>
          </a:p>
          <a:p>
            <a:pPr indent="536575" algn="l"/>
            <a:r>
              <a:rPr lang="pt-BR" sz="2000" dirty="0">
                <a:solidFill>
                  <a:srgbClr val="000000"/>
                </a:solidFill>
                <a:latin typeface="Consolas" panose="020B0609020204030204" pitchFamily="49" charset="0"/>
              </a:rPr>
              <a:t>	</a:t>
            </a:r>
            <a:r>
              <a:rPr lang="pt-BR" sz="2000" dirty="0" err="1">
                <a:solidFill>
                  <a:srgbClr val="000000"/>
                </a:solidFill>
                <a:latin typeface="Consolas" panose="020B0609020204030204" pitchFamily="49" charset="0"/>
              </a:rPr>
              <a:t>System.</a:t>
            </a:r>
            <a:r>
              <a:rPr lang="pt-BR" sz="2000" b="1" i="1" dirty="0" err="1">
                <a:solidFill>
                  <a:srgbClr val="0000C0"/>
                </a:solidFill>
                <a:latin typeface="Consolas" panose="020B0609020204030204" pitchFamily="49" charset="0"/>
              </a:rPr>
              <a:t>out</a:t>
            </a:r>
            <a:r>
              <a:rPr lang="pt-BR" sz="2000" b="1" i="1" dirty="0" err="1">
                <a:solidFill>
                  <a:srgbClr val="000000"/>
                </a:solidFill>
                <a:latin typeface="Consolas" panose="020B0609020204030204" pitchFamily="49" charset="0"/>
              </a:rPr>
              <a:t>.println</a:t>
            </a:r>
            <a:r>
              <a:rPr lang="pt-BR" sz="2000" b="1" i="1" dirty="0">
                <a:solidFill>
                  <a:srgbClr val="000000"/>
                </a:solidFill>
                <a:latin typeface="Consolas" panose="020B0609020204030204" pitchFamily="49" charset="0"/>
              </a:rPr>
              <a:t>(</a:t>
            </a:r>
            <a:r>
              <a:rPr lang="pt-BR" sz="2000" b="1" i="1" dirty="0">
                <a:solidFill>
                  <a:srgbClr val="2A00FF"/>
                </a:solidFill>
                <a:latin typeface="Consolas" panose="020B0609020204030204" pitchFamily="49" charset="0"/>
              </a:rPr>
              <a:t>"dado: "</a:t>
            </a:r>
            <a:r>
              <a:rPr lang="pt-BR" sz="2000" b="1" i="1" dirty="0">
                <a:solidFill>
                  <a:srgbClr val="000000"/>
                </a:solidFill>
                <a:latin typeface="Consolas" panose="020B0609020204030204" pitchFamily="49" charset="0"/>
              </a:rPr>
              <a:t> + </a:t>
            </a:r>
            <a:r>
              <a:rPr lang="pt-BR" sz="2000" b="1" i="1" dirty="0" err="1">
                <a:solidFill>
                  <a:srgbClr val="6A3E3E"/>
                </a:solidFill>
                <a:latin typeface="Consolas" panose="020B0609020204030204" pitchFamily="49" charset="0"/>
              </a:rPr>
              <a:t>p</a:t>
            </a:r>
            <a:r>
              <a:rPr lang="pt-BR" sz="2000" b="1" i="1" dirty="0" err="1">
                <a:solidFill>
                  <a:srgbClr val="000000"/>
                </a:solidFill>
                <a:latin typeface="Consolas" panose="020B0609020204030204" pitchFamily="49" charset="0"/>
              </a:rPr>
              <a:t>.</a:t>
            </a:r>
            <a:r>
              <a:rPr lang="pt-BR" sz="2000" b="1" i="1" dirty="0" err="1">
                <a:solidFill>
                  <a:srgbClr val="0000C0"/>
                </a:solidFill>
                <a:latin typeface="Consolas" panose="020B0609020204030204" pitchFamily="49" charset="0"/>
              </a:rPr>
              <a:t>dado</a:t>
            </a:r>
            <a:r>
              <a:rPr lang="pt-BR" sz="2000" b="1" i="1" dirty="0">
                <a:solidFill>
                  <a:srgbClr val="000000"/>
                </a:solidFill>
                <a:latin typeface="Consolas" panose="020B0609020204030204" pitchFamily="49" charset="0"/>
              </a:rPr>
              <a:t>);</a:t>
            </a:r>
          </a:p>
          <a:p>
            <a:pPr indent="536575" algn="l"/>
            <a:r>
              <a:rPr lang="pt-BR" sz="2000" dirty="0">
                <a:solidFill>
                  <a:srgbClr val="000000"/>
                </a:solidFill>
                <a:latin typeface="Consolas" panose="020B0609020204030204" pitchFamily="49" charset="0"/>
              </a:rPr>
              <a:t>}</a:t>
            </a:r>
          </a:p>
          <a:p>
            <a:pPr algn="l"/>
            <a:r>
              <a:rPr lang="pt-BR" sz="2000" dirty="0">
                <a:solidFill>
                  <a:srgbClr val="000000"/>
                </a:solidFill>
                <a:latin typeface="Consolas" panose="020B0609020204030204" pitchFamily="49" charset="0"/>
              </a:rPr>
              <a:t>}</a:t>
            </a:r>
            <a:endParaRPr lang="pt-BR" sz="2000" dirty="0"/>
          </a:p>
        </p:txBody>
      </p:sp>
      <p:grpSp>
        <p:nvGrpSpPr>
          <p:cNvPr id="5" name="Agrupar 4">
            <a:extLst>
              <a:ext uri="{FF2B5EF4-FFF2-40B4-BE49-F238E27FC236}">
                <a16:creationId xmlns:a16="http://schemas.microsoft.com/office/drawing/2014/main" id="{90D100D4-2285-4687-8DAA-6F23B0C5C08E}"/>
              </a:ext>
            </a:extLst>
          </p:cNvPr>
          <p:cNvGrpSpPr/>
          <p:nvPr/>
        </p:nvGrpSpPr>
        <p:grpSpPr>
          <a:xfrm>
            <a:off x="4786037" y="3779907"/>
            <a:ext cx="3410976" cy="2941568"/>
            <a:chOff x="4876799" y="422872"/>
            <a:chExt cx="4140024" cy="4109676"/>
          </a:xfrm>
        </p:grpSpPr>
        <p:grpSp>
          <p:nvGrpSpPr>
            <p:cNvPr id="7" name="Grupo 1">
              <a:extLst>
                <a:ext uri="{FF2B5EF4-FFF2-40B4-BE49-F238E27FC236}">
                  <a16:creationId xmlns:a16="http://schemas.microsoft.com/office/drawing/2014/main" id="{9BD7A551-9886-46A2-871F-E2F827297F0D}"/>
                </a:ext>
              </a:extLst>
            </p:cNvPr>
            <p:cNvGrpSpPr/>
            <p:nvPr/>
          </p:nvGrpSpPr>
          <p:grpSpPr>
            <a:xfrm>
              <a:off x="4876799" y="2212825"/>
              <a:ext cx="1545076" cy="2319723"/>
              <a:chOff x="4914400" y="3753366"/>
              <a:chExt cx="1545076" cy="2319723"/>
            </a:xfrm>
          </p:grpSpPr>
          <p:sp>
            <p:nvSpPr>
              <p:cNvPr id="15" name="Oval 5">
                <a:extLst>
                  <a:ext uri="{FF2B5EF4-FFF2-40B4-BE49-F238E27FC236}">
                    <a16:creationId xmlns:a16="http://schemas.microsoft.com/office/drawing/2014/main" id="{5A58C42E-36AA-4877-B45C-AAA62A6BAA34}"/>
                  </a:ext>
                </a:extLst>
              </p:cNvPr>
              <p:cNvSpPr>
                <a:spLocks noChangeArrowheads="1"/>
              </p:cNvSpPr>
              <p:nvPr/>
            </p:nvSpPr>
            <p:spPr bwMode="auto">
              <a:xfrm>
                <a:off x="4914400" y="3753366"/>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23</a:t>
                </a:r>
              </a:p>
            </p:txBody>
          </p:sp>
          <p:sp>
            <p:nvSpPr>
              <p:cNvPr id="16" name="Oval 9">
                <a:extLst>
                  <a:ext uri="{FF2B5EF4-FFF2-40B4-BE49-F238E27FC236}">
                    <a16:creationId xmlns:a16="http://schemas.microsoft.com/office/drawing/2014/main" id="{EAB65545-2161-41B1-AC4D-677E7ED89B6E}"/>
                  </a:ext>
                </a:extLst>
              </p:cNvPr>
              <p:cNvSpPr>
                <a:spLocks noChangeArrowheads="1"/>
              </p:cNvSpPr>
              <p:nvPr/>
            </p:nvSpPr>
            <p:spPr bwMode="auto">
              <a:xfrm>
                <a:off x="5643448" y="5241961"/>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29</a:t>
                </a:r>
              </a:p>
            </p:txBody>
          </p:sp>
        </p:grpSp>
        <p:sp>
          <p:nvSpPr>
            <p:cNvPr id="8" name="Oval 4">
              <a:extLst>
                <a:ext uri="{FF2B5EF4-FFF2-40B4-BE49-F238E27FC236}">
                  <a16:creationId xmlns:a16="http://schemas.microsoft.com/office/drawing/2014/main" id="{94AB6EFB-0171-4A71-9C68-AE8932EC1381}"/>
                </a:ext>
              </a:extLst>
            </p:cNvPr>
            <p:cNvSpPr>
              <a:spLocks noChangeArrowheads="1"/>
            </p:cNvSpPr>
            <p:nvPr/>
          </p:nvSpPr>
          <p:spPr bwMode="auto">
            <a:xfrm>
              <a:off x="6563256" y="1044717"/>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37</a:t>
              </a:r>
            </a:p>
          </p:txBody>
        </p:sp>
        <p:sp>
          <p:nvSpPr>
            <p:cNvPr id="9" name="Oval 7">
              <a:extLst>
                <a:ext uri="{FF2B5EF4-FFF2-40B4-BE49-F238E27FC236}">
                  <a16:creationId xmlns:a16="http://schemas.microsoft.com/office/drawing/2014/main" id="{A93DD75F-5377-49B2-B43F-D9063B4788C7}"/>
                </a:ext>
              </a:extLst>
            </p:cNvPr>
            <p:cNvSpPr>
              <a:spLocks noChangeArrowheads="1"/>
            </p:cNvSpPr>
            <p:nvPr/>
          </p:nvSpPr>
          <p:spPr bwMode="auto">
            <a:xfrm>
              <a:off x="8200795" y="2212825"/>
              <a:ext cx="816028" cy="831128"/>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2400" dirty="0">
                  <a:solidFill>
                    <a:srgbClr val="000000"/>
                  </a:solidFill>
                  <a:latin typeface="Arial Narrow" pitchFamily="34" charset="0"/>
                </a:rPr>
                <a:t>42</a:t>
              </a:r>
            </a:p>
          </p:txBody>
        </p:sp>
        <p:sp>
          <p:nvSpPr>
            <p:cNvPr id="10" name="Line 31">
              <a:extLst>
                <a:ext uri="{FF2B5EF4-FFF2-40B4-BE49-F238E27FC236}">
                  <a16:creationId xmlns:a16="http://schemas.microsoft.com/office/drawing/2014/main" id="{D27499FB-41A8-448D-9920-C16020DA4C21}"/>
                </a:ext>
              </a:extLst>
            </p:cNvPr>
            <p:cNvSpPr>
              <a:spLocks noChangeShapeType="1"/>
            </p:cNvSpPr>
            <p:nvPr/>
          </p:nvSpPr>
          <p:spPr bwMode="auto">
            <a:xfrm>
              <a:off x="7379283" y="1590980"/>
              <a:ext cx="1091849" cy="621845"/>
            </a:xfrm>
            <a:prstGeom prst="line">
              <a:avLst/>
            </a:prstGeom>
            <a:noFill/>
            <a:ln w="9525">
              <a:solidFill>
                <a:schemeClr val="tx1"/>
              </a:solidFill>
              <a:miter lim="800000"/>
              <a:headEnd/>
              <a:tailEnd/>
            </a:ln>
            <a:effectLst/>
          </p:spPr>
          <p:txBody>
            <a:bodyPr wrap="none"/>
            <a:lstStyle/>
            <a:p>
              <a:endParaRPr lang="pt-BR" sz="1200"/>
            </a:p>
          </p:txBody>
        </p:sp>
        <p:cxnSp>
          <p:nvCxnSpPr>
            <p:cNvPr id="11" name="Conector de seta reta 26">
              <a:extLst>
                <a:ext uri="{FF2B5EF4-FFF2-40B4-BE49-F238E27FC236}">
                  <a16:creationId xmlns:a16="http://schemas.microsoft.com/office/drawing/2014/main" id="{B120D257-ABCB-4F71-ADA6-62F56021F9B5}"/>
                </a:ext>
              </a:extLst>
            </p:cNvPr>
            <p:cNvCxnSpPr>
              <a:endCxn id="8" idx="0"/>
            </p:cNvCxnSpPr>
            <p:nvPr/>
          </p:nvCxnSpPr>
          <p:spPr>
            <a:xfrm rot="16200000" flipH="1">
              <a:off x="6650866" y="724313"/>
              <a:ext cx="621844" cy="18963"/>
            </a:xfrm>
            <a:prstGeom prst="straightConnector1">
              <a:avLst/>
            </a:prstGeom>
            <a:ln w="28575">
              <a:solidFill>
                <a:srgbClr val="F40C0C"/>
              </a:solidFill>
              <a:tailEnd type="arrow"/>
            </a:ln>
          </p:spPr>
          <p:style>
            <a:lnRef idx="2">
              <a:schemeClr val="accent1"/>
            </a:lnRef>
            <a:fillRef idx="0">
              <a:schemeClr val="accent1"/>
            </a:fillRef>
            <a:effectRef idx="1">
              <a:schemeClr val="accent1"/>
            </a:effectRef>
            <a:fontRef idx="minor">
              <a:schemeClr val="tx1"/>
            </a:fontRef>
          </p:style>
        </p:cxnSp>
        <p:sp>
          <p:nvSpPr>
            <p:cNvPr id="12" name="CaixaDeTexto 11">
              <a:extLst>
                <a:ext uri="{FF2B5EF4-FFF2-40B4-BE49-F238E27FC236}">
                  <a16:creationId xmlns:a16="http://schemas.microsoft.com/office/drawing/2014/main" id="{97540E0E-C8E5-4C4D-B3EA-9FEA5F4BF84A}"/>
                </a:ext>
              </a:extLst>
            </p:cNvPr>
            <p:cNvSpPr txBox="1"/>
            <p:nvPr/>
          </p:nvSpPr>
          <p:spPr>
            <a:xfrm>
              <a:off x="6343564" y="422872"/>
              <a:ext cx="696474" cy="730993"/>
            </a:xfrm>
            <a:prstGeom prst="rect">
              <a:avLst/>
            </a:prstGeom>
            <a:noFill/>
          </p:spPr>
          <p:txBody>
            <a:bodyPr wrap="square" rtlCol="0">
              <a:spAutoFit/>
            </a:bodyPr>
            <a:lstStyle/>
            <a:p>
              <a:r>
                <a:rPr lang="pt-BR" sz="2800" b="1" dirty="0">
                  <a:solidFill>
                    <a:srgbClr val="FF0000"/>
                  </a:solidFill>
                </a:rPr>
                <a:t>p1</a:t>
              </a:r>
              <a:endParaRPr lang="pt-BR" b="1" dirty="0">
                <a:solidFill>
                  <a:srgbClr val="FF0000"/>
                </a:solidFill>
              </a:endParaRPr>
            </a:p>
          </p:txBody>
        </p:sp>
        <p:cxnSp>
          <p:nvCxnSpPr>
            <p:cNvPr id="13" name="Conector de seta reta 19">
              <a:extLst>
                <a:ext uri="{FF2B5EF4-FFF2-40B4-BE49-F238E27FC236}">
                  <a16:creationId xmlns:a16="http://schemas.microsoft.com/office/drawing/2014/main" id="{F2E047B0-184F-4977-B30F-1FC605CDD02D}"/>
                </a:ext>
              </a:extLst>
            </p:cNvPr>
            <p:cNvCxnSpPr>
              <a:endCxn id="15" idx="7"/>
            </p:cNvCxnSpPr>
            <p:nvPr/>
          </p:nvCxnSpPr>
          <p:spPr>
            <a:xfrm rot="10800000" flipV="1">
              <a:off x="5573323" y="1590981"/>
              <a:ext cx="989933" cy="743559"/>
            </a:xfrm>
            <a:prstGeom prst="straightConnector1">
              <a:avLst/>
            </a:prstGeom>
            <a:noFill/>
            <a:ln w="9525">
              <a:solidFill>
                <a:schemeClr val="tx1"/>
              </a:solidFill>
              <a:miter lim="800000"/>
              <a:headEnd/>
              <a:tailEnd/>
            </a:ln>
            <a:effectLst/>
          </p:spPr>
        </p:cxnSp>
        <p:sp>
          <p:nvSpPr>
            <p:cNvPr id="14" name="Line 31">
              <a:extLst>
                <a:ext uri="{FF2B5EF4-FFF2-40B4-BE49-F238E27FC236}">
                  <a16:creationId xmlns:a16="http://schemas.microsoft.com/office/drawing/2014/main" id="{E7D215D4-2556-4D54-B874-DC8F6338600E}"/>
                </a:ext>
              </a:extLst>
            </p:cNvPr>
            <p:cNvSpPr>
              <a:spLocks noChangeShapeType="1"/>
            </p:cNvSpPr>
            <p:nvPr/>
          </p:nvSpPr>
          <p:spPr bwMode="auto">
            <a:xfrm>
              <a:off x="5471408" y="2989061"/>
              <a:ext cx="570164" cy="712359"/>
            </a:xfrm>
            <a:prstGeom prst="line">
              <a:avLst/>
            </a:prstGeom>
            <a:noFill/>
            <a:ln w="9525">
              <a:solidFill>
                <a:schemeClr val="tx1"/>
              </a:solidFill>
              <a:miter lim="800000"/>
              <a:headEnd/>
              <a:tailEnd/>
            </a:ln>
            <a:effectLst/>
          </p:spPr>
          <p:txBody>
            <a:bodyPr wrap="none"/>
            <a:lstStyle/>
            <a:p>
              <a:endParaRPr lang="pt-BR" sz="1200"/>
            </a:p>
          </p:txBody>
        </p:sp>
      </p:grpSp>
      <p:sp>
        <p:nvSpPr>
          <p:cNvPr id="4" name="CaixaDeTexto 3">
            <a:extLst>
              <a:ext uri="{FF2B5EF4-FFF2-40B4-BE49-F238E27FC236}">
                <a16:creationId xmlns:a16="http://schemas.microsoft.com/office/drawing/2014/main" id="{9AF51D6C-3399-4F2B-9715-B0AF7C7754EF}"/>
              </a:ext>
            </a:extLst>
          </p:cNvPr>
          <p:cNvSpPr txBox="1"/>
          <p:nvPr/>
        </p:nvSpPr>
        <p:spPr>
          <a:xfrm>
            <a:off x="457200" y="5317362"/>
            <a:ext cx="3451123" cy="369332"/>
          </a:xfrm>
          <a:prstGeom prst="rect">
            <a:avLst/>
          </a:prstGeom>
          <a:noFill/>
        </p:spPr>
        <p:txBody>
          <a:bodyPr wrap="square" rtlCol="0">
            <a:spAutoFit/>
          </a:bodyPr>
          <a:lstStyle/>
          <a:p>
            <a:r>
              <a:rPr lang="pt-BR" dirty="0"/>
              <a:t>29  23  42  37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pt-BR" sz="3600"/>
              <a:t>Árvores Binárias – Exercício: Percurso</a:t>
            </a:r>
          </a:p>
        </p:txBody>
      </p:sp>
      <p:sp>
        <p:nvSpPr>
          <p:cNvPr id="50182" name="Line 6"/>
          <p:cNvSpPr>
            <a:spLocks noChangeShapeType="1"/>
          </p:cNvSpPr>
          <p:nvPr/>
        </p:nvSpPr>
        <p:spPr bwMode="auto">
          <a:xfrm flipH="1">
            <a:off x="2667000" y="2213551"/>
            <a:ext cx="1600200" cy="834450"/>
          </a:xfrm>
          <a:prstGeom prst="line">
            <a:avLst/>
          </a:prstGeom>
          <a:noFill/>
          <a:ln w="9525">
            <a:solidFill>
              <a:schemeClr val="tx1"/>
            </a:solidFill>
            <a:miter lim="800000"/>
            <a:headEnd/>
            <a:tailEnd/>
          </a:ln>
          <a:effectLst/>
        </p:spPr>
        <p:txBody>
          <a:bodyPr wrap="none"/>
          <a:lstStyle/>
          <a:p>
            <a:endParaRPr lang="pt-BR"/>
          </a:p>
        </p:txBody>
      </p:sp>
      <p:sp>
        <p:nvSpPr>
          <p:cNvPr id="50183" name="Line 7"/>
          <p:cNvSpPr>
            <a:spLocks noChangeShapeType="1"/>
          </p:cNvSpPr>
          <p:nvPr/>
        </p:nvSpPr>
        <p:spPr bwMode="auto">
          <a:xfrm>
            <a:off x="4916086" y="2213550"/>
            <a:ext cx="1524000" cy="720725"/>
          </a:xfrm>
          <a:prstGeom prst="line">
            <a:avLst/>
          </a:prstGeom>
          <a:noFill/>
          <a:ln w="9525">
            <a:solidFill>
              <a:schemeClr val="tx1"/>
            </a:solidFill>
            <a:miter lim="800000"/>
            <a:headEnd/>
            <a:tailEnd/>
          </a:ln>
          <a:effectLst/>
        </p:spPr>
        <p:txBody>
          <a:bodyPr wrap="none"/>
          <a:lstStyle/>
          <a:p>
            <a:endParaRPr lang="pt-BR"/>
          </a:p>
        </p:txBody>
      </p:sp>
      <p:sp>
        <p:nvSpPr>
          <p:cNvPr id="50184" name="Line 8"/>
          <p:cNvSpPr>
            <a:spLocks noChangeShapeType="1"/>
          </p:cNvSpPr>
          <p:nvPr/>
        </p:nvSpPr>
        <p:spPr bwMode="auto">
          <a:xfrm flipH="1">
            <a:off x="1593850" y="3276600"/>
            <a:ext cx="914400" cy="838200"/>
          </a:xfrm>
          <a:prstGeom prst="line">
            <a:avLst/>
          </a:prstGeom>
          <a:noFill/>
          <a:ln w="9525">
            <a:solidFill>
              <a:schemeClr val="tx1"/>
            </a:solidFill>
            <a:miter lim="800000"/>
            <a:headEnd/>
            <a:tailEnd/>
          </a:ln>
          <a:effectLst/>
        </p:spPr>
        <p:txBody>
          <a:bodyPr wrap="none"/>
          <a:lstStyle/>
          <a:p>
            <a:endParaRPr lang="pt-BR"/>
          </a:p>
        </p:txBody>
      </p:sp>
      <p:sp>
        <p:nvSpPr>
          <p:cNvPr id="50185" name="Line 9"/>
          <p:cNvSpPr>
            <a:spLocks noChangeShapeType="1"/>
          </p:cNvSpPr>
          <p:nvPr/>
        </p:nvSpPr>
        <p:spPr bwMode="auto">
          <a:xfrm>
            <a:off x="1147763" y="4367213"/>
            <a:ext cx="1066800" cy="914400"/>
          </a:xfrm>
          <a:prstGeom prst="line">
            <a:avLst/>
          </a:prstGeom>
          <a:noFill/>
          <a:ln w="9525">
            <a:solidFill>
              <a:schemeClr val="tx1"/>
            </a:solidFill>
            <a:miter lim="800000"/>
            <a:headEnd/>
            <a:tailEnd/>
          </a:ln>
          <a:effectLst/>
        </p:spPr>
        <p:txBody>
          <a:bodyPr wrap="none"/>
          <a:lstStyle/>
          <a:p>
            <a:endParaRPr lang="pt-BR"/>
          </a:p>
        </p:txBody>
      </p:sp>
      <p:sp>
        <p:nvSpPr>
          <p:cNvPr id="50186" name="Oval 10"/>
          <p:cNvSpPr>
            <a:spLocks noChangeArrowheads="1"/>
          </p:cNvSpPr>
          <p:nvPr/>
        </p:nvSpPr>
        <p:spPr bwMode="auto">
          <a:xfrm>
            <a:off x="1030288" y="4033838"/>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C</a:t>
            </a:r>
          </a:p>
        </p:txBody>
      </p:sp>
      <p:sp>
        <p:nvSpPr>
          <p:cNvPr id="50188" name="Line 12"/>
          <p:cNvSpPr>
            <a:spLocks noChangeShapeType="1"/>
          </p:cNvSpPr>
          <p:nvPr/>
        </p:nvSpPr>
        <p:spPr bwMode="auto">
          <a:xfrm>
            <a:off x="7010400" y="3352801"/>
            <a:ext cx="492126" cy="681038"/>
          </a:xfrm>
          <a:prstGeom prst="line">
            <a:avLst/>
          </a:prstGeom>
          <a:noFill/>
          <a:ln w="9525">
            <a:solidFill>
              <a:schemeClr val="tx1"/>
            </a:solidFill>
            <a:miter lim="800000"/>
            <a:headEnd/>
            <a:tailEnd/>
          </a:ln>
          <a:effectLst/>
        </p:spPr>
        <p:txBody>
          <a:bodyPr wrap="none"/>
          <a:lstStyle/>
          <a:p>
            <a:endParaRPr lang="pt-BR"/>
          </a:p>
        </p:txBody>
      </p:sp>
      <p:sp>
        <p:nvSpPr>
          <p:cNvPr id="50190" name="Oval 14"/>
          <p:cNvSpPr>
            <a:spLocks noChangeArrowheads="1"/>
          </p:cNvSpPr>
          <p:nvPr/>
        </p:nvSpPr>
        <p:spPr bwMode="auto">
          <a:xfrm>
            <a:off x="1593850" y="50292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B</a:t>
            </a:r>
          </a:p>
        </p:txBody>
      </p:sp>
      <p:sp>
        <p:nvSpPr>
          <p:cNvPr id="50191" name="Oval 15"/>
          <p:cNvSpPr>
            <a:spLocks noChangeArrowheads="1"/>
          </p:cNvSpPr>
          <p:nvPr/>
        </p:nvSpPr>
        <p:spPr bwMode="auto">
          <a:xfrm>
            <a:off x="4267200" y="17526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F</a:t>
            </a:r>
          </a:p>
        </p:txBody>
      </p:sp>
      <p:sp>
        <p:nvSpPr>
          <p:cNvPr id="50192" name="Oval 16"/>
          <p:cNvSpPr>
            <a:spLocks noChangeArrowheads="1"/>
          </p:cNvSpPr>
          <p:nvPr/>
        </p:nvSpPr>
        <p:spPr bwMode="auto">
          <a:xfrm>
            <a:off x="2238375" y="28829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A</a:t>
            </a:r>
          </a:p>
        </p:txBody>
      </p:sp>
      <p:sp>
        <p:nvSpPr>
          <p:cNvPr id="50193" name="Oval 17"/>
          <p:cNvSpPr>
            <a:spLocks noChangeArrowheads="1"/>
          </p:cNvSpPr>
          <p:nvPr/>
        </p:nvSpPr>
        <p:spPr bwMode="auto">
          <a:xfrm>
            <a:off x="6248400" y="27432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H</a:t>
            </a:r>
          </a:p>
        </p:txBody>
      </p:sp>
      <p:sp>
        <p:nvSpPr>
          <p:cNvPr id="50194" name="Line 18"/>
          <p:cNvSpPr>
            <a:spLocks noChangeShapeType="1"/>
          </p:cNvSpPr>
          <p:nvPr/>
        </p:nvSpPr>
        <p:spPr bwMode="auto">
          <a:xfrm flipH="1">
            <a:off x="6588125" y="4391025"/>
            <a:ext cx="914400" cy="838200"/>
          </a:xfrm>
          <a:prstGeom prst="line">
            <a:avLst/>
          </a:prstGeom>
          <a:noFill/>
          <a:ln w="9525">
            <a:solidFill>
              <a:schemeClr val="tx1"/>
            </a:solidFill>
            <a:miter lim="800000"/>
            <a:headEnd/>
            <a:tailEnd/>
          </a:ln>
          <a:effectLst/>
        </p:spPr>
        <p:txBody>
          <a:bodyPr wrap="none"/>
          <a:lstStyle/>
          <a:p>
            <a:endParaRPr lang="pt-BR"/>
          </a:p>
        </p:txBody>
      </p:sp>
      <p:sp>
        <p:nvSpPr>
          <p:cNvPr id="50196" name="Oval 20"/>
          <p:cNvSpPr>
            <a:spLocks noChangeArrowheads="1"/>
          </p:cNvSpPr>
          <p:nvPr/>
        </p:nvSpPr>
        <p:spPr bwMode="auto">
          <a:xfrm>
            <a:off x="6310313" y="5018088"/>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K</a:t>
            </a:r>
          </a:p>
        </p:txBody>
      </p:sp>
      <p:sp>
        <p:nvSpPr>
          <p:cNvPr id="50205" name="Line 29"/>
          <p:cNvSpPr>
            <a:spLocks noChangeShapeType="1"/>
          </p:cNvSpPr>
          <p:nvPr/>
        </p:nvSpPr>
        <p:spPr bwMode="auto">
          <a:xfrm flipV="1">
            <a:off x="6053138" y="3352800"/>
            <a:ext cx="304800" cy="304800"/>
          </a:xfrm>
          <a:prstGeom prst="line">
            <a:avLst/>
          </a:prstGeom>
          <a:noFill/>
          <a:ln w="9525">
            <a:solidFill>
              <a:schemeClr val="tx1"/>
            </a:solidFill>
            <a:miter lim="800000"/>
            <a:headEnd/>
            <a:tailEnd/>
          </a:ln>
          <a:effectLst/>
        </p:spPr>
        <p:txBody>
          <a:bodyPr wrap="none"/>
          <a:lstStyle/>
          <a:p>
            <a:endParaRPr lang="pt-BR"/>
          </a:p>
        </p:txBody>
      </p:sp>
      <p:sp>
        <p:nvSpPr>
          <p:cNvPr id="50207" name="Oval 31"/>
          <p:cNvSpPr>
            <a:spLocks noChangeArrowheads="1"/>
          </p:cNvSpPr>
          <p:nvPr/>
        </p:nvSpPr>
        <p:spPr bwMode="auto">
          <a:xfrm>
            <a:off x="3159125" y="3976688"/>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D</a:t>
            </a:r>
          </a:p>
        </p:txBody>
      </p:sp>
      <p:sp>
        <p:nvSpPr>
          <p:cNvPr id="50208" name="Oval 32"/>
          <p:cNvSpPr>
            <a:spLocks noChangeArrowheads="1"/>
          </p:cNvSpPr>
          <p:nvPr/>
        </p:nvSpPr>
        <p:spPr bwMode="auto">
          <a:xfrm>
            <a:off x="5394325" y="3505200"/>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G</a:t>
            </a:r>
          </a:p>
        </p:txBody>
      </p:sp>
      <p:sp>
        <p:nvSpPr>
          <p:cNvPr id="50209" name="Line 33"/>
          <p:cNvSpPr>
            <a:spLocks noChangeShapeType="1"/>
          </p:cNvSpPr>
          <p:nvPr/>
        </p:nvSpPr>
        <p:spPr bwMode="auto">
          <a:xfrm>
            <a:off x="2925763" y="3505200"/>
            <a:ext cx="457200" cy="457200"/>
          </a:xfrm>
          <a:prstGeom prst="line">
            <a:avLst/>
          </a:prstGeom>
          <a:noFill/>
          <a:ln w="9525">
            <a:solidFill>
              <a:schemeClr val="tx1"/>
            </a:solidFill>
            <a:miter lim="800000"/>
            <a:headEnd/>
            <a:tailEnd/>
          </a:ln>
          <a:effectLst/>
        </p:spPr>
        <p:txBody>
          <a:bodyPr wrap="none"/>
          <a:lstStyle/>
          <a:p>
            <a:endParaRPr lang="pt-BR"/>
          </a:p>
        </p:txBody>
      </p:sp>
      <p:sp>
        <p:nvSpPr>
          <p:cNvPr id="50210" name="Oval 34"/>
          <p:cNvSpPr>
            <a:spLocks noChangeArrowheads="1"/>
          </p:cNvSpPr>
          <p:nvPr/>
        </p:nvSpPr>
        <p:spPr bwMode="auto">
          <a:xfrm>
            <a:off x="7162800" y="4033838"/>
            <a:ext cx="762000" cy="762000"/>
          </a:xfrm>
          <a:prstGeom prst="ellipse">
            <a:avLst/>
          </a:prstGeom>
          <a:solidFill>
            <a:schemeClr val="accent1"/>
          </a:solidFill>
          <a:ln w="9525">
            <a:solidFill>
              <a:schemeClr val="tx1"/>
            </a:solidFill>
            <a:miter lim="800000"/>
            <a:headEnd/>
            <a:tailEnd/>
          </a:ln>
          <a:effectLst/>
        </p:spPr>
        <p:txBody>
          <a:bodyPr wrap="none" anchor="ctr"/>
          <a:lstStyle/>
          <a:p>
            <a:pPr algn="ctr"/>
            <a:r>
              <a:rPr kumimoji="1" lang="pt-BR" sz="3600" dirty="0">
                <a:solidFill>
                  <a:srgbClr val="000000"/>
                </a:solidFill>
                <a:latin typeface="Arial Narrow" pitchFamily="34" charset="0"/>
              </a:rPr>
              <a:t>J</a:t>
            </a:r>
          </a:p>
        </p:txBody>
      </p:sp>
      <p:sp>
        <p:nvSpPr>
          <p:cNvPr id="50211" name="Text Box 35"/>
          <p:cNvSpPr txBox="1">
            <a:spLocks noChangeArrowheads="1"/>
          </p:cNvSpPr>
          <p:nvPr/>
        </p:nvSpPr>
        <p:spPr bwMode="auto">
          <a:xfrm>
            <a:off x="611188" y="1484313"/>
            <a:ext cx="1925637" cy="579437"/>
          </a:xfrm>
          <a:prstGeom prst="rect">
            <a:avLst/>
          </a:prstGeom>
          <a:noFill/>
          <a:ln w="9525">
            <a:noFill/>
            <a:miter lim="800000"/>
            <a:headEnd/>
            <a:tailEnd/>
          </a:ln>
          <a:effectLst/>
        </p:spPr>
        <p:txBody>
          <a:bodyPr wrap="none">
            <a:spAutoFit/>
          </a:bodyPr>
          <a:lstStyle/>
          <a:p>
            <a:r>
              <a:rPr kumimoji="1" lang="pt-BR" sz="3200">
                <a:solidFill>
                  <a:srgbClr val="000099"/>
                </a:solidFill>
                <a:latin typeface="Arial Narrow" pitchFamily="34" charset="0"/>
              </a:rPr>
              <a:t>Pré-Ordem:</a:t>
            </a:r>
          </a:p>
        </p:txBody>
      </p:sp>
      <p:sp>
        <p:nvSpPr>
          <p:cNvPr id="50212" name="Text Box 36"/>
          <p:cNvSpPr txBox="1">
            <a:spLocks noChangeArrowheads="1"/>
          </p:cNvSpPr>
          <p:nvPr/>
        </p:nvSpPr>
        <p:spPr bwMode="auto">
          <a:xfrm>
            <a:off x="838200" y="5943600"/>
            <a:ext cx="1887538" cy="579438"/>
          </a:xfrm>
          <a:prstGeom prst="rect">
            <a:avLst/>
          </a:prstGeom>
          <a:noFill/>
          <a:ln w="9525">
            <a:noFill/>
            <a:miter lim="800000"/>
            <a:headEnd/>
            <a:tailEnd/>
          </a:ln>
          <a:effectLst/>
        </p:spPr>
        <p:txBody>
          <a:bodyPr wrap="none">
            <a:spAutoFit/>
          </a:bodyPr>
          <a:lstStyle/>
          <a:p>
            <a:r>
              <a:rPr kumimoji="1" lang="pt-BR" sz="3200">
                <a:solidFill>
                  <a:srgbClr val="000099"/>
                </a:solidFill>
                <a:latin typeface="Arial Narrow" pitchFamily="34" charset="0"/>
              </a:rPr>
              <a:t>Em Ordem:</a:t>
            </a:r>
          </a:p>
        </p:txBody>
      </p:sp>
      <p:sp>
        <p:nvSpPr>
          <p:cNvPr id="50213" name="Text Box 37"/>
          <p:cNvSpPr txBox="1">
            <a:spLocks noChangeArrowheads="1"/>
          </p:cNvSpPr>
          <p:nvPr/>
        </p:nvSpPr>
        <p:spPr bwMode="auto">
          <a:xfrm>
            <a:off x="7162800" y="1341438"/>
            <a:ext cx="1981200" cy="579437"/>
          </a:xfrm>
          <a:prstGeom prst="rect">
            <a:avLst/>
          </a:prstGeom>
          <a:noFill/>
          <a:ln w="9525">
            <a:noFill/>
            <a:miter lim="800000"/>
            <a:headEnd/>
            <a:tailEnd/>
          </a:ln>
          <a:effectLst/>
        </p:spPr>
        <p:txBody>
          <a:bodyPr wrap="none">
            <a:spAutoFit/>
          </a:bodyPr>
          <a:lstStyle/>
          <a:p>
            <a:r>
              <a:rPr kumimoji="1" lang="pt-BR" sz="3200" dirty="0">
                <a:solidFill>
                  <a:srgbClr val="000099"/>
                </a:solidFill>
                <a:latin typeface="Arial Narrow" pitchFamily="34" charset="0"/>
              </a:rPr>
              <a:t>Pós-Ordem:</a:t>
            </a:r>
          </a:p>
        </p:txBody>
      </p:sp>
      <p:sp>
        <p:nvSpPr>
          <p:cNvPr id="50215" name="Text Box 39"/>
          <p:cNvSpPr txBox="1">
            <a:spLocks noChangeArrowheads="1"/>
          </p:cNvSpPr>
          <p:nvPr/>
        </p:nvSpPr>
        <p:spPr bwMode="auto">
          <a:xfrm>
            <a:off x="395288" y="1989138"/>
            <a:ext cx="2205219" cy="584775"/>
          </a:xfrm>
          <a:prstGeom prst="rect">
            <a:avLst/>
          </a:prstGeom>
          <a:noFill/>
          <a:ln w="9525">
            <a:noFill/>
            <a:miter lim="800000"/>
            <a:headEnd/>
            <a:tailEnd/>
          </a:ln>
          <a:effectLst/>
        </p:spPr>
        <p:txBody>
          <a:bodyPr wrap="none">
            <a:spAutoFit/>
          </a:bodyPr>
          <a:lstStyle/>
          <a:p>
            <a:r>
              <a:rPr kumimoji="1" lang="pt-BR" sz="3200" dirty="0">
                <a:solidFill>
                  <a:schemeClr val="accent2"/>
                </a:solidFill>
                <a:latin typeface="Arial Narrow" pitchFamily="34" charset="0"/>
              </a:rPr>
              <a:t>FACBDHGJK</a:t>
            </a:r>
          </a:p>
        </p:txBody>
      </p:sp>
      <p:sp>
        <p:nvSpPr>
          <p:cNvPr id="50216" name="Text Box 40"/>
          <p:cNvSpPr txBox="1">
            <a:spLocks noChangeArrowheads="1"/>
          </p:cNvSpPr>
          <p:nvPr/>
        </p:nvSpPr>
        <p:spPr bwMode="auto">
          <a:xfrm>
            <a:off x="2692400" y="5943600"/>
            <a:ext cx="2223686" cy="584775"/>
          </a:xfrm>
          <a:prstGeom prst="rect">
            <a:avLst/>
          </a:prstGeom>
          <a:noFill/>
          <a:ln w="9525">
            <a:noFill/>
            <a:miter lim="800000"/>
            <a:headEnd/>
            <a:tailEnd/>
          </a:ln>
          <a:effectLst/>
        </p:spPr>
        <p:txBody>
          <a:bodyPr wrap="none">
            <a:spAutoFit/>
          </a:bodyPr>
          <a:lstStyle/>
          <a:p>
            <a:r>
              <a:rPr kumimoji="1" lang="pt-BR" sz="3200" dirty="0">
                <a:solidFill>
                  <a:schemeClr val="accent2"/>
                </a:solidFill>
                <a:latin typeface="Arial Narrow" pitchFamily="34" charset="0"/>
              </a:rPr>
              <a:t>CBADFGHKJ</a:t>
            </a:r>
          </a:p>
        </p:txBody>
      </p:sp>
      <p:sp>
        <p:nvSpPr>
          <p:cNvPr id="50217" name="Text Box 41"/>
          <p:cNvSpPr txBox="1">
            <a:spLocks noChangeArrowheads="1"/>
          </p:cNvSpPr>
          <p:nvPr/>
        </p:nvSpPr>
        <p:spPr bwMode="auto">
          <a:xfrm>
            <a:off x="6812957" y="1916113"/>
            <a:ext cx="2223686" cy="584775"/>
          </a:xfrm>
          <a:prstGeom prst="rect">
            <a:avLst/>
          </a:prstGeom>
          <a:noFill/>
          <a:ln w="9525">
            <a:noFill/>
            <a:miter lim="800000"/>
            <a:headEnd/>
            <a:tailEnd/>
          </a:ln>
          <a:effectLst/>
        </p:spPr>
        <p:txBody>
          <a:bodyPr wrap="none">
            <a:spAutoFit/>
          </a:bodyPr>
          <a:lstStyle/>
          <a:p>
            <a:r>
              <a:rPr kumimoji="1" lang="pt-BR" sz="3200" dirty="0">
                <a:solidFill>
                  <a:schemeClr val="accent2"/>
                </a:solidFill>
                <a:latin typeface="Arial Narrow" pitchFamily="34" charset="0"/>
              </a:rPr>
              <a:t>BCDAGKJHF</a:t>
            </a:r>
          </a:p>
        </p:txBody>
      </p:sp>
      <p:sp>
        <p:nvSpPr>
          <p:cNvPr id="32" name="Espaço Reservado para Número de Slide 31"/>
          <p:cNvSpPr>
            <a:spLocks noGrp="1"/>
          </p:cNvSpPr>
          <p:nvPr>
            <p:ph type="sldNum" sz="quarter" idx="11"/>
          </p:nvPr>
        </p:nvSpPr>
        <p:spPr/>
        <p:txBody>
          <a:bodyPr/>
          <a:lstStyle/>
          <a:p>
            <a:fld id="{0DBB9FE3-D63C-4A40-B010-4651D12E128D}" type="slidenum">
              <a:rPr lang="pt-BR" smtClean="0"/>
              <a:pPr/>
              <a:t>51</a:t>
            </a:fld>
            <a:endParaRPr lang="pt-B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0215"/>
                                        </p:tgtEl>
                                        <p:attrNameLst>
                                          <p:attrName>style.visibility</p:attrName>
                                        </p:attrNameLst>
                                      </p:cBhvr>
                                      <p:to>
                                        <p:strVal val="visible"/>
                                      </p:to>
                                    </p:set>
                                    <p:animEffect transition="in" filter="slide(fromBottom)">
                                      <p:cBhvr>
                                        <p:cTn id="7" dur="500"/>
                                        <p:tgtEl>
                                          <p:spTgt spid="5021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0216"/>
                                        </p:tgtEl>
                                        <p:attrNameLst>
                                          <p:attrName>style.visibility</p:attrName>
                                        </p:attrNameLst>
                                      </p:cBhvr>
                                      <p:to>
                                        <p:strVal val="visible"/>
                                      </p:to>
                                    </p:set>
                                    <p:animEffect transition="in" filter="slide(fromBottom)">
                                      <p:cBhvr>
                                        <p:cTn id="12" dur="500"/>
                                        <p:tgtEl>
                                          <p:spTgt spid="502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0217"/>
                                        </p:tgtEl>
                                        <p:attrNameLst>
                                          <p:attrName>style.visibility</p:attrName>
                                        </p:attrNameLst>
                                      </p:cBhvr>
                                      <p:to>
                                        <p:strVal val="visible"/>
                                      </p:to>
                                    </p:set>
                                    <p:animEffect transition="in" filter="slide(fromBottom)">
                                      <p:cBhvr>
                                        <p:cTn id="17" dur="500"/>
                                        <p:tgtEl>
                                          <p:spTgt spid="50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15" grpId="0" autoUpdateAnimBg="0"/>
      <p:bldP spid="50216" grpId="0" autoUpdateAnimBg="0"/>
      <p:bldP spid="50217"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Espaço Reservado para Texto 5"/>
          <p:cNvSpPr>
            <a:spLocks noGrp="1"/>
          </p:cNvSpPr>
          <p:nvPr>
            <p:ph type="body" sz="quarter" idx="13"/>
          </p:nvPr>
        </p:nvSpPr>
        <p:spPr/>
        <p:txBody>
          <a:bodyPr/>
          <a:lstStyle/>
          <a:p>
            <a:r>
              <a:rPr lang="pt-BR" cap="all" dirty="0" err="1"/>
              <a:t>Tenenbaum</a:t>
            </a:r>
            <a:r>
              <a:rPr lang="pt-BR" cap="all" dirty="0"/>
              <a:t>, </a:t>
            </a:r>
            <a:r>
              <a:rPr lang="pt-BR" cap="all" dirty="0" err="1"/>
              <a:t>A.M.</a:t>
            </a:r>
            <a:r>
              <a:rPr lang="pt-BR" cap="all" dirty="0"/>
              <a:t> e </a:t>
            </a:r>
            <a:r>
              <a:rPr lang="pt-BR" dirty="0"/>
              <a:t>outros - </a:t>
            </a:r>
            <a:r>
              <a:rPr lang="pt-BR" b="1" dirty="0"/>
              <a:t>Estruturas de Dados usando C</a:t>
            </a:r>
            <a:r>
              <a:rPr lang="pt-BR" dirty="0"/>
              <a:t>. </a:t>
            </a:r>
            <a:r>
              <a:rPr lang="pt-BR" dirty="0" err="1"/>
              <a:t>Makron</a:t>
            </a:r>
            <a:r>
              <a:rPr lang="pt-BR" dirty="0"/>
              <a:t> Books do Brasil Editora </a:t>
            </a:r>
            <a:r>
              <a:rPr lang="pt-BR" dirty="0" err="1"/>
              <a:t>Ltda</a:t>
            </a:r>
            <a:r>
              <a:rPr lang="pt-BR" dirty="0"/>
              <a:t>, SP.</a:t>
            </a:r>
          </a:p>
          <a:p>
            <a:r>
              <a:rPr lang="pt-BR" dirty="0"/>
              <a:t>PEREIRA, S. L. </a:t>
            </a:r>
            <a:r>
              <a:rPr lang="pt-BR" b="1" dirty="0"/>
              <a:t>Estrutura de Dados Fundamentais. </a:t>
            </a:r>
            <a:r>
              <a:rPr lang="pt-BR" dirty="0"/>
              <a:t>São Paulo: Érica.</a:t>
            </a:r>
          </a:p>
          <a:p>
            <a:r>
              <a:rPr lang="pt-BR" cap="all" dirty="0"/>
              <a:t>FORBELLONE, </a:t>
            </a:r>
            <a:r>
              <a:rPr lang="pt-BR" cap="all" dirty="0" err="1"/>
              <a:t>A.L.V.</a:t>
            </a:r>
            <a:r>
              <a:rPr lang="pt-BR" cap="all" dirty="0"/>
              <a:t> &amp; EBERSPÄCHER, </a:t>
            </a:r>
            <a:r>
              <a:rPr lang="pt-BR" cap="all" dirty="0" err="1"/>
              <a:t>H.F.</a:t>
            </a:r>
            <a:r>
              <a:rPr lang="pt-BR" cap="all" dirty="0"/>
              <a:t> – </a:t>
            </a:r>
            <a:r>
              <a:rPr lang="pt-BR" b="1" dirty="0"/>
              <a:t>Lógica de Programação: A Construção de Algoritmos e Estruturas de Dados.</a:t>
            </a:r>
            <a:r>
              <a:rPr lang="pt-BR" dirty="0"/>
              <a:t> </a:t>
            </a:r>
            <a:r>
              <a:rPr lang="pt-BR" dirty="0" err="1"/>
              <a:t>Makron</a:t>
            </a:r>
            <a:r>
              <a:rPr lang="pt-BR" dirty="0"/>
              <a:t> Books, São Paulo, SP</a:t>
            </a:r>
          </a:p>
          <a:p>
            <a:r>
              <a:rPr lang="pt-BR" dirty="0"/>
              <a:t>ASCENCIO,</a:t>
            </a:r>
            <a:r>
              <a:rPr lang="pt-BR" dirty="0" err="1"/>
              <a:t>A.F.</a:t>
            </a:r>
            <a:r>
              <a:rPr lang="pt-BR" dirty="0"/>
              <a:t>G e ARAÚJO, </a:t>
            </a:r>
            <a:r>
              <a:rPr lang="pt-BR" dirty="0" err="1"/>
              <a:t>G.S.</a:t>
            </a:r>
            <a:r>
              <a:rPr lang="pt-BR" dirty="0"/>
              <a:t> – Estruturas de Dados: Algoritmos, Análise da Complexidade e Implementação em JAVA e C/C++</a:t>
            </a:r>
          </a:p>
          <a:p>
            <a:pPr>
              <a:buNone/>
            </a:pPr>
            <a:endParaRPr lang="pt-BR" dirty="0"/>
          </a:p>
        </p:txBody>
      </p:sp>
    </p:spTree>
    <p:extLst>
      <p:ext uri="{BB962C8B-B14F-4D97-AF65-F5344CB8AC3E}">
        <p14:creationId xmlns:p14="http://schemas.microsoft.com/office/powerpoint/2010/main" val="22272663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0265D"/>
        </a:solidFill>
        <a:effectLst/>
      </p:bgPr>
    </p:bg>
    <p:spTree>
      <p:nvGrpSpPr>
        <p:cNvPr id="1" name=""/>
        <p:cNvGrpSpPr/>
        <p:nvPr/>
      </p:nvGrpSpPr>
      <p:grpSpPr>
        <a:xfrm>
          <a:off x="0" y="0"/>
          <a:ext cx="0" cy="0"/>
          <a:chOff x="0" y="0"/>
          <a:chExt cx="0" cy="0"/>
        </a:xfrm>
      </p:grpSpPr>
      <p:sp>
        <p:nvSpPr>
          <p:cNvPr id="3" name="Rectangle 2"/>
          <p:cNvSpPr/>
          <p:nvPr/>
        </p:nvSpPr>
        <p:spPr>
          <a:xfrm>
            <a:off x="0" y="2580640"/>
            <a:ext cx="9144000" cy="2824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1026"/>
          <p:cNvSpPr>
            <a:spLocks noChangeArrowheads="1"/>
          </p:cNvSpPr>
          <p:nvPr/>
        </p:nvSpPr>
        <p:spPr bwMode="auto">
          <a:xfrm>
            <a:off x="1053372" y="3222882"/>
            <a:ext cx="7759752" cy="1939635"/>
          </a:xfrm>
          <a:prstGeom prst="rect">
            <a:avLst/>
          </a:prstGeom>
          <a:noFill/>
          <a:ln w="9525">
            <a:noFill/>
            <a:miter lim="800000"/>
            <a:headEnd/>
            <a:tailEnd/>
          </a:ln>
        </p:spPr>
        <p:txBody>
          <a:bodyPr wrap="square" lIns="92075" tIns="46038" rIns="92075" bIns="46038">
            <a:spAutoFit/>
          </a:bodyPr>
          <a:lstStyle/>
          <a:p>
            <a:pPr>
              <a:defRPr/>
            </a:pPr>
            <a:r>
              <a:rPr kumimoji="1" lang="pt-BR" sz="2000" dirty="0">
                <a:solidFill>
                  <a:schemeClr val="bg1"/>
                </a:solidFill>
                <a:latin typeface="Gotham-Bold"/>
                <a:cs typeface="Gotham-Bold"/>
              </a:rPr>
              <a:t>Copyright </a:t>
            </a:r>
            <a:r>
              <a:rPr kumimoji="1" lang="pt-BR" sz="2000">
                <a:solidFill>
                  <a:schemeClr val="bg1"/>
                </a:solidFill>
                <a:latin typeface="Gotham-Bold"/>
                <a:cs typeface="Gotham-Bold"/>
              </a:rPr>
              <a:t>© 2023</a:t>
            </a:r>
            <a:endParaRPr kumimoji="1" lang="pt-BR" sz="2000" dirty="0">
              <a:solidFill>
                <a:schemeClr val="bg1"/>
              </a:solidFill>
              <a:latin typeface="Gotham-Bold"/>
              <a:cs typeface="Gotham-Bold"/>
            </a:endParaRPr>
          </a:p>
          <a:p>
            <a:pPr>
              <a:defRPr/>
            </a:pPr>
            <a:r>
              <a:rPr kumimoji="1" lang="pt-BR" sz="2000" dirty="0" err="1">
                <a:solidFill>
                  <a:schemeClr val="bg1"/>
                </a:solidFill>
                <a:latin typeface="Gotham-Bold"/>
                <a:cs typeface="Gotham-Bold"/>
              </a:rPr>
              <a:t>Profa</a:t>
            </a:r>
            <a:r>
              <a:rPr kumimoji="1" lang="pt-BR" sz="2000" dirty="0">
                <a:solidFill>
                  <a:schemeClr val="bg1"/>
                </a:solidFill>
                <a:latin typeface="Gotham-Bold"/>
                <a:cs typeface="Gotham-Bold"/>
              </a:rPr>
              <a:t>. Patrícia Magna</a:t>
            </a:r>
          </a:p>
          <a:p>
            <a:pPr>
              <a:defRPr/>
            </a:pPr>
            <a:endParaRPr kumimoji="1" lang="pt-BR" sz="2000" dirty="0">
              <a:solidFill>
                <a:schemeClr val="bg1"/>
              </a:solidFill>
              <a:latin typeface="Gotham-Bold"/>
              <a:cs typeface="Gotham-Bold"/>
            </a:endParaRPr>
          </a:p>
          <a:p>
            <a:pPr>
              <a:defRPr/>
            </a:pPr>
            <a:r>
              <a:rPr kumimoji="1" lang="pt-BR" sz="2000" dirty="0">
                <a:solidFill>
                  <a:schemeClr val="bg1"/>
                </a:solidFill>
                <a:latin typeface="Gotham-Bold"/>
                <a:cs typeface="Gotham-Bold"/>
              </a:rPr>
              <a:t>Todos direitos reservados. Reprodução ou divulgação total ou parcial deste documento é expressamente proibido sem o consentimento formal, por escrito, dos professores.</a:t>
            </a:r>
          </a:p>
        </p:txBody>
      </p:sp>
      <p:sp>
        <p:nvSpPr>
          <p:cNvPr id="5" name="Rectangle 4"/>
          <p:cNvSpPr/>
          <p:nvPr/>
        </p:nvSpPr>
        <p:spPr>
          <a:xfrm>
            <a:off x="747966" y="3342641"/>
            <a:ext cx="72000" cy="12395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cstate="print"/>
          <a:stretch>
            <a:fillRect/>
          </a:stretch>
        </p:blipFill>
        <p:spPr>
          <a:xfrm>
            <a:off x="7837508" y="333716"/>
            <a:ext cx="975616" cy="267011"/>
          </a:xfrm>
          <a:prstGeom prst="rect">
            <a:avLst/>
          </a:prstGeom>
        </p:spPr>
      </p:pic>
      <p:sp>
        <p:nvSpPr>
          <p:cNvPr id="9" name="Espaço Reservado para Número de Slide 8"/>
          <p:cNvSpPr>
            <a:spLocks noGrp="1"/>
          </p:cNvSpPr>
          <p:nvPr>
            <p:ph type="sldNum" sz="quarter" idx="12"/>
          </p:nvPr>
        </p:nvSpPr>
        <p:spPr/>
        <p:txBody>
          <a:bodyPr/>
          <a:lstStyle/>
          <a:p>
            <a:fld id="{93E4AAA4-6363-4581-962D-1ACCC2D600C5}" type="slidenum">
              <a:rPr lang="en-US" smtClean="0"/>
              <a:pPr/>
              <a:t>53</a:t>
            </a:fld>
            <a:endParaRPr lang="en-US" dirty="0"/>
          </a:p>
        </p:txBody>
      </p:sp>
    </p:spTree>
    <p:extLst>
      <p:ext uri="{BB962C8B-B14F-4D97-AF65-F5344CB8AC3E}">
        <p14:creationId xmlns:p14="http://schemas.microsoft.com/office/powerpoint/2010/main" val="6995947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heme/theme1.xml><?xml version="1.0" encoding="utf-8"?>
<a:theme xmlns:a="http://schemas.openxmlformats.org/drawingml/2006/main" name="Default Theme">
  <a:themeElements>
    <a:clrScheme name="Opulen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Escritório Clássico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Default Theme.thmx</Template>
  <TotalTime>1933</TotalTime>
  <Words>3228</Words>
  <Application>Microsoft Office PowerPoint</Application>
  <PresentationFormat>Apresentação na tela (4:3)</PresentationFormat>
  <Paragraphs>597</Paragraphs>
  <Slides>53</Slides>
  <Notes>7</Notes>
  <HiddenSlides>0</HiddenSlides>
  <MMClips>0</MMClips>
  <ScaleCrop>false</ScaleCrop>
  <HeadingPairs>
    <vt:vector size="6" baseType="variant">
      <vt:variant>
        <vt:lpstr>Fontes usadas</vt:lpstr>
      </vt:variant>
      <vt:variant>
        <vt:i4>9</vt:i4>
      </vt:variant>
      <vt:variant>
        <vt:lpstr>Tema</vt:lpstr>
      </vt:variant>
      <vt:variant>
        <vt:i4>4</vt:i4>
      </vt:variant>
      <vt:variant>
        <vt:lpstr>Títulos de slides</vt:lpstr>
      </vt:variant>
      <vt:variant>
        <vt:i4>53</vt:i4>
      </vt:variant>
    </vt:vector>
  </HeadingPairs>
  <TitlesOfParts>
    <vt:vector size="66" baseType="lpstr">
      <vt:lpstr>Arial</vt:lpstr>
      <vt:lpstr>Arial Narrow</vt:lpstr>
      <vt:lpstr>Calibri</vt:lpstr>
      <vt:lpstr>Consolas</vt:lpstr>
      <vt:lpstr>DIN Pro Regular</vt:lpstr>
      <vt:lpstr>Gotham HTF</vt:lpstr>
      <vt:lpstr>Gotham-Bold</vt:lpstr>
      <vt:lpstr>Gotham-Book</vt:lpstr>
      <vt:lpstr>Wingdings</vt:lpstr>
      <vt:lpstr>Default Theme</vt:lpstr>
      <vt:lpstr>1_Personalizar design</vt:lpstr>
      <vt:lpstr>2_Personalizar design</vt:lpstr>
      <vt:lpstr>Office Theme</vt:lpstr>
      <vt:lpstr>Apresentação do PowerPoint</vt:lpstr>
      <vt:lpstr>Recursividade</vt:lpstr>
      <vt:lpstr>Recursividade</vt:lpstr>
      <vt:lpstr>Aplicação de Recursividade em Programação</vt:lpstr>
      <vt:lpstr>Aplicação de Recursividade em Programação</vt:lpstr>
      <vt:lpstr>Definição Matemática da Função Fatorial </vt:lpstr>
      <vt:lpstr>Aplicação da Função Fatorial n=4</vt:lpstr>
      <vt:lpstr>Implementação Recursiva  da Função Fatorial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Implementação Recursiva  da Função Fatorial </vt:lpstr>
      <vt:lpstr>Outra Forma de Representar as ativações de função recursiva</vt:lpstr>
      <vt:lpstr>Função Recursiva Máximo Divisor Comum </vt:lpstr>
      <vt:lpstr>Chamada da Função MDC</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Chamada da Função MDC</vt:lpstr>
      <vt:lpstr>Exercício 1</vt:lpstr>
      <vt:lpstr>Ideia para Resolução de Exercício</vt:lpstr>
      <vt:lpstr>Aplicação de Recursividade Árvores Binárias</vt:lpstr>
      <vt:lpstr>Definição de Nó de uma Árvore Binária</vt:lpstr>
      <vt:lpstr>Representação de Nó com ponteiros ...</vt:lpstr>
      <vt:lpstr>Percurso de Árvore Binária  Em Ordem Pré Ordem Pós Ordem</vt:lpstr>
      <vt:lpstr>Árvores Binárias - Percursos</vt:lpstr>
      <vt:lpstr>Implementação Percorre Em Ordem</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Tela de Saída</vt:lpstr>
      <vt:lpstr>Árvores Binárias - Percursos</vt:lpstr>
      <vt:lpstr>Percurso de arvore Binária Pré_Ordem</vt:lpstr>
      <vt:lpstr>Árvores Binárias - Percursos</vt:lpstr>
      <vt:lpstr>Percurso de arvore Binária Pós_Ordem</vt:lpstr>
      <vt:lpstr>Árvores Binárias – Exercício: Percurso</vt:lpstr>
      <vt:lpstr>Apresentação do PowerPoint</vt:lpstr>
      <vt:lpstr>Apresentação do PowerPoint</vt:lpstr>
    </vt:vector>
  </TitlesOfParts>
  <Company>FIAP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Juliana Reyes</dc:creator>
  <cp:lastModifiedBy>Patrícia Magna</cp:lastModifiedBy>
  <cp:revision>286</cp:revision>
  <dcterms:created xsi:type="dcterms:W3CDTF">2015-01-30T10:46:50Z</dcterms:created>
  <dcterms:modified xsi:type="dcterms:W3CDTF">2023-10-18T19:49:28Z</dcterms:modified>
</cp:coreProperties>
</file>