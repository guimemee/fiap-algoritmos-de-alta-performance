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32"/>
  </p:notesMasterIdLst>
  <p:sldIdLst>
    <p:sldId id="267" r:id="rId5"/>
    <p:sldId id="272" r:id="rId6"/>
    <p:sldId id="273" r:id="rId7"/>
    <p:sldId id="293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96" r:id="rId17"/>
    <p:sldId id="283" r:id="rId18"/>
    <p:sldId id="284" r:id="rId19"/>
    <p:sldId id="359" r:id="rId20"/>
    <p:sldId id="285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7" r:id="rId29"/>
    <p:sldId id="358" r:id="rId30"/>
    <p:sldId id="265" r:id="rId31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3B"/>
    <a:srgbClr val="360EE2"/>
    <a:srgbClr val="F4D3D6"/>
    <a:srgbClr val="144DDC"/>
    <a:srgbClr val="FC0404"/>
    <a:srgbClr val="F0265D"/>
    <a:srgbClr val="EBAFB5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9419" autoAdjust="0"/>
  </p:normalViewPr>
  <p:slideViewPr>
    <p:cSldViewPr snapToGrid="0" snapToObjects="1">
      <p:cViewPr varScale="1">
        <p:scale>
          <a:sx n="66" d="100"/>
          <a:sy n="66" d="100"/>
        </p:scale>
        <p:origin x="14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Algoritmos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</a:t>
            </a:r>
            <a:r>
              <a:rPr lang="pt-BR" dirty="0" err="1"/>
              <a:t>Perfomance</a:t>
            </a:r>
            <a:endParaRPr lang="pt-BR" dirty="0"/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Algoritmos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de Alta </a:t>
            </a:r>
            <a:r>
              <a:rPr lang="en-US" dirty="0" err="1"/>
              <a:t>Perfomance</a:t>
            </a:r>
            <a:endParaRPr lang="en-US" dirty="0"/>
          </a:p>
          <a:p>
            <a:r>
              <a:rPr lang="en-US" dirty="0" err="1"/>
              <a:t>Profa</a:t>
            </a:r>
            <a:r>
              <a:rPr lang="en-US" dirty="0"/>
              <a:t> </a:t>
            </a:r>
            <a:r>
              <a:rPr lang="en-US" dirty="0" err="1"/>
              <a:t>Patrícia</a:t>
            </a:r>
            <a:r>
              <a:rPr lang="en-US" dirty="0"/>
              <a:t> Magna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</a:t>
            </a:r>
            <a:r>
              <a:rPr lang="pt-BR" dirty="0" err="1"/>
              <a:t>Perfomance</a:t>
            </a:r>
            <a:endParaRPr lang="pt-BR" dirty="0"/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Perfomance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928938" y="6286500"/>
            <a:ext cx="3500437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Perfomance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Imagem 7"/>
          <p:cNvSpPr>
            <a:spLocks noGrp="1"/>
          </p:cNvSpPr>
          <p:nvPr>
            <p:ph type="pic" sz="quarter" idx="13"/>
          </p:nvPr>
        </p:nvSpPr>
        <p:spPr>
          <a:xfrm>
            <a:off x="7572396" y="0"/>
            <a:ext cx="1571604" cy="1500188"/>
          </a:xfrm>
        </p:spPr>
        <p:txBody>
          <a:bodyPr rtlCol="0">
            <a:normAutofit/>
          </a:bodyPr>
          <a:lstStyle/>
          <a:p>
            <a:pPr lvl="0"/>
            <a:endParaRPr lang="pt-BR" noProof="0" dirty="0"/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5"/>
          </p:nvPr>
        </p:nvSpPr>
        <p:spPr>
          <a:xfrm>
            <a:off x="3124200" y="6286500"/>
            <a:ext cx="3305175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Algoritmos de Alta </a:t>
            </a:r>
            <a:r>
              <a:rPr lang="pt-BR" altLang="en-US" dirty="0" err="1"/>
              <a:t>Perfomance</a:t>
            </a:r>
            <a:endParaRPr lang="pt-BR" altLang="en-US" dirty="0"/>
          </a:p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7B789-2478-4B84-ACAC-457A7E3D18C9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1C504-57C9-4A27-AF59-867D3818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D95ED-CE85-41F4-BEA6-38242D254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67CB6-E0F1-4C18-88D0-C94FD08C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429AE9-6A3F-4DBF-96F3-FA700FFF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pt-BR"/>
              <a:t>Algoritmos de Alta Perfomance Profa Patrícia Magna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AD19E9-D9EE-4167-883A-263A8993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EB767-C74E-4B5B-A483-952F3A0838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93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4" r:id="rId14"/>
    <p:sldLayoutId id="2147483755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084723"/>
            <a:ext cx="781424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3200" dirty="0">
                <a:solidFill>
                  <a:srgbClr val="FFFF00"/>
                </a:solidFill>
              </a:rPr>
              <a:t>Métodos de Busca em Arranjos de Elementos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882" y="4043999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/>
                </a:solidFill>
                <a:latin typeface="Gotham-Bold"/>
              </a:rPr>
              <a:t>Códigos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BDB9CFE-13C5-49DD-8A4E-E4CAC39BD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pt-BR" altLang="pt-BR"/>
              <a:t>Motivação</a:t>
            </a:r>
          </a:p>
        </p:txBody>
      </p:sp>
      <p:sp>
        <p:nvSpPr>
          <p:cNvPr id="74" name="Slide Number Placeholder 5">
            <a:extLst>
              <a:ext uri="{FF2B5EF4-FFF2-40B4-BE49-F238E27FC236}">
                <a16:creationId xmlns:a16="http://schemas.microsoft.com/office/drawing/2014/main" id="{39F99104-A887-4C1C-8EF9-DA4BB9B4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DBB9FE3-D63C-4A40-B010-4651D12E128D}" type="slidenum">
              <a:rPr lang="pt-BR" smtClean="0"/>
              <a:pPr>
                <a:spcAft>
                  <a:spcPts val="600"/>
                </a:spcAft>
              </a:pPr>
              <a:t>2</a:t>
            </a:fld>
            <a:endParaRPr lang="pt-BR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27BC708-8BAA-4684-A79E-7C7FF665FFDA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469557" y="1167619"/>
            <a:ext cx="7520893" cy="29542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1800" dirty="0"/>
              <a:t>Um arquivo é formado por um conjunto de registros.</a:t>
            </a:r>
          </a:p>
          <a:p>
            <a:pPr>
              <a:lnSpc>
                <a:spcPct val="90000"/>
              </a:lnSpc>
            </a:pPr>
            <a:r>
              <a:rPr lang="pt-BR" altLang="pt-BR" sz="1800" dirty="0"/>
              <a:t> Um registro é um conjunto de informações relacionadas entre si. </a:t>
            </a:r>
          </a:p>
          <a:p>
            <a:pPr>
              <a:lnSpc>
                <a:spcPct val="90000"/>
              </a:lnSpc>
            </a:pPr>
            <a:r>
              <a:rPr lang="pt-BR" altLang="pt-BR" sz="1800" dirty="0"/>
              <a:t>A cada registro de uma coleção de registros associa-se uma chave, que é uma informação que distingue aquele registro dos demais. 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Se a chave somente ocorre uma vez na coleção  é chamada chave primária. 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No caso da possibilidade de múltiplas ocorrências de uma chave, esta é dita chave secundária. </a:t>
            </a:r>
          </a:p>
        </p:txBody>
      </p:sp>
      <p:pic>
        <p:nvPicPr>
          <p:cNvPr id="5" name="Imagem 4" descr="Uma imagem contendo segurando, vídeo, mão, jovem&#10;&#10;Descrição gerada automaticamente">
            <a:extLst>
              <a:ext uri="{FF2B5EF4-FFF2-40B4-BE49-F238E27FC236}">
                <a16:creationId xmlns:a16="http://schemas.microsoft.com/office/drawing/2014/main" id="{5CC1A03C-5141-49F0-B793-D305E87B5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277" y="3580226"/>
            <a:ext cx="5054991" cy="2527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0DD0FBA-2450-40FB-B176-DA0D9F96D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Método ou Função de Busca ou de Pesquisa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01A7366-64D1-44AB-97C6-878245699E1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6643" y="1196035"/>
            <a:ext cx="8730714" cy="40656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000" dirty="0"/>
              <a:t>Aceita uma chave como argumento </a:t>
            </a:r>
          </a:p>
          <a:p>
            <a:pPr>
              <a:lnSpc>
                <a:spcPct val="90000"/>
              </a:lnSpc>
            </a:pPr>
            <a:r>
              <a:rPr lang="pt-BR" altLang="pt-BR" sz="2000" dirty="0"/>
              <a:t>Tenta descobrir um registro cuja chave seja coincidente com este argumento e retorna: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registro encontrado ou um ponteiro para o mesmo. </a:t>
            </a:r>
          </a:p>
          <a:p>
            <a:pPr lvl="1">
              <a:lnSpc>
                <a:spcPct val="90000"/>
              </a:lnSpc>
            </a:pPr>
            <a:r>
              <a:rPr lang="pt-BR" altLang="pt-BR" sz="1800" dirty="0"/>
              <a:t>Sinalização na condição de inexistência de um registro com a chave recebida. </a:t>
            </a:r>
          </a:p>
        </p:txBody>
      </p:sp>
      <p:pic>
        <p:nvPicPr>
          <p:cNvPr id="3" name="Imagem 2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D0FC8725-7020-4D58-B17E-73F11FBD9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05" y="2975476"/>
            <a:ext cx="5795889" cy="3599890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73509-74AE-47EE-A0E8-CA915167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B47FA96-0135-4AB9-BE31-25A96748D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Escolha do método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0F1F612-8E97-4FCF-81A9-14AA7CFC2F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64704" y="1371600"/>
            <a:ext cx="8001000" cy="4114800"/>
          </a:xfrm>
        </p:spPr>
        <p:txBody>
          <a:bodyPr>
            <a:normAutofit/>
          </a:bodyPr>
          <a:lstStyle/>
          <a:p>
            <a:r>
              <a:rPr lang="pt-BR" altLang="pt-BR" sz="2000" dirty="0"/>
              <a:t>Escolha do melhor algoritmo é função de</a:t>
            </a:r>
          </a:p>
          <a:p>
            <a:pPr lvl="1"/>
            <a:r>
              <a:rPr lang="pt-BR" altLang="pt-BR" sz="1800" dirty="0"/>
              <a:t>Quantidade de dados</a:t>
            </a:r>
          </a:p>
          <a:p>
            <a:pPr lvl="1"/>
            <a:r>
              <a:rPr lang="pt-BR" altLang="pt-BR" sz="1800" dirty="0"/>
              <a:t>Arquivo com a inserções/remoções frequentes</a:t>
            </a:r>
          </a:p>
          <a:p>
            <a:endParaRPr lang="pt-BR" altLang="pt-BR" sz="2000" dirty="0"/>
          </a:p>
          <a:p>
            <a:r>
              <a:rPr lang="pt-BR" altLang="pt-BR" sz="2000" dirty="0"/>
              <a:t>Se o arquivo for estável (ou seja, que sofre pouco operações de inserção e remoção de dados), é preferível minimizar o tempo de pesquisa, mesmo que para isso gaste-se muito tempo para organizar o arquivo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6B43161-AE31-4992-BE1C-93EB1EA6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4</a:t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62EB9BA-4B63-474B-957E-D3BB13D8D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Algoritmos de Pesquisa ou Busca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05521BB-2C33-418D-B78D-5CFA169B2C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2729" y="1524000"/>
            <a:ext cx="8056427" cy="4215618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A escolha do melhor algoritmo depende, muitas vezes, do estado de ordenação do arquivo</a:t>
            </a:r>
          </a:p>
          <a:p>
            <a:endParaRPr lang="pt-BR" altLang="pt-BR" sz="2400" dirty="0"/>
          </a:p>
          <a:p>
            <a:r>
              <a:rPr lang="pt-BR" altLang="pt-BR" sz="2400" dirty="0"/>
              <a:t>Tipos mais comuns de algoritmos de busca</a:t>
            </a:r>
          </a:p>
          <a:p>
            <a:pPr lvl="1"/>
            <a:r>
              <a:rPr lang="pt-BR" altLang="pt-BR" sz="2000" dirty="0"/>
              <a:t>Busca Sequencial Exaustiva</a:t>
            </a:r>
          </a:p>
          <a:p>
            <a:pPr lvl="1"/>
            <a:r>
              <a:rPr lang="pt-BR" altLang="pt-BR" sz="2000" dirty="0"/>
              <a:t>Busca Sequencial</a:t>
            </a:r>
          </a:p>
          <a:p>
            <a:pPr lvl="1"/>
            <a:r>
              <a:rPr lang="pt-BR" altLang="pt-BR" sz="2000" dirty="0"/>
              <a:t>Busca Binária</a:t>
            </a:r>
          </a:p>
          <a:p>
            <a:pPr marL="0" indent="0">
              <a:buNone/>
            </a:pPr>
            <a:endParaRPr lang="pt-BR" altLang="pt-BR" sz="24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4AA1FDC-2863-42AA-ABA9-9588040A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1E4A6DC-4047-4200-AE10-EBFFA6C1C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522" y="2857500"/>
            <a:ext cx="6972320" cy="1143000"/>
          </a:xfrm>
        </p:spPr>
        <p:txBody>
          <a:bodyPr>
            <a:normAutofit fontScale="90000"/>
          </a:bodyPr>
          <a:lstStyle/>
          <a:p>
            <a:r>
              <a:rPr lang="pt-BR" altLang="pt-BR" sz="3300" dirty="0">
                <a:solidFill>
                  <a:srgbClr val="360EE2"/>
                </a:solidFill>
              </a:rPr>
              <a:t>Busca Sequencial Exaustiva</a:t>
            </a:r>
            <a:br>
              <a:rPr lang="pt-BR" altLang="pt-BR" sz="3700" dirty="0"/>
            </a:br>
            <a:endParaRPr lang="pt-BR" altLang="pt-BR" sz="37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6003D9E-E1D7-4DEA-B1AF-9CAD26F68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6</a:t>
            </a:fld>
            <a:endParaRPr lang="pt-B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B639239-5E9B-44AF-AE3F-FCE7BFA5A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Busca Sequencial Exaustiva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F5F6882-C5F6-47C3-8828-114FDE29F3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1957" y="1371600"/>
            <a:ext cx="80772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000" dirty="0"/>
              <a:t>A técnica de busca mais simples é a varredura sequencial exaustiva da coleção de registros. </a:t>
            </a:r>
          </a:p>
          <a:p>
            <a:pPr>
              <a:lnSpc>
                <a:spcPct val="90000"/>
              </a:lnSpc>
            </a:pPr>
            <a:r>
              <a:rPr lang="pt-BR" altLang="pt-BR" sz="2000" dirty="0"/>
              <a:t>Percorre-se o conjunto até o final, independentemente da descoberta de registro ou registros que satisfaçam à condição de busca.</a:t>
            </a:r>
          </a:p>
          <a:p>
            <a:pPr>
              <a:lnSpc>
                <a:spcPct val="90000"/>
              </a:lnSpc>
            </a:pPr>
            <a:r>
              <a:rPr lang="pt-BR" altLang="pt-BR" sz="2000" dirty="0"/>
              <a:t>A chave procurada pode não ser chave primária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72530-4A08-4FC1-A48B-5DCF13EE7078}"/>
              </a:ext>
            </a:extLst>
          </p:cNvPr>
          <p:cNvGrpSpPr/>
          <p:nvPr/>
        </p:nvGrpSpPr>
        <p:grpSpPr>
          <a:xfrm>
            <a:off x="3343422" y="3429000"/>
            <a:ext cx="4346916" cy="2066515"/>
            <a:chOff x="3343422" y="3429000"/>
            <a:chExt cx="4346916" cy="2066515"/>
          </a:xfrm>
        </p:grpSpPr>
        <p:pic>
          <p:nvPicPr>
            <p:cNvPr id="3" name="Imagem 2" descr="Tela de computador com texto preto sobre fundo branco&#10;&#10;Descrição gerada automaticamente">
              <a:extLst>
                <a:ext uri="{FF2B5EF4-FFF2-40B4-BE49-F238E27FC236}">
                  <a16:creationId xmlns:a16="http://schemas.microsoft.com/office/drawing/2014/main" id="{AE35234C-E71A-4833-A931-16DD85AF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9858" y="3429000"/>
              <a:ext cx="3048000" cy="1952625"/>
            </a:xfrm>
            <a:prstGeom prst="rect">
              <a:avLst/>
            </a:prstGeom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A3449E8-6F35-4055-AFEA-46BC30B890BE}"/>
                </a:ext>
              </a:extLst>
            </p:cNvPr>
            <p:cNvSpPr txBox="1"/>
            <p:nvPr/>
          </p:nvSpPr>
          <p:spPr>
            <a:xfrm>
              <a:off x="3343422" y="4849184"/>
              <a:ext cx="43469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rgbClr val="360EE2"/>
                  </a:solidFill>
                </a:rPr>
                <a:t>Procurando todas as ocorrências da palavra NERD em um livro </a:t>
              </a:r>
            </a:p>
          </p:txBody>
        </p:sp>
      </p:grp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DACCB7-AA6E-4750-9BF2-40DD6D7C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47D20AA-F6F8-49ED-9A21-22A175800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dirty="0"/>
              <a:t>Exemplo de Função Busca Sequencial Exaustiva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3250D98-4723-4D0A-B187-AA38837D6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2513"/>
            <a:ext cx="9144000" cy="2893100"/>
          </a:xfrm>
          <a:prstGeom prst="rect">
            <a:avLst/>
          </a:prstGeom>
          <a:solidFill>
            <a:srgbClr val="F4D3D6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449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11425" indent="-25114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buscaSequencialExaustiva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(Registro </a:t>
            </a:r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bd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Registro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encontrados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</a:p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bd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812800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bd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pt-BR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chave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07473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encontrados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ne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bd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1074738" algn="l"/>
            <a:r>
              <a:rPr lang="pt-BR" sz="1400" dirty="0">
                <a:solidFill>
                  <a:srgbClr val="3F7F5F"/>
                </a:solidFill>
                <a:latin typeface="Consolas" panose="020B0609020204030204" pitchFamily="49" charset="0"/>
              </a:rPr>
              <a:t>// armazena registro da posição em que a chave foi encontrada</a:t>
            </a:r>
          </a:p>
          <a:p>
            <a:pPr indent="1074738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ne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indent="1074738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812800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>
                <a:solidFill>
                  <a:srgbClr val="3F7F5F"/>
                </a:solidFill>
                <a:latin typeface="Consolas" panose="020B0609020204030204" pitchFamily="49" charset="0"/>
              </a:rPr>
              <a:t>/* quantidade de registros com a chave procurada */</a:t>
            </a: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69FB60-5333-46EF-8BEC-6A81FEA5E87A}"/>
              </a:ext>
            </a:extLst>
          </p:cNvPr>
          <p:cNvSpPr txBox="1"/>
          <p:nvPr/>
        </p:nvSpPr>
        <p:spPr>
          <a:xfrm>
            <a:off x="2264899" y="5866228"/>
            <a:ext cx="527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360EE2"/>
                </a:solidFill>
              </a:rPr>
              <a:t>Projeto </a:t>
            </a:r>
            <a:r>
              <a:rPr lang="pt-BR" sz="2000" b="1" dirty="0" err="1">
                <a:solidFill>
                  <a:srgbClr val="360EE2"/>
                </a:solidFill>
              </a:rPr>
              <a:t>MétodosBusca</a:t>
            </a:r>
            <a:r>
              <a:rPr lang="pt-BR" sz="2000" b="1" dirty="0">
                <a:solidFill>
                  <a:srgbClr val="360EE2"/>
                </a:solidFill>
              </a:rPr>
              <a:t> pacote </a:t>
            </a:r>
            <a:r>
              <a:rPr lang="pt-BR" sz="2000" b="1" dirty="0" err="1">
                <a:solidFill>
                  <a:srgbClr val="360EE2"/>
                </a:solidFill>
              </a:rPr>
              <a:t>BuscaExaustiva</a:t>
            </a:r>
            <a:endParaRPr lang="pt-BR" sz="2000" b="1" dirty="0">
              <a:solidFill>
                <a:srgbClr val="360EE2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6D06BF8-C9C6-4661-A1E4-9F207E22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8</a:t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F207099-2C5B-40E7-9C50-947CA8DB3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Considerações sobre o Algoritmo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5F2C12D-8131-4655-960B-740D8668A8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36844" y="1615440"/>
            <a:ext cx="7962313" cy="44005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É um método simples de se implementar 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Não necessita de hierarquização ou ordenação prévias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Pode ser aplicado para dados em memória e em dispositivos auxiliares como HDs.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As demais técnicas de busca tentam melhorar a eficiência do processo por meio da redução do conjunto de dados verificado: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baseadas em algum conhecimento sobre os dados e seu armazenamento 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pt-BR" altLang="pt-BR" sz="2000" dirty="0"/>
              <a:t>se pressupostos forem falhos invalidam o resultado da pesquisa.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1520DA7-4360-4141-973A-F898EB1A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7B27706-E272-4F22-A0F9-4E2D1C98E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2621" y="2857500"/>
            <a:ext cx="6972320" cy="1143000"/>
          </a:xfrm>
        </p:spPr>
        <p:txBody>
          <a:bodyPr>
            <a:normAutofit fontScale="90000"/>
          </a:bodyPr>
          <a:lstStyle/>
          <a:p>
            <a:r>
              <a:rPr lang="pt-BR" altLang="pt-BR" sz="3700" b="1" i="1" dirty="0">
                <a:solidFill>
                  <a:srgbClr val="360EE2"/>
                </a:solidFill>
              </a:rPr>
              <a:t>Busca Sequencial</a:t>
            </a:r>
            <a:br>
              <a:rPr lang="pt-BR" altLang="pt-BR" sz="3700" b="1" i="1" dirty="0">
                <a:solidFill>
                  <a:srgbClr val="360EE2"/>
                </a:solidFill>
              </a:rPr>
            </a:br>
            <a:endParaRPr lang="pt-BR" altLang="pt-BR" sz="3700" b="1" i="1" dirty="0">
              <a:solidFill>
                <a:srgbClr val="360EE2"/>
              </a:solidFill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2DAEBA5-D7CC-4E53-8052-1CE8AD8CD8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10</a:t>
            </a:fld>
            <a:endParaRPr lang="pt-BR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95E4D48-B8E0-48E1-81C3-24557A63A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pt-BR" altLang="pt-BR" dirty="0"/>
              <a:t>Busca Sequencial</a:t>
            </a:r>
          </a:p>
        </p:txBody>
      </p:sp>
      <p:sp>
        <p:nvSpPr>
          <p:cNvPr id="74" name="Slide Number Placeholder 5">
            <a:extLst>
              <a:ext uri="{FF2B5EF4-FFF2-40B4-BE49-F238E27FC236}">
                <a16:creationId xmlns:a16="http://schemas.microsoft.com/office/drawing/2014/main" id="{B091207A-CB05-4F26-A4E0-0DB8BE38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DBB9FE3-D63C-4A40-B010-4651D12E128D}" type="slidenum">
              <a:rPr lang="pt-BR" smtClean="0"/>
              <a:pPr>
                <a:spcAft>
                  <a:spcPts val="600"/>
                </a:spcAft>
              </a:pPr>
              <a:t>11</a:t>
            </a:fld>
            <a:endParaRPr lang="pt-BR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1E93AAA-3CDC-4F02-9AEA-0FA02CC98921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373965" y="1266092"/>
            <a:ext cx="4338711" cy="486007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400" dirty="0"/>
              <a:t>Algoritmo básico que o arquivo seja varrido sequencialmente, até que: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 seja encontrada a chave pesquisada (normalmente uma chave primária, ou seja, única no sistema)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Se chave não encontrada é atingido o final do arquivo.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400" dirty="0"/>
          </a:p>
        </p:txBody>
      </p:sp>
      <p:pic>
        <p:nvPicPr>
          <p:cNvPr id="3" name="Imagem 2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384016E3-6080-4453-B6D5-F9639C819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3" y="1191982"/>
            <a:ext cx="4038600" cy="25041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979904F-9FAD-4040-963A-2746EDEC6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Função de Busca Sequencial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E3C4829-A1DA-425D-A39E-F74D729A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E511F9A-7DAD-41AD-8546-DD060220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05" y="1636920"/>
            <a:ext cx="8716647" cy="20621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449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buscaSequencial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(Registro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chaveproc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-1;</a:t>
            </a:r>
          </a:p>
          <a:p>
            <a:pPr algn="l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pos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-1;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].chave() ==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chaveproc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alt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71B14B-3873-4EBE-8B66-46BB4CA223CF}"/>
              </a:ext>
            </a:extLst>
          </p:cNvPr>
          <p:cNvSpPr txBox="1"/>
          <p:nvPr/>
        </p:nvSpPr>
        <p:spPr>
          <a:xfrm>
            <a:off x="2264899" y="5635235"/>
            <a:ext cx="527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360EE2"/>
                </a:solidFill>
              </a:rPr>
              <a:t>Projeto </a:t>
            </a:r>
            <a:r>
              <a:rPr lang="pt-BR" sz="2000" b="1" dirty="0" err="1">
                <a:solidFill>
                  <a:srgbClr val="360EE2"/>
                </a:solidFill>
              </a:rPr>
              <a:t>MétodosBusca</a:t>
            </a:r>
            <a:r>
              <a:rPr lang="pt-BR" sz="2000" b="1" dirty="0">
                <a:solidFill>
                  <a:srgbClr val="360EE2"/>
                </a:solidFill>
              </a:rPr>
              <a:t> pacote </a:t>
            </a:r>
            <a:r>
              <a:rPr lang="pt-BR" sz="2000" b="1" dirty="0" err="1">
                <a:solidFill>
                  <a:srgbClr val="360EE2"/>
                </a:solidFill>
              </a:rPr>
              <a:t>BuscaSequencial</a:t>
            </a:r>
            <a:endParaRPr lang="pt-BR" sz="2000" b="1" dirty="0">
              <a:solidFill>
                <a:srgbClr val="360EE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382A1D4-99E4-4069-9C4A-9AE7D32FD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Considerações sobre o Método</a:t>
            </a:r>
            <a:endParaRPr lang="en-US" altLang="pt-BR" sz="3200" dirty="0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D88C555-2AFB-4EB1-B05F-1D869A69E9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403252"/>
            <a:ext cx="8229600" cy="2366890"/>
          </a:xfrm>
        </p:spPr>
        <p:txBody>
          <a:bodyPr>
            <a:normAutofit/>
          </a:bodyPr>
          <a:lstStyle/>
          <a:p>
            <a:r>
              <a:rPr lang="pt-BR" altLang="pt-BR" sz="2000" dirty="0"/>
              <a:t>Métodos simples de ser implementado, mas podem ser feitas melhorias em um sistema que faz muitas pesquisas (buscas):</a:t>
            </a:r>
          </a:p>
          <a:p>
            <a:endParaRPr lang="pt-BR" altLang="pt-BR" sz="2000" dirty="0"/>
          </a:p>
          <a:p>
            <a:pPr lvl="1"/>
            <a:r>
              <a:rPr lang="pt-BR" altLang="pt-BR" sz="1800" dirty="0"/>
              <a:t>Cada vez que um registro é procurado ele seria movido para o início do arquivo.  Se o registro for novamente procurado então, ele seria mais rapidamente encontrado</a:t>
            </a:r>
          </a:p>
          <a:p>
            <a:pPr>
              <a:buFont typeface="Wingdings" panose="05000000000000000000" pitchFamily="2" charset="2"/>
              <a:buNone/>
            </a:pPr>
            <a:endParaRPr lang="en-US" altLang="pt-BR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29C425-7921-4FD7-836B-32BB0C232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104" y="3547696"/>
            <a:ext cx="3810000" cy="2857500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D6D929-5541-4F06-832C-0E6DFB8B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>
            <a:extLst>
              <a:ext uri="{FF2B5EF4-FFF2-40B4-BE49-F238E27FC236}">
                <a16:creationId xmlns:a16="http://schemas.microsoft.com/office/drawing/2014/main" id="{48C3A1CC-27FD-4652-B58E-AFB755249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8720" y="2857500"/>
            <a:ext cx="6972320" cy="1143000"/>
          </a:xfrm>
        </p:spPr>
        <p:txBody>
          <a:bodyPr/>
          <a:lstStyle/>
          <a:p>
            <a:r>
              <a:rPr lang="pt-BR" altLang="pt-BR" dirty="0">
                <a:solidFill>
                  <a:srgbClr val="360EE2"/>
                </a:solidFill>
              </a:rPr>
              <a:t>Busca Binária</a:t>
            </a:r>
            <a:endParaRPr lang="en-US" altLang="pt-BR" dirty="0">
              <a:solidFill>
                <a:srgbClr val="360EE2"/>
              </a:solidFill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A41F5D9-10A8-47FF-B202-2C73794D30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14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232286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3CA3A97-364D-4EF0-B5A0-61748BD18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Idéia Geral do Método</a:t>
            </a:r>
            <a:endParaRPr lang="en-US" altLang="pt-BR"/>
          </a:p>
        </p:txBody>
      </p:sp>
      <p:pic>
        <p:nvPicPr>
          <p:cNvPr id="3" name="Imagem 2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C129E061-5D81-4FC3-871D-8A42D6A92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524000"/>
            <a:ext cx="5715000" cy="3810000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D0C8D8-C111-41C8-8D7D-2586E166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845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3CA3A97-364D-4EF0-B5A0-61748BD18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Idéia Geral do Método</a:t>
            </a:r>
            <a:endParaRPr lang="en-US" altLang="pt-BR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32083576-97DF-45F5-B7ED-666DFE41D6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3857" y="1371600"/>
            <a:ext cx="8001000" cy="4114800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É usado para arquivos ORDENADOS</a:t>
            </a:r>
          </a:p>
          <a:p>
            <a:r>
              <a:rPr lang="pt-BR" altLang="pt-BR" sz="2400" dirty="0"/>
              <a:t>Compara-se a chave com o elemento central do conjunto. </a:t>
            </a:r>
          </a:p>
          <a:p>
            <a:pPr lvl="1"/>
            <a:r>
              <a:rPr lang="pt-BR" altLang="pt-BR" sz="2000" dirty="0"/>
              <a:t>Se forem iguais, o registro foi encontrado; </a:t>
            </a:r>
          </a:p>
          <a:p>
            <a:pPr lvl="1"/>
            <a:r>
              <a:rPr lang="pt-BR" altLang="pt-BR" sz="2000" dirty="0"/>
              <a:t>caso contrário, o processo será repetido na metade inferior ou na metade posterior, conforme o resultado da comparação; </a:t>
            </a:r>
          </a:p>
          <a:p>
            <a:pPr lvl="1"/>
            <a:r>
              <a:rPr lang="pt-BR" altLang="pt-BR" sz="2000" dirty="0"/>
              <a:t>Volta à comparação até que o registro seja encontrado ou se conclua pela sua inexistência.</a:t>
            </a:r>
            <a:r>
              <a:rPr lang="en-US" altLang="pt-BR" sz="2000" dirty="0"/>
              <a:t> 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DA984AA-7CBD-42C6-B3A9-33D3652B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56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>
            <a:extLst>
              <a:ext uri="{FF2B5EF4-FFF2-40B4-BE49-F238E27FC236}">
                <a16:creationId xmlns:a16="http://schemas.microsoft.com/office/drawing/2014/main" id="{A365A569-DCD8-49CE-AC65-9C3B2C358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altLang="pt-BR" dirty="0"/>
              <a:t>Função para Busca Binária</a:t>
            </a:r>
            <a:endParaRPr lang="en-US" altLang="pt-BR" dirty="0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FFBD1265-B266-444F-B00E-0659465E5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46" y="893532"/>
            <a:ext cx="8792308" cy="550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buscaBinaria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(Registro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chaveproc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900113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"Procurando o chave solicitada..."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i_alto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achou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posicao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-1;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 !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achou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i_baixo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i_alto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900113" algn="l"/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   i_medio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i_baixo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i_alto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)/2;</a:t>
            </a:r>
          </a:p>
          <a:p>
            <a:pPr indent="900113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chaveproc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].chave()) {</a:t>
            </a:r>
          </a:p>
          <a:p>
            <a:pPr indent="900113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posicao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00113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  achou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900113" algn="l"/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900113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chaveproc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baseDados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].chave())</a:t>
            </a:r>
          </a:p>
          <a:p>
            <a:pPr indent="900113" algn="l"/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    i_alto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indent="900113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indent="900113" algn="l"/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    i_baixo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it-IT" sz="1600" dirty="0">
                <a:solidFill>
                  <a:srgbClr val="6A3E3E"/>
                </a:solidFill>
                <a:latin typeface="Consolas" panose="020B0609020204030204" pitchFamily="49" charset="0"/>
              </a:rPr>
              <a:t>i_medio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indent="900113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pPr indent="900113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900113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posicao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04A5994-DDB9-43ED-9BE3-F974DF3B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62908E-F8D5-45A2-AA4E-2F1EF26F5759}"/>
              </a:ext>
            </a:extLst>
          </p:cNvPr>
          <p:cNvSpPr txBox="1"/>
          <p:nvPr/>
        </p:nvSpPr>
        <p:spPr>
          <a:xfrm>
            <a:off x="2222696" y="6455325"/>
            <a:ext cx="527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360EE2"/>
                </a:solidFill>
              </a:rPr>
              <a:t>Projeto </a:t>
            </a:r>
            <a:r>
              <a:rPr lang="pt-BR" sz="2000" b="1" dirty="0" err="1">
                <a:solidFill>
                  <a:srgbClr val="360EE2"/>
                </a:solidFill>
              </a:rPr>
              <a:t>MétodosBusca</a:t>
            </a:r>
            <a:r>
              <a:rPr lang="pt-BR" sz="2000" b="1" dirty="0">
                <a:solidFill>
                  <a:srgbClr val="360EE2"/>
                </a:solidFill>
              </a:rPr>
              <a:t> pacote </a:t>
            </a:r>
            <a:r>
              <a:rPr lang="pt-BR" sz="2000" b="1" dirty="0" err="1">
                <a:solidFill>
                  <a:srgbClr val="360EE2"/>
                </a:solidFill>
              </a:rPr>
              <a:t>buscaBinaria</a:t>
            </a:r>
            <a:endParaRPr lang="pt-BR" sz="2000" b="1" dirty="0">
              <a:solidFill>
                <a:srgbClr val="360E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689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382A1D4-99E4-4069-9C4A-9AE7D32FD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Considerações sobre o Método</a:t>
            </a:r>
            <a:endParaRPr lang="en-US" altLang="pt-BR" sz="3200" dirty="0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D88C555-2AFB-4EB1-B05F-1D869A69E9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403252"/>
            <a:ext cx="8229600" cy="2366890"/>
          </a:xfrm>
        </p:spPr>
        <p:txBody>
          <a:bodyPr>
            <a:normAutofit/>
          </a:bodyPr>
          <a:lstStyle/>
          <a:p>
            <a:r>
              <a:rPr lang="pt-BR" altLang="pt-BR" sz="2000" dirty="0"/>
              <a:t>Métodos simples de ser implementado que necessita de ordenação do arquivo</a:t>
            </a:r>
          </a:p>
          <a:p>
            <a:r>
              <a:rPr lang="pt-BR" altLang="pt-BR" sz="2000" dirty="0"/>
              <a:t>Tem execução muito mais eficiente que a busca sequencial.</a:t>
            </a:r>
          </a:p>
          <a:p>
            <a:endParaRPr lang="pt-BR" altLang="pt-BR" sz="2000" dirty="0"/>
          </a:p>
          <a:p>
            <a:pPr lvl="1"/>
            <a:r>
              <a:rPr lang="pt-BR" altLang="pt-BR" sz="1800" dirty="0"/>
              <a:t>Como saber quanto esse método é mais eficiente em relação ao outro?</a:t>
            </a:r>
          </a:p>
          <a:p>
            <a:pPr lvl="1"/>
            <a:endParaRPr lang="pt-BR" altLang="pt-BR" sz="1800" dirty="0"/>
          </a:p>
          <a:p>
            <a:pPr lvl="1"/>
            <a:endParaRPr lang="pt-BR" altLang="pt-BR" sz="1800" dirty="0"/>
          </a:p>
          <a:p>
            <a:pPr>
              <a:buFont typeface="Wingdings" panose="05000000000000000000" pitchFamily="2" charset="2"/>
              <a:buNone/>
            </a:pPr>
            <a:endParaRPr lang="en-US" altLang="pt-BR" sz="2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AA5462-986B-48D5-BE62-39292BE7BB6D}"/>
              </a:ext>
            </a:extLst>
          </p:cNvPr>
          <p:cNvSpPr txBox="1"/>
          <p:nvPr/>
        </p:nvSpPr>
        <p:spPr>
          <a:xfrm>
            <a:off x="2208628" y="4008586"/>
            <a:ext cx="5992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360EE2"/>
                </a:solidFill>
              </a:rPr>
              <a:t>Vamos fazer uma análise de desempenho.</a:t>
            </a:r>
          </a:p>
          <a:p>
            <a:endParaRPr lang="pt-BR" sz="2400" b="1" dirty="0">
              <a:solidFill>
                <a:srgbClr val="360EE2"/>
              </a:solidFill>
            </a:endParaRPr>
          </a:p>
          <a:p>
            <a:r>
              <a:rPr lang="pt-BR" sz="2400" b="1" dirty="0">
                <a:solidFill>
                  <a:srgbClr val="360EE2"/>
                </a:solidFill>
              </a:rPr>
              <a:t>Como? É o que vamos estudar a seguir...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524587-0526-4F82-A990-5CA54D07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8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209C86FB-9EA6-48EC-90DE-BD5EF4B2A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Eficiência de um Algoritmo</a:t>
            </a:r>
            <a:endParaRPr lang="en-US" alt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D2A1FF1-0BFA-4882-B56F-6918D687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4E54D-5927-4D38-A615-449896D4D4E2}" type="slidenum">
              <a:rPr lang="en-US" altLang="pt-BR"/>
              <a:pPr/>
              <a:t>19</a:t>
            </a:fld>
            <a:endParaRPr lang="en-US" altLang="pt-BR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56DFE0DF-7D4B-40BF-88FD-55E200A3D20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12931"/>
            <a:ext cx="8229600" cy="4525963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Como considerar se algoritmo é mais eficiente que um outro?</a:t>
            </a:r>
          </a:p>
          <a:p>
            <a:pPr lvl="1"/>
            <a:r>
              <a:rPr lang="pt-BR" altLang="pt-BR" sz="2000" dirty="0"/>
              <a:t>Tempo de execução: porém este deve variar com a máquina onde o programa está sendo executado.</a:t>
            </a:r>
          </a:p>
          <a:p>
            <a:pPr lvl="1"/>
            <a:r>
              <a:rPr lang="pt-BR" altLang="pt-BR" sz="2000" dirty="0"/>
              <a:t>Ocupação de espaço na memória: se esta é menor é possível utilizar em dispositivos com quantidade de memória reduzida.</a:t>
            </a:r>
          </a:p>
        </p:txBody>
      </p:sp>
      <p:pic>
        <p:nvPicPr>
          <p:cNvPr id="3" name="Imagem 2" descr="Homem andando de cavalo&#10;&#10;Descrição gerada automaticamente">
            <a:extLst>
              <a:ext uri="{FF2B5EF4-FFF2-40B4-BE49-F238E27FC236}">
                <a16:creationId xmlns:a16="http://schemas.microsoft.com/office/drawing/2014/main" id="{E2052D92-CEE9-4A6C-8217-B68C08ACCB3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2" y="3701322"/>
            <a:ext cx="3277772" cy="1843747"/>
          </a:xfrm>
          <a:prstGeom prst="rect">
            <a:avLst/>
          </a:prstGeom>
        </p:spPr>
      </p:pic>
      <p:pic>
        <p:nvPicPr>
          <p:cNvPr id="6" name="Imagem 5" descr="Pessoas andando de cavalo na terra&#10;&#10;Descrição gerada automaticamente">
            <a:extLst>
              <a:ext uri="{FF2B5EF4-FFF2-40B4-BE49-F238E27FC236}">
                <a16:creationId xmlns:a16="http://schemas.microsoft.com/office/drawing/2014/main" id="{9E26CEDA-8869-4010-BD7A-4D89ED41B8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751" y="3701321"/>
            <a:ext cx="2458329" cy="18437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5" name="Rectangle 7">
            <a:extLst>
              <a:ext uri="{FF2B5EF4-FFF2-40B4-BE49-F238E27FC236}">
                <a16:creationId xmlns:a16="http://schemas.microsoft.com/office/drawing/2014/main" id="{68DA88E1-D9A7-4E71-93B8-5AF7AE79E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Eficiência de um Algoritmo</a:t>
            </a:r>
            <a:endParaRPr lang="en-US" alt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986AE54C-32C0-4C34-8E8D-78777BCC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5C107-2C77-425F-ACCB-EAFEF76CFD05}" type="slidenum">
              <a:rPr lang="en-US" altLang="pt-BR"/>
              <a:pPr/>
              <a:t>20</a:t>
            </a:fld>
            <a:endParaRPr lang="en-US" altLang="pt-BR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8D86D7A2-B676-45FB-86C2-D4B6159E528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3384" y="1600200"/>
            <a:ext cx="7526215" cy="4525963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 Portanto existes esses 2 aspectos de eficiência considerados: tempo requerido e espaço de armazenamento. </a:t>
            </a:r>
          </a:p>
          <a:p>
            <a:pPr algn="just"/>
            <a:r>
              <a:rPr lang="pt-BR" altLang="pt-BR" sz="2400" dirty="0"/>
              <a:t>Geralmente, o programador deverá otimizar um aspecto às custas do outro.</a:t>
            </a:r>
            <a:endParaRPr lang="en-US" altLang="pt-BR" sz="2400" dirty="0"/>
          </a:p>
          <a:p>
            <a:endParaRPr lang="pt-BR" altLang="pt-BR" sz="2400" dirty="0"/>
          </a:p>
          <a:p>
            <a:endParaRPr lang="en-US" altLang="pt-BR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30F2EC4-EC5F-48BE-A328-49FAA1283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dirty="0"/>
              <a:t>Como analisar a Eficiência de um Algoritmo</a:t>
            </a:r>
            <a:endParaRPr lang="en-US" altLang="pt-BR" sz="28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063EC1A-5C9F-4A52-91CF-AA8B767F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B3ABD-D61D-4886-8C16-A76B3B5AC277}" type="slidenum">
              <a:rPr lang="en-US" altLang="pt-BR"/>
              <a:pPr/>
              <a:t>21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D281AF0-C5D7-4446-B064-B8D0F2196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00200"/>
            <a:ext cx="8137525" cy="4637088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A medida de tempo seria dado pelo </a:t>
            </a:r>
            <a:r>
              <a:rPr lang="pt-BR" altLang="pt-BR" sz="2400" b="1" u="sng" dirty="0">
                <a:solidFill>
                  <a:srgbClr val="360EE2"/>
                </a:solidFill>
              </a:rPr>
              <a:t>número de operações críticas</a:t>
            </a:r>
            <a:r>
              <a:rPr lang="pt-BR" altLang="pt-BR" sz="2400" dirty="0"/>
              <a:t> efetuadas durante a execução do algoritmo a fim de resolver um específico problema (por exemplo, a busca de um registro em um arquivo)</a:t>
            </a:r>
            <a:r>
              <a:rPr lang="en-US" altLang="pt-BR" sz="2400" dirty="0"/>
              <a:t> </a:t>
            </a:r>
            <a:endParaRPr lang="pt-BR" altLang="pt-BR" sz="2400" dirty="0"/>
          </a:p>
          <a:p>
            <a:pPr algn="just"/>
            <a:r>
              <a:rPr lang="pt-BR" altLang="pt-BR" sz="2400" dirty="0"/>
              <a:t>O tamanho do arquivo no qual o algoritmo atua sempre é referenciado em relação à quantidade </a:t>
            </a:r>
            <a:r>
              <a:rPr lang="pt-BR" altLang="pt-BR" sz="2400" b="1" u="sng" dirty="0">
                <a:solidFill>
                  <a:srgbClr val="360EE2"/>
                </a:solidFill>
              </a:rPr>
              <a:t>n</a:t>
            </a:r>
            <a:r>
              <a:rPr lang="pt-BR" altLang="pt-BR" sz="2400" dirty="0"/>
              <a:t> de registros que o compõe.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Quais são as operações críticas?</a:t>
            </a:r>
            <a:endParaRPr lang="en-US" alt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22</a:t>
            </a:fld>
            <a:endParaRPr lang="en-US" altLang="pt-BR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408EFBE7-F352-441D-98E2-151DECB852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273078"/>
            <a:ext cx="8245475" cy="5256213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São as operações essenciais que deve ser realizadas para resolução do aplicação</a:t>
            </a:r>
          </a:p>
          <a:p>
            <a:pPr algn="just"/>
            <a:r>
              <a:rPr lang="pt-BR" altLang="pt-BR" sz="2400" dirty="0"/>
              <a:t>Exemplos de operações críticas:</a:t>
            </a:r>
          </a:p>
          <a:p>
            <a:pPr lvl="1" algn="just"/>
            <a:r>
              <a:rPr lang="pt-BR" altLang="pt-BR" sz="2000" dirty="0"/>
              <a:t>Para algoritmos de busca seriam apenas as comparações sobre chaves </a:t>
            </a:r>
          </a:p>
          <a:p>
            <a:pPr lvl="1" algn="just"/>
            <a:r>
              <a:rPr lang="pt-BR" altLang="pt-BR" sz="2000" dirty="0"/>
              <a:t>Para algoritmos de soma de vetores seriam apenas as adições sobre os elementos dos vetores</a:t>
            </a:r>
          </a:p>
          <a:p>
            <a:pPr lvl="1" algn="just"/>
            <a:r>
              <a:rPr lang="pt-BR" altLang="pt-BR" sz="2000" dirty="0"/>
              <a:t>Para algoritmos de ordenação seriam as comparações sobre chaves e movimentação de registros (ou trocas)</a:t>
            </a:r>
          </a:p>
          <a:p>
            <a:pPr lvl="1" algn="just"/>
            <a:r>
              <a:rPr lang="pt-BR" altLang="pt-BR" sz="2000" dirty="0"/>
              <a:t>Etc...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Executando o programa de </a:t>
            </a:r>
            <a:r>
              <a:rPr lang="pt-BR" altLang="pt-BR" b="1" dirty="0">
                <a:solidFill>
                  <a:srgbClr val="360EE2"/>
                </a:solidFill>
              </a:rPr>
              <a:t>Comparação entre Métodos</a:t>
            </a:r>
            <a:endParaRPr lang="en-US" altLang="pt-BR" b="1" dirty="0">
              <a:solidFill>
                <a:srgbClr val="360EE2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23</a:t>
            </a:fld>
            <a:endParaRPr lang="en-US" alt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056BB7-208C-4653-B186-F484DF468BAD}"/>
              </a:ext>
            </a:extLst>
          </p:cNvPr>
          <p:cNvSpPr txBox="1"/>
          <p:nvPr/>
        </p:nvSpPr>
        <p:spPr>
          <a:xfrm>
            <a:off x="2344615" y="5862469"/>
            <a:ext cx="527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360EE2"/>
                </a:solidFill>
              </a:rPr>
              <a:t>Projeto </a:t>
            </a:r>
            <a:r>
              <a:rPr lang="pt-BR" sz="2000" b="1" dirty="0" err="1">
                <a:solidFill>
                  <a:srgbClr val="360EE2"/>
                </a:solidFill>
              </a:rPr>
              <a:t>ComparacaoMetodosBusca</a:t>
            </a:r>
            <a:r>
              <a:rPr lang="pt-BR" sz="2000" b="1" dirty="0">
                <a:solidFill>
                  <a:srgbClr val="360EE2"/>
                </a:solidFill>
              </a:rPr>
              <a:t> 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5DA2B3-AE21-6F73-ACAB-8C0B1B10E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8" y="1436914"/>
            <a:ext cx="8617497" cy="34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3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Como descrever o comportamento dos Métodos?</a:t>
            </a:r>
            <a:endParaRPr lang="en-US" altLang="pt-BR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24</a:t>
            </a:fld>
            <a:endParaRPr lang="en-US" alt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1BF3CE-0F25-8321-990C-B3D256B5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7" y="795476"/>
            <a:ext cx="7258050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69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>
                <a:solidFill>
                  <a:srgbClr val="082AB8"/>
                </a:solidFill>
              </a:rPr>
              <a:t>Exercícios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25</a:t>
            </a:fld>
            <a:endParaRPr lang="pt-BR" alt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557" y="3276600"/>
            <a:ext cx="8386579" cy="2928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Supondo a tabela apresentada, responda: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0" dirty="0"/>
              <a:t>Existe a chave primária?	 Se sim, qual?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600" dirty="0"/>
              <a:t>Qual método entre os 3 estudados para realizar busca pode ser usado para:</a:t>
            </a:r>
          </a:p>
          <a:p>
            <a:pPr marL="857250" lvl="1" indent="-457200">
              <a:buFont typeface="+mj-lt"/>
              <a:buAutoNum type="alphaLcParenR"/>
            </a:pPr>
            <a:r>
              <a:rPr lang="pt-BR" sz="1200" dirty="0"/>
              <a:t>Pesquisar  produto de um fabricante selecionado?	</a:t>
            </a:r>
          </a:p>
          <a:p>
            <a:pPr marL="857250" lvl="1" indent="-457200">
              <a:buFont typeface="+mj-lt"/>
              <a:buAutoNum type="alphaLcParenR"/>
            </a:pPr>
            <a:r>
              <a:rPr lang="pt-BR" sz="1200" dirty="0"/>
              <a:t>Pesquisar produto selecionando um código?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600" dirty="0"/>
              <a:t>Poderia ser usado o método de busca binária no estado em que se encontra a tabela? Explique sua decisão.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600" dirty="0"/>
              <a:t>Crie um projeto JAVA para fazer o que é pedido nos exercícios 2.a, 2.b e 3.</a:t>
            </a:r>
          </a:p>
          <a:p>
            <a:pPr lvl="2"/>
            <a:endParaRPr lang="pt-BR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B2561C-1813-4D59-9F72-81E05635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71" y="946288"/>
            <a:ext cx="4550089" cy="20128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cap="all" dirty="0"/>
              <a:t>Tenenbaum, A.M. e </a:t>
            </a:r>
            <a:r>
              <a:rPr lang="pt-BR" dirty="0"/>
              <a:t>outros - </a:t>
            </a:r>
            <a:r>
              <a:rPr lang="pt-BR" b="1" dirty="0"/>
              <a:t>Estruturas de Dados usando C</a:t>
            </a:r>
            <a:r>
              <a:rPr lang="pt-BR" dirty="0"/>
              <a:t>. Makron Books do Brasil Editora Ltda, SP.</a:t>
            </a:r>
          </a:p>
          <a:p>
            <a:r>
              <a:rPr lang="pt-BR" dirty="0"/>
              <a:t>PEREIRA, S. L. </a:t>
            </a:r>
            <a:r>
              <a:rPr lang="pt-BR" b="1" dirty="0"/>
              <a:t>Estrutura de Dados Fundamentais. </a:t>
            </a:r>
            <a:r>
              <a:rPr lang="pt-BR" dirty="0"/>
              <a:t>São Paulo: Érica.</a:t>
            </a:r>
          </a:p>
          <a:p>
            <a:r>
              <a:rPr lang="pt-BR" cap="all" dirty="0"/>
              <a:t>FORBELLONE, A.L.V. &amp; EBERSPÄCHER, H.F. – </a:t>
            </a:r>
            <a:r>
              <a:rPr lang="pt-BR" b="1" dirty="0"/>
              <a:t>Lógica de Programação: A Construção de Algoritmos e Estruturas de Dados.</a:t>
            </a:r>
            <a:r>
              <a:rPr lang="pt-BR" dirty="0"/>
              <a:t> Makron Books, São Paulo, SP</a:t>
            </a:r>
          </a:p>
          <a:p>
            <a:r>
              <a:rPr lang="pt-BR" dirty="0"/>
              <a:t>ASCENCIO,A.F.G e ARAÚJO, G.S. </a:t>
            </a:r>
            <a:r>
              <a:rPr lang="pt-BR" b="1" dirty="0"/>
              <a:t>– Estruturas de Dados: Algoritmos, Análise da Complexidade e Implementação em JAVA e C/C++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2024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1444</Words>
  <Application>Microsoft Office PowerPoint</Application>
  <PresentationFormat>Apresentação na tela (4:3)</PresentationFormat>
  <Paragraphs>178</Paragraphs>
  <Slides>27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Consolas</vt:lpstr>
      <vt:lpstr>Gotham HTF</vt:lpstr>
      <vt:lpstr>Gotham-Bold</vt:lpstr>
      <vt:lpstr>Gotham-Book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Motivação</vt:lpstr>
      <vt:lpstr>Método ou Função de Busca ou de Pesquisa</vt:lpstr>
      <vt:lpstr>Escolha do método</vt:lpstr>
      <vt:lpstr>Algoritmos de Pesquisa ou Busca</vt:lpstr>
      <vt:lpstr>Busca Sequencial Exaustiva </vt:lpstr>
      <vt:lpstr>Busca Sequencial Exaustiva</vt:lpstr>
      <vt:lpstr>Exemplo de Função Busca Sequencial Exaustiva</vt:lpstr>
      <vt:lpstr>Considerações sobre o Algoritmo</vt:lpstr>
      <vt:lpstr>Busca Sequencial </vt:lpstr>
      <vt:lpstr>Busca Sequencial</vt:lpstr>
      <vt:lpstr>Função de Busca Sequencial</vt:lpstr>
      <vt:lpstr>Considerações sobre o Método</vt:lpstr>
      <vt:lpstr>Busca Binária</vt:lpstr>
      <vt:lpstr>Idéia Geral do Método</vt:lpstr>
      <vt:lpstr>Idéia Geral do Método</vt:lpstr>
      <vt:lpstr>Função para Busca Binária</vt:lpstr>
      <vt:lpstr>Considerações sobre o Método</vt:lpstr>
      <vt:lpstr>Eficiência de um Algoritmo</vt:lpstr>
      <vt:lpstr>Eficiência de um Algoritmo</vt:lpstr>
      <vt:lpstr>Como analisar a Eficiência de um Algoritmo</vt:lpstr>
      <vt:lpstr>Quais são as operações críticas?</vt:lpstr>
      <vt:lpstr>Executando o programa de Comparação entre Métodos</vt:lpstr>
      <vt:lpstr>Como descrever o comportamento dos Métodos?</vt:lpstr>
      <vt:lpstr>Exercícios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Patrícia Magna</dc:creator>
  <cp:lastModifiedBy>Patrícia Magna</cp:lastModifiedBy>
  <cp:revision>45</cp:revision>
  <dcterms:created xsi:type="dcterms:W3CDTF">2020-05-13T13:51:18Z</dcterms:created>
  <dcterms:modified xsi:type="dcterms:W3CDTF">2024-07-01T13:00:40Z</dcterms:modified>
</cp:coreProperties>
</file>