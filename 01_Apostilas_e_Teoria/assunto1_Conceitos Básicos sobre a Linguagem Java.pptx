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24"/>
  </p:notesMasterIdLst>
  <p:sldIdLst>
    <p:sldId id="322" r:id="rId2"/>
    <p:sldId id="257" r:id="rId3"/>
    <p:sldId id="259" r:id="rId4"/>
    <p:sldId id="342" r:id="rId5"/>
    <p:sldId id="260" r:id="rId6"/>
    <p:sldId id="313" r:id="rId7"/>
    <p:sldId id="343" r:id="rId8"/>
    <p:sldId id="344" r:id="rId9"/>
    <p:sldId id="283" r:id="rId10"/>
    <p:sldId id="261" r:id="rId11"/>
    <p:sldId id="262" r:id="rId12"/>
    <p:sldId id="265" r:id="rId13"/>
    <p:sldId id="345" r:id="rId14"/>
    <p:sldId id="346" r:id="rId15"/>
    <p:sldId id="347" r:id="rId16"/>
    <p:sldId id="348" r:id="rId17"/>
    <p:sldId id="349" r:id="rId18"/>
    <p:sldId id="317" r:id="rId19"/>
    <p:sldId id="350" r:id="rId20"/>
    <p:sldId id="320" r:id="rId21"/>
    <p:sldId id="351" r:id="rId22"/>
    <p:sldId id="325" r:id="rId23"/>
  </p:sldIdLst>
  <p:sldSz cx="9144000" cy="6858000" type="screen4x3"/>
  <p:notesSz cx="6858000" cy="9144000"/>
  <p:defaultTextStyle>
    <a:defPPr>
      <a:defRPr lang="pt-BR"/>
    </a:defPPr>
    <a:lvl1pPr algn="l" rtl="0" eaLnBrk="0" fontAlgn="base" hangingPunct="0">
      <a:spcBef>
        <a:spcPct val="0"/>
      </a:spcBef>
      <a:spcAft>
        <a:spcPct val="0"/>
      </a:spcAft>
      <a:defRPr kern="1200">
        <a:solidFill>
          <a:schemeClr val="tx1"/>
        </a:solidFill>
        <a:latin typeface="Arial" pitchFamily="34" charset="0"/>
        <a:ea typeface="+mn-ea"/>
        <a:cs typeface="+mn-cs"/>
      </a:defRPr>
    </a:lvl1pPr>
    <a:lvl2pPr marL="457200" algn="l" rtl="0" eaLnBrk="0" fontAlgn="base" hangingPunct="0">
      <a:spcBef>
        <a:spcPct val="0"/>
      </a:spcBef>
      <a:spcAft>
        <a:spcPct val="0"/>
      </a:spcAft>
      <a:defRPr kern="1200">
        <a:solidFill>
          <a:schemeClr val="tx1"/>
        </a:solidFill>
        <a:latin typeface="Arial" pitchFamily="34" charset="0"/>
        <a:ea typeface="+mn-ea"/>
        <a:cs typeface="+mn-cs"/>
      </a:defRPr>
    </a:lvl2pPr>
    <a:lvl3pPr marL="914400" algn="l" rtl="0" eaLnBrk="0" fontAlgn="base" hangingPunct="0">
      <a:spcBef>
        <a:spcPct val="0"/>
      </a:spcBef>
      <a:spcAft>
        <a:spcPct val="0"/>
      </a:spcAft>
      <a:defRPr kern="1200">
        <a:solidFill>
          <a:schemeClr val="tx1"/>
        </a:solidFill>
        <a:latin typeface="Arial"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2AB8"/>
    <a:srgbClr val="EC1302"/>
    <a:srgbClr val="0E9648"/>
    <a:srgbClr val="CC3300"/>
    <a:srgbClr val="FFC91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Estilo Claro 3 - Ênfase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DA37D80-6434-44D0-A028-1B22A696006F}" styleName="Estilo Claro 3 - Ênfase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FD0F851-EC5A-4D38-B0AD-8093EC10F338}" styleName="Estilo Claro 1 - Ênfase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061" autoAdjust="0"/>
  </p:normalViewPr>
  <p:slideViewPr>
    <p:cSldViewPr>
      <p:cViewPr>
        <p:scale>
          <a:sx n="66" d="100"/>
          <a:sy n="66" d="100"/>
        </p:scale>
        <p:origin x="1422" y="-24"/>
      </p:cViewPr>
      <p:guideLst>
        <p:guide orient="horz" pos="2160"/>
        <p:guide pos="2880"/>
      </p:guideLst>
    </p:cSldViewPr>
  </p:slideViewPr>
  <p:outlineViewPr>
    <p:cViewPr>
      <p:scale>
        <a:sx n="33" d="100"/>
        <a:sy n="33" d="100"/>
      </p:scale>
      <p:origin x="0" y="-5754"/>
    </p:cViewPr>
  </p:outlineViewPr>
  <p:notesTextViewPr>
    <p:cViewPr>
      <p:scale>
        <a:sx n="100" d="100"/>
        <a:sy n="100" d="100"/>
      </p:scale>
      <p:origin x="0" y="0"/>
    </p:cViewPr>
  </p:notesTextViewPr>
  <p:sorterViewPr>
    <p:cViewPr>
      <p:scale>
        <a:sx n="66" d="100"/>
        <a:sy n="66" d="100"/>
      </p:scale>
      <p:origin x="0" y="-112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ACA2255C-8CFF-4D1F-9362-97681C3AADAA}" type="datetimeFigureOut">
              <a:rPr lang="pt-BR"/>
              <a:pPr>
                <a:defRPr/>
              </a:pPr>
              <a:t>10/02/2025</a:t>
            </a:fld>
            <a:endParaRPr lang="pt-BR" dirty="0"/>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pt-BR" noProof="0" dirty="0"/>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pt-BR" noProof="0"/>
              <a:t>Clique para editar os estilos do texto mestre</a:t>
            </a:r>
          </a:p>
          <a:p>
            <a:pPr lvl="1"/>
            <a:r>
              <a:rPr lang="pt-BR" noProof="0"/>
              <a:t>Segundo nível</a:t>
            </a:r>
          </a:p>
          <a:p>
            <a:pPr lvl="2"/>
            <a:r>
              <a:rPr lang="pt-BR" noProof="0"/>
              <a:t>Terceiro nível</a:t>
            </a:r>
          </a:p>
          <a:p>
            <a:pPr lvl="3"/>
            <a:r>
              <a:rPr lang="pt-BR" noProof="0"/>
              <a:t>Quarto nível</a:t>
            </a:r>
          </a:p>
          <a:p>
            <a:pPr lvl="4"/>
            <a:r>
              <a:rPr lang="pt-BR" noProof="0"/>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F4219D76-E73E-4582-957E-640DA26C75A6}" type="slidenum">
              <a:rPr lang="pt-BR" altLang="pt-BR"/>
              <a:pPr>
                <a:defRPr/>
              </a:pPr>
              <a:t>‹nº›</a:t>
            </a:fld>
            <a:endParaRPr lang="pt-BR" altLang="pt-BR"/>
          </a:p>
        </p:txBody>
      </p:sp>
    </p:spTree>
    <p:extLst>
      <p:ext uri="{BB962C8B-B14F-4D97-AF65-F5344CB8AC3E}">
        <p14:creationId xmlns:p14="http://schemas.microsoft.com/office/powerpoint/2010/main" val="143601230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C6CD5E-26BD-9B45-BB2F-78648736C277}" type="slidenum">
              <a:rPr lang="en-US" smtClean="0"/>
              <a:pPr/>
              <a:t>22</a:t>
            </a:fld>
            <a:endParaRPr lang="en-US"/>
          </a:p>
        </p:txBody>
      </p:sp>
    </p:spTree>
    <p:extLst>
      <p:ext uri="{BB962C8B-B14F-4D97-AF65-F5344CB8AC3E}">
        <p14:creationId xmlns:p14="http://schemas.microsoft.com/office/powerpoint/2010/main" val="31447271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pic>
        <p:nvPicPr>
          <p:cNvPr id="4" name="Imagem 6" descr="logo fiap novo.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215188" y="0"/>
            <a:ext cx="15462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ítulo 1"/>
          <p:cNvSpPr>
            <a:spLocks noGrp="1"/>
          </p:cNvSpPr>
          <p:nvPr>
            <p:ph type="ctrTitle"/>
          </p:nvPr>
        </p:nvSpPr>
        <p:spPr>
          <a:xfrm>
            <a:off x="685800" y="2130425"/>
            <a:ext cx="7772400" cy="1470025"/>
          </a:xfrm>
        </p:spPr>
        <p:txBody>
          <a:bodyPr/>
          <a:lstStyle>
            <a:lvl1pPr>
              <a:defRPr b="1">
                <a:solidFill>
                  <a:srgbClr val="FF0000"/>
                </a:solidFill>
              </a:defRPr>
            </a:lvl1pPr>
          </a:lstStyle>
          <a:p>
            <a:r>
              <a:rPr lang="pt-BR" dirty="0"/>
              <a:t>Clique para editar o estilo do título mestre</a:t>
            </a: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rgbClr val="0070C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5" name="Espaço Reservado para Data 3"/>
          <p:cNvSpPr>
            <a:spLocks noGrp="1"/>
          </p:cNvSpPr>
          <p:nvPr>
            <p:ph type="dt" sz="half" idx="10"/>
          </p:nvPr>
        </p:nvSpPr>
        <p:spPr/>
        <p:txBody>
          <a:bodyPr/>
          <a:lstStyle>
            <a:lvl1pPr>
              <a:defRPr/>
            </a:lvl1pPr>
          </a:lstStyle>
          <a:p>
            <a:pPr>
              <a:defRPr/>
            </a:pPr>
            <a:endParaRPr lang="pt-BR" altLang="en-US"/>
          </a:p>
        </p:txBody>
      </p:sp>
      <p:sp>
        <p:nvSpPr>
          <p:cNvPr id="6" name="Espaço Reservado para Rodapé 4"/>
          <p:cNvSpPr>
            <a:spLocks noGrp="1"/>
          </p:cNvSpPr>
          <p:nvPr>
            <p:ph type="ftr" sz="quarter" idx="11"/>
          </p:nvPr>
        </p:nvSpPr>
        <p:spPr>
          <a:xfrm>
            <a:off x="3143240" y="6357938"/>
            <a:ext cx="2643206" cy="363537"/>
          </a:xfrm>
        </p:spPr>
        <p:txBody>
          <a:bodyPr/>
          <a:lstStyle>
            <a:lvl1pPr algn="ctr">
              <a:defRPr>
                <a:solidFill>
                  <a:schemeClr val="bg1">
                    <a:lumMod val="65000"/>
                  </a:schemeClr>
                </a:solidFill>
              </a:defRPr>
            </a:lvl1pPr>
          </a:lstStyle>
          <a:p>
            <a:pPr>
              <a:defRPr/>
            </a:pPr>
            <a:r>
              <a:rPr lang="pt-BR" altLang="en-US"/>
              <a:t>Algoritmos de Alta Performance - Profa Patrícia Magna</a:t>
            </a:r>
            <a:endParaRPr lang="pt-BR" altLang="en-US" dirty="0"/>
          </a:p>
        </p:txBody>
      </p:sp>
      <p:sp>
        <p:nvSpPr>
          <p:cNvPr id="7" name="Espaço Reservado para Número de Slide 5"/>
          <p:cNvSpPr>
            <a:spLocks noGrp="1"/>
          </p:cNvSpPr>
          <p:nvPr>
            <p:ph type="sldNum" sz="quarter" idx="12"/>
          </p:nvPr>
        </p:nvSpPr>
        <p:spPr/>
        <p:txBody>
          <a:bodyPr/>
          <a:lstStyle>
            <a:lvl1pPr>
              <a:defRPr smtClean="0">
                <a:solidFill>
                  <a:srgbClr val="A6A6A6"/>
                </a:solidFill>
              </a:defRPr>
            </a:lvl1pPr>
          </a:lstStyle>
          <a:p>
            <a:pPr>
              <a:defRPr/>
            </a:pPr>
            <a:fld id="{410FC19D-3417-40C5-B677-EA271E2DB6D3}" type="slidenum">
              <a:rPr lang="pt-BR" altLang="en-US"/>
              <a:pPr>
                <a:defRPr/>
              </a:pPr>
              <a:t>‹nº›</a:t>
            </a:fld>
            <a:endParaRPr lang="pt-BR" altLang="en-US"/>
          </a:p>
        </p:txBody>
      </p:sp>
    </p:spTree>
    <p:extLst>
      <p:ext uri="{BB962C8B-B14F-4D97-AF65-F5344CB8AC3E}">
        <p14:creationId xmlns:p14="http://schemas.microsoft.com/office/powerpoint/2010/main" val="713119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pic>
        <p:nvPicPr>
          <p:cNvPr id="4" name="Imagem 6" descr="logo fiap novo.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597775" y="214313"/>
            <a:ext cx="15462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ítulo 1"/>
          <p:cNvSpPr>
            <a:spLocks noGrp="1"/>
          </p:cNvSpPr>
          <p:nvPr>
            <p:ph type="title"/>
          </p:nvPr>
        </p:nvSpPr>
        <p:spPr>
          <a:xfrm>
            <a:off x="457200" y="274638"/>
            <a:ext cx="6972320" cy="1143000"/>
          </a:xfrm>
        </p:spPr>
        <p:txBody>
          <a:bodyPr/>
          <a:lstStyle>
            <a:lvl1pPr algn="l">
              <a:defRPr sz="3200">
                <a:solidFill>
                  <a:srgbClr val="082AB8"/>
                </a:solidFill>
              </a:defRPr>
            </a:lvl1pPr>
          </a:lstStyle>
          <a:p>
            <a:r>
              <a:rPr lang="pt-BR" dirty="0"/>
              <a:t>Clique para editar o estilo do título mestre</a:t>
            </a:r>
          </a:p>
        </p:txBody>
      </p:sp>
      <p:sp>
        <p:nvSpPr>
          <p:cNvPr id="3" name="Espaço Reservado para Conteúdo 2"/>
          <p:cNvSpPr>
            <a:spLocks noGrp="1"/>
          </p:cNvSpPr>
          <p:nvPr>
            <p:ph idx="1"/>
          </p:nvPr>
        </p:nvSpPr>
        <p:spPr/>
        <p:txBody>
          <a:bodyPr/>
          <a:lstStyle>
            <a:lvl1pPr>
              <a:defRPr sz="2400"/>
            </a:lvl1pPr>
            <a:lvl2pPr>
              <a:defRPr sz="2000"/>
            </a:lvl2pPr>
            <a:lvl3pPr>
              <a:defRPr sz="1800"/>
            </a:lvl3pPr>
            <a:lvl4pPr>
              <a:defRPr sz="1600"/>
            </a:lvl4pPr>
            <a:lvl5pPr>
              <a:defRPr sz="1600"/>
            </a:lvl5pPr>
          </a:lstStyle>
          <a:p>
            <a:pPr lvl="0"/>
            <a:r>
              <a:rPr lang="pt-BR" dirty="0"/>
              <a:t>Clique para editar os estilos do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5" name="Espaço Reservado para Data 3"/>
          <p:cNvSpPr>
            <a:spLocks noGrp="1"/>
          </p:cNvSpPr>
          <p:nvPr>
            <p:ph type="dt" sz="half" idx="10"/>
          </p:nvPr>
        </p:nvSpPr>
        <p:spPr/>
        <p:txBody>
          <a:bodyPr/>
          <a:lstStyle>
            <a:lvl1pPr>
              <a:defRPr/>
            </a:lvl1pPr>
          </a:lstStyle>
          <a:p>
            <a:pPr>
              <a:defRPr/>
            </a:pPr>
            <a:endParaRPr lang="pt-BR" altLang="en-US"/>
          </a:p>
        </p:txBody>
      </p:sp>
      <p:sp>
        <p:nvSpPr>
          <p:cNvPr id="6" name="Espaço Reservado para Rodapé 4"/>
          <p:cNvSpPr>
            <a:spLocks noGrp="1"/>
          </p:cNvSpPr>
          <p:nvPr>
            <p:ph type="ftr" sz="quarter" idx="11"/>
          </p:nvPr>
        </p:nvSpPr>
        <p:spPr>
          <a:xfrm>
            <a:off x="3286116" y="6286500"/>
            <a:ext cx="2643206" cy="571500"/>
          </a:xfrm>
        </p:spPr>
        <p:txBody>
          <a:bodyPr/>
          <a:lstStyle>
            <a:lvl1pPr>
              <a:defRPr/>
            </a:lvl1pPr>
          </a:lstStyle>
          <a:p>
            <a:pPr>
              <a:defRPr/>
            </a:pPr>
            <a:r>
              <a:rPr lang="pt-BR" altLang="en-US"/>
              <a:t>Algoritmos de Alta Performance - Profa Patrícia Magna</a:t>
            </a:r>
            <a:endParaRPr lang="pt-BR" altLang="en-US" dirty="0"/>
          </a:p>
        </p:txBody>
      </p:sp>
      <p:sp>
        <p:nvSpPr>
          <p:cNvPr id="7" name="Espaço Reservado para Número de Slide 5"/>
          <p:cNvSpPr>
            <a:spLocks noGrp="1"/>
          </p:cNvSpPr>
          <p:nvPr>
            <p:ph type="sldNum" sz="quarter" idx="12"/>
          </p:nvPr>
        </p:nvSpPr>
        <p:spPr/>
        <p:txBody>
          <a:bodyPr/>
          <a:lstStyle>
            <a:lvl1pPr>
              <a:defRPr smtClean="0"/>
            </a:lvl1pPr>
          </a:lstStyle>
          <a:p>
            <a:pPr>
              <a:defRPr/>
            </a:pPr>
            <a:fld id="{0FA70AE2-C52A-487E-82EC-B4E213515206}" type="slidenum">
              <a:rPr lang="pt-BR" altLang="en-US"/>
              <a:pPr>
                <a:defRPr/>
              </a:pPr>
              <a:t>‹nº›</a:t>
            </a:fld>
            <a:endParaRPr lang="pt-BR" altLang="en-US"/>
          </a:p>
        </p:txBody>
      </p:sp>
    </p:spTree>
    <p:extLst>
      <p:ext uri="{BB962C8B-B14F-4D97-AF65-F5344CB8AC3E}">
        <p14:creationId xmlns:p14="http://schemas.microsoft.com/office/powerpoint/2010/main" val="2258118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a:t>Clique para editar o estilo do título mestre</a:t>
            </a: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do texto mestre</a:t>
            </a:r>
          </a:p>
        </p:txBody>
      </p:sp>
      <p:sp>
        <p:nvSpPr>
          <p:cNvPr id="4" name="Espaço Reservado para Data 3"/>
          <p:cNvSpPr>
            <a:spLocks noGrp="1"/>
          </p:cNvSpPr>
          <p:nvPr>
            <p:ph type="dt" sz="half" idx="10"/>
          </p:nvPr>
        </p:nvSpPr>
        <p:spPr/>
        <p:txBody>
          <a:bodyPr/>
          <a:lstStyle>
            <a:lvl1pPr>
              <a:defRPr/>
            </a:lvl1pPr>
          </a:lstStyle>
          <a:p>
            <a:pPr>
              <a:defRPr/>
            </a:pPr>
            <a:endParaRPr lang="pt-BR" altLang="en-US"/>
          </a:p>
        </p:txBody>
      </p:sp>
      <p:sp>
        <p:nvSpPr>
          <p:cNvPr id="5" name="Espaço Reservado para Rodapé 4"/>
          <p:cNvSpPr>
            <a:spLocks noGrp="1"/>
          </p:cNvSpPr>
          <p:nvPr>
            <p:ph type="ftr" sz="quarter" idx="11"/>
          </p:nvPr>
        </p:nvSpPr>
        <p:spPr>
          <a:xfrm>
            <a:off x="3500430" y="6357938"/>
            <a:ext cx="2571768" cy="363537"/>
          </a:xfrm>
        </p:spPr>
        <p:txBody>
          <a:bodyPr/>
          <a:lstStyle>
            <a:lvl1pPr>
              <a:defRPr/>
            </a:lvl1pPr>
          </a:lstStyle>
          <a:p>
            <a:pPr>
              <a:defRPr/>
            </a:pPr>
            <a:r>
              <a:rPr lang="pt-BR" altLang="en-US"/>
              <a:t>Algoritmos de Alta Performance - Profa Patrícia Magna</a:t>
            </a:r>
            <a:endParaRPr lang="pt-BR" altLang="en-US" dirty="0"/>
          </a:p>
        </p:txBody>
      </p:sp>
      <p:sp>
        <p:nvSpPr>
          <p:cNvPr id="6" name="Espaço Reservado para Número de Slide 5"/>
          <p:cNvSpPr>
            <a:spLocks noGrp="1"/>
          </p:cNvSpPr>
          <p:nvPr>
            <p:ph type="sldNum" sz="quarter" idx="12"/>
          </p:nvPr>
        </p:nvSpPr>
        <p:spPr/>
        <p:txBody>
          <a:bodyPr/>
          <a:lstStyle>
            <a:lvl1pPr>
              <a:defRPr smtClean="0"/>
            </a:lvl1pPr>
          </a:lstStyle>
          <a:p>
            <a:pPr>
              <a:defRPr/>
            </a:pPr>
            <a:fld id="{F601B60D-8F34-4FC3-9ECD-DD8C34184A30}" type="slidenum">
              <a:rPr lang="pt-BR" altLang="en-US"/>
              <a:pPr>
                <a:defRPr/>
              </a:pPr>
              <a:t>‹nº›</a:t>
            </a:fld>
            <a:endParaRPr lang="pt-BR" altLang="en-US"/>
          </a:p>
        </p:txBody>
      </p:sp>
    </p:spTree>
    <p:extLst>
      <p:ext uri="{BB962C8B-B14F-4D97-AF65-F5344CB8AC3E}">
        <p14:creationId xmlns:p14="http://schemas.microsoft.com/office/powerpoint/2010/main" val="3984817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solidFill>
                  <a:srgbClr val="082AB8"/>
                </a:solidFill>
              </a:defRPr>
            </a:lvl1pPr>
          </a:lstStyle>
          <a:p>
            <a:r>
              <a:rPr lang="pt-BR" dirty="0"/>
              <a:t>Clique para editar o estilo do título mestre</a:t>
            </a: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dirty="0"/>
              <a:t>Clique para editar os estilos do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5" name="Espaço Reservado para Data 4"/>
          <p:cNvSpPr>
            <a:spLocks noGrp="1"/>
          </p:cNvSpPr>
          <p:nvPr>
            <p:ph type="dt" sz="half" idx="10"/>
          </p:nvPr>
        </p:nvSpPr>
        <p:spPr/>
        <p:txBody>
          <a:bodyPr/>
          <a:lstStyle>
            <a:lvl1pPr>
              <a:defRPr/>
            </a:lvl1pPr>
          </a:lstStyle>
          <a:p>
            <a:pPr>
              <a:defRPr/>
            </a:pPr>
            <a:endParaRPr lang="pt-BR" altLang="en-US"/>
          </a:p>
        </p:txBody>
      </p:sp>
      <p:sp>
        <p:nvSpPr>
          <p:cNvPr id="6" name="Espaço Reservado para Rodapé 5"/>
          <p:cNvSpPr>
            <a:spLocks noGrp="1"/>
          </p:cNvSpPr>
          <p:nvPr>
            <p:ph type="ftr" sz="quarter" idx="11"/>
          </p:nvPr>
        </p:nvSpPr>
        <p:spPr>
          <a:xfrm>
            <a:off x="3214678" y="6356350"/>
            <a:ext cx="2357454" cy="501650"/>
          </a:xfrm>
        </p:spPr>
        <p:txBody>
          <a:bodyPr/>
          <a:lstStyle>
            <a:lvl1pPr>
              <a:defRPr>
                <a:solidFill>
                  <a:schemeClr val="bg1">
                    <a:lumMod val="65000"/>
                  </a:schemeClr>
                </a:solidFill>
              </a:defRPr>
            </a:lvl1pPr>
          </a:lstStyle>
          <a:p>
            <a:pPr>
              <a:defRPr/>
            </a:pPr>
            <a:r>
              <a:rPr lang="pt-BR" altLang="en-US"/>
              <a:t>Algoritmos de Alta Performance - Profa Patrícia Magna</a:t>
            </a:r>
          </a:p>
        </p:txBody>
      </p:sp>
      <p:sp>
        <p:nvSpPr>
          <p:cNvPr id="7" name="Espaço Reservado para Número de Slide 6"/>
          <p:cNvSpPr>
            <a:spLocks noGrp="1"/>
          </p:cNvSpPr>
          <p:nvPr>
            <p:ph type="sldNum" sz="quarter" idx="12"/>
          </p:nvPr>
        </p:nvSpPr>
        <p:spPr/>
        <p:txBody>
          <a:bodyPr/>
          <a:lstStyle>
            <a:lvl1pPr>
              <a:defRPr smtClean="0">
                <a:solidFill>
                  <a:srgbClr val="A6A6A6"/>
                </a:solidFill>
              </a:defRPr>
            </a:lvl1pPr>
          </a:lstStyle>
          <a:p>
            <a:pPr>
              <a:defRPr/>
            </a:pPr>
            <a:fld id="{4F9D7B0E-6DF5-42FE-9407-370595370C8C}" type="slidenum">
              <a:rPr lang="pt-BR" altLang="en-US"/>
              <a:pPr>
                <a:defRPr/>
              </a:pPr>
              <a:t>‹nº›</a:t>
            </a:fld>
            <a:endParaRPr lang="pt-BR" altLang="en-US"/>
          </a:p>
        </p:txBody>
      </p:sp>
    </p:spTree>
    <p:extLst>
      <p:ext uri="{BB962C8B-B14F-4D97-AF65-F5344CB8AC3E}">
        <p14:creationId xmlns:p14="http://schemas.microsoft.com/office/powerpoint/2010/main" val="1905149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solidFill>
                  <a:srgbClr val="082AB8"/>
                </a:solidFill>
              </a:defRPr>
            </a:lvl1pPr>
          </a:lstStyle>
          <a:p>
            <a:r>
              <a:rPr lang="pt-BR" dirty="0"/>
              <a:t>Clique para editar o estilo do título mestre</a:t>
            </a: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lvl1pPr>
              <a:defRPr/>
            </a:lvl1pPr>
          </a:lstStyle>
          <a:p>
            <a:pPr>
              <a:defRPr/>
            </a:pPr>
            <a:endParaRPr lang="pt-BR" altLang="en-US"/>
          </a:p>
        </p:txBody>
      </p:sp>
      <p:sp>
        <p:nvSpPr>
          <p:cNvPr id="8" name="Espaço Reservado para Rodapé 7"/>
          <p:cNvSpPr>
            <a:spLocks noGrp="1"/>
          </p:cNvSpPr>
          <p:nvPr>
            <p:ph type="ftr" sz="quarter" idx="11"/>
          </p:nvPr>
        </p:nvSpPr>
        <p:spPr>
          <a:xfrm>
            <a:off x="2928926" y="6356350"/>
            <a:ext cx="2643206" cy="501650"/>
          </a:xfrm>
        </p:spPr>
        <p:txBody>
          <a:bodyPr/>
          <a:lstStyle>
            <a:lvl1pPr>
              <a:defRPr/>
            </a:lvl1pPr>
          </a:lstStyle>
          <a:p>
            <a:pPr>
              <a:defRPr/>
            </a:pPr>
            <a:r>
              <a:rPr lang="pt-BR" altLang="en-US"/>
              <a:t>Algoritmos de Alta Performance - Profa Patrícia Magna</a:t>
            </a:r>
          </a:p>
        </p:txBody>
      </p:sp>
      <p:sp>
        <p:nvSpPr>
          <p:cNvPr id="9" name="Espaço Reservado para Número de Slide 8"/>
          <p:cNvSpPr>
            <a:spLocks noGrp="1"/>
          </p:cNvSpPr>
          <p:nvPr>
            <p:ph type="sldNum" sz="quarter" idx="12"/>
          </p:nvPr>
        </p:nvSpPr>
        <p:spPr/>
        <p:txBody>
          <a:bodyPr/>
          <a:lstStyle>
            <a:lvl1pPr>
              <a:defRPr smtClean="0"/>
            </a:lvl1pPr>
          </a:lstStyle>
          <a:p>
            <a:pPr>
              <a:defRPr/>
            </a:pPr>
            <a:fld id="{B94E8A36-260A-44F0-8C15-F9F9C5DA95AC}" type="slidenum">
              <a:rPr lang="pt-BR" altLang="en-US"/>
              <a:pPr>
                <a:defRPr/>
              </a:pPr>
              <a:t>‹nº›</a:t>
            </a:fld>
            <a:endParaRPr lang="pt-BR" altLang="en-US"/>
          </a:p>
        </p:txBody>
      </p:sp>
    </p:spTree>
    <p:extLst>
      <p:ext uri="{BB962C8B-B14F-4D97-AF65-F5344CB8AC3E}">
        <p14:creationId xmlns:p14="http://schemas.microsoft.com/office/powerpoint/2010/main" val="28197236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pic>
        <p:nvPicPr>
          <p:cNvPr id="3" name="Imagem 6" descr="logo fiap novo.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29500" y="0"/>
            <a:ext cx="15462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ítulo 1"/>
          <p:cNvSpPr>
            <a:spLocks noGrp="1"/>
          </p:cNvSpPr>
          <p:nvPr>
            <p:ph type="title"/>
          </p:nvPr>
        </p:nvSpPr>
        <p:spPr>
          <a:xfrm>
            <a:off x="457200" y="274638"/>
            <a:ext cx="6472254" cy="1143000"/>
          </a:xfrm>
        </p:spPr>
        <p:txBody>
          <a:bodyPr/>
          <a:lstStyle>
            <a:lvl1pPr>
              <a:defRPr>
                <a:solidFill>
                  <a:srgbClr val="082AB8"/>
                </a:solidFill>
              </a:defRPr>
            </a:lvl1pPr>
          </a:lstStyle>
          <a:p>
            <a:r>
              <a:rPr lang="pt-BR" dirty="0"/>
              <a:t>Clique para editar o estilo do título mestre</a:t>
            </a:r>
          </a:p>
        </p:txBody>
      </p:sp>
      <p:sp>
        <p:nvSpPr>
          <p:cNvPr id="4" name="Espaço Reservado para Data 2"/>
          <p:cNvSpPr>
            <a:spLocks noGrp="1"/>
          </p:cNvSpPr>
          <p:nvPr>
            <p:ph type="dt" sz="half" idx="10"/>
          </p:nvPr>
        </p:nvSpPr>
        <p:spPr/>
        <p:txBody>
          <a:bodyPr/>
          <a:lstStyle>
            <a:lvl1pPr>
              <a:defRPr/>
            </a:lvl1pPr>
          </a:lstStyle>
          <a:p>
            <a:pPr>
              <a:defRPr/>
            </a:pPr>
            <a:endParaRPr lang="pt-BR" altLang="en-US"/>
          </a:p>
        </p:txBody>
      </p:sp>
      <p:sp>
        <p:nvSpPr>
          <p:cNvPr id="5" name="Espaço Reservado para Rodapé 3"/>
          <p:cNvSpPr>
            <a:spLocks noGrp="1"/>
          </p:cNvSpPr>
          <p:nvPr>
            <p:ph type="ftr" sz="quarter" idx="11"/>
          </p:nvPr>
        </p:nvSpPr>
        <p:spPr>
          <a:xfrm>
            <a:off x="3214678" y="6357938"/>
            <a:ext cx="2428892" cy="363537"/>
          </a:xfrm>
        </p:spPr>
        <p:txBody>
          <a:bodyPr/>
          <a:lstStyle>
            <a:lvl1pPr>
              <a:defRPr/>
            </a:lvl1pPr>
          </a:lstStyle>
          <a:p>
            <a:pPr>
              <a:defRPr/>
            </a:pPr>
            <a:r>
              <a:rPr lang="pt-BR" altLang="en-US"/>
              <a:t>Algoritmos de Alta Performance - Profa Patrícia Magna</a:t>
            </a:r>
            <a:endParaRPr lang="pt-BR" altLang="en-US" dirty="0"/>
          </a:p>
        </p:txBody>
      </p:sp>
      <p:sp>
        <p:nvSpPr>
          <p:cNvPr id="6" name="Espaço Reservado para Número de Slide 4"/>
          <p:cNvSpPr>
            <a:spLocks noGrp="1"/>
          </p:cNvSpPr>
          <p:nvPr>
            <p:ph type="sldNum" sz="quarter" idx="12"/>
          </p:nvPr>
        </p:nvSpPr>
        <p:spPr/>
        <p:txBody>
          <a:bodyPr/>
          <a:lstStyle>
            <a:lvl1pPr>
              <a:defRPr smtClean="0"/>
            </a:lvl1pPr>
          </a:lstStyle>
          <a:p>
            <a:pPr>
              <a:defRPr/>
            </a:pPr>
            <a:fld id="{82657340-78B5-4426-9B2B-5CE25F8DC69D}" type="slidenum">
              <a:rPr lang="pt-BR" altLang="en-US"/>
              <a:pPr>
                <a:defRPr/>
              </a:pPr>
              <a:t>‹nº›</a:t>
            </a:fld>
            <a:endParaRPr lang="pt-BR" altLang="en-US"/>
          </a:p>
        </p:txBody>
      </p:sp>
    </p:spTree>
    <p:extLst>
      <p:ext uri="{BB962C8B-B14F-4D97-AF65-F5344CB8AC3E}">
        <p14:creationId xmlns:p14="http://schemas.microsoft.com/office/powerpoint/2010/main" val="260768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3" name="Espaço Reservado para Data 1"/>
          <p:cNvSpPr>
            <a:spLocks noGrp="1"/>
          </p:cNvSpPr>
          <p:nvPr>
            <p:ph type="dt" sz="half" idx="10"/>
          </p:nvPr>
        </p:nvSpPr>
        <p:spPr/>
        <p:txBody>
          <a:bodyPr/>
          <a:lstStyle>
            <a:lvl1pPr>
              <a:defRPr/>
            </a:lvl1pPr>
          </a:lstStyle>
          <a:p>
            <a:pPr>
              <a:defRPr/>
            </a:pPr>
            <a:endParaRPr lang="pt-BR" altLang="en-US"/>
          </a:p>
        </p:txBody>
      </p:sp>
      <p:sp>
        <p:nvSpPr>
          <p:cNvPr id="4" name="Espaço Reservado para Rodapé 2"/>
          <p:cNvSpPr>
            <a:spLocks noGrp="1"/>
          </p:cNvSpPr>
          <p:nvPr>
            <p:ph type="ftr" sz="quarter" idx="11"/>
          </p:nvPr>
        </p:nvSpPr>
        <p:spPr>
          <a:xfrm>
            <a:off x="3071802" y="6356350"/>
            <a:ext cx="2571755" cy="501650"/>
          </a:xfrm>
        </p:spPr>
        <p:txBody>
          <a:bodyPr/>
          <a:lstStyle>
            <a:lvl1pPr>
              <a:defRPr/>
            </a:lvl1pPr>
          </a:lstStyle>
          <a:p>
            <a:pPr>
              <a:defRPr/>
            </a:pPr>
            <a:r>
              <a:rPr lang="pt-BR" altLang="en-US"/>
              <a:t>Algoritmos de Alta Performance - Profa Patrícia Magna</a:t>
            </a:r>
          </a:p>
        </p:txBody>
      </p:sp>
      <p:sp>
        <p:nvSpPr>
          <p:cNvPr id="5" name="Espaço Reservado para Número de Slide 3"/>
          <p:cNvSpPr>
            <a:spLocks noGrp="1"/>
          </p:cNvSpPr>
          <p:nvPr>
            <p:ph type="sldNum" sz="quarter" idx="12"/>
          </p:nvPr>
        </p:nvSpPr>
        <p:spPr/>
        <p:txBody>
          <a:bodyPr/>
          <a:lstStyle>
            <a:lvl1pPr>
              <a:defRPr smtClean="0"/>
            </a:lvl1pPr>
          </a:lstStyle>
          <a:p>
            <a:pPr>
              <a:defRPr/>
            </a:pPr>
            <a:fld id="{1EF6CA55-B9A3-4C41-A473-693762DE17EC}" type="slidenum">
              <a:rPr lang="pt-BR" altLang="en-US"/>
              <a:pPr>
                <a:defRPr/>
              </a:pPr>
              <a:t>‹nº›</a:t>
            </a:fld>
            <a:endParaRPr lang="pt-BR" altLang="en-US"/>
          </a:p>
        </p:txBody>
      </p:sp>
    </p:spTree>
    <p:extLst>
      <p:ext uri="{BB962C8B-B14F-4D97-AF65-F5344CB8AC3E}">
        <p14:creationId xmlns:p14="http://schemas.microsoft.com/office/powerpoint/2010/main" val="2616327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a:t>Clique para editar o estilo do título mestre</a:t>
            </a: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4"/>
          <p:cNvSpPr>
            <a:spLocks noGrp="1"/>
          </p:cNvSpPr>
          <p:nvPr>
            <p:ph type="dt" sz="half" idx="10"/>
          </p:nvPr>
        </p:nvSpPr>
        <p:spPr/>
        <p:txBody>
          <a:bodyPr/>
          <a:lstStyle>
            <a:lvl1pPr>
              <a:defRPr/>
            </a:lvl1pPr>
          </a:lstStyle>
          <a:p>
            <a:pPr>
              <a:defRPr/>
            </a:pPr>
            <a:endParaRPr lang="pt-BR" altLang="en-US"/>
          </a:p>
        </p:txBody>
      </p:sp>
      <p:sp>
        <p:nvSpPr>
          <p:cNvPr id="6" name="Espaço Reservado para Rodapé 5"/>
          <p:cNvSpPr>
            <a:spLocks noGrp="1"/>
          </p:cNvSpPr>
          <p:nvPr>
            <p:ph type="ftr" sz="quarter" idx="11"/>
          </p:nvPr>
        </p:nvSpPr>
        <p:spPr>
          <a:xfrm>
            <a:off x="2643188" y="6356350"/>
            <a:ext cx="2500316" cy="501650"/>
          </a:xfrm>
        </p:spPr>
        <p:txBody>
          <a:bodyPr/>
          <a:lstStyle>
            <a:lvl1pPr>
              <a:defRPr/>
            </a:lvl1pPr>
          </a:lstStyle>
          <a:p>
            <a:pPr>
              <a:defRPr/>
            </a:pPr>
            <a:r>
              <a:rPr lang="pt-BR" altLang="en-US"/>
              <a:t>Algoritmos de Alta Performance - Profa Patrícia Magna</a:t>
            </a:r>
            <a:endParaRPr lang="pt-BR" altLang="en-US" dirty="0"/>
          </a:p>
        </p:txBody>
      </p:sp>
      <p:sp>
        <p:nvSpPr>
          <p:cNvPr id="7" name="Espaço Reservado para Número de Slide 6"/>
          <p:cNvSpPr>
            <a:spLocks noGrp="1"/>
          </p:cNvSpPr>
          <p:nvPr>
            <p:ph type="sldNum" sz="quarter" idx="12"/>
          </p:nvPr>
        </p:nvSpPr>
        <p:spPr/>
        <p:txBody>
          <a:bodyPr/>
          <a:lstStyle>
            <a:lvl1pPr>
              <a:defRPr smtClean="0"/>
            </a:lvl1pPr>
          </a:lstStyle>
          <a:p>
            <a:pPr>
              <a:defRPr/>
            </a:pPr>
            <a:fld id="{2F7696E4-64A4-4C3D-A8E8-0811A33CBA02}" type="slidenum">
              <a:rPr lang="pt-BR" altLang="en-US"/>
              <a:pPr>
                <a:defRPr/>
              </a:pPr>
              <a:t>‹nº›</a:t>
            </a:fld>
            <a:endParaRPr lang="pt-BR" altLang="en-US"/>
          </a:p>
        </p:txBody>
      </p:sp>
    </p:spTree>
    <p:extLst>
      <p:ext uri="{BB962C8B-B14F-4D97-AF65-F5344CB8AC3E}">
        <p14:creationId xmlns:p14="http://schemas.microsoft.com/office/powerpoint/2010/main" val="3223556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a:t>Clique para editar o estilo do título mestre</a:t>
            </a:r>
          </a:p>
        </p:txBody>
      </p:sp>
      <p:sp>
        <p:nvSpPr>
          <p:cNvPr id="3" name="Espaço Reservado para Imagem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t-BR" noProof="0" dirty="0"/>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3"/>
          <p:cNvSpPr>
            <a:spLocks noGrp="1"/>
          </p:cNvSpPr>
          <p:nvPr>
            <p:ph type="dt" sz="half" idx="10"/>
          </p:nvPr>
        </p:nvSpPr>
        <p:spPr/>
        <p:txBody>
          <a:bodyPr/>
          <a:lstStyle>
            <a:lvl1pPr>
              <a:defRPr/>
            </a:lvl1pPr>
          </a:lstStyle>
          <a:p>
            <a:pPr>
              <a:defRPr/>
            </a:pPr>
            <a:endParaRPr lang="pt-BR" altLang="en-US"/>
          </a:p>
        </p:txBody>
      </p:sp>
      <p:sp>
        <p:nvSpPr>
          <p:cNvPr id="6" name="Espaço Reservado para Rodapé 4"/>
          <p:cNvSpPr>
            <a:spLocks noGrp="1"/>
          </p:cNvSpPr>
          <p:nvPr>
            <p:ph type="ftr" sz="quarter" idx="11"/>
          </p:nvPr>
        </p:nvSpPr>
        <p:spPr>
          <a:xfrm>
            <a:off x="3000364" y="6357938"/>
            <a:ext cx="2643206" cy="363537"/>
          </a:xfrm>
        </p:spPr>
        <p:txBody>
          <a:bodyPr/>
          <a:lstStyle>
            <a:lvl1pPr>
              <a:defRPr/>
            </a:lvl1pPr>
          </a:lstStyle>
          <a:p>
            <a:pPr>
              <a:defRPr/>
            </a:pPr>
            <a:r>
              <a:rPr lang="pt-BR" altLang="en-US"/>
              <a:t>Algoritmos de Alta Performance - Profa Patrícia Magna</a:t>
            </a:r>
            <a:endParaRPr lang="pt-BR" altLang="en-US" dirty="0"/>
          </a:p>
        </p:txBody>
      </p:sp>
      <p:sp>
        <p:nvSpPr>
          <p:cNvPr id="7" name="Espaço Reservado para Número de Slide 5"/>
          <p:cNvSpPr>
            <a:spLocks noGrp="1"/>
          </p:cNvSpPr>
          <p:nvPr>
            <p:ph type="sldNum" sz="quarter" idx="12"/>
          </p:nvPr>
        </p:nvSpPr>
        <p:spPr/>
        <p:txBody>
          <a:bodyPr/>
          <a:lstStyle>
            <a:lvl1pPr>
              <a:defRPr smtClean="0"/>
            </a:lvl1pPr>
          </a:lstStyle>
          <a:p>
            <a:pPr>
              <a:defRPr/>
            </a:pPr>
            <a:fld id="{07658760-AADC-4109-A6AE-7E9B08F44EA2}" type="slidenum">
              <a:rPr lang="pt-BR" altLang="en-US"/>
              <a:pPr>
                <a:defRPr/>
              </a:pPr>
              <a:t>‹nº›</a:t>
            </a:fld>
            <a:endParaRPr lang="pt-BR" altLang="en-US"/>
          </a:p>
        </p:txBody>
      </p:sp>
    </p:spTree>
    <p:extLst>
      <p:ext uri="{BB962C8B-B14F-4D97-AF65-F5344CB8AC3E}">
        <p14:creationId xmlns:p14="http://schemas.microsoft.com/office/powerpoint/2010/main" val="336349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lvl1pPr>
              <a:defRPr/>
            </a:lvl1pPr>
          </a:lstStyle>
          <a:p>
            <a:pPr>
              <a:defRPr/>
            </a:pPr>
            <a:endParaRPr lang="pt-BR" altLang="en-US"/>
          </a:p>
        </p:txBody>
      </p:sp>
      <p:sp>
        <p:nvSpPr>
          <p:cNvPr id="5" name="Espaço Reservado para Rodapé 4"/>
          <p:cNvSpPr>
            <a:spLocks noGrp="1"/>
          </p:cNvSpPr>
          <p:nvPr>
            <p:ph type="ftr" sz="quarter" idx="11"/>
          </p:nvPr>
        </p:nvSpPr>
        <p:spPr/>
        <p:txBody>
          <a:bodyPr/>
          <a:lstStyle>
            <a:lvl1pPr>
              <a:defRPr/>
            </a:lvl1pPr>
          </a:lstStyle>
          <a:p>
            <a:pPr>
              <a:defRPr/>
            </a:pPr>
            <a:r>
              <a:rPr lang="pt-BR" altLang="en-US"/>
              <a:t>Algoritmos de Alta Performance - Profa Patrícia Magna</a:t>
            </a:r>
          </a:p>
        </p:txBody>
      </p:sp>
      <p:sp>
        <p:nvSpPr>
          <p:cNvPr id="6" name="Espaço Reservado para Número de Slide 5"/>
          <p:cNvSpPr>
            <a:spLocks noGrp="1"/>
          </p:cNvSpPr>
          <p:nvPr>
            <p:ph type="sldNum" sz="quarter" idx="12"/>
          </p:nvPr>
        </p:nvSpPr>
        <p:spPr/>
        <p:txBody>
          <a:bodyPr/>
          <a:lstStyle>
            <a:lvl1pPr>
              <a:defRPr smtClean="0"/>
            </a:lvl1pPr>
          </a:lstStyle>
          <a:p>
            <a:pPr>
              <a:defRPr/>
            </a:pPr>
            <a:fld id="{0171A860-A07B-4DF7-99A9-4AEE24DC3830}" type="slidenum">
              <a:rPr lang="pt-BR" altLang="en-US"/>
              <a:pPr>
                <a:defRPr/>
              </a:pPr>
              <a:t>‹nº›</a:t>
            </a:fld>
            <a:endParaRPr lang="pt-BR" altLang="en-US"/>
          </a:p>
        </p:txBody>
      </p:sp>
    </p:spTree>
    <p:extLst>
      <p:ext uri="{BB962C8B-B14F-4D97-AF65-F5344CB8AC3E}">
        <p14:creationId xmlns:p14="http://schemas.microsoft.com/office/powerpoint/2010/main" val="66275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lvl1pPr>
              <a:defRPr/>
            </a:lvl1pPr>
          </a:lstStyle>
          <a:p>
            <a:pPr>
              <a:defRPr/>
            </a:pPr>
            <a:endParaRPr lang="pt-BR" altLang="en-US"/>
          </a:p>
        </p:txBody>
      </p:sp>
      <p:sp>
        <p:nvSpPr>
          <p:cNvPr id="5" name="Espaço Reservado para Rodapé 4"/>
          <p:cNvSpPr>
            <a:spLocks noGrp="1"/>
          </p:cNvSpPr>
          <p:nvPr>
            <p:ph type="ftr" sz="quarter" idx="11"/>
          </p:nvPr>
        </p:nvSpPr>
        <p:spPr/>
        <p:txBody>
          <a:bodyPr/>
          <a:lstStyle>
            <a:lvl1pPr>
              <a:defRPr/>
            </a:lvl1pPr>
          </a:lstStyle>
          <a:p>
            <a:pPr>
              <a:defRPr/>
            </a:pPr>
            <a:r>
              <a:rPr lang="pt-BR" altLang="en-US"/>
              <a:t>Algoritmos de Alta Performance - Profa Patrícia Magna</a:t>
            </a:r>
          </a:p>
        </p:txBody>
      </p:sp>
      <p:sp>
        <p:nvSpPr>
          <p:cNvPr id="6" name="Espaço Reservado para Número de Slide 5"/>
          <p:cNvSpPr>
            <a:spLocks noGrp="1"/>
          </p:cNvSpPr>
          <p:nvPr>
            <p:ph type="sldNum" sz="quarter" idx="12"/>
          </p:nvPr>
        </p:nvSpPr>
        <p:spPr/>
        <p:txBody>
          <a:bodyPr/>
          <a:lstStyle>
            <a:lvl1pPr>
              <a:defRPr smtClean="0"/>
            </a:lvl1pPr>
          </a:lstStyle>
          <a:p>
            <a:pPr>
              <a:defRPr/>
            </a:pPr>
            <a:fld id="{ACEEADA1-E5DE-4917-9030-651A831A033C}" type="slidenum">
              <a:rPr lang="pt-BR" altLang="en-US"/>
              <a:pPr>
                <a:defRPr/>
              </a:pPr>
              <a:t>‹nº›</a:t>
            </a:fld>
            <a:endParaRPr lang="pt-BR" altLang="en-US"/>
          </a:p>
        </p:txBody>
      </p:sp>
    </p:spTree>
    <p:extLst>
      <p:ext uri="{BB962C8B-B14F-4D97-AF65-F5344CB8AC3E}">
        <p14:creationId xmlns:p14="http://schemas.microsoft.com/office/powerpoint/2010/main" val="19443924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Espaço Reservado para Data 3"/>
          <p:cNvSpPr>
            <a:spLocks noGrp="1"/>
          </p:cNvSpPr>
          <p:nvPr>
            <p:ph type="dt" sz="half" idx="10"/>
          </p:nvPr>
        </p:nvSpPr>
        <p:spPr/>
        <p:txBody>
          <a:bodyPr/>
          <a:lstStyle>
            <a:lvl1pPr>
              <a:defRPr/>
            </a:lvl1pPr>
          </a:lstStyle>
          <a:p>
            <a:pPr>
              <a:defRPr/>
            </a:pPr>
            <a:endParaRPr lang="pt-BR" altLang="en-US"/>
          </a:p>
        </p:txBody>
      </p:sp>
      <p:sp>
        <p:nvSpPr>
          <p:cNvPr id="4" name="Espaço Reservado para Rodapé 4"/>
          <p:cNvSpPr>
            <a:spLocks noGrp="1"/>
          </p:cNvSpPr>
          <p:nvPr>
            <p:ph type="ftr" sz="quarter" idx="11"/>
          </p:nvPr>
        </p:nvSpPr>
        <p:spPr/>
        <p:txBody>
          <a:bodyPr/>
          <a:lstStyle>
            <a:lvl1pPr>
              <a:defRPr/>
            </a:lvl1pPr>
          </a:lstStyle>
          <a:p>
            <a:pPr>
              <a:defRPr/>
            </a:pPr>
            <a:r>
              <a:rPr lang="pt-BR" altLang="en-US"/>
              <a:t>Algoritmos de Alta Performance - Profa Patrícia Magna</a:t>
            </a:r>
            <a:endParaRPr lang="pt-BR" altLang="en-US" dirty="0"/>
          </a:p>
        </p:txBody>
      </p:sp>
      <p:sp>
        <p:nvSpPr>
          <p:cNvPr id="5" name="Espaço Reservado para Número de Slide 5"/>
          <p:cNvSpPr>
            <a:spLocks noGrp="1"/>
          </p:cNvSpPr>
          <p:nvPr>
            <p:ph type="sldNum" sz="quarter" idx="12"/>
          </p:nvPr>
        </p:nvSpPr>
        <p:spPr/>
        <p:txBody>
          <a:bodyPr/>
          <a:lstStyle>
            <a:lvl1pPr>
              <a:defRPr/>
            </a:lvl1pPr>
          </a:lstStyle>
          <a:p>
            <a:pPr>
              <a:defRPr/>
            </a:pPr>
            <a:fld id="{4E4A9123-D83F-4E0F-9ED0-944EC780F83B}" type="slidenum">
              <a:rPr lang="pt-BR" altLang="en-US"/>
              <a:pPr>
                <a:defRPr/>
              </a:pPr>
              <a:t>‹nº›</a:t>
            </a:fld>
            <a:endParaRPr lang="pt-BR" altLang="en-US"/>
          </a:p>
        </p:txBody>
      </p:sp>
    </p:spTree>
    <p:extLst>
      <p:ext uri="{BB962C8B-B14F-4D97-AF65-F5344CB8AC3E}">
        <p14:creationId xmlns:p14="http://schemas.microsoft.com/office/powerpoint/2010/main" val="35325475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Espaço Reservado para Data 3"/>
          <p:cNvSpPr>
            <a:spLocks noGrp="1"/>
          </p:cNvSpPr>
          <p:nvPr>
            <p:ph type="dt" sz="half" idx="10"/>
          </p:nvPr>
        </p:nvSpPr>
        <p:spPr/>
        <p:txBody>
          <a:bodyPr/>
          <a:lstStyle>
            <a:lvl1pPr>
              <a:defRPr/>
            </a:lvl1pPr>
          </a:lstStyle>
          <a:p>
            <a:pPr>
              <a:defRPr/>
            </a:pPr>
            <a:endParaRPr lang="pt-BR" altLang="en-US"/>
          </a:p>
        </p:txBody>
      </p:sp>
      <p:sp>
        <p:nvSpPr>
          <p:cNvPr id="5" name="Espaço Reservado para Número de Slide 4"/>
          <p:cNvSpPr>
            <a:spLocks noGrp="1"/>
          </p:cNvSpPr>
          <p:nvPr>
            <p:ph type="sldNum" sz="quarter" idx="11"/>
          </p:nvPr>
        </p:nvSpPr>
        <p:spPr/>
        <p:txBody>
          <a:bodyPr/>
          <a:lstStyle>
            <a:lvl1pPr>
              <a:defRPr smtClean="0"/>
            </a:lvl1pPr>
          </a:lstStyle>
          <a:p>
            <a:pPr>
              <a:defRPr/>
            </a:pPr>
            <a:fld id="{9F5E264D-F4D9-4AE5-A8E3-27EF1AD7CF97}" type="slidenum">
              <a:rPr lang="pt-BR" altLang="en-US"/>
              <a:pPr>
                <a:defRPr/>
              </a:pPr>
              <a:t>‹nº›</a:t>
            </a:fld>
            <a:endParaRPr lang="pt-BR" altLang="en-US"/>
          </a:p>
        </p:txBody>
      </p:sp>
      <p:sp>
        <p:nvSpPr>
          <p:cNvPr id="6" name="Espaço Reservado para Rodapé 5"/>
          <p:cNvSpPr>
            <a:spLocks noGrp="1"/>
          </p:cNvSpPr>
          <p:nvPr>
            <p:ph type="ftr" sz="quarter" idx="12"/>
          </p:nvPr>
        </p:nvSpPr>
        <p:spPr/>
        <p:txBody>
          <a:bodyPr/>
          <a:lstStyle>
            <a:lvl1pPr>
              <a:defRPr/>
            </a:lvl1pPr>
          </a:lstStyle>
          <a:p>
            <a:pPr>
              <a:defRPr/>
            </a:pPr>
            <a:r>
              <a:rPr lang="pt-BR" altLang="en-US"/>
              <a:t>Algoritmos de Alta Performance - Profa Patrícia Magna</a:t>
            </a:r>
          </a:p>
        </p:txBody>
      </p:sp>
    </p:spTree>
    <p:extLst>
      <p:ext uri="{BB962C8B-B14F-4D97-AF65-F5344CB8AC3E}">
        <p14:creationId xmlns:p14="http://schemas.microsoft.com/office/powerpoint/2010/main" val="11863818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Título e tabela">
    <p:spTree>
      <p:nvGrpSpPr>
        <p:cNvPr id="1" name=""/>
        <p:cNvGrpSpPr/>
        <p:nvPr/>
      </p:nvGrpSpPr>
      <p:grpSpPr>
        <a:xfrm>
          <a:off x="0" y="0"/>
          <a:ext cx="0" cy="0"/>
          <a:chOff x="0" y="0"/>
          <a:chExt cx="0" cy="0"/>
        </a:xfrm>
      </p:grpSpPr>
      <p:sp>
        <p:nvSpPr>
          <p:cNvPr id="2" name="Título 1"/>
          <p:cNvSpPr>
            <a:spLocks noGrp="1"/>
          </p:cNvSpPr>
          <p:nvPr>
            <p:ph type="title"/>
          </p:nvPr>
        </p:nvSpPr>
        <p:spPr>
          <a:xfrm>
            <a:off x="1150938" y="214313"/>
            <a:ext cx="7793037" cy="1462087"/>
          </a:xfrm>
        </p:spPr>
        <p:txBody>
          <a:bodyPr/>
          <a:lstStyle/>
          <a:p>
            <a:r>
              <a:rPr lang="pt-BR"/>
              <a:t>Clique para editar o estilo do título mestre</a:t>
            </a:r>
          </a:p>
        </p:txBody>
      </p:sp>
      <p:sp>
        <p:nvSpPr>
          <p:cNvPr id="3" name="Espaço Reservado para Tabela 2"/>
          <p:cNvSpPr>
            <a:spLocks noGrp="1"/>
          </p:cNvSpPr>
          <p:nvPr>
            <p:ph type="tbl" idx="1"/>
          </p:nvPr>
        </p:nvSpPr>
        <p:spPr>
          <a:xfrm>
            <a:off x="1182688" y="2017713"/>
            <a:ext cx="7772400" cy="4114800"/>
          </a:xfrm>
        </p:spPr>
        <p:txBody>
          <a:bodyPr/>
          <a:lstStyle/>
          <a:p>
            <a:pPr lvl="0"/>
            <a:endParaRPr lang="pt-BR" noProof="0"/>
          </a:p>
        </p:txBody>
      </p:sp>
      <p:sp>
        <p:nvSpPr>
          <p:cNvPr id="4" name="Rectangle 11"/>
          <p:cNvSpPr>
            <a:spLocks noGrp="1" noChangeArrowheads="1"/>
          </p:cNvSpPr>
          <p:nvPr>
            <p:ph type="dt" sz="half" idx="10"/>
          </p:nvPr>
        </p:nvSpPr>
        <p:spPr/>
        <p:txBody>
          <a:bodyPr/>
          <a:lstStyle>
            <a:lvl1pPr>
              <a:defRPr/>
            </a:lvl1pPr>
          </a:lstStyle>
          <a:p>
            <a:pPr>
              <a:defRPr/>
            </a:pPr>
            <a:endParaRPr lang="pt-BR"/>
          </a:p>
        </p:txBody>
      </p:sp>
      <p:sp>
        <p:nvSpPr>
          <p:cNvPr id="5" name="Rectangle 12"/>
          <p:cNvSpPr>
            <a:spLocks noGrp="1" noChangeArrowheads="1"/>
          </p:cNvSpPr>
          <p:nvPr>
            <p:ph type="ftr" sz="quarter" idx="11"/>
          </p:nvPr>
        </p:nvSpPr>
        <p:spPr/>
        <p:txBody>
          <a:bodyPr/>
          <a:lstStyle>
            <a:lvl1pPr>
              <a:defRPr/>
            </a:lvl1pPr>
          </a:lstStyle>
          <a:p>
            <a:pPr>
              <a:defRPr/>
            </a:pPr>
            <a:r>
              <a:rPr lang="pt-BR"/>
              <a:t>Algoritmos de Alta Performance - Profa Patrícia Magna</a:t>
            </a:r>
          </a:p>
        </p:txBody>
      </p:sp>
      <p:sp>
        <p:nvSpPr>
          <p:cNvPr id="6" name="Rectangle 13"/>
          <p:cNvSpPr>
            <a:spLocks noGrp="1" noChangeArrowheads="1"/>
          </p:cNvSpPr>
          <p:nvPr>
            <p:ph type="sldNum" sz="quarter" idx="12"/>
          </p:nvPr>
        </p:nvSpPr>
        <p:spPr/>
        <p:txBody>
          <a:bodyPr/>
          <a:lstStyle>
            <a:lvl1pPr>
              <a:defRPr smtClean="0"/>
            </a:lvl1pPr>
          </a:lstStyle>
          <a:p>
            <a:pPr>
              <a:defRPr/>
            </a:pPr>
            <a:fld id="{C73DA464-4495-4077-9091-A744F10609C8}" type="slidenum">
              <a:rPr lang="pt-BR" altLang="pt-BR"/>
              <a:pPr>
                <a:defRPr/>
              </a:pPr>
              <a:t>‹nº›</a:t>
            </a:fld>
            <a:endParaRPr lang="pt-BR" altLang="pt-BR"/>
          </a:p>
        </p:txBody>
      </p:sp>
    </p:spTree>
    <p:extLst>
      <p:ext uri="{BB962C8B-B14F-4D97-AF65-F5344CB8AC3E}">
        <p14:creationId xmlns:p14="http://schemas.microsoft.com/office/powerpoint/2010/main" val="51915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Espaço Reservado para Título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t-BR" altLang="pt-BR"/>
              <a:t>Clique para editar o estilo do título mestre</a:t>
            </a:r>
          </a:p>
        </p:txBody>
      </p:sp>
      <p:sp>
        <p:nvSpPr>
          <p:cNvPr id="1027" name="Espaço Reservado para Texto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t-BR" altLang="pt-BR"/>
              <a:t>Clique para editar os estilos do texto mestre</a:t>
            </a:r>
          </a:p>
          <a:p>
            <a:pPr lvl="1"/>
            <a:r>
              <a:rPr lang="pt-BR" altLang="pt-BR"/>
              <a:t>Segundo nível</a:t>
            </a:r>
          </a:p>
          <a:p>
            <a:pPr lvl="2"/>
            <a:r>
              <a:rPr lang="pt-BR" altLang="pt-BR"/>
              <a:t>Terceiro nível</a:t>
            </a:r>
          </a:p>
          <a:p>
            <a:pPr lvl="3"/>
            <a:r>
              <a:rPr lang="pt-BR" altLang="pt-BR"/>
              <a:t>Quarto nível</a:t>
            </a:r>
          </a:p>
          <a:p>
            <a:pPr lvl="4"/>
            <a:r>
              <a:rPr lang="pt-BR" altLang="pt-BR"/>
              <a:t>Quinto nível</a:t>
            </a: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defRPr>
            </a:lvl1pPr>
          </a:lstStyle>
          <a:p>
            <a:pPr>
              <a:defRPr/>
            </a:pPr>
            <a:endParaRPr lang="pt-BR" altLang="en-US"/>
          </a:p>
        </p:txBody>
      </p:sp>
      <p:sp>
        <p:nvSpPr>
          <p:cNvPr id="5" name="Espaço Reservado para Rodapé 4"/>
          <p:cNvSpPr>
            <a:spLocks noGrp="1"/>
          </p:cNvSpPr>
          <p:nvPr>
            <p:ph type="ftr" sz="quarter" idx="3"/>
          </p:nvPr>
        </p:nvSpPr>
        <p:spPr>
          <a:xfrm>
            <a:off x="2714625" y="6357938"/>
            <a:ext cx="3305175" cy="363537"/>
          </a:xfrm>
          <a:prstGeom prst="rect">
            <a:avLst/>
          </a:prstGeom>
        </p:spPr>
        <p:txBody>
          <a:bodyPr vert="horz" lIns="91440" tIns="45720" rIns="91440" bIns="45720" rtlCol="0" anchor="ctr"/>
          <a:lstStyle>
            <a:lvl1pPr algn="ctr" eaLnBrk="1" hangingPunct="1">
              <a:defRPr sz="1200">
                <a:solidFill>
                  <a:schemeClr val="bg1">
                    <a:lumMod val="65000"/>
                  </a:schemeClr>
                </a:solidFill>
                <a:latin typeface="Arial" charset="0"/>
              </a:defRPr>
            </a:lvl1pPr>
          </a:lstStyle>
          <a:p>
            <a:pPr>
              <a:defRPr/>
            </a:pPr>
            <a:r>
              <a:rPr lang="pt-BR" altLang="en-US"/>
              <a:t>Algoritmos de Alta Performance - Profa Patrícia Magna</a:t>
            </a:r>
            <a:endParaRPr lang="pt-BR" altLang="en-US" dirty="0"/>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defRPr>
            </a:lvl1pPr>
          </a:lstStyle>
          <a:p>
            <a:pPr>
              <a:defRPr/>
            </a:pPr>
            <a:fld id="{BFFDCA17-8283-47AE-BAEA-029F589A4715}" type="slidenum">
              <a:rPr lang="pt-BR" altLang="en-US"/>
              <a:pPr>
                <a:defRPr/>
              </a:pPr>
              <a:t>‹nº›</a:t>
            </a:fld>
            <a:endParaRPr lang="pt-BR" altLang="en-US"/>
          </a:p>
        </p:txBody>
      </p:sp>
    </p:spTree>
  </p:cSld>
  <p:clrMap bg1="lt1" tx1="dk1" bg2="lt2" tx2="dk2" accent1="accent1" accent2="accent2" accent3="accent3" accent4="accent4" accent5="accent5" accent6="accent6" hlink="hlink" folHlink="folHlink"/>
  <p:sldLayoutIdLst>
    <p:sldLayoutId id="2147483983" r:id="rId1"/>
    <p:sldLayoutId id="2147483984" r:id="rId2"/>
    <p:sldLayoutId id="2147483985" r:id="rId3"/>
    <p:sldLayoutId id="2147483986" r:id="rId4"/>
    <p:sldLayoutId id="2147483987" r:id="rId5"/>
    <p:sldLayoutId id="2147483988" r:id="rId6"/>
    <p:sldLayoutId id="2147483989" r:id="rId7"/>
    <p:sldLayoutId id="2147483990" r:id="rId8"/>
    <p:sldLayoutId id="2147483991" r:id="rId9"/>
    <p:sldLayoutId id="2147483992" r:id="rId10"/>
    <p:sldLayoutId id="2147483993" r:id="rId11"/>
    <p:sldLayoutId id="2147483982" r:id="rId12"/>
    <p:sldLayoutId id="2147483994" r:id="rId13"/>
    <p:sldLayoutId id="2147483995" r:id="rId14"/>
  </p:sldLayoutIdLst>
  <p:hf hdr="0" dt="0"/>
  <p:txStyles>
    <p:titleStyle>
      <a:lvl1pPr algn="ctr" rtl="0" eaLnBrk="0" fontAlgn="base" hangingPunct="0">
        <a:spcBef>
          <a:spcPct val="0"/>
        </a:spcBef>
        <a:spcAft>
          <a:spcPct val="0"/>
        </a:spcAft>
        <a:defRPr sz="4400" kern="1200">
          <a:solidFill>
            <a:srgbClr val="082AB8"/>
          </a:solidFill>
          <a:latin typeface="+mj-lt"/>
          <a:ea typeface="+mj-ea"/>
          <a:cs typeface="+mj-cs"/>
        </a:defRPr>
      </a:lvl1pPr>
      <a:lvl2pPr algn="ctr" rtl="0" eaLnBrk="0" fontAlgn="base" hangingPunct="0">
        <a:spcBef>
          <a:spcPct val="0"/>
        </a:spcBef>
        <a:spcAft>
          <a:spcPct val="0"/>
        </a:spcAft>
        <a:defRPr sz="4400">
          <a:solidFill>
            <a:srgbClr val="082AB8"/>
          </a:solidFill>
          <a:latin typeface="Calibri" pitchFamily="34" charset="0"/>
        </a:defRPr>
      </a:lvl2pPr>
      <a:lvl3pPr algn="ctr" rtl="0" eaLnBrk="0" fontAlgn="base" hangingPunct="0">
        <a:spcBef>
          <a:spcPct val="0"/>
        </a:spcBef>
        <a:spcAft>
          <a:spcPct val="0"/>
        </a:spcAft>
        <a:defRPr sz="4400">
          <a:solidFill>
            <a:srgbClr val="082AB8"/>
          </a:solidFill>
          <a:latin typeface="Calibri" pitchFamily="34" charset="0"/>
        </a:defRPr>
      </a:lvl3pPr>
      <a:lvl4pPr algn="ctr" rtl="0" eaLnBrk="0" fontAlgn="base" hangingPunct="0">
        <a:spcBef>
          <a:spcPct val="0"/>
        </a:spcBef>
        <a:spcAft>
          <a:spcPct val="0"/>
        </a:spcAft>
        <a:defRPr sz="4400">
          <a:solidFill>
            <a:srgbClr val="082AB8"/>
          </a:solidFill>
          <a:latin typeface="Calibri" pitchFamily="34" charset="0"/>
        </a:defRPr>
      </a:lvl4pPr>
      <a:lvl5pPr algn="ctr" rtl="0" eaLnBrk="0" fontAlgn="base" hangingPunct="0">
        <a:spcBef>
          <a:spcPct val="0"/>
        </a:spcBef>
        <a:spcAft>
          <a:spcPct val="0"/>
        </a:spcAft>
        <a:defRPr sz="4400">
          <a:solidFill>
            <a:srgbClr val="082AB8"/>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hyperlink" Target="https://www.eclipse.org/downloads/" TargetMode="External"/><Relationship Id="rId2" Type="http://schemas.openxmlformats.org/officeDocument/2006/relationships/hyperlink" Target="https://www.oracle.com/br/java/technologies/downloads/"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cstate="print"/>
          <a:srcRect l="21776" r="21705"/>
          <a:stretch/>
        </p:blipFill>
        <p:spPr>
          <a:xfrm>
            <a:off x="-11651" y="2643182"/>
            <a:ext cx="9155651" cy="2789855"/>
          </a:xfrm>
          <a:prstGeom prst="rect">
            <a:avLst/>
          </a:prstGeom>
        </p:spPr>
      </p:pic>
      <p:pic>
        <p:nvPicPr>
          <p:cNvPr id="19" name="Picture 18"/>
          <p:cNvPicPr>
            <a:picLocks noChangeAspect="1"/>
          </p:cNvPicPr>
          <p:nvPr/>
        </p:nvPicPr>
        <p:blipFill>
          <a:blip r:embed="rId3" cstate="print"/>
          <a:stretch>
            <a:fillRect/>
          </a:stretch>
        </p:blipFill>
        <p:spPr>
          <a:xfrm>
            <a:off x="7829017" y="329329"/>
            <a:ext cx="997107" cy="272893"/>
          </a:xfrm>
          <a:prstGeom prst="rect">
            <a:avLst/>
          </a:prstGeom>
        </p:spPr>
      </p:pic>
      <p:sp>
        <p:nvSpPr>
          <p:cNvPr id="2" name="Rectangle 1"/>
          <p:cNvSpPr/>
          <p:nvPr/>
        </p:nvSpPr>
        <p:spPr>
          <a:xfrm>
            <a:off x="0" y="0"/>
            <a:ext cx="9144000" cy="7875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p:cNvSpPr txBox="1"/>
          <p:nvPr/>
        </p:nvSpPr>
        <p:spPr>
          <a:xfrm>
            <a:off x="1000230" y="2714620"/>
            <a:ext cx="8143770" cy="867930"/>
          </a:xfrm>
          <a:prstGeom prst="rect">
            <a:avLst/>
          </a:prstGeom>
          <a:noFill/>
        </p:spPr>
        <p:txBody>
          <a:bodyPr wrap="square" rtlCol="0">
            <a:spAutoFit/>
          </a:bodyPr>
          <a:lstStyle/>
          <a:p>
            <a:pPr>
              <a:lnSpc>
                <a:spcPct val="90000"/>
              </a:lnSpc>
            </a:pPr>
            <a:r>
              <a:rPr lang="pt-BR" sz="2800" b="1" dirty="0">
                <a:solidFill>
                  <a:srgbClr val="FFFF00"/>
                </a:solidFill>
                <a:latin typeface="Gotham-Bold"/>
                <a:cs typeface="Gotham-Bold"/>
              </a:rPr>
              <a:t>Linguagem JAVA</a:t>
            </a:r>
          </a:p>
          <a:p>
            <a:pPr>
              <a:lnSpc>
                <a:spcPct val="90000"/>
              </a:lnSpc>
            </a:pPr>
            <a:r>
              <a:rPr lang="pt-BR" sz="2800">
                <a:solidFill>
                  <a:srgbClr val="FFFF00"/>
                </a:solidFill>
                <a:latin typeface="Gotham-Bold"/>
                <a:cs typeface="Gotham-Bold"/>
              </a:rPr>
              <a:t>Conceitos Básicos</a:t>
            </a:r>
            <a:endParaRPr lang="en-US" sz="2800" dirty="0">
              <a:solidFill>
                <a:srgbClr val="FFFF00"/>
              </a:solidFill>
              <a:latin typeface="Gotham-Bold"/>
              <a:cs typeface="Gotham-Bold"/>
            </a:endParaRPr>
          </a:p>
        </p:txBody>
      </p:sp>
      <p:sp>
        <p:nvSpPr>
          <p:cNvPr id="21" name="TextBox 20"/>
          <p:cNvSpPr txBox="1"/>
          <p:nvPr/>
        </p:nvSpPr>
        <p:spPr>
          <a:xfrm>
            <a:off x="1071538" y="4214818"/>
            <a:ext cx="5541318" cy="400110"/>
          </a:xfrm>
          <a:prstGeom prst="rect">
            <a:avLst/>
          </a:prstGeom>
          <a:noFill/>
        </p:spPr>
        <p:txBody>
          <a:bodyPr wrap="square" rtlCol="0">
            <a:spAutoFit/>
          </a:bodyPr>
          <a:lstStyle/>
          <a:p>
            <a:r>
              <a:rPr lang="pt-BR" sz="2000" b="1" dirty="0">
                <a:solidFill>
                  <a:schemeClr val="bg2"/>
                </a:solidFill>
                <a:latin typeface="Gotham-Bold"/>
              </a:rPr>
              <a:t>Algoritmos de Alta Performance</a:t>
            </a:r>
          </a:p>
        </p:txBody>
      </p:sp>
      <p:sp>
        <p:nvSpPr>
          <p:cNvPr id="22" name="TextBox 21"/>
          <p:cNvSpPr txBox="1"/>
          <p:nvPr/>
        </p:nvSpPr>
        <p:spPr>
          <a:xfrm>
            <a:off x="1071538" y="4714884"/>
            <a:ext cx="6817135" cy="341632"/>
          </a:xfrm>
          <a:prstGeom prst="rect">
            <a:avLst/>
          </a:prstGeom>
          <a:noFill/>
        </p:spPr>
        <p:txBody>
          <a:bodyPr wrap="square" rtlCol="0">
            <a:spAutoFit/>
          </a:bodyPr>
          <a:lstStyle/>
          <a:p>
            <a:pPr>
              <a:lnSpc>
                <a:spcPct val="90000"/>
              </a:lnSpc>
            </a:pPr>
            <a:r>
              <a:rPr lang="en-US" dirty="0" err="1">
                <a:solidFill>
                  <a:srgbClr val="FFFFFF"/>
                </a:solidFill>
                <a:latin typeface="Gotham-Bold"/>
                <a:cs typeface="Gotham-Bold"/>
              </a:rPr>
              <a:t>PROFa</a:t>
            </a:r>
            <a:r>
              <a:rPr lang="en-US" dirty="0">
                <a:solidFill>
                  <a:srgbClr val="FFFFFF"/>
                </a:solidFill>
                <a:latin typeface="Gotham-Bold"/>
                <a:cs typeface="Gotham-Bold"/>
              </a:rPr>
              <a:t>. PATRÍCIA MAGNA  - profpatricia.magna@fiap.com.br</a:t>
            </a:r>
          </a:p>
        </p:txBody>
      </p:sp>
      <p:sp>
        <p:nvSpPr>
          <p:cNvPr id="23" name="Rectangle 22"/>
          <p:cNvSpPr/>
          <p:nvPr/>
        </p:nvSpPr>
        <p:spPr>
          <a:xfrm flipH="1">
            <a:off x="759004" y="3423920"/>
            <a:ext cx="45719" cy="1290320"/>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Espaço Reservado para Número de Slide 9"/>
          <p:cNvSpPr>
            <a:spLocks noGrp="1"/>
          </p:cNvSpPr>
          <p:nvPr>
            <p:ph type="sldNum" sz="quarter" idx="12"/>
          </p:nvPr>
        </p:nvSpPr>
        <p:spPr/>
        <p:txBody>
          <a:bodyPr/>
          <a:lstStyle/>
          <a:p>
            <a:fld id="{93E4AAA4-6363-4581-962D-1ACCC2D600C5}" type="slidenum">
              <a:rPr lang="en-US" smtClean="0"/>
              <a:pPr/>
              <a:t>1</a:t>
            </a:fld>
            <a:endParaRPr lang="en-US"/>
          </a:p>
        </p:txBody>
      </p:sp>
      <p:sp>
        <p:nvSpPr>
          <p:cNvPr id="11" name="Espaço Reservado para Rodapé 10"/>
          <p:cNvSpPr>
            <a:spLocks noGrp="1"/>
          </p:cNvSpPr>
          <p:nvPr>
            <p:ph type="ftr" sz="quarter" idx="11"/>
          </p:nvPr>
        </p:nvSpPr>
        <p:spPr/>
        <p:txBody>
          <a:bodyPr/>
          <a:lstStyle/>
          <a:p>
            <a:pPr>
              <a:defRPr/>
            </a:pPr>
            <a:r>
              <a:rPr lang="pt-BR" altLang="en-US"/>
              <a:t>Algoritmos de Alta Performance - Profa Patrícia Magna</a:t>
            </a:r>
          </a:p>
        </p:txBody>
      </p:sp>
    </p:spTree>
    <p:extLst>
      <p:ext uri="{BB962C8B-B14F-4D97-AF65-F5344CB8AC3E}">
        <p14:creationId xmlns:p14="http://schemas.microsoft.com/office/powerpoint/2010/main" val="166844459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A226A581-B47C-9A41-0B79-58088115041A}"/>
              </a:ext>
            </a:extLst>
          </p:cNvPr>
          <p:cNvSpPr>
            <a:spLocks noChangeArrowheads="1"/>
          </p:cNvSpPr>
          <p:nvPr/>
        </p:nvSpPr>
        <p:spPr bwMode="auto">
          <a:xfrm>
            <a:off x="315913" y="1447800"/>
            <a:ext cx="8512175"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buFontTx/>
              <a:buNone/>
            </a:pPr>
            <a:r>
              <a:rPr lang="pt-BR" altLang="pt-BR" sz="2800" dirty="0">
                <a:latin typeface="+mn-lt"/>
              </a:rPr>
              <a:t>Java é uma linguagem de programação orientada a objetos desenvolvida pela Sun Microsystems, no início da década de 1990, para ser portável entre diferentes plataformas.</a:t>
            </a:r>
          </a:p>
        </p:txBody>
      </p:sp>
      <p:sp>
        <p:nvSpPr>
          <p:cNvPr id="5123" name="Rectangle 8">
            <a:extLst>
              <a:ext uri="{FF2B5EF4-FFF2-40B4-BE49-F238E27FC236}">
                <a16:creationId xmlns:a16="http://schemas.microsoft.com/office/drawing/2014/main" id="{F3D2952E-D97F-FF7A-CE16-188D26E4D58A}"/>
              </a:ext>
            </a:extLst>
          </p:cNvPr>
          <p:cNvSpPr>
            <a:spLocks noChangeArrowheads="1"/>
          </p:cNvSpPr>
          <p:nvPr/>
        </p:nvSpPr>
        <p:spPr bwMode="auto">
          <a:xfrm>
            <a:off x="8496300" y="6470650"/>
            <a:ext cx="6477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BR" altLang="pt-BR" sz="2000" b="1">
                <a:solidFill>
                  <a:schemeClr val="tx2"/>
                </a:solidFill>
              </a:rPr>
              <a:t>2</a:t>
            </a:r>
          </a:p>
        </p:txBody>
      </p:sp>
      <p:sp>
        <p:nvSpPr>
          <p:cNvPr id="5124" name="Rectangle 13">
            <a:extLst>
              <a:ext uri="{FF2B5EF4-FFF2-40B4-BE49-F238E27FC236}">
                <a16:creationId xmlns:a16="http://schemas.microsoft.com/office/drawing/2014/main" id="{E1095089-2FE5-B2F5-7A05-24E920BE81CA}"/>
              </a:ext>
            </a:extLst>
          </p:cNvPr>
          <p:cNvSpPr>
            <a:spLocks noChangeArrowheads="1"/>
          </p:cNvSpPr>
          <p:nvPr/>
        </p:nvSpPr>
        <p:spPr bwMode="auto">
          <a:xfrm>
            <a:off x="395287" y="261319"/>
            <a:ext cx="626494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BR" altLang="pt-BR" sz="3600" dirty="0">
                <a:solidFill>
                  <a:srgbClr val="082AB8"/>
                </a:solidFill>
              </a:rPr>
              <a:t>Introdução</a:t>
            </a:r>
          </a:p>
        </p:txBody>
      </p:sp>
      <p:pic>
        <p:nvPicPr>
          <p:cNvPr id="5126" name="Imagem 10">
            <a:extLst>
              <a:ext uri="{FF2B5EF4-FFF2-40B4-BE49-F238E27FC236}">
                <a16:creationId xmlns:a16="http://schemas.microsoft.com/office/drawing/2014/main" id="{16864C7B-3788-DDA4-D9E5-C67D160543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675" y="3527425"/>
            <a:ext cx="2987675" cy="298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7" name="Imagem 12">
            <a:extLst>
              <a:ext uri="{FF2B5EF4-FFF2-40B4-BE49-F238E27FC236}">
                <a16:creationId xmlns:a16="http://schemas.microsoft.com/office/drawing/2014/main" id="{FEA73C54-13B7-B363-7580-E27DD10566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3402013"/>
            <a:ext cx="1800225" cy="324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7">
            <a:extLst>
              <a:ext uri="{FF2B5EF4-FFF2-40B4-BE49-F238E27FC236}">
                <a16:creationId xmlns:a16="http://schemas.microsoft.com/office/drawing/2014/main" id="{B6553755-F749-18FC-7933-C9EFCB4D89D7}"/>
              </a:ext>
            </a:extLst>
          </p:cNvPr>
          <p:cNvSpPr>
            <a:spLocks noChangeArrowheads="1"/>
          </p:cNvSpPr>
          <p:nvPr/>
        </p:nvSpPr>
        <p:spPr bwMode="auto">
          <a:xfrm>
            <a:off x="8496300" y="6470650"/>
            <a:ext cx="6477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BR" altLang="pt-BR" sz="2000" b="1">
                <a:solidFill>
                  <a:schemeClr val="tx2"/>
                </a:solidFill>
              </a:rPr>
              <a:t>3</a:t>
            </a:r>
          </a:p>
        </p:txBody>
      </p:sp>
      <p:sp>
        <p:nvSpPr>
          <p:cNvPr id="2" name="Título 1">
            <a:extLst>
              <a:ext uri="{FF2B5EF4-FFF2-40B4-BE49-F238E27FC236}">
                <a16:creationId xmlns:a16="http://schemas.microsoft.com/office/drawing/2014/main" id="{336660DE-47C9-8653-6029-F1A9A3775C04}"/>
              </a:ext>
            </a:extLst>
          </p:cNvPr>
          <p:cNvSpPr>
            <a:spLocks noGrp="1"/>
          </p:cNvSpPr>
          <p:nvPr>
            <p:ph type="title"/>
          </p:nvPr>
        </p:nvSpPr>
        <p:spPr/>
        <p:txBody>
          <a:bodyPr/>
          <a:lstStyle/>
          <a:p>
            <a:r>
              <a:rPr lang="pt-BR" dirty="0"/>
              <a:t>Características Principais</a:t>
            </a:r>
          </a:p>
        </p:txBody>
      </p:sp>
      <p:sp>
        <p:nvSpPr>
          <p:cNvPr id="3" name="Espaço Reservado para Conteúdo 2">
            <a:extLst>
              <a:ext uri="{FF2B5EF4-FFF2-40B4-BE49-F238E27FC236}">
                <a16:creationId xmlns:a16="http://schemas.microsoft.com/office/drawing/2014/main" id="{E4C3F66C-8584-7B72-C8A6-64C9F8335F79}"/>
              </a:ext>
            </a:extLst>
          </p:cNvPr>
          <p:cNvSpPr>
            <a:spLocks noGrp="1"/>
          </p:cNvSpPr>
          <p:nvPr>
            <p:ph idx="1"/>
          </p:nvPr>
        </p:nvSpPr>
        <p:spPr>
          <a:xfrm>
            <a:off x="457200" y="1340768"/>
            <a:ext cx="8229600" cy="4525963"/>
          </a:xfrm>
        </p:spPr>
        <p:txBody>
          <a:bodyPr/>
          <a:lstStyle/>
          <a:p>
            <a:pPr algn="just" eaLnBrk="1" hangingPunct="1"/>
            <a:r>
              <a:rPr lang="pt-BR" altLang="pt-BR" sz="2400" dirty="0"/>
              <a:t>É orientada a objetos.</a:t>
            </a:r>
          </a:p>
          <a:p>
            <a:pPr algn="just" eaLnBrk="1" hangingPunct="1"/>
            <a:endParaRPr lang="pt-BR" altLang="pt-BR" sz="2400" dirty="0"/>
          </a:p>
          <a:p>
            <a:pPr algn="just" eaLnBrk="1" hangingPunct="1"/>
            <a:r>
              <a:rPr lang="pt-BR" altLang="pt-BR" sz="2400" dirty="0"/>
              <a:t>É portável, isto é, seus programas podem ser utilizados em diferentes plataformas.</a:t>
            </a:r>
          </a:p>
          <a:p>
            <a:pPr algn="just" eaLnBrk="1" hangingPunct="1"/>
            <a:endParaRPr lang="pt-BR" altLang="pt-BR" sz="2400" dirty="0"/>
          </a:p>
          <a:p>
            <a:pPr algn="just" eaLnBrk="1" hangingPunct="1"/>
            <a:r>
              <a:rPr lang="pt-BR" altLang="pt-BR" sz="2400" dirty="0"/>
              <a:t>Seu código de programação é interpretado, garantindo maior velocidade de desenvolvimento e portabilidade.</a:t>
            </a:r>
          </a:p>
          <a:p>
            <a:pPr algn="just" eaLnBrk="1" hangingPunct="1"/>
            <a:endParaRPr lang="pt-BR" altLang="pt-BR" sz="2400" dirty="0"/>
          </a:p>
          <a:p>
            <a:pPr algn="just" eaLnBrk="1" hangingPunct="1"/>
            <a:r>
              <a:rPr lang="pt-BR" altLang="pt-BR" sz="2400" dirty="0"/>
              <a:t>Princípio WORA: “</a:t>
            </a:r>
            <a:r>
              <a:rPr lang="pt-BR" altLang="pt-BR" sz="2400" i="1" dirty="0"/>
              <a:t>Write </a:t>
            </a:r>
            <a:r>
              <a:rPr lang="pt-BR" altLang="pt-BR" sz="2400" i="1" dirty="0" err="1"/>
              <a:t>Once</a:t>
            </a:r>
            <a:r>
              <a:rPr lang="pt-BR" altLang="pt-BR" sz="2400" i="1" dirty="0"/>
              <a:t>, </a:t>
            </a:r>
            <a:r>
              <a:rPr lang="pt-BR" altLang="pt-BR" sz="2400" i="1" dirty="0" err="1"/>
              <a:t>Run</a:t>
            </a:r>
            <a:r>
              <a:rPr lang="pt-BR" altLang="pt-BR" sz="2400" i="1" dirty="0"/>
              <a:t> </a:t>
            </a:r>
            <a:r>
              <a:rPr lang="pt-BR" altLang="pt-BR" sz="2400" i="1" dirty="0" err="1"/>
              <a:t>Everywhere</a:t>
            </a:r>
            <a:r>
              <a:rPr lang="pt-BR" altLang="pt-BR" sz="2400" dirty="0"/>
              <a:t>”.</a:t>
            </a:r>
          </a:p>
          <a:p>
            <a:endParaRPr lang="pt-BR"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3747C69C-B284-4335-5908-2F89DC511BD7}"/>
              </a:ext>
            </a:extLst>
          </p:cNvPr>
          <p:cNvSpPr>
            <a:spLocks noChangeArrowheads="1"/>
          </p:cNvSpPr>
          <p:nvPr/>
        </p:nvSpPr>
        <p:spPr bwMode="auto">
          <a:xfrm>
            <a:off x="315913" y="1447800"/>
            <a:ext cx="8512175" cy="319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algn="just" eaLnBrk="1" hangingPunct="1"/>
            <a:r>
              <a:rPr lang="pt-BR" altLang="pt-BR" sz="2400" dirty="0">
                <a:latin typeface="+mn-lt"/>
              </a:rPr>
              <a:t>A história da Linguagem Java começa no início dos anos 90. No ano de 1991 a Sun Microsystems iniciou o projeto denominado “Green Project”. Que de fato viria a se tornar a linguagem de programação que conhecemos hoje como Java.</a:t>
            </a:r>
          </a:p>
          <a:p>
            <a:pPr marL="342900" indent="-342900" algn="just" eaLnBrk="1" hangingPunct="1"/>
            <a:endParaRPr lang="pt-BR" altLang="pt-BR" sz="2400" dirty="0">
              <a:latin typeface="+mn-lt"/>
            </a:endParaRPr>
          </a:p>
          <a:p>
            <a:pPr marL="342900" indent="-342900" algn="just" eaLnBrk="1" hangingPunct="1"/>
            <a:r>
              <a:rPr lang="pt-BR" altLang="pt-BR" sz="2400" dirty="0">
                <a:latin typeface="+mn-lt"/>
              </a:rPr>
              <a:t>Em 2008, a Oracle adquiriu a Sun Microsystems com o objetivo de levar a linguagem de programação Java e outros produtos da Sun Microsystems para os consumidores.</a:t>
            </a:r>
          </a:p>
        </p:txBody>
      </p:sp>
      <p:sp>
        <p:nvSpPr>
          <p:cNvPr id="7171" name="Rectangle 8">
            <a:extLst>
              <a:ext uri="{FF2B5EF4-FFF2-40B4-BE49-F238E27FC236}">
                <a16:creationId xmlns:a16="http://schemas.microsoft.com/office/drawing/2014/main" id="{C1EEB430-F424-6843-6666-1377B2AA8C74}"/>
              </a:ext>
            </a:extLst>
          </p:cNvPr>
          <p:cNvSpPr>
            <a:spLocks noChangeArrowheads="1"/>
          </p:cNvSpPr>
          <p:nvPr/>
        </p:nvSpPr>
        <p:spPr bwMode="auto">
          <a:xfrm>
            <a:off x="8496300" y="6470650"/>
            <a:ext cx="6477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BR" altLang="pt-BR" sz="2000" b="1">
                <a:solidFill>
                  <a:schemeClr val="tx2"/>
                </a:solidFill>
              </a:rPr>
              <a:t>4</a:t>
            </a:r>
          </a:p>
        </p:txBody>
      </p:sp>
      <p:pic>
        <p:nvPicPr>
          <p:cNvPr id="7174" name="Imagem 5">
            <a:extLst>
              <a:ext uri="{FF2B5EF4-FFF2-40B4-BE49-F238E27FC236}">
                <a16:creationId xmlns:a16="http://schemas.microsoft.com/office/drawing/2014/main" id="{CD0D4307-365B-71FE-DF65-F2E71BB493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4126" y="4509120"/>
            <a:ext cx="3268045" cy="231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ítulo 1">
            <a:extLst>
              <a:ext uri="{FF2B5EF4-FFF2-40B4-BE49-F238E27FC236}">
                <a16:creationId xmlns:a16="http://schemas.microsoft.com/office/drawing/2014/main" id="{BC15D2E1-AC0F-C6ED-3B67-DF5D85422166}"/>
              </a:ext>
            </a:extLst>
          </p:cNvPr>
          <p:cNvSpPr>
            <a:spLocks noGrp="1"/>
          </p:cNvSpPr>
          <p:nvPr>
            <p:ph type="title"/>
          </p:nvPr>
        </p:nvSpPr>
        <p:spPr/>
        <p:txBody>
          <a:bodyPr/>
          <a:lstStyle/>
          <a:p>
            <a:r>
              <a:rPr lang="pt-BR" dirty="0"/>
              <a:t>Um pouco de história...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7">
            <a:extLst>
              <a:ext uri="{FF2B5EF4-FFF2-40B4-BE49-F238E27FC236}">
                <a16:creationId xmlns:a16="http://schemas.microsoft.com/office/drawing/2014/main" id="{C2351718-C894-D97D-413D-6B583C0B48FC}"/>
              </a:ext>
            </a:extLst>
          </p:cNvPr>
          <p:cNvSpPr>
            <a:spLocks noChangeArrowheads="1"/>
          </p:cNvSpPr>
          <p:nvPr/>
        </p:nvSpPr>
        <p:spPr bwMode="auto">
          <a:xfrm>
            <a:off x="8496300" y="6470650"/>
            <a:ext cx="6477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BR" altLang="pt-BR" sz="2000" b="1">
                <a:solidFill>
                  <a:schemeClr val="tx2"/>
                </a:solidFill>
              </a:rPr>
              <a:t>5</a:t>
            </a:r>
          </a:p>
        </p:txBody>
      </p:sp>
      <p:pic>
        <p:nvPicPr>
          <p:cNvPr id="8198" name="Imagem 4">
            <a:extLst>
              <a:ext uri="{FF2B5EF4-FFF2-40B4-BE49-F238E27FC236}">
                <a16:creationId xmlns:a16="http://schemas.microsoft.com/office/drawing/2014/main" id="{A65638AA-582B-A79E-FFF3-5B1A2A583D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599" y="4059732"/>
            <a:ext cx="6678777" cy="224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ítulo 2">
            <a:extLst>
              <a:ext uri="{FF2B5EF4-FFF2-40B4-BE49-F238E27FC236}">
                <a16:creationId xmlns:a16="http://schemas.microsoft.com/office/drawing/2014/main" id="{06B7BDD9-3A7A-1644-5B54-B20B6AA26010}"/>
              </a:ext>
            </a:extLst>
          </p:cNvPr>
          <p:cNvSpPr>
            <a:spLocks noGrp="1"/>
          </p:cNvSpPr>
          <p:nvPr>
            <p:ph type="title"/>
          </p:nvPr>
        </p:nvSpPr>
        <p:spPr/>
        <p:txBody>
          <a:bodyPr/>
          <a:lstStyle/>
          <a:p>
            <a:r>
              <a:rPr lang="pt-BR" dirty="0"/>
              <a:t>Do Programa-fonte à Execução</a:t>
            </a:r>
          </a:p>
        </p:txBody>
      </p:sp>
      <p:sp>
        <p:nvSpPr>
          <p:cNvPr id="4" name="Espaço Reservado para Conteúdo 3">
            <a:extLst>
              <a:ext uri="{FF2B5EF4-FFF2-40B4-BE49-F238E27FC236}">
                <a16:creationId xmlns:a16="http://schemas.microsoft.com/office/drawing/2014/main" id="{4F726E7D-0FF6-F240-F874-67A0F2A21230}"/>
              </a:ext>
            </a:extLst>
          </p:cNvPr>
          <p:cNvSpPr>
            <a:spLocks noGrp="1"/>
          </p:cNvSpPr>
          <p:nvPr>
            <p:ph idx="1"/>
          </p:nvPr>
        </p:nvSpPr>
        <p:spPr>
          <a:xfrm>
            <a:off x="457200" y="1409101"/>
            <a:ext cx="8435280" cy="4525963"/>
          </a:xfrm>
        </p:spPr>
        <p:txBody>
          <a:bodyPr/>
          <a:lstStyle/>
          <a:p>
            <a:r>
              <a:rPr lang="pt-BR" altLang="pt-BR" sz="2400" dirty="0"/>
              <a:t>Em Java, os programas são escritos em arquivos-texto com a extensão </a:t>
            </a:r>
            <a:r>
              <a:rPr lang="pt-BR" altLang="pt-BR" sz="2400" u="sng" dirty="0">
                <a:solidFill>
                  <a:schemeClr val="accent2"/>
                </a:solidFill>
              </a:rPr>
              <a:t>.</a:t>
            </a:r>
            <a:r>
              <a:rPr lang="pt-BR" altLang="pt-BR" sz="2400" u="sng" dirty="0" err="1">
                <a:solidFill>
                  <a:schemeClr val="accent2"/>
                </a:solidFill>
              </a:rPr>
              <a:t>java</a:t>
            </a:r>
            <a:r>
              <a:rPr lang="pt-BR" altLang="pt-BR" sz="2400" dirty="0"/>
              <a:t>. </a:t>
            </a:r>
          </a:p>
          <a:p>
            <a:r>
              <a:rPr lang="pt-BR" altLang="pt-BR" sz="2400" dirty="0"/>
              <a:t>Ao serem compilados com o compilador </a:t>
            </a:r>
            <a:r>
              <a:rPr lang="pt-BR" altLang="pt-BR" sz="2400" dirty="0" err="1"/>
              <a:t>javac</a:t>
            </a:r>
            <a:r>
              <a:rPr lang="pt-BR" altLang="pt-BR" sz="2400" dirty="0"/>
              <a:t>, são gerados os arquivos </a:t>
            </a:r>
            <a:r>
              <a:rPr lang="pt-BR" altLang="pt-BR" sz="2400" u="sng" dirty="0">
                <a:solidFill>
                  <a:schemeClr val="accent2"/>
                </a:solidFill>
              </a:rPr>
              <a:t>.class</a:t>
            </a:r>
            <a:r>
              <a:rPr lang="pt-BR" altLang="pt-BR" sz="2400" dirty="0"/>
              <a:t>. </a:t>
            </a:r>
          </a:p>
          <a:p>
            <a:r>
              <a:rPr lang="pt-BR" altLang="pt-BR" sz="2400" dirty="0"/>
              <a:t>Um arquivo </a:t>
            </a:r>
            <a:r>
              <a:rPr lang="pt-BR" altLang="pt-BR" sz="2400" u="sng" dirty="0">
                <a:solidFill>
                  <a:schemeClr val="accent2"/>
                </a:solidFill>
              </a:rPr>
              <a:t>.</a:t>
            </a:r>
            <a:r>
              <a:rPr lang="pt-BR" altLang="pt-BR" sz="2400" u="sng" dirty="0" err="1">
                <a:solidFill>
                  <a:schemeClr val="accent2"/>
                </a:solidFill>
              </a:rPr>
              <a:t>class</a:t>
            </a:r>
            <a:r>
              <a:rPr lang="pt-BR" altLang="pt-BR" sz="2400" dirty="0"/>
              <a:t> é constituído de </a:t>
            </a:r>
            <a:r>
              <a:rPr lang="pt-BR" altLang="pt-BR" sz="2400" u="sng" dirty="0" err="1">
                <a:solidFill>
                  <a:schemeClr val="accent2"/>
                </a:solidFill>
              </a:rPr>
              <a:t>bytecodes</a:t>
            </a:r>
            <a:r>
              <a:rPr lang="pt-BR" altLang="pt-BR" sz="2400" dirty="0"/>
              <a:t>, código </a:t>
            </a:r>
            <a:r>
              <a:rPr lang="pt-BR" altLang="pt-BR" sz="2400" b="1" dirty="0"/>
              <a:t>interpretado</a:t>
            </a:r>
            <a:r>
              <a:rPr lang="pt-BR" altLang="pt-BR" sz="2400" dirty="0"/>
              <a:t> pela Máquina Virtual Java (JVM – </a:t>
            </a:r>
            <a:r>
              <a:rPr lang="pt-BR" altLang="pt-BR" sz="2400" i="1" dirty="0"/>
              <a:t>Java Virtual </a:t>
            </a:r>
            <a:r>
              <a:rPr lang="pt-BR" altLang="pt-BR" sz="2400" i="1" dirty="0" err="1"/>
              <a:t>Machine</a:t>
            </a:r>
            <a:r>
              <a:rPr lang="pt-BR" altLang="pt-BR" sz="2400" dirty="0"/>
              <a:t>).</a:t>
            </a:r>
          </a:p>
          <a:p>
            <a:endParaRPr lang="pt-B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8">
            <a:extLst>
              <a:ext uri="{FF2B5EF4-FFF2-40B4-BE49-F238E27FC236}">
                <a16:creationId xmlns:a16="http://schemas.microsoft.com/office/drawing/2014/main" id="{669A9FCE-BAC7-FAF3-EAD2-DFF95DDC7683}"/>
              </a:ext>
            </a:extLst>
          </p:cNvPr>
          <p:cNvSpPr>
            <a:spLocks noChangeArrowheads="1"/>
          </p:cNvSpPr>
          <p:nvPr/>
        </p:nvSpPr>
        <p:spPr bwMode="auto">
          <a:xfrm>
            <a:off x="8496300" y="6470650"/>
            <a:ext cx="6477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BR" altLang="pt-BR" sz="2000" b="1">
                <a:solidFill>
                  <a:schemeClr val="tx2"/>
                </a:solidFill>
              </a:rPr>
              <a:t>6</a:t>
            </a:r>
          </a:p>
        </p:txBody>
      </p:sp>
      <p:pic>
        <p:nvPicPr>
          <p:cNvPr id="9221" name="Imagem 4">
            <a:extLst>
              <a:ext uri="{FF2B5EF4-FFF2-40B4-BE49-F238E27FC236}">
                <a16:creationId xmlns:a16="http://schemas.microsoft.com/office/drawing/2014/main" id="{CF46980B-4AB9-9F88-2238-7648B93767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56792"/>
            <a:ext cx="9070975" cy="454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ítulo 2">
            <a:extLst>
              <a:ext uri="{FF2B5EF4-FFF2-40B4-BE49-F238E27FC236}">
                <a16:creationId xmlns:a16="http://schemas.microsoft.com/office/drawing/2014/main" id="{B1D7A7BC-BAA3-9193-162E-A8E728D087BB}"/>
              </a:ext>
            </a:extLst>
          </p:cNvPr>
          <p:cNvSpPr txBox="1">
            <a:spLocks/>
          </p:cNvSpPr>
          <p:nvPr/>
        </p:nvSpPr>
        <p:spPr>
          <a:xfrm>
            <a:off x="457200" y="274638"/>
            <a:ext cx="7931224" cy="1143000"/>
          </a:xfrm>
          <a:prstGeom prst="rect">
            <a:avLst/>
          </a:prstGeom>
        </p:spPr>
        <p:txBody>
          <a:bodyPr/>
          <a:lstStyle>
            <a:lvl1pPr algn="ctr" rtl="0" eaLnBrk="0" fontAlgn="base" hangingPunct="0">
              <a:spcBef>
                <a:spcPct val="0"/>
              </a:spcBef>
              <a:spcAft>
                <a:spcPct val="0"/>
              </a:spcAft>
              <a:defRPr sz="4400" kern="1200">
                <a:solidFill>
                  <a:srgbClr val="082AB8"/>
                </a:solidFill>
                <a:latin typeface="+mj-lt"/>
                <a:ea typeface="+mj-ea"/>
                <a:cs typeface="+mj-cs"/>
              </a:defRPr>
            </a:lvl1pPr>
            <a:lvl2pPr algn="ctr" rtl="0" eaLnBrk="0" fontAlgn="base" hangingPunct="0">
              <a:spcBef>
                <a:spcPct val="0"/>
              </a:spcBef>
              <a:spcAft>
                <a:spcPct val="0"/>
              </a:spcAft>
              <a:defRPr sz="4400">
                <a:solidFill>
                  <a:srgbClr val="082AB8"/>
                </a:solidFill>
                <a:latin typeface="Calibri" pitchFamily="34" charset="0"/>
              </a:defRPr>
            </a:lvl2pPr>
            <a:lvl3pPr algn="ctr" rtl="0" eaLnBrk="0" fontAlgn="base" hangingPunct="0">
              <a:spcBef>
                <a:spcPct val="0"/>
              </a:spcBef>
              <a:spcAft>
                <a:spcPct val="0"/>
              </a:spcAft>
              <a:defRPr sz="4400">
                <a:solidFill>
                  <a:srgbClr val="082AB8"/>
                </a:solidFill>
                <a:latin typeface="Calibri" pitchFamily="34" charset="0"/>
              </a:defRPr>
            </a:lvl3pPr>
            <a:lvl4pPr algn="ctr" rtl="0" eaLnBrk="0" fontAlgn="base" hangingPunct="0">
              <a:spcBef>
                <a:spcPct val="0"/>
              </a:spcBef>
              <a:spcAft>
                <a:spcPct val="0"/>
              </a:spcAft>
              <a:defRPr sz="4400">
                <a:solidFill>
                  <a:srgbClr val="082AB8"/>
                </a:solidFill>
                <a:latin typeface="Calibri" pitchFamily="34" charset="0"/>
              </a:defRPr>
            </a:lvl4pPr>
            <a:lvl5pPr algn="ctr" rtl="0" eaLnBrk="0" fontAlgn="base" hangingPunct="0">
              <a:spcBef>
                <a:spcPct val="0"/>
              </a:spcBef>
              <a:spcAft>
                <a:spcPct val="0"/>
              </a:spcAft>
              <a:defRPr sz="4400">
                <a:solidFill>
                  <a:srgbClr val="082AB8"/>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pt-BR" sz="3600" dirty="0"/>
              <a:t>Compilação x Interpretação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Imagem 2">
            <a:extLst>
              <a:ext uri="{FF2B5EF4-FFF2-40B4-BE49-F238E27FC236}">
                <a16:creationId xmlns:a16="http://schemas.microsoft.com/office/drawing/2014/main" id="{43B9E2B0-170C-FD3D-C738-8FD4C230AD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243" y="1772816"/>
            <a:ext cx="6000750"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3" name="Picture 8">
            <a:extLst>
              <a:ext uri="{FF2B5EF4-FFF2-40B4-BE49-F238E27FC236}">
                <a16:creationId xmlns:a16="http://schemas.microsoft.com/office/drawing/2014/main" id="{0D006A32-704A-2278-2F56-3492FEEC24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0538" y="1439863"/>
            <a:ext cx="1800225" cy="155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4" name="Picture 8">
            <a:extLst>
              <a:ext uri="{FF2B5EF4-FFF2-40B4-BE49-F238E27FC236}">
                <a16:creationId xmlns:a16="http://schemas.microsoft.com/office/drawing/2014/main" id="{3018A51E-563C-A1ED-8650-041990F73F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0538" y="4859338"/>
            <a:ext cx="1800225"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Rectangle 8">
            <a:extLst>
              <a:ext uri="{FF2B5EF4-FFF2-40B4-BE49-F238E27FC236}">
                <a16:creationId xmlns:a16="http://schemas.microsoft.com/office/drawing/2014/main" id="{74EA0C5C-020C-77DD-9865-6859D5809693}"/>
              </a:ext>
            </a:extLst>
          </p:cNvPr>
          <p:cNvSpPr>
            <a:spLocks noChangeArrowheads="1"/>
          </p:cNvSpPr>
          <p:nvPr/>
        </p:nvSpPr>
        <p:spPr bwMode="auto">
          <a:xfrm>
            <a:off x="8496300" y="6470650"/>
            <a:ext cx="6477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BR" altLang="pt-BR" sz="2000" b="1">
                <a:solidFill>
                  <a:schemeClr val="tx2"/>
                </a:solidFill>
              </a:rPr>
              <a:t>7</a:t>
            </a:r>
          </a:p>
        </p:txBody>
      </p:sp>
      <p:cxnSp>
        <p:nvCxnSpPr>
          <p:cNvPr id="11" name="Conector de Seta Reta 10">
            <a:extLst>
              <a:ext uri="{FF2B5EF4-FFF2-40B4-BE49-F238E27FC236}">
                <a16:creationId xmlns:a16="http://schemas.microsoft.com/office/drawing/2014/main" id="{C279A282-88AF-3EFA-DDFE-C7C3555219D8}"/>
              </a:ext>
            </a:extLst>
          </p:cNvPr>
          <p:cNvCxnSpPr/>
          <p:nvPr/>
        </p:nvCxnSpPr>
        <p:spPr>
          <a:xfrm>
            <a:off x="2519363" y="2268538"/>
            <a:ext cx="1519237" cy="0"/>
          </a:xfrm>
          <a:prstGeom prst="straightConnector1">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Conector de Seta Reta 11">
            <a:extLst>
              <a:ext uri="{FF2B5EF4-FFF2-40B4-BE49-F238E27FC236}">
                <a16:creationId xmlns:a16="http://schemas.microsoft.com/office/drawing/2014/main" id="{738A0F05-086B-2966-B507-B98FBEE164CF}"/>
              </a:ext>
            </a:extLst>
          </p:cNvPr>
          <p:cNvCxnSpPr/>
          <p:nvPr/>
        </p:nvCxnSpPr>
        <p:spPr>
          <a:xfrm>
            <a:off x="2519363" y="4176713"/>
            <a:ext cx="1519237" cy="0"/>
          </a:xfrm>
          <a:prstGeom prst="straightConnector1">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Conector de Seta Reta 12">
            <a:extLst>
              <a:ext uri="{FF2B5EF4-FFF2-40B4-BE49-F238E27FC236}">
                <a16:creationId xmlns:a16="http://schemas.microsoft.com/office/drawing/2014/main" id="{057E74FC-A39D-E49F-3396-1FC4DC6768C9}"/>
              </a:ext>
            </a:extLst>
          </p:cNvPr>
          <p:cNvCxnSpPr/>
          <p:nvPr/>
        </p:nvCxnSpPr>
        <p:spPr>
          <a:xfrm>
            <a:off x="6372225" y="2268538"/>
            <a:ext cx="611188" cy="0"/>
          </a:xfrm>
          <a:prstGeom prst="straightConnector1">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Conector de Seta Reta 13">
            <a:extLst>
              <a:ext uri="{FF2B5EF4-FFF2-40B4-BE49-F238E27FC236}">
                <a16:creationId xmlns:a16="http://schemas.microsoft.com/office/drawing/2014/main" id="{47DD88AA-6BB1-AAC4-4115-DEEF77A04534}"/>
              </a:ext>
            </a:extLst>
          </p:cNvPr>
          <p:cNvCxnSpPr/>
          <p:nvPr/>
        </p:nvCxnSpPr>
        <p:spPr>
          <a:xfrm>
            <a:off x="6372225" y="5651500"/>
            <a:ext cx="611188" cy="0"/>
          </a:xfrm>
          <a:prstGeom prst="straightConnector1">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Conector de Seta Reta 15">
            <a:extLst>
              <a:ext uri="{FF2B5EF4-FFF2-40B4-BE49-F238E27FC236}">
                <a16:creationId xmlns:a16="http://schemas.microsoft.com/office/drawing/2014/main" id="{6371D165-1DDD-3BAC-E479-8848A1907933}"/>
              </a:ext>
            </a:extLst>
          </p:cNvPr>
          <p:cNvCxnSpPr/>
          <p:nvPr/>
        </p:nvCxnSpPr>
        <p:spPr>
          <a:xfrm>
            <a:off x="5219700" y="4535488"/>
            <a:ext cx="0" cy="731837"/>
          </a:xfrm>
          <a:prstGeom prst="straightConnector1">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Imagem 1">
            <a:extLst>
              <a:ext uri="{FF2B5EF4-FFF2-40B4-BE49-F238E27FC236}">
                <a16:creationId xmlns:a16="http://schemas.microsoft.com/office/drawing/2014/main" id="{A7A27DF2-BE05-A966-4489-1E416151E8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5563" y="1547813"/>
            <a:ext cx="3952875"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Rectangle 8">
            <a:extLst>
              <a:ext uri="{FF2B5EF4-FFF2-40B4-BE49-F238E27FC236}">
                <a16:creationId xmlns:a16="http://schemas.microsoft.com/office/drawing/2014/main" id="{A354EA64-94E4-ABDC-119D-F854B2F61B10}"/>
              </a:ext>
            </a:extLst>
          </p:cNvPr>
          <p:cNvSpPr>
            <a:spLocks noChangeArrowheads="1"/>
          </p:cNvSpPr>
          <p:nvPr/>
        </p:nvSpPr>
        <p:spPr bwMode="auto">
          <a:xfrm>
            <a:off x="8496300" y="6470650"/>
            <a:ext cx="6477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BR" altLang="pt-BR" sz="2000" b="1">
                <a:solidFill>
                  <a:schemeClr val="tx2"/>
                </a:solidFill>
              </a:rPr>
              <a:t>8</a:t>
            </a:r>
          </a:p>
        </p:txBody>
      </p:sp>
      <p:sp>
        <p:nvSpPr>
          <p:cNvPr id="11270" name="Rectangle 7">
            <a:extLst>
              <a:ext uri="{FF2B5EF4-FFF2-40B4-BE49-F238E27FC236}">
                <a16:creationId xmlns:a16="http://schemas.microsoft.com/office/drawing/2014/main" id="{5D315E45-EA47-406C-C4D0-2FD0E3B7231B}"/>
              </a:ext>
            </a:extLst>
          </p:cNvPr>
          <p:cNvSpPr>
            <a:spLocks noChangeArrowheads="1"/>
          </p:cNvSpPr>
          <p:nvPr/>
        </p:nvSpPr>
        <p:spPr bwMode="auto">
          <a:xfrm>
            <a:off x="4679950" y="2249488"/>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pt-BR" altLang="pt-BR" sz="2000" b="1"/>
              <a:t>compilação</a:t>
            </a:r>
          </a:p>
        </p:txBody>
      </p:sp>
      <p:sp>
        <p:nvSpPr>
          <p:cNvPr id="11271" name="Rectangle 7">
            <a:extLst>
              <a:ext uri="{FF2B5EF4-FFF2-40B4-BE49-F238E27FC236}">
                <a16:creationId xmlns:a16="http://schemas.microsoft.com/office/drawing/2014/main" id="{DD4B5083-7319-CC11-48BB-3AAA5FFA8B9A}"/>
              </a:ext>
            </a:extLst>
          </p:cNvPr>
          <p:cNvSpPr>
            <a:spLocks noChangeArrowheads="1"/>
          </p:cNvSpPr>
          <p:nvPr/>
        </p:nvSpPr>
        <p:spPr bwMode="auto">
          <a:xfrm>
            <a:off x="4679950" y="3419475"/>
            <a:ext cx="1800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pt-BR" altLang="pt-BR" sz="2000" b="1"/>
              <a:t>interpretação</a:t>
            </a:r>
          </a:p>
        </p:txBody>
      </p:sp>
      <p:sp>
        <p:nvSpPr>
          <p:cNvPr id="11272" name="Rectangle 7">
            <a:extLst>
              <a:ext uri="{FF2B5EF4-FFF2-40B4-BE49-F238E27FC236}">
                <a16:creationId xmlns:a16="http://schemas.microsoft.com/office/drawing/2014/main" id="{417E39BE-75E8-D5A1-1F4C-DB1F08855900}"/>
              </a:ext>
            </a:extLst>
          </p:cNvPr>
          <p:cNvSpPr>
            <a:spLocks noChangeArrowheads="1"/>
          </p:cNvSpPr>
          <p:nvPr/>
        </p:nvSpPr>
        <p:spPr bwMode="auto">
          <a:xfrm>
            <a:off x="6480175" y="2627313"/>
            <a:ext cx="26273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pt-BR" altLang="pt-BR" sz="2000" b="1"/>
              <a:t>o mesmo bytecode para todos os SOs</a:t>
            </a:r>
          </a:p>
        </p:txBody>
      </p:sp>
      <p:sp>
        <p:nvSpPr>
          <p:cNvPr id="2" name="Título 1">
            <a:extLst>
              <a:ext uri="{FF2B5EF4-FFF2-40B4-BE49-F238E27FC236}">
                <a16:creationId xmlns:a16="http://schemas.microsoft.com/office/drawing/2014/main" id="{7806FD2F-53CF-D0AA-119D-7031BA28E952}"/>
              </a:ext>
            </a:extLst>
          </p:cNvPr>
          <p:cNvSpPr>
            <a:spLocks noGrp="1"/>
          </p:cNvSpPr>
          <p:nvPr>
            <p:ph type="title"/>
          </p:nvPr>
        </p:nvSpPr>
        <p:spPr/>
        <p:txBody>
          <a:bodyPr/>
          <a:lstStyle/>
          <a:p>
            <a:r>
              <a:rPr lang="pt-BR" dirty="0"/>
              <a:t>O “segredo” do sucesso do JAVA...</a:t>
            </a:r>
          </a:p>
        </p:txBody>
      </p:sp>
      <p:sp>
        <p:nvSpPr>
          <p:cNvPr id="5" name="Estrela: 7 Pontas 4">
            <a:extLst>
              <a:ext uri="{FF2B5EF4-FFF2-40B4-BE49-F238E27FC236}">
                <a16:creationId xmlns:a16="http://schemas.microsoft.com/office/drawing/2014/main" id="{5E27BAF0-BA8C-CFB0-FF7E-F4C5F22D4A4C}"/>
              </a:ext>
            </a:extLst>
          </p:cNvPr>
          <p:cNvSpPr/>
          <p:nvPr/>
        </p:nvSpPr>
        <p:spPr>
          <a:xfrm>
            <a:off x="5940152" y="2249488"/>
            <a:ext cx="3672408" cy="1390650"/>
          </a:xfrm>
          <a:prstGeom prst="star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4">
            <a:extLst>
              <a:ext uri="{FF2B5EF4-FFF2-40B4-BE49-F238E27FC236}">
                <a16:creationId xmlns:a16="http://schemas.microsoft.com/office/drawing/2014/main" id="{457233E9-1A16-0B8A-9BD5-B4B67F0B4F56}"/>
              </a:ext>
            </a:extLst>
          </p:cNvPr>
          <p:cNvSpPr>
            <a:spLocks noChangeArrowheads="1"/>
          </p:cNvSpPr>
          <p:nvPr/>
        </p:nvSpPr>
        <p:spPr bwMode="auto">
          <a:xfrm>
            <a:off x="8496300" y="6470650"/>
            <a:ext cx="6477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BR" altLang="pt-BR" sz="2000" b="1">
                <a:solidFill>
                  <a:schemeClr val="tx2"/>
                </a:solidFill>
              </a:rPr>
              <a:t>9</a:t>
            </a:r>
          </a:p>
        </p:txBody>
      </p:sp>
      <p:pic>
        <p:nvPicPr>
          <p:cNvPr id="12293" name="Imagem 2">
            <a:extLst>
              <a:ext uri="{FF2B5EF4-FFF2-40B4-BE49-F238E27FC236}">
                <a16:creationId xmlns:a16="http://schemas.microsoft.com/office/drawing/2014/main" id="{09B1FE73-DD81-42BA-9893-D41B60C0FE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022" y="188641"/>
            <a:ext cx="2602684" cy="4032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4" name="Rectangle 7">
            <a:extLst>
              <a:ext uri="{FF2B5EF4-FFF2-40B4-BE49-F238E27FC236}">
                <a16:creationId xmlns:a16="http://schemas.microsoft.com/office/drawing/2014/main" id="{CC19A473-9191-F4EE-27A2-7707CBC09380}"/>
              </a:ext>
            </a:extLst>
          </p:cNvPr>
          <p:cNvSpPr>
            <a:spLocks noChangeArrowheads="1"/>
          </p:cNvSpPr>
          <p:nvPr/>
        </p:nvSpPr>
        <p:spPr bwMode="auto">
          <a:xfrm>
            <a:off x="3151706" y="-13412"/>
            <a:ext cx="3676650" cy="134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buFontTx/>
              <a:buNone/>
            </a:pPr>
            <a:r>
              <a:rPr lang="pt-BR" altLang="pt-BR" sz="2400" dirty="0">
                <a:latin typeface="+mn-lt"/>
              </a:rPr>
              <a:t>• ambiente básico Java</a:t>
            </a:r>
          </a:p>
          <a:p>
            <a:pPr algn="just" eaLnBrk="1" hangingPunct="1">
              <a:buFontTx/>
              <a:buNone/>
            </a:pPr>
            <a:r>
              <a:rPr lang="pt-BR" altLang="pt-BR" sz="2400" dirty="0">
                <a:latin typeface="+mn-lt"/>
              </a:rPr>
              <a:t>• bibliotecas comuns</a:t>
            </a:r>
          </a:p>
          <a:p>
            <a:pPr algn="just" eaLnBrk="1" hangingPunct="1">
              <a:buFontTx/>
              <a:buNone/>
            </a:pPr>
            <a:r>
              <a:rPr lang="pt-BR" altLang="pt-BR" sz="2400" dirty="0">
                <a:latin typeface="+mn-lt"/>
              </a:rPr>
              <a:t>• aplicações </a:t>
            </a:r>
            <a:r>
              <a:rPr lang="pt-BR" altLang="pt-BR" sz="2400" i="1" dirty="0">
                <a:latin typeface="+mn-lt"/>
              </a:rPr>
              <a:t>desktop</a:t>
            </a:r>
          </a:p>
        </p:txBody>
      </p:sp>
      <p:sp>
        <p:nvSpPr>
          <p:cNvPr id="12295" name="Rectangle 7">
            <a:extLst>
              <a:ext uri="{FF2B5EF4-FFF2-40B4-BE49-F238E27FC236}">
                <a16:creationId xmlns:a16="http://schemas.microsoft.com/office/drawing/2014/main" id="{F97D6079-341B-65D4-379D-C6408134636F}"/>
              </a:ext>
            </a:extLst>
          </p:cNvPr>
          <p:cNvSpPr>
            <a:spLocks noChangeArrowheads="1"/>
          </p:cNvSpPr>
          <p:nvPr/>
        </p:nvSpPr>
        <p:spPr bwMode="auto">
          <a:xfrm>
            <a:off x="3166252" y="1752432"/>
            <a:ext cx="3924300"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spcBef>
                <a:spcPct val="20000"/>
              </a:spcBef>
            </a:pPr>
            <a:r>
              <a:rPr lang="pt-BR" altLang="pt-BR" sz="2400" dirty="0">
                <a:latin typeface="+mn-lt"/>
              </a:rPr>
              <a:t>• contém o Java SE</a:t>
            </a:r>
          </a:p>
          <a:p>
            <a:pPr algn="just" eaLnBrk="1" hangingPunct="1">
              <a:spcBef>
                <a:spcPct val="20000"/>
              </a:spcBef>
            </a:pPr>
            <a:r>
              <a:rPr lang="pt-BR" altLang="pt-BR" sz="2400" dirty="0">
                <a:latin typeface="+mn-lt"/>
              </a:rPr>
              <a:t>• aplicações para Internet</a:t>
            </a:r>
          </a:p>
        </p:txBody>
      </p:sp>
      <p:sp>
        <p:nvSpPr>
          <p:cNvPr id="12296" name="Rectangle 7">
            <a:extLst>
              <a:ext uri="{FF2B5EF4-FFF2-40B4-BE49-F238E27FC236}">
                <a16:creationId xmlns:a16="http://schemas.microsoft.com/office/drawing/2014/main" id="{CDCE256B-F721-B590-057F-14FE6BB29B7B}"/>
              </a:ext>
            </a:extLst>
          </p:cNvPr>
          <p:cNvSpPr>
            <a:spLocks noChangeArrowheads="1"/>
          </p:cNvSpPr>
          <p:nvPr/>
        </p:nvSpPr>
        <p:spPr bwMode="auto">
          <a:xfrm>
            <a:off x="3275856" y="3295831"/>
            <a:ext cx="3924300"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buFontTx/>
              <a:buNone/>
            </a:pPr>
            <a:r>
              <a:rPr lang="pt-BR" altLang="pt-BR" sz="2400" dirty="0">
                <a:latin typeface="+mn-lt"/>
              </a:rPr>
              <a:t>• subconjunto do Java SE</a:t>
            </a:r>
          </a:p>
          <a:p>
            <a:pPr algn="just" eaLnBrk="1" hangingPunct="1">
              <a:buFontTx/>
              <a:buNone/>
            </a:pPr>
            <a:r>
              <a:rPr lang="pt-BR" altLang="pt-BR" sz="2400" dirty="0">
                <a:latin typeface="+mn-lt"/>
              </a:rPr>
              <a:t>• aplicações embarcadas</a:t>
            </a:r>
            <a:endParaRPr lang="pt-BR" altLang="pt-BR" sz="2400" i="1" dirty="0">
              <a:latin typeface="+mn-lt"/>
            </a:endParaRPr>
          </a:p>
        </p:txBody>
      </p:sp>
      <p:pic>
        <p:nvPicPr>
          <p:cNvPr id="5" name="Imagem 4">
            <a:extLst>
              <a:ext uri="{FF2B5EF4-FFF2-40B4-BE49-F238E27FC236}">
                <a16:creationId xmlns:a16="http://schemas.microsoft.com/office/drawing/2014/main" id="{3610463D-341D-F5FF-9DF9-6B16448342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3750" y="4200706"/>
            <a:ext cx="4590617" cy="2543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7" name="Rectangle 7">
            <a:extLst>
              <a:ext uri="{FF2B5EF4-FFF2-40B4-BE49-F238E27FC236}">
                <a16:creationId xmlns:a16="http://schemas.microsoft.com/office/drawing/2014/main" id="{2152179A-6163-DCED-A06E-2776A2590374}"/>
              </a:ext>
            </a:extLst>
          </p:cNvPr>
          <p:cNvSpPr>
            <a:spLocks noChangeArrowheads="1"/>
          </p:cNvSpPr>
          <p:nvPr/>
        </p:nvSpPr>
        <p:spPr bwMode="auto">
          <a:xfrm>
            <a:off x="8496300" y="6470650"/>
            <a:ext cx="6477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BR" altLang="pt-BR" sz="2000" b="1">
                <a:solidFill>
                  <a:schemeClr val="tx2"/>
                </a:solidFill>
              </a:rPr>
              <a:t>5</a:t>
            </a:r>
          </a:p>
        </p:txBody>
      </p:sp>
      <p:pic>
        <p:nvPicPr>
          <p:cNvPr id="8198" name="Imagem 2">
            <a:extLst>
              <a:ext uri="{FF2B5EF4-FFF2-40B4-BE49-F238E27FC236}">
                <a16:creationId xmlns:a16="http://schemas.microsoft.com/office/drawing/2014/main" id="{E962FEC5-85DF-0341-B9F7-49CF38901B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1" y="3514440"/>
            <a:ext cx="7128793" cy="1971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ítulo 1">
            <a:extLst>
              <a:ext uri="{FF2B5EF4-FFF2-40B4-BE49-F238E27FC236}">
                <a16:creationId xmlns:a16="http://schemas.microsoft.com/office/drawing/2014/main" id="{4465675E-78DE-B960-71AE-6B49DB0932B1}"/>
              </a:ext>
            </a:extLst>
          </p:cNvPr>
          <p:cNvSpPr>
            <a:spLocks noGrp="1"/>
          </p:cNvSpPr>
          <p:nvPr>
            <p:ph type="title"/>
          </p:nvPr>
        </p:nvSpPr>
        <p:spPr>
          <a:xfrm>
            <a:off x="451486" y="228600"/>
            <a:ext cx="6972320" cy="1143000"/>
          </a:xfrm>
        </p:spPr>
        <p:txBody>
          <a:bodyPr/>
          <a:lstStyle/>
          <a:p>
            <a:r>
              <a:rPr lang="pt-BR" dirty="0"/>
              <a:t>Conceito Plataforma em Computação</a:t>
            </a:r>
          </a:p>
        </p:txBody>
      </p:sp>
      <p:sp>
        <p:nvSpPr>
          <p:cNvPr id="3" name="Espaço Reservado para Conteúdo 2">
            <a:extLst>
              <a:ext uri="{FF2B5EF4-FFF2-40B4-BE49-F238E27FC236}">
                <a16:creationId xmlns:a16="http://schemas.microsoft.com/office/drawing/2014/main" id="{971EBE9A-3670-DA7F-05D5-C786FC74F19B}"/>
              </a:ext>
            </a:extLst>
          </p:cNvPr>
          <p:cNvSpPr>
            <a:spLocks noGrp="1"/>
          </p:cNvSpPr>
          <p:nvPr>
            <p:ph idx="1"/>
          </p:nvPr>
        </p:nvSpPr>
        <p:spPr>
          <a:xfrm>
            <a:off x="253106" y="1772816"/>
            <a:ext cx="8229600" cy="4525963"/>
          </a:xfrm>
        </p:spPr>
        <p:txBody>
          <a:bodyPr/>
          <a:lstStyle/>
          <a:p>
            <a:r>
              <a:rPr lang="pt-BR"/>
              <a:t>Uma plataforma é um ambiente composto por hardware e software, ou seja, um sistema operacional e o hardware sobre o qual este sistema operacional é executado.</a:t>
            </a:r>
            <a:endParaRPr lang="pt-BR" dirty="0"/>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9244B5BA-707D-B996-4D27-89E73186BD7F}"/>
              </a:ext>
            </a:extLst>
          </p:cNvPr>
          <p:cNvSpPr>
            <a:spLocks noChangeArrowheads="1"/>
          </p:cNvSpPr>
          <p:nvPr/>
        </p:nvSpPr>
        <p:spPr bwMode="auto">
          <a:xfrm>
            <a:off x="8496300" y="6470650"/>
            <a:ext cx="6477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BR" altLang="pt-BR" sz="2000" b="1">
                <a:solidFill>
                  <a:schemeClr val="tx2"/>
                </a:solidFill>
              </a:rPr>
              <a:t>6</a:t>
            </a:r>
          </a:p>
        </p:txBody>
      </p:sp>
      <p:sp>
        <p:nvSpPr>
          <p:cNvPr id="2" name="Título 1">
            <a:extLst>
              <a:ext uri="{FF2B5EF4-FFF2-40B4-BE49-F238E27FC236}">
                <a16:creationId xmlns:a16="http://schemas.microsoft.com/office/drawing/2014/main" id="{F8D2D26E-A87E-F3D9-5B2F-1402673CE1D0}"/>
              </a:ext>
            </a:extLst>
          </p:cNvPr>
          <p:cNvSpPr>
            <a:spLocks noGrp="1"/>
          </p:cNvSpPr>
          <p:nvPr>
            <p:ph type="title"/>
          </p:nvPr>
        </p:nvSpPr>
        <p:spPr>
          <a:xfrm>
            <a:off x="481268" y="242102"/>
            <a:ext cx="6972320" cy="1143000"/>
          </a:xfrm>
        </p:spPr>
        <p:txBody>
          <a:bodyPr/>
          <a:lstStyle/>
          <a:p>
            <a:r>
              <a:rPr lang="pt-BR" dirty="0"/>
              <a:t>Plataforma Java</a:t>
            </a:r>
          </a:p>
        </p:txBody>
      </p:sp>
      <p:sp>
        <p:nvSpPr>
          <p:cNvPr id="3" name="Espaço Reservado para Conteúdo 2">
            <a:extLst>
              <a:ext uri="{FF2B5EF4-FFF2-40B4-BE49-F238E27FC236}">
                <a16:creationId xmlns:a16="http://schemas.microsoft.com/office/drawing/2014/main" id="{69F30F8F-51ED-FFA5-E460-7507294750DD}"/>
              </a:ext>
            </a:extLst>
          </p:cNvPr>
          <p:cNvSpPr>
            <a:spLocks noGrp="1"/>
          </p:cNvSpPr>
          <p:nvPr>
            <p:ph idx="1"/>
          </p:nvPr>
        </p:nvSpPr>
        <p:spPr>
          <a:xfrm>
            <a:off x="447645" y="1518435"/>
            <a:ext cx="8229600" cy="4525963"/>
          </a:xfrm>
        </p:spPr>
        <p:txBody>
          <a:bodyPr/>
          <a:lstStyle/>
          <a:p>
            <a:r>
              <a:rPr lang="pt-BR" altLang="pt-BR" sz="2400" dirty="0"/>
              <a:t>A plataforma Java, entretanto, é composta apenas por software, uma vez que é a Máquina Virtual Java (JVM) que faz a interface entre os programas e o sistema operacional.</a:t>
            </a:r>
          </a:p>
          <a:p>
            <a:endParaRPr lang="pt-B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a:extLst>
              <a:ext uri="{FF2B5EF4-FFF2-40B4-BE49-F238E27FC236}">
                <a16:creationId xmlns:a16="http://schemas.microsoft.com/office/drawing/2014/main" id="{E248A0FA-BC0E-A0C2-A6B5-1898BDB6831B}"/>
              </a:ext>
            </a:extLst>
          </p:cNvPr>
          <p:cNvSpPr>
            <a:spLocks noChangeArrowheads="1"/>
          </p:cNvSpPr>
          <p:nvPr/>
        </p:nvSpPr>
        <p:spPr bwMode="auto">
          <a:xfrm>
            <a:off x="8496300" y="6470650"/>
            <a:ext cx="6477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BR" altLang="pt-BR" sz="2000" b="1">
                <a:solidFill>
                  <a:schemeClr val="tx2"/>
                </a:solidFill>
              </a:rPr>
              <a:t>7</a:t>
            </a:r>
          </a:p>
        </p:txBody>
      </p:sp>
      <p:sp>
        <p:nvSpPr>
          <p:cNvPr id="2" name="Título 1">
            <a:extLst>
              <a:ext uri="{FF2B5EF4-FFF2-40B4-BE49-F238E27FC236}">
                <a16:creationId xmlns:a16="http://schemas.microsoft.com/office/drawing/2014/main" id="{DBDF111D-26B8-C7E9-5EFB-E18C7B5880F4}"/>
              </a:ext>
            </a:extLst>
          </p:cNvPr>
          <p:cNvSpPr>
            <a:spLocks noGrp="1"/>
          </p:cNvSpPr>
          <p:nvPr>
            <p:ph type="title"/>
          </p:nvPr>
        </p:nvSpPr>
        <p:spPr/>
        <p:txBody>
          <a:bodyPr/>
          <a:lstStyle/>
          <a:p>
            <a:r>
              <a:rPr lang="pt-BR" dirty="0"/>
              <a:t>Plataforma JAVA</a:t>
            </a:r>
          </a:p>
        </p:txBody>
      </p:sp>
      <p:sp>
        <p:nvSpPr>
          <p:cNvPr id="3" name="Espaço Reservado para Conteúdo 2">
            <a:extLst>
              <a:ext uri="{FF2B5EF4-FFF2-40B4-BE49-F238E27FC236}">
                <a16:creationId xmlns:a16="http://schemas.microsoft.com/office/drawing/2014/main" id="{278A86D1-B34C-907A-D1C8-65244E069E24}"/>
              </a:ext>
            </a:extLst>
          </p:cNvPr>
          <p:cNvSpPr>
            <a:spLocks noGrp="1"/>
          </p:cNvSpPr>
          <p:nvPr>
            <p:ph idx="1"/>
          </p:nvPr>
        </p:nvSpPr>
        <p:spPr>
          <a:xfrm>
            <a:off x="457200" y="1804621"/>
            <a:ext cx="8229600" cy="4525963"/>
          </a:xfrm>
        </p:spPr>
        <p:txBody>
          <a:bodyPr/>
          <a:lstStyle/>
          <a:p>
            <a:pPr marL="0" indent="0">
              <a:buNone/>
            </a:pPr>
            <a:r>
              <a:rPr lang="pt-BR" dirty="0"/>
              <a:t>A plataforma Java é composta:</a:t>
            </a:r>
          </a:p>
          <a:p>
            <a:endParaRPr lang="pt-BR" dirty="0"/>
          </a:p>
          <a:p>
            <a:r>
              <a:rPr lang="pt-BR" dirty="0"/>
              <a:t>Pela Máquina Virtual Java (JVM), responsável por fazer a interface entre um programa Java e o sistema operacional, transformando os </a:t>
            </a:r>
            <a:r>
              <a:rPr lang="pt-BR" b="1" dirty="0" err="1"/>
              <a:t>bytecodes</a:t>
            </a:r>
            <a:r>
              <a:rPr lang="pt-BR" dirty="0"/>
              <a:t> em código nativo reconhecido pelo hardware.</a:t>
            </a:r>
          </a:p>
          <a:p>
            <a:endParaRPr lang="pt-BR" dirty="0"/>
          </a:p>
          <a:p>
            <a:r>
              <a:rPr lang="pt-BR" dirty="0"/>
              <a:t> Pela API (</a:t>
            </a:r>
            <a:r>
              <a:rPr lang="pt-BR" dirty="0" err="1"/>
              <a:t>Application</a:t>
            </a:r>
            <a:r>
              <a:rPr lang="pt-BR" dirty="0"/>
              <a:t> </a:t>
            </a:r>
            <a:r>
              <a:rPr lang="pt-BR" dirty="0" err="1"/>
              <a:t>Programming</a:t>
            </a:r>
            <a:r>
              <a:rPr lang="pt-BR" dirty="0"/>
              <a:t> Interface) Java, composta por um amplo conjunto de classes já implementadas e testadas que fornecem vários recursos aos desenvolvedores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6">
            <a:extLst>
              <a:ext uri="{FF2B5EF4-FFF2-40B4-BE49-F238E27FC236}">
                <a16:creationId xmlns:a16="http://schemas.microsoft.com/office/drawing/2014/main" id="{2A343DEE-2D65-DED8-1B73-5519A2520BC2}"/>
              </a:ext>
            </a:extLst>
          </p:cNvPr>
          <p:cNvSpPr>
            <a:spLocks noChangeArrowheads="1"/>
          </p:cNvSpPr>
          <p:nvPr/>
        </p:nvSpPr>
        <p:spPr bwMode="auto">
          <a:xfrm>
            <a:off x="8496300" y="6470650"/>
            <a:ext cx="6477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BR" altLang="pt-BR" sz="2000" b="1">
                <a:solidFill>
                  <a:schemeClr val="tx2"/>
                </a:solidFill>
              </a:rPr>
              <a:t>8</a:t>
            </a:r>
          </a:p>
        </p:txBody>
      </p:sp>
      <p:sp>
        <p:nvSpPr>
          <p:cNvPr id="2" name="Título 1">
            <a:extLst>
              <a:ext uri="{FF2B5EF4-FFF2-40B4-BE49-F238E27FC236}">
                <a16:creationId xmlns:a16="http://schemas.microsoft.com/office/drawing/2014/main" id="{182B3815-721C-63E2-4DDD-C2C105318677}"/>
              </a:ext>
            </a:extLst>
          </p:cNvPr>
          <p:cNvSpPr>
            <a:spLocks noGrp="1"/>
          </p:cNvSpPr>
          <p:nvPr>
            <p:ph type="title"/>
          </p:nvPr>
        </p:nvSpPr>
        <p:spPr>
          <a:xfrm>
            <a:off x="457200" y="160337"/>
            <a:ext cx="6972320" cy="1143000"/>
          </a:xfrm>
        </p:spPr>
        <p:txBody>
          <a:bodyPr/>
          <a:lstStyle/>
          <a:p>
            <a:r>
              <a:rPr lang="pt-BR" dirty="0"/>
              <a:t>Etapas do Java em Tempo de Execução</a:t>
            </a:r>
          </a:p>
        </p:txBody>
      </p:sp>
      <p:sp>
        <p:nvSpPr>
          <p:cNvPr id="3" name="Espaço Reservado para Conteúdo 2">
            <a:extLst>
              <a:ext uri="{FF2B5EF4-FFF2-40B4-BE49-F238E27FC236}">
                <a16:creationId xmlns:a16="http://schemas.microsoft.com/office/drawing/2014/main" id="{2F19AA24-0A67-E633-2D49-423610D6C7F3}"/>
              </a:ext>
            </a:extLst>
          </p:cNvPr>
          <p:cNvSpPr>
            <a:spLocks noGrp="1"/>
          </p:cNvSpPr>
          <p:nvPr>
            <p:ph idx="1"/>
          </p:nvPr>
        </p:nvSpPr>
        <p:spPr>
          <a:xfrm>
            <a:off x="245074" y="1196752"/>
            <a:ext cx="8606565" cy="4968552"/>
          </a:xfrm>
        </p:spPr>
        <p:txBody>
          <a:bodyPr/>
          <a:lstStyle/>
          <a:p>
            <a:r>
              <a:rPr lang="pt-BR" b="1" dirty="0"/>
              <a:t>Carregamento</a:t>
            </a:r>
            <a:r>
              <a:rPr lang="pt-BR" dirty="0"/>
              <a:t>: Nesta etapa o programa com a extensão .</a:t>
            </a:r>
            <a:r>
              <a:rPr lang="pt-BR" dirty="0" err="1"/>
              <a:t>class</a:t>
            </a:r>
            <a:r>
              <a:rPr lang="pt-BR" dirty="0"/>
              <a:t> é carregado na memória RAM do computador junto com todas as outras classes que sejam necessárias para execução deste programa.</a:t>
            </a:r>
          </a:p>
          <a:p>
            <a:r>
              <a:rPr lang="pt-BR" b="1" dirty="0"/>
              <a:t>Verificação</a:t>
            </a:r>
            <a:r>
              <a:rPr lang="pt-BR" dirty="0"/>
              <a:t>: Nesta etapa os </a:t>
            </a:r>
            <a:r>
              <a:rPr lang="pt-BR" dirty="0" err="1"/>
              <a:t>bytecodes</a:t>
            </a:r>
            <a:r>
              <a:rPr lang="pt-BR" dirty="0"/>
              <a:t> são verificados por uma rotina especial que os examina para assegurar que eles sejam válidos, ou seja, que não haja nenhum tipo de problema que possa violar, por exemplo, restrições de segurança da plataforma Java.</a:t>
            </a:r>
          </a:p>
          <a:p>
            <a:r>
              <a:rPr lang="pt-BR" b="1" dirty="0"/>
              <a:t>Execução</a:t>
            </a:r>
            <a:r>
              <a:rPr lang="pt-BR" dirty="0"/>
              <a:t>: Nesta etapa a JVM executa os </a:t>
            </a:r>
            <a:r>
              <a:rPr lang="pt-BR" dirty="0" err="1"/>
              <a:t>bytecodes</a:t>
            </a:r>
            <a:r>
              <a:rPr lang="pt-BR" dirty="0"/>
              <a:t> propriamente ditos, realizando as ações que foram especificadas no programa pelo desenvolvedor, ou seja, é neste momento que o programa é executado.</a:t>
            </a:r>
          </a:p>
          <a:p>
            <a:endParaRPr lang="pt-BR" dirty="0"/>
          </a:p>
          <a:p>
            <a:endParaRPr lang="pt-B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Imagem 1">
            <a:extLst>
              <a:ext uri="{FF2B5EF4-FFF2-40B4-BE49-F238E27FC236}">
                <a16:creationId xmlns:a16="http://schemas.microsoft.com/office/drawing/2014/main" id="{25883468-3722-143B-7532-2CE41278A9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2650" y="1619250"/>
            <a:ext cx="7378700" cy="487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Rectangle 7">
            <a:extLst>
              <a:ext uri="{FF2B5EF4-FFF2-40B4-BE49-F238E27FC236}">
                <a16:creationId xmlns:a16="http://schemas.microsoft.com/office/drawing/2014/main" id="{13F586F9-7764-A4E1-41DA-BEE572905FC8}"/>
              </a:ext>
            </a:extLst>
          </p:cNvPr>
          <p:cNvSpPr>
            <a:spLocks noChangeArrowheads="1"/>
          </p:cNvSpPr>
          <p:nvPr/>
        </p:nvSpPr>
        <p:spPr bwMode="auto">
          <a:xfrm>
            <a:off x="8496300" y="6470650"/>
            <a:ext cx="6477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BR" altLang="pt-BR" sz="2000" b="1">
                <a:solidFill>
                  <a:schemeClr val="tx2"/>
                </a:solidFill>
              </a:rPr>
              <a:t>10</a:t>
            </a:r>
          </a:p>
        </p:txBody>
      </p:sp>
      <p:sp>
        <p:nvSpPr>
          <p:cNvPr id="2" name="Título 1">
            <a:extLst>
              <a:ext uri="{FF2B5EF4-FFF2-40B4-BE49-F238E27FC236}">
                <a16:creationId xmlns:a16="http://schemas.microsoft.com/office/drawing/2014/main" id="{450863BE-0317-9579-7F0F-2DDBD6C5B081}"/>
              </a:ext>
            </a:extLst>
          </p:cNvPr>
          <p:cNvSpPr>
            <a:spLocks noGrp="1"/>
          </p:cNvSpPr>
          <p:nvPr>
            <p:ph type="title"/>
          </p:nvPr>
        </p:nvSpPr>
        <p:spPr/>
        <p:txBody>
          <a:bodyPr/>
          <a:lstStyle/>
          <a:p>
            <a:r>
              <a:rPr lang="pt-BR" dirty="0"/>
              <a:t>Java em Tempo de Execução</a:t>
            </a:r>
            <a:br>
              <a:rPr lang="pt-BR" dirty="0"/>
            </a:br>
            <a:endParaRPr lang="pt-B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402D82-E078-5578-5E51-5B0B42BD1873}"/>
              </a:ext>
            </a:extLst>
          </p:cNvPr>
          <p:cNvSpPr>
            <a:spLocks noGrp="1"/>
          </p:cNvSpPr>
          <p:nvPr>
            <p:ph type="title"/>
          </p:nvPr>
        </p:nvSpPr>
        <p:spPr>
          <a:xfrm>
            <a:off x="440749" y="1296768"/>
            <a:ext cx="8229600" cy="1143000"/>
          </a:xfrm>
        </p:spPr>
        <p:txBody>
          <a:bodyPr wrap="square" anchor="ctr">
            <a:normAutofit/>
          </a:bodyPr>
          <a:lstStyle/>
          <a:p>
            <a:r>
              <a:rPr lang="pt-BR" altLang="pt-BR" b="1" dirty="0"/>
              <a:t>Instalação: JDK &amp; Eclipse</a:t>
            </a:r>
            <a:endParaRPr lang="pt-BR" dirty="0"/>
          </a:p>
        </p:txBody>
      </p:sp>
      <p:pic>
        <p:nvPicPr>
          <p:cNvPr id="1028" name="Picture 4" descr="Fotos Digitando, 56.000+ fotos de arquivo grátis de alta qualidade">
            <a:extLst>
              <a:ext uri="{FF2B5EF4-FFF2-40B4-BE49-F238E27FC236}">
                <a16:creationId xmlns:a16="http://schemas.microsoft.com/office/drawing/2014/main" id="{6F970BBE-1DAA-A0FA-0CB1-EACF3AFFFD7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533" r="7399" b="1"/>
          <a:stretch/>
        </p:blipFill>
        <p:spPr bwMode="auto">
          <a:xfrm>
            <a:off x="5436096" y="2948234"/>
            <a:ext cx="3250704" cy="3177928"/>
          </a:xfrm>
          <a:prstGeom prst="rect">
            <a:avLst/>
          </a:prstGeom>
          <a:solidFill>
            <a:srgbClr val="FFFFFF"/>
          </a:solidFill>
        </p:spPr>
      </p:pic>
      <p:sp>
        <p:nvSpPr>
          <p:cNvPr id="4" name="Espaço Reservado para Rodapé 3">
            <a:extLst>
              <a:ext uri="{FF2B5EF4-FFF2-40B4-BE49-F238E27FC236}">
                <a16:creationId xmlns:a16="http://schemas.microsoft.com/office/drawing/2014/main" id="{46009575-524B-AAB7-5229-DACCC5C2ED3A}"/>
              </a:ext>
            </a:extLst>
          </p:cNvPr>
          <p:cNvSpPr>
            <a:spLocks noGrp="1"/>
          </p:cNvSpPr>
          <p:nvPr>
            <p:ph type="ftr" sz="quarter" idx="11"/>
          </p:nvPr>
        </p:nvSpPr>
        <p:spPr>
          <a:xfrm>
            <a:off x="2928926" y="6356350"/>
            <a:ext cx="2003114" cy="501650"/>
          </a:xfrm>
        </p:spPr>
        <p:txBody>
          <a:bodyPr anchor="ctr">
            <a:normAutofit/>
          </a:bodyPr>
          <a:lstStyle/>
          <a:p>
            <a:pPr>
              <a:spcAft>
                <a:spcPts val="600"/>
              </a:spcAft>
              <a:defRPr/>
            </a:pPr>
            <a:r>
              <a:rPr lang="pt-BR" altLang="en-US" sz="900" dirty="0"/>
              <a:t>Algoritmos de Alta Performance - </a:t>
            </a:r>
            <a:r>
              <a:rPr lang="pt-BR" altLang="en-US" sz="900" dirty="0" err="1"/>
              <a:t>Profa</a:t>
            </a:r>
            <a:r>
              <a:rPr lang="pt-BR" altLang="en-US" sz="900" dirty="0"/>
              <a:t> Patrícia Magna</a:t>
            </a:r>
            <a:endParaRPr lang="pt-BR" altLang="en-US" dirty="0"/>
          </a:p>
        </p:txBody>
      </p:sp>
      <p:sp>
        <p:nvSpPr>
          <p:cNvPr id="5" name="Espaço Reservado para Número de Slide 4">
            <a:extLst>
              <a:ext uri="{FF2B5EF4-FFF2-40B4-BE49-F238E27FC236}">
                <a16:creationId xmlns:a16="http://schemas.microsoft.com/office/drawing/2014/main" id="{9DF90E56-19E1-E7F7-67ED-7D283C7A9811}"/>
              </a:ext>
            </a:extLst>
          </p:cNvPr>
          <p:cNvSpPr>
            <a:spLocks noGrp="1"/>
          </p:cNvSpPr>
          <p:nvPr>
            <p:ph type="sldNum" sz="quarter" idx="12"/>
          </p:nvPr>
        </p:nvSpPr>
        <p:spPr>
          <a:xfrm>
            <a:off x="6553200" y="6356350"/>
            <a:ext cx="2133600" cy="365125"/>
          </a:xfrm>
        </p:spPr>
        <p:txBody>
          <a:bodyPr wrap="square" anchor="ctr">
            <a:normAutofit/>
          </a:bodyPr>
          <a:lstStyle/>
          <a:p>
            <a:pPr>
              <a:spcAft>
                <a:spcPts val="600"/>
              </a:spcAft>
              <a:defRPr/>
            </a:pPr>
            <a:fld id="{0FA70AE2-C52A-487E-82EC-B4E213515206}" type="slidenum">
              <a:rPr lang="pt-BR" altLang="en-US" smtClean="0"/>
              <a:pPr>
                <a:spcAft>
                  <a:spcPts val="600"/>
                </a:spcAft>
                <a:defRPr/>
              </a:pPr>
              <a:t>15</a:t>
            </a:fld>
            <a:endParaRPr lang="pt-BR" altLang="en-US"/>
          </a:p>
        </p:txBody>
      </p:sp>
    </p:spTree>
    <p:extLst>
      <p:ext uri="{BB962C8B-B14F-4D97-AF65-F5344CB8AC3E}">
        <p14:creationId xmlns:p14="http://schemas.microsoft.com/office/powerpoint/2010/main" val="2353216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8">
            <a:extLst>
              <a:ext uri="{FF2B5EF4-FFF2-40B4-BE49-F238E27FC236}">
                <a16:creationId xmlns:a16="http://schemas.microsoft.com/office/drawing/2014/main" id="{75382691-3028-7F19-825B-1C1BD39321EA}"/>
              </a:ext>
            </a:extLst>
          </p:cNvPr>
          <p:cNvSpPr>
            <a:spLocks noGrp="1"/>
          </p:cNvSpPr>
          <p:nvPr>
            <p:ph type="title"/>
          </p:nvPr>
        </p:nvSpPr>
        <p:spPr/>
        <p:txBody>
          <a:bodyPr/>
          <a:lstStyle/>
          <a:p>
            <a:r>
              <a:rPr lang="pt-BR" dirty="0"/>
              <a:t>JAVA (JDK) e IDE Eclipse</a:t>
            </a:r>
          </a:p>
        </p:txBody>
      </p:sp>
      <p:sp>
        <p:nvSpPr>
          <p:cNvPr id="7" name="Espaço Reservado para Rodapé 6">
            <a:extLst>
              <a:ext uri="{FF2B5EF4-FFF2-40B4-BE49-F238E27FC236}">
                <a16:creationId xmlns:a16="http://schemas.microsoft.com/office/drawing/2014/main" id="{BE32D7C2-A6D5-7881-50BE-8B1761DFFA81}"/>
              </a:ext>
            </a:extLst>
          </p:cNvPr>
          <p:cNvSpPr>
            <a:spLocks noGrp="1"/>
          </p:cNvSpPr>
          <p:nvPr>
            <p:ph type="ftr" sz="quarter" idx="11"/>
          </p:nvPr>
        </p:nvSpPr>
        <p:spPr/>
        <p:txBody>
          <a:bodyPr/>
          <a:lstStyle/>
          <a:p>
            <a:pPr>
              <a:defRPr/>
            </a:pPr>
            <a:r>
              <a:rPr lang="pt-BR" altLang="en-US"/>
              <a:t>Algoritmos de Alta Performance - Profa Patrícia Magna</a:t>
            </a:r>
          </a:p>
        </p:txBody>
      </p:sp>
      <p:sp>
        <p:nvSpPr>
          <p:cNvPr id="8" name="Espaço Reservado para Número de Slide 7">
            <a:extLst>
              <a:ext uri="{FF2B5EF4-FFF2-40B4-BE49-F238E27FC236}">
                <a16:creationId xmlns:a16="http://schemas.microsoft.com/office/drawing/2014/main" id="{E255044C-07D5-CDAD-EFBE-76EBC2519CD8}"/>
              </a:ext>
            </a:extLst>
          </p:cNvPr>
          <p:cNvSpPr>
            <a:spLocks noGrp="1"/>
          </p:cNvSpPr>
          <p:nvPr>
            <p:ph type="sldNum" sz="quarter" idx="12"/>
          </p:nvPr>
        </p:nvSpPr>
        <p:spPr/>
        <p:txBody>
          <a:bodyPr/>
          <a:lstStyle/>
          <a:p>
            <a:pPr>
              <a:defRPr/>
            </a:pPr>
            <a:fld id="{B94E8A36-260A-44F0-8C15-F9F9C5DA95AC}" type="slidenum">
              <a:rPr lang="pt-BR" altLang="en-US" smtClean="0"/>
              <a:pPr>
                <a:defRPr/>
              </a:pPr>
              <a:t>16</a:t>
            </a:fld>
            <a:endParaRPr lang="pt-BR" altLang="en-US"/>
          </a:p>
        </p:txBody>
      </p:sp>
      <p:sp>
        <p:nvSpPr>
          <p:cNvPr id="11" name="Rectangle 7">
            <a:extLst>
              <a:ext uri="{FF2B5EF4-FFF2-40B4-BE49-F238E27FC236}">
                <a16:creationId xmlns:a16="http://schemas.microsoft.com/office/drawing/2014/main" id="{BD3E2B8A-E12B-9C27-8670-B24DBD2398C1}"/>
              </a:ext>
            </a:extLst>
          </p:cNvPr>
          <p:cNvSpPr>
            <a:spLocks noChangeArrowheads="1"/>
          </p:cNvSpPr>
          <p:nvPr/>
        </p:nvSpPr>
        <p:spPr bwMode="auto">
          <a:xfrm>
            <a:off x="315912" y="1909454"/>
            <a:ext cx="8512175" cy="353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buFontTx/>
              <a:buNone/>
            </a:pPr>
            <a:r>
              <a:rPr lang="pt-BR" altLang="pt-BR" sz="2800" b="1" dirty="0">
                <a:solidFill>
                  <a:schemeClr val="tx2"/>
                </a:solidFill>
                <a:highlight>
                  <a:srgbClr val="FFFF00"/>
                </a:highlight>
              </a:rPr>
              <a:t>Java SE </a:t>
            </a:r>
            <a:r>
              <a:rPr lang="pt-BR" altLang="pt-BR" sz="2800" b="1" dirty="0" err="1">
                <a:solidFill>
                  <a:schemeClr val="tx2"/>
                </a:solidFill>
                <a:highlight>
                  <a:srgbClr val="FFFF00"/>
                </a:highlight>
              </a:rPr>
              <a:t>Development</a:t>
            </a:r>
            <a:r>
              <a:rPr lang="pt-BR" altLang="pt-BR" sz="2800" b="1" dirty="0">
                <a:solidFill>
                  <a:schemeClr val="tx2"/>
                </a:solidFill>
                <a:highlight>
                  <a:srgbClr val="FFFF00"/>
                </a:highlight>
              </a:rPr>
              <a:t> Kit</a:t>
            </a:r>
          </a:p>
          <a:p>
            <a:pPr algn="just" eaLnBrk="1" hangingPunct="1">
              <a:buFontTx/>
              <a:buNone/>
            </a:pPr>
            <a:r>
              <a:rPr lang="pt-BR" altLang="pt-BR" sz="2800" b="1" dirty="0">
                <a:solidFill>
                  <a:schemeClr val="tx2"/>
                </a:solidFill>
              </a:rPr>
              <a:t>pode  ser instalado a partir da URL:</a:t>
            </a:r>
          </a:p>
          <a:p>
            <a:pPr algn="just" eaLnBrk="1" hangingPunct="1">
              <a:buFontTx/>
              <a:buNone/>
            </a:pPr>
            <a:r>
              <a:rPr lang="pt-BR" altLang="pt-BR" sz="2000" b="1" dirty="0">
                <a:solidFill>
                  <a:schemeClr val="tx2"/>
                </a:solidFill>
                <a:hlinkClick r:id="rId2"/>
              </a:rPr>
              <a:t>https://www.oracle.com/br/java/technologies/downloads/</a:t>
            </a:r>
            <a:endParaRPr lang="pt-BR" altLang="pt-BR" sz="2000" b="1" dirty="0">
              <a:solidFill>
                <a:schemeClr val="tx2"/>
              </a:solidFill>
            </a:endParaRPr>
          </a:p>
          <a:p>
            <a:pPr algn="just" eaLnBrk="1" hangingPunct="1">
              <a:buFontTx/>
              <a:buNone/>
            </a:pPr>
            <a:endParaRPr lang="pt-BR" altLang="pt-BR" sz="2800" b="1" dirty="0">
              <a:solidFill>
                <a:schemeClr val="tx2"/>
              </a:solidFill>
            </a:endParaRPr>
          </a:p>
          <a:p>
            <a:pPr algn="just" eaLnBrk="1" hangingPunct="1">
              <a:buFontTx/>
              <a:buNone/>
            </a:pPr>
            <a:r>
              <a:rPr lang="pt-BR" altLang="pt-BR" sz="2800" b="1" dirty="0">
                <a:solidFill>
                  <a:schemeClr val="tx2"/>
                </a:solidFill>
                <a:highlight>
                  <a:srgbClr val="FFFF00"/>
                </a:highlight>
              </a:rPr>
              <a:t>Eclipse (IDE)</a:t>
            </a:r>
          </a:p>
          <a:p>
            <a:pPr algn="just" eaLnBrk="1" hangingPunct="1">
              <a:buFontTx/>
              <a:buNone/>
            </a:pPr>
            <a:r>
              <a:rPr lang="pt-BR" altLang="pt-BR" sz="2800" b="1" dirty="0">
                <a:solidFill>
                  <a:schemeClr val="tx2"/>
                </a:solidFill>
              </a:rPr>
              <a:t>pode  ser instalado a partir da URL:</a:t>
            </a:r>
          </a:p>
          <a:p>
            <a:pPr algn="just" eaLnBrk="1" hangingPunct="1">
              <a:buFontTx/>
              <a:buNone/>
            </a:pPr>
            <a:endParaRPr lang="pt-BR" altLang="pt-BR" sz="1200" b="1" dirty="0">
              <a:solidFill>
                <a:schemeClr val="tx2"/>
              </a:solidFill>
            </a:endParaRPr>
          </a:p>
          <a:p>
            <a:pPr algn="just" eaLnBrk="1" hangingPunct="1">
              <a:buFontTx/>
              <a:buNone/>
            </a:pPr>
            <a:r>
              <a:rPr lang="pt-BR" altLang="pt-BR" sz="1900" b="1" dirty="0">
                <a:solidFill>
                  <a:schemeClr val="tx2"/>
                </a:solidFill>
                <a:hlinkClick r:id="rId3"/>
              </a:rPr>
              <a:t>https://www.eclipse.org/downloads/</a:t>
            </a:r>
            <a:endParaRPr lang="pt-BR" altLang="pt-BR" sz="1900" b="1" dirty="0">
              <a:solidFill>
                <a:schemeClr val="tx2"/>
              </a:solidFill>
            </a:endParaRPr>
          </a:p>
        </p:txBody>
      </p:sp>
    </p:spTree>
    <p:extLst>
      <p:ext uri="{BB962C8B-B14F-4D97-AF65-F5344CB8AC3E}">
        <p14:creationId xmlns:p14="http://schemas.microsoft.com/office/powerpoint/2010/main" val="1731890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2CCFE4-0A3E-210A-554F-BC9463B707DB}"/>
              </a:ext>
            </a:extLst>
          </p:cNvPr>
          <p:cNvSpPr>
            <a:spLocks noGrp="1"/>
          </p:cNvSpPr>
          <p:nvPr>
            <p:ph type="title"/>
          </p:nvPr>
        </p:nvSpPr>
        <p:spPr/>
        <p:txBody>
          <a:bodyPr/>
          <a:lstStyle/>
          <a:p>
            <a:r>
              <a:rPr lang="pt-BR" altLang="pt-BR" b="1" dirty="0">
                <a:solidFill>
                  <a:schemeClr val="tx2"/>
                </a:solidFill>
              </a:rPr>
              <a:t>Java SE </a:t>
            </a:r>
            <a:r>
              <a:rPr lang="pt-BR" altLang="pt-BR" b="1" dirty="0" err="1">
                <a:solidFill>
                  <a:schemeClr val="tx2"/>
                </a:solidFill>
              </a:rPr>
              <a:t>Development</a:t>
            </a:r>
            <a:r>
              <a:rPr lang="pt-BR" altLang="pt-BR" b="1" dirty="0">
                <a:solidFill>
                  <a:schemeClr val="tx2"/>
                </a:solidFill>
              </a:rPr>
              <a:t> Kit</a:t>
            </a:r>
            <a:endParaRPr lang="pt-BR" dirty="0"/>
          </a:p>
        </p:txBody>
      </p:sp>
      <p:sp>
        <p:nvSpPr>
          <p:cNvPr id="4" name="Espaço Reservado para Rodapé 3">
            <a:extLst>
              <a:ext uri="{FF2B5EF4-FFF2-40B4-BE49-F238E27FC236}">
                <a16:creationId xmlns:a16="http://schemas.microsoft.com/office/drawing/2014/main" id="{AF3E3421-63F3-BB50-B2FC-8A4EDFA53007}"/>
              </a:ext>
            </a:extLst>
          </p:cNvPr>
          <p:cNvSpPr>
            <a:spLocks noGrp="1"/>
          </p:cNvSpPr>
          <p:nvPr>
            <p:ph type="ftr" sz="quarter" idx="11"/>
          </p:nvPr>
        </p:nvSpPr>
        <p:spPr/>
        <p:txBody>
          <a:bodyPr/>
          <a:lstStyle/>
          <a:p>
            <a:pPr>
              <a:defRPr/>
            </a:pPr>
            <a:r>
              <a:rPr lang="pt-BR" altLang="en-US"/>
              <a:t>Algoritmos de Alta Performance - Profa Patrícia Magna</a:t>
            </a:r>
            <a:endParaRPr lang="pt-BR" altLang="en-US" dirty="0"/>
          </a:p>
        </p:txBody>
      </p:sp>
      <p:sp>
        <p:nvSpPr>
          <p:cNvPr id="5" name="Espaço Reservado para Número de Slide 4">
            <a:extLst>
              <a:ext uri="{FF2B5EF4-FFF2-40B4-BE49-F238E27FC236}">
                <a16:creationId xmlns:a16="http://schemas.microsoft.com/office/drawing/2014/main" id="{E381D6C1-19DD-824B-8AA9-37D1E434F6EB}"/>
              </a:ext>
            </a:extLst>
          </p:cNvPr>
          <p:cNvSpPr>
            <a:spLocks noGrp="1"/>
          </p:cNvSpPr>
          <p:nvPr>
            <p:ph type="sldNum" sz="quarter" idx="12"/>
          </p:nvPr>
        </p:nvSpPr>
        <p:spPr>
          <a:xfrm>
            <a:off x="6516216" y="6312707"/>
            <a:ext cx="2133600" cy="365125"/>
          </a:xfrm>
        </p:spPr>
        <p:txBody>
          <a:bodyPr/>
          <a:lstStyle/>
          <a:p>
            <a:pPr>
              <a:defRPr/>
            </a:pPr>
            <a:fld id="{0FA70AE2-C52A-487E-82EC-B4E213515206}" type="slidenum">
              <a:rPr lang="pt-BR" altLang="en-US" smtClean="0"/>
              <a:pPr>
                <a:defRPr/>
              </a:pPr>
              <a:t>17</a:t>
            </a:fld>
            <a:endParaRPr lang="pt-BR" altLang="en-US"/>
          </a:p>
        </p:txBody>
      </p:sp>
      <p:sp>
        <p:nvSpPr>
          <p:cNvPr id="7" name="Rectangle 7">
            <a:extLst>
              <a:ext uri="{FF2B5EF4-FFF2-40B4-BE49-F238E27FC236}">
                <a16:creationId xmlns:a16="http://schemas.microsoft.com/office/drawing/2014/main" id="{6C8F0F98-D2BB-2CE4-FB9D-C04142610395}"/>
              </a:ext>
            </a:extLst>
          </p:cNvPr>
          <p:cNvSpPr>
            <a:spLocks noChangeArrowheads="1"/>
          </p:cNvSpPr>
          <p:nvPr/>
        </p:nvSpPr>
        <p:spPr bwMode="auto">
          <a:xfrm>
            <a:off x="2339752" y="5994717"/>
            <a:ext cx="4392488" cy="338554"/>
          </a:xfrm>
          <a:prstGeom prst="rect">
            <a:avLst/>
          </a:prstGeom>
          <a:solidFill>
            <a:schemeClr val="accent6">
              <a:lumMod val="40000"/>
              <a:lumOff val="60000"/>
            </a:schemeClr>
          </a:solidFill>
          <a:ln>
            <a:noFill/>
          </a:ln>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pt-BR" altLang="pt-BR" sz="1600" b="1" dirty="0">
                <a:solidFill>
                  <a:schemeClr val="tx2"/>
                </a:solidFill>
              </a:rPr>
              <a:t>“rolando” esta página para baixo...</a:t>
            </a:r>
          </a:p>
        </p:txBody>
      </p:sp>
      <p:sp>
        <p:nvSpPr>
          <p:cNvPr id="3" name="Espaço Reservado para Conteúdo 2">
            <a:extLst>
              <a:ext uri="{FF2B5EF4-FFF2-40B4-BE49-F238E27FC236}">
                <a16:creationId xmlns:a16="http://schemas.microsoft.com/office/drawing/2014/main" id="{12E8EC05-CB26-1A66-A8CF-3944459D1DC1}"/>
              </a:ext>
            </a:extLst>
          </p:cNvPr>
          <p:cNvSpPr>
            <a:spLocks noGrp="1"/>
          </p:cNvSpPr>
          <p:nvPr>
            <p:ph idx="1"/>
          </p:nvPr>
        </p:nvSpPr>
        <p:spPr/>
        <p:txBody>
          <a:bodyPr/>
          <a:lstStyle/>
          <a:p>
            <a:endParaRPr lang="pt-BR"/>
          </a:p>
        </p:txBody>
      </p:sp>
      <p:pic>
        <p:nvPicPr>
          <p:cNvPr id="9" name="Imagem 8">
            <a:extLst>
              <a:ext uri="{FF2B5EF4-FFF2-40B4-BE49-F238E27FC236}">
                <a16:creationId xmlns:a16="http://schemas.microsoft.com/office/drawing/2014/main" id="{AEB7A783-0084-D674-F84E-CA2BACD76049}"/>
              </a:ext>
            </a:extLst>
          </p:cNvPr>
          <p:cNvPicPr>
            <a:picLocks noChangeAspect="1"/>
          </p:cNvPicPr>
          <p:nvPr/>
        </p:nvPicPr>
        <p:blipFill>
          <a:blip r:embed="rId2"/>
          <a:stretch>
            <a:fillRect/>
          </a:stretch>
        </p:blipFill>
        <p:spPr>
          <a:xfrm>
            <a:off x="53752" y="1216231"/>
            <a:ext cx="9090248" cy="3924122"/>
          </a:xfrm>
          <a:prstGeom prst="rect">
            <a:avLst/>
          </a:prstGeom>
        </p:spPr>
      </p:pic>
    </p:spTree>
    <p:extLst>
      <p:ext uri="{BB962C8B-B14F-4D97-AF65-F5344CB8AC3E}">
        <p14:creationId xmlns:p14="http://schemas.microsoft.com/office/powerpoint/2010/main" val="1048196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14">
            <a:extLst>
              <a:ext uri="{FF2B5EF4-FFF2-40B4-BE49-F238E27FC236}">
                <a16:creationId xmlns:a16="http://schemas.microsoft.com/office/drawing/2014/main" id="{E1ECBFC1-7DEF-BBAA-775A-5DCBC9FBA8F8}"/>
              </a:ext>
            </a:extLst>
          </p:cNvPr>
          <p:cNvSpPr>
            <a:spLocks noChangeArrowheads="1"/>
          </p:cNvSpPr>
          <p:nvPr/>
        </p:nvSpPr>
        <p:spPr bwMode="auto">
          <a:xfrm>
            <a:off x="8496300" y="6470650"/>
            <a:ext cx="6477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BR" altLang="pt-BR" sz="2000" b="1">
                <a:solidFill>
                  <a:schemeClr val="tx2"/>
                </a:solidFill>
              </a:rPr>
              <a:t>5</a:t>
            </a:r>
          </a:p>
        </p:txBody>
      </p:sp>
      <p:sp>
        <p:nvSpPr>
          <p:cNvPr id="8198" name="Rectangle 7">
            <a:extLst>
              <a:ext uri="{FF2B5EF4-FFF2-40B4-BE49-F238E27FC236}">
                <a16:creationId xmlns:a16="http://schemas.microsoft.com/office/drawing/2014/main" id="{5C123CD2-6C05-D0EE-22DE-49F8DE2A6FEC}"/>
              </a:ext>
            </a:extLst>
          </p:cNvPr>
          <p:cNvSpPr>
            <a:spLocks noChangeArrowheads="1"/>
          </p:cNvSpPr>
          <p:nvPr/>
        </p:nvSpPr>
        <p:spPr bwMode="auto">
          <a:xfrm>
            <a:off x="611559" y="6470650"/>
            <a:ext cx="7272809" cy="338554"/>
          </a:xfrm>
          <a:prstGeom prst="rect">
            <a:avLst/>
          </a:prstGeom>
          <a:solidFill>
            <a:schemeClr val="accent6">
              <a:lumMod val="40000"/>
              <a:lumOff val="60000"/>
            </a:schemeClr>
          </a:solidFill>
          <a:ln>
            <a:noFill/>
          </a:ln>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pt-BR" altLang="pt-BR" sz="1600" b="1" dirty="0">
                <a:solidFill>
                  <a:schemeClr val="tx2"/>
                </a:solidFill>
              </a:rPr>
              <a:t>...pode-se selecionar a versão compatível com o SO em questão</a:t>
            </a:r>
          </a:p>
        </p:txBody>
      </p:sp>
      <p:sp>
        <p:nvSpPr>
          <p:cNvPr id="2" name="Título 1">
            <a:extLst>
              <a:ext uri="{FF2B5EF4-FFF2-40B4-BE49-F238E27FC236}">
                <a16:creationId xmlns:a16="http://schemas.microsoft.com/office/drawing/2014/main" id="{4E585507-C8CF-7D75-8293-41ACC1B38BCC}"/>
              </a:ext>
            </a:extLst>
          </p:cNvPr>
          <p:cNvSpPr>
            <a:spLocks noGrp="1"/>
          </p:cNvSpPr>
          <p:nvPr>
            <p:ph type="title"/>
          </p:nvPr>
        </p:nvSpPr>
        <p:spPr>
          <a:xfrm>
            <a:off x="457200" y="274638"/>
            <a:ext cx="6972320" cy="776287"/>
          </a:xfrm>
        </p:spPr>
        <p:txBody>
          <a:bodyPr/>
          <a:lstStyle/>
          <a:p>
            <a:r>
              <a:rPr lang="pt-BR" altLang="pt-BR" b="1" dirty="0">
                <a:solidFill>
                  <a:schemeClr val="tx2"/>
                </a:solidFill>
              </a:rPr>
              <a:t>Java SE </a:t>
            </a:r>
            <a:r>
              <a:rPr lang="pt-BR" altLang="pt-BR" b="1" dirty="0" err="1">
                <a:solidFill>
                  <a:schemeClr val="tx2"/>
                </a:solidFill>
              </a:rPr>
              <a:t>Development</a:t>
            </a:r>
            <a:r>
              <a:rPr lang="pt-BR" altLang="pt-BR" b="1" dirty="0">
                <a:solidFill>
                  <a:schemeClr val="tx2"/>
                </a:solidFill>
              </a:rPr>
              <a:t> Kit</a:t>
            </a:r>
            <a:endParaRPr lang="pt-BR" dirty="0"/>
          </a:p>
        </p:txBody>
      </p:sp>
      <p:pic>
        <p:nvPicPr>
          <p:cNvPr id="4" name="Imagem 3">
            <a:extLst>
              <a:ext uri="{FF2B5EF4-FFF2-40B4-BE49-F238E27FC236}">
                <a16:creationId xmlns:a16="http://schemas.microsoft.com/office/drawing/2014/main" id="{E656737A-D1FA-1396-D2F4-B077DA4C8A15}"/>
              </a:ext>
            </a:extLst>
          </p:cNvPr>
          <p:cNvPicPr>
            <a:picLocks noChangeAspect="1"/>
          </p:cNvPicPr>
          <p:nvPr/>
        </p:nvPicPr>
        <p:blipFill>
          <a:blip r:embed="rId2"/>
          <a:stretch>
            <a:fillRect/>
          </a:stretch>
        </p:blipFill>
        <p:spPr>
          <a:xfrm>
            <a:off x="0" y="1620442"/>
            <a:ext cx="9144000" cy="361711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8">
            <a:extLst>
              <a:ext uri="{FF2B5EF4-FFF2-40B4-BE49-F238E27FC236}">
                <a16:creationId xmlns:a16="http://schemas.microsoft.com/office/drawing/2014/main" id="{CD93F9D8-94CD-AF4C-7F89-B31B66628901}"/>
              </a:ext>
            </a:extLst>
          </p:cNvPr>
          <p:cNvSpPr>
            <a:spLocks noChangeArrowheads="1"/>
          </p:cNvSpPr>
          <p:nvPr/>
        </p:nvSpPr>
        <p:spPr bwMode="auto">
          <a:xfrm>
            <a:off x="8496300" y="6470650"/>
            <a:ext cx="6477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BR" altLang="pt-BR" sz="2000" b="1">
                <a:solidFill>
                  <a:schemeClr val="tx2"/>
                </a:solidFill>
              </a:rPr>
              <a:t>7</a:t>
            </a:r>
          </a:p>
        </p:txBody>
      </p:sp>
      <p:sp>
        <p:nvSpPr>
          <p:cNvPr id="10244" name="Rectangle 13">
            <a:extLst>
              <a:ext uri="{FF2B5EF4-FFF2-40B4-BE49-F238E27FC236}">
                <a16:creationId xmlns:a16="http://schemas.microsoft.com/office/drawing/2014/main" id="{E207A804-6862-9B68-C9D9-1582C7800FFE}"/>
              </a:ext>
            </a:extLst>
          </p:cNvPr>
          <p:cNvSpPr>
            <a:spLocks noChangeArrowheads="1"/>
          </p:cNvSpPr>
          <p:nvPr/>
        </p:nvSpPr>
        <p:spPr bwMode="auto">
          <a:xfrm>
            <a:off x="0" y="241300"/>
            <a:ext cx="72723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BR" altLang="pt-BR" sz="3600" b="1" dirty="0">
                <a:solidFill>
                  <a:schemeClr val="tx2"/>
                </a:solidFill>
              </a:rPr>
              <a:t>Eclipse</a:t>
            </a:r>
          </a:p>
        </p:txBody>
      </p:sp>
      <p:pic>
        <p:nvPicPr>
          <p:cNvPr id="3" name="Imagem 2">
            <a:extLst>
              <a:ext uri="{FF2B5EF4-FFF2-40B4-BE49-F238E27FC236}">
                <a16:creationId xmlns:a16="http://schemas.microsoft.com/office/drawing/2014/main" id="{27656C32-DC21-C5FC-43EB-86C9B32268F3}"/>
              </a:ext>
            </a:extLst>
          </p:cNvPr>
          <p:cNvPicPr>
            <a:picLocks noChangeAspect="1"/>
          </p:cNvPicPr>
          <p:nvPr/>
        </p:nvPicPr>
        <p:blipFill>
          <a:blip r:embed="rId2"/>
          <a:stretch>
            <a:fillRect/>
          </a:stretch>
        </p:blipFill>
        <p:spPr>
          <a:xfrm>
            <a:off x="9525" y="881062"/>
            <a:ext cx="9124950" cy="50958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078CCA21-923B-4AB6-2214-3AC2828B37A0}"/>
              </a:ext>
            </a:extLst>
          </p:cNvPr>
          <p:cNvPicPr>
            <a:picLocks noChangeAspect="1"/>
          </p:cNvPicPr>
          <p:nvPr/>
        </p:nvPicPr>
        <p:blipFill>
          <a:blip r:embed="rId2"/>
          <a:stretch>
            <a:fillRect/>
          </a:stretch>
        </p:blipFill>
        <p:spPr>
          <a:xfrm>
            <a:off x="1835696" y="1501453"/>
            <a:ext cx="4562475" cy="2647950"/>
          </a:xfrm>
          <a:prstGeom prst="rect">
            <a:avLst/>
          </a:prstGeom>
        </p:spPr>
      </p:pic>
      <p:sp>
        <p:nvSpPr>
          <p:cNvPr id="11267" name="Rectangle 8">
            <a:extLst>
              <a:ext uri="{FF2B5EF4-FFF2-40B4-BE49-F238E27FC236}">
                <a16:creationId xmlns:a16="http://schemas.microsoft.com/office/drawing/2014/main" id="{3E583832-DFA1-0798-0691-52C2A50C97B0}"/>
              </a:ext>
            </a:extLst>
          </p:cNvPr>
          <p:cNvSpPr>
            <a:spLocks noChangeArrowheads="1"/>
          </p:cNvSpPr>
          <p:nvPr/>
        </p:nvSpPr>
        <p:spPr bwMode="auto">
          <a:xfrm>
            <a:off x="8496300" y="6470650"/>
            <a:ext cx="6477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BR" altLang="pt-BR" sz="2000" b="1">
                <a:solidFill>
                  <a:schemeClr val="tx2"/>
                </a:solidFill>
              </a:rPr>
              <a:t>8</a:t>
            </a:r>
          </a:p>
        </p:txBody>
      </p:sp>
      <p:sp>
        <p:nvSpPr>
          <p:cNvPr id="11268" name="Rectangle 13">
            <a:extLst>
              <a:ext uri="{FF2B5EF4-FFF2-40B4-BE49-F238E27FC236}">
                <a16:creationId xmlns:a16="http://schemas.microsoft.com/office/drawing/2014/main" id="{9DE9BE03-DD8F-0681-0F46-5A9B87146093}"/>
              </a:ext>
            </a:extLst>
          </p:cNvPr>
          <p:cNvSpPr>
            <a:spLocks noChangeArrowheads="1"/>
          </p:cNvSpPr>
          <p:nvPr/>
        </p:nvSpPr>
        <p:spPr bwMode="auto">
          <a:xfrm>
            <a:off x="323528" y="312119"/>
            <a:ext cx="72723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BR" altLang="pt-BR" sz="3600" b="1" dirty="0">
                <a:solidFill>
                  <a:schemeClr val="tx2"/>
                </a:solidFill>
              </a:rPr>
              <a:t>Eclipse</a:t>
            </a:r>
          </a:p>
        </p:txBody>
      </p:sp>
      <p:sp>
        <p:nvSpPr>
          <p:cNvPr id="6" name="Retângulo 5">
            <a:extLst>
              <a:ext uri="{FF2B5EF4-FFF2-40B4-BE49-F238E27FC236}">
                <a16:creationId xmlns:a16="http://schemas.microsoft.com/office/drawing/2014/main" id="{3BA14D3A-6A0F-7263-BB14-A6D1EB0A4F97}"/>
              </a:ext>
            </a:extLst>
          </p:cNvPr>
          <p:cNvSpPr/>
          <p:nvPr/>
        </p:nvSpPr>
        <p:spPr>
          <a:xfrm>
            <a:off x="3707904" y="3408041"/>
            <a:ext cx="1331912" cy="23698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7">
            <a:extLst>
              <a:ext uri="{FF2B5EF4-FFF2-40B4-BE49-F238E27FC236}">
                <a16:creationId xmlns:a16="http://schemas.microsoft.com/office/drawing/2014/main" id="{9AE01A57-A460-27C9-1D4C-28D0C720F1DC}"/>
              </a:ext>
            </a:extLst>
          </p:cNvPr>
          <p:cNvSpPr>
            <a:spLocks noChangeArrowheads="1"/>
          </p:cNvSpPr>
          <p:nvPr/>
        </p:nvSpPr>
        <p:spPr bwMode="auto">
          <a:xfrm>
            <a:off x="8496300" y="6470650"/>
            <a:ext cx="6477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BR" altLang="pt-BR" sz="2000" b="1">
                <a:solidFill>
                  <a:schemeClr val="tx2"/>
                </a:solidFill>
              </a:rPr>
              <a:t>9</a:t>
            </a:r>
          </a:p>
        </p:txBody>
      </p:sp>
      <p:sp>
        <p:nvSpPr>
          <p:cNvPr id="12293" name="Rectangle 13">
            <a:extLst>
              <a:ext uri="{FF2B5EF4-FFF2-40B4-BE49-F238E27FC236}">
                <a16:creationId xmlns:a16="http://schemas.microsoft.com/office/drawing/2014/main" id="{C4FA15A2-D672-6468-DA40-EE7A346CE2D2}"/>
              </a:ext>
            </a:extLst>
          </p:cNvPr>
          <p:cNvSpPr>
            <a:spLocks noChangeArrowheads="1"/>
          </p:cNvSpPr>
          <p:nvPr/>
        </p:nvSpPr>
        <p:spPr bwMode="auto">
          <a:xfrm>
            <a:off x="315913" y="241300"/>
            <a:ext cx="72723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BR" altLang="pt-BR" sz="3600" b="1" dirty="0">
                <a:solidFill>
                  <a:schemeClr val="tx2"/>
                </a:solidFill>
              </a:rPr>
              <a:t>Eclipse</a:t>
            </a:r>
          </a:p>
        </p:txBody>
      </p:sp>
      <p:sp>
        <p:nvSpPr>
          <p:cNvPr id="12294" name="Rectangle 7">
            <a:extLst>
              <a:ext uri="{FF2B5EF4-FFF2-40B4-BE49-F238E27FC236}">
                <a16:creationId xmlns:a16="http://schemas.microsoft.com/office/drawing/2014/main" id="{BE57EE87-D928-23CF-9ACB-D21D5DDD8393}"/>
              </a:ext>
            </a:extLst>
          </p:cNvPr>
          <p:cNvSpPr>
            <a:spLocks noChangeArrowheads="1"/>
          </p:cNvSpPr>
          <p:nvPr/>
        </p:nvSpPr>
        <p:spPr bwMode="auto">
          <a:xfrm>
            <a:off x="827584" y="6290469"/>
            <a:ext cx="6984776" cy="338554"/>
          </a:xfrm>
          <a:prstGeom prst="rect">
            <a:avLst/>
          </a:prstGeom>
          <a:solidFill>
            <a:schemeClr val="accent6">
              <a:lumMod val="40000"/>
              <a:lumOff val="60000"/>
            </a:schemeClr>
          </a:solidFill>
          <a:ln>
            <a:noFill/>
          </a:ln>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pt-BR" altLang="pt-BR" sz="1600" b="1" dirty="0">
                <a:solidFill>
                  <a:schemeClr val="tx2"/>
                </a:solidFill>
              </a:rPr>
              <a:t>(verificar a versão compatível com o SO em questão)</a:t>
            </a:r>
          </a:p>
        </p:txBody>
      </p:sp>
      <p:pic>
        <p:nvPicPr>
          <p:cNvPr id="3" name="Imagem 2">
            <a:extLst>
              <a:ext uri="{FF2B5EF4-FFF2-40B4-BE49-F238E27FC236}">
                <a16:creationId xmlns:a16="http://schemas.microsoft.com/office/drawing/2014/main" id="{4D0D6671-A7C3-218D-5C41-5B4A61E412D1}"/>
              </a:ext>
            </a:extLst>
          </p:cNvPr>
          <p:cNvPicPr>
            <a:picLocks noChangeAspect="1"/>
          </p:cNvPicPr>
          <p:nvPr/>
        </p:nvPicPr>
        <p:blipFill>
          <a:blip r:embed="rId2"/>
          <a:stretch>
            <a:fillRect/>
          </a:stretch>
        </p:blipFill>
        <p:spPr>
          <a:xfrm>
            <a:off x="1252537" y="1905000"/>
            <a:ext cx="7083681" cy="325219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580640"/>
            <a:ext cx="9144000" cy="282448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1026"/>
          <p:cNvSpPr>
            <a:spLocks noChangeArrowheads="1"/>
          </p:cNvSpPr>
          <p:nvPr/>
        </p:nvSpPr>
        <p:spPr bwMode="auto">
          <a:xfrm>
            <a:off x="1053372" y="3222882"/>
            <a:ext cx="7759752" cy="1939635"/>
          </a:xfrm>
          <a:prstGeom prst="rect">
            <a:avLst/>
          </a:prstGeom>
          <a:noFill/>
          <a:ln w="9525">
            <a:noFill/>
            <a:miter lim="800000"/>
            <a:headEnd/>
            <a:tailEnd/>
          </a:ln>
        </p:spPr>
        <p:txBody>
          <a:bodyPr wrap="square" lIns="92075" tIns="46038" rIns="92075" bIns="46038">
            <a:spAutoFit/>
          </a:bodyPr>
          <a:lstStyle/>
          <a:p>
            <a:pPr>
              <a:defRPr/>
            </a:pPr>
            <a:r>
              <a:rPr kumimoji="1" lang="pt-BR" sz="2000" dirty="0">
                <a:solidFill>
                  <a:schemeClr val="bg1"/>
                </a:solidFill>
                <a:latin typeface="Gotham-Bold"/>
                <a:cs typeface="Gotham-Bold"/>
              </a:rPr>
              <a:t>Copyright © 2025</a:t>
            </a:r>
          </a:p>
          <a:p>
            <a:pPr>
              <a:defRPr/>
            </a:pPr>
            <a:r>
              <a:rPr kumimoji="1" lang="pt-BR" sz="2000" dirty="0">
                <a:solidFill>
                  <a:schemeClr val="bg1"/>
                </a:solidFill>
                <a:latin typeface="Gotham-Bold"/>
                <a:cs typeface="Gotham-Bold"/>
              </a:rPr>
              <a:t>Prof. Patrícia Magna</a:t>
            </a:r>
          </a:p>
          <a:p>
            <a:pPr>
              <a:defRPr/>
            </a:pPr>
            <a:endParaRPr kumimoji="1" lang="pt-BR" sz="2000" dirty="0">
              <a:solidFill>
                <a:schemeClr val="bg1"/>
              </a:solidFill>
              <a:latin typeface="Gotham-Bold"/>
              <a:cs typeface="Gotham-Bold"/>
            </a:endParaRPr>
          </a:p>
          <a:p>
            <a:pPr>
              <a:defRPr/>
            </a:pPr>
            <a:r>
              <a:rPr kumimoji="1" lang="pt-BR" sz="2000" dirty="0">
                <a:solidFill>
                  <a:schemeClr val="bg1"/>
                </a:solidFill>
                <a:latin typeface="Gotham-Bold"/>
                <a:cs typeface="Gotham-Bold"/>
              </a:rPr>
              <a:t>Todos direitos reservados. Reprodução ou divulgação total ou parcial deste documento é expressamente proibido sem o consentimento formal, por escrito, dos professores.</a:t>
            </a:r>
          </a:p>
        </p:txBody>
      </p:sp>
      <p:sp>
        <p:nvSpPr>
          <p:cNvPr id="5" name="Rectangle 4"/>
          <p:cNvSpPr/>
          <p:nvPr/>
        </p:nvSpPr>
        <p:spPr>
          <a:xfrm>
            <a:off x="747966" y="3342641"/>
            <a:ext cx="72000" cy="1239520"/>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cstate="print"/>
          <a:stretch>
            <a:fillRect/>
          </a:stretch>
        </p:blipFill>
        <p:spPr>
          <a:xfrm>
            <a:off x="7837508" y="333716"/>
            <a:ext cx="975616" cy="267011"/>
          </a:xfrm>
          <a:prstGeom prst="rect">
            <a:avLst/>
          </a:prstGeom>
        </p:spPr>
      </p:pic>
      <p:sp>
        <p:nvSpPr>
          <p:cNvPr id="9" name="Espaço Reservado para Número de Slide 8"/>
          <p:cNvSpPr>
            <a:spLocks noGrp="1"/>
          </p:cNvSpPr>
          <p:nvPr>
            <p:ph type="sldNum" sz="quarter" idx="12"/>
          </p:nvPr>
        </p:nvSpPr>
        <p:spPr/>
        <p:txBody>
          <a:bodyPr/>
          <a:lstStyle/>
          <a:p>
            <a:fld id="{93E4AAA4-6363-4581-962D-1ACCC2D600C5}" type="slidenum">
              <a:rPr lang="en-US" smtClean="0"/>
              <a:pPr/>
              <a:t>22</a:t>
            </a:fld>
            <a:endParaRPr lang="en-US" dirty="0"/>
          </a:p>
        </p:txBody>
      </p:sp>
      <p:sp>
        <p:nvSpPr>
          <p:cNvPr id="7" name="Espaço Reservado para Rodapé 6"/>
          <p:cNvSpPr>
            <a:spLocks noGrp="1"/>
          </p:cNvSpPr>
          <p:nvPr>
            <p:ph type="ftr" sz="quarter" idx="11"/>
          </p:nvPr>
        </p:nvSpPr>
        <p:spPr/>
        <p:txBody>
          <a:bodyPr/>
          <a:lstStyle/>
          <a:p>
            <a:pPr>
              <a:defRPr/>
            </a:pPr>
            <a:r>
              <a:rPr lang="pt-BR" altLang="en-US"/>
              <a:t>Algoritmos de Alta Performance - Profa Patrícia Magna</a:t>
            </a:r>
          </a:p>
        </p:txBody>
      </p:sp>
    </p:spTree>
    <p:extLst>
      <p:ext uri="{BB962C8B-B14F-4D97-AF65-F5344CB8AC3E}">
        <p14:creationId xmlns:p14="http://schemas.microsoft.com/office/powerpoint/2010/main" val="69959477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2329</TotalTime>
  <Words>741</Words>
  <Application>Microsoft Office PowerPoint</Application>
  <PresentationFormat>Apresentação na tela (4:3)</PresentationFormat>
  <Paragraphs>99</Paragraphs>
  <Slides>22</Slides>
  <Notes>1</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22</vt:i4>
      </vt:variant>
    </vt:vector>
  </HeadingPairs>
  <TitlesOfParts>
    <vt:vector size="26" baseType="lpstr">
      <vt:lpstr>Arial</vt:lpstr>
      <vt:lpstr>Calibri</vt:lpstr>
      <vt:lpstr>Gotham-Bold</vt:lpstr>
      <vt:lpstr>Tema do Office</vt:lpstr>
      <vt:lpstr>Apresentação do PowerPoint</vt:lpstr>
      <vt:lpstr>Apresentação do PowerPoint</vt:lpstr>
      <vt:lpstr>Características Principais</vt:lpstr>
      <vt:lpstr>Um pouco de história...</vt:lpstr>
      <vt:lpstr>Do Programa-fonte à Execução</vt:lpstr>
      <vt:lpstr>Apresentação do PowerPoint</vt:lpstr>
      <vt:lpstr>Apresentação do PowerPoint</vt:lpstr>
      <vt:lpstr>O “segredo” do sucesso do JAVA...</vt:lpstr>
      <vt:lpstr>Apresentação do PowerPoint</vt:lpstr>
      <vt:lpstr>Conceito Plataforma em Computação</vt:lpstr>
      <vt:lpstr>Plataforma Java</vt:lpstr>
      <vt:lpstr>Plataforma JAVA</vt:lpstr>
      <vt:lpstr>Etapas do Java em Tempo de Execução</vt:lpstr>
      <vt:lpstr>Java em Tempo de Execução </vt:lpstr>
      <vt:lpstr>Instalação: JDK &amp; Eclipse</vt:lpstr>
      <vt:lpstr>JAVA (JDK) e IDE Eclipse</vt:lpstr>
      <vt:lpstr>Java SE Development Kit</vt:lpstr>
      <vt:lpstr>Java SE Development Kit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Organização de Computadores</dc:title>
  <dc:creator>Patrícia Magna</dc:creator>
  <cp:lastModifiedBy>Patricia Magna</cp:lastModifiedBy>
  <cp:revision>212</cp:revision>
  <dcterms:created xsi:type="dcterms:W3CDTF">2005-02-16T13:03:14Z</dcterms:created>
  <dcterms:modified xsi:type="dcterms:W3CDTF">2025-02-10T19:26:00Z</dcterms:modified>
</cp:coreProperties>
</file>