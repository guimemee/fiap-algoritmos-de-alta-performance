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0"/>
  </p:notesMasterIdLst>
  <p:handoutMasterIdLst>
    <p:handoutMasterId r:id="rId11"/>
  </p:handoutMasterIdLst>
  <p:sldIdLst>
    <p:sldId id="261" r:id="rId2"/>
    <p:sldId id="263" r:id="rId3"/>
    <p:sldId id="257" r:id="rId4"/>
    <p:sldId id="264" r:id="rId5"/>
    <p:sldId id="267" r:id="rId6"/>
    <p:sldId id="268" r:id="rId7"/>
    <p:sldId id="259" r:id="rId8"/>
    <p:sldId id="265" r:id="rId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AB8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2304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E46214B-6700-4254-8763-C0A51EB11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FC2CD4-47D8-4B33-B68E-70D8710B30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51DDE94-D219-4231-BFFF-9FAC77F7F4C8}" type="datetimeFigureOut">
              <a:rPr lang="pt-BR"/>
              <a:pPr>
                <a:defRPr/>
              </a:pPr>
              <a:t>07/02/2023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4EDC05-4E07-4217-A522-D9D8635042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539894-DCDC-4D9C-8BDC-190CCFF208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259B040-C60F-4A0A-BF8A-D573085076D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A72BFA3-728F-4E86-8F5D-92183EC2DA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7EF87D-B72F-45CF-B2D4-F899913300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D05C090B-DFF1-48E1-9F68-02DE7640F5D6}" type="datetimeFigureOut">
              <a:rPr lang="pt-BR"/>
              <a:pPr>
                <a:defRPr/>
              </a:pPr>
              <a:t>07/02/2023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2178A446-47CE-45A3-8175-994FB78C3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71F3672-B61C-4C4B-8A20-65B5E7656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72A091-CC11-4A1C-A0B8-C17C223A7A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1A9B8F-F20B-438B-B6E6-47FFC15E6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714DE1A-0E63-49F7-BC78-C71F36C9E20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A671C66-5460-4C54-A8A0-4DB4E76A11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C1B655E-D2B4-448F-8FB9-0329DB5E0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>
            <a:extLst>
              <a:ext uri="{FF2B5EF4-FFF2-40B4-BE49-F238E27FC236}">
                <a16:creationId xmlns:a16="http://schemas.microsoft.com/office/drawing/2014/main" id="{1C1D72C7-45A5-41F7-BAC0-8095BDC81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4F6DC78-CA5C-4B7F-821F-EA3491A3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9E316250-FBD8-4C43-ADB0-33EBD493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B685DB-9B0E-41D4-AA10-D9EC4DEE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668148-A8F8-4B6A-96D0-35A5FF637ED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0435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 descr="logo fiap novo.png">
            <a:extLst>
              <a:ext uri="{FF2B5EF4-FFF2-40B4-BE49-F238E27FC236}">
                <a16:creationId xmlns:a16="http://schemas.microsoft.com/office/drawing/2014/main" id="{16DB16E1-D8BB-401A-874E-7F097F6DB9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Espaço Reservado para Imagem 7"/>
          <p:cNvSpPr>
            <a:spLocks noGrp="1"/>
          </p:cNvSpPr>
          <p:nvPr>
            <p:ph type="pic" sz="quarter" idx="13"/>
          </p:nvPr>
        </p:nvSpPr>
        <p:spPr>
          <a:xfrm>
            <a:off x="7572396" y="0"/>
            <a:ext cx="1571604" cy="1500188"/>
          </a:xfrm>
        </p:spPr>
        <p:txBody>
          <a:bodyPr rtlCol="0">
            <a:normAutofit/>
          </a:bodyPr>
          <a:lstStyle/>
          <a:p>
            <a:pPr lvl="0"/>
            <a:endParaRPr lang="pt-BR" noProof="0" dirty="0"/>
          </a:p>
        </p:txBody>
      </p:sp>
      <p:sp>
        <p:nvSpPr>
          <p:cNvPr id="6" name="Espaço Reservado para Data 3">
            <a:extLst>
              <a:ext uri="{FF2B5EF4-FFF2-40B4-BE49-F238E27FC236}">
                <a16:creationId xmlns:a16="http://schemas.microsoft.com/office/drawing/2014/main" id="{F69E5516-3809-4AED-9CB8-82643A25A86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90BA2B9F-F306-4F57-890D-336F24D829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714750" y="6286500"/>
            <a:ext cx="2500313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83073D8-5C62-4929-BE36-7F7D91FF08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79DA8B-9F24-4FE0-914A-4DA34049F3B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2155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D1C50B-7074-4BC5-9D25-3F13832A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66F2FE-C827-4A7B-91EF-530AC5F6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7938"/>
            <a:ext cx="3448050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EB5A3F-C129-4EE2-B526-BDDAE30C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077931-6B80-482A-9285-4EBB6772F5E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4480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853904-3010-4B6A-B72C-B0FF3766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9C1219-D1EB-4ED9-A1FA-112FF3F3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6063" y="6356350"/>
            <a:ext cx="3233737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1AB182-C003-4A9B-8B2C-3AFCF293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4DE06D2-4C3C-4848-9FA4-65BED418F0F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1082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E9E148-8E50-45CC-ABA6-FC68EE66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2B00A45-6B24-43DB-8743-F9FDD50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4625" y="6356350"/>
            <a:ext cx="3305175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A9D5BF-F146-4391-A449-48617B1C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609464-A0B9-40FF-8B99-1542960D404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81150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6" descr="logo fiap novo.png">
            <a:extLst>
              <a:ext uri="{FF2B5EF4-FFF2-40B4-BE49-F238E27FC236}">
                <a16:creationId xmlns:a16="http://schemas.microsoft.com/office/drawing/2014/main" id="{4DA3CA83-46A7-4BFD-9710-6F0E1AEEC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72254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" name="Espaço Reservado para Data 2">
            <a:extLst>
              <a:ext uri="{FF2B5EF4-FFF2-40B4-BE49-F238E27FC236}">
                <a16:creationId xmlns:a16="http://schemas.microsoft.com/office/drawing/2014/main" id="{7EB3A9A8-0F22-4220-835C-FFC04D16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BBEE5388-128F-431D-B6B7-27D2572C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4625" y="6357938"/>
            <a:ext cx="3305175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6" name="Espaço Reservado para Número de Slide 4">
            <a:extLst>
              <a:ext uri="{FF2B5EF4-FFF2-40B4-BE49-F238E27FC236}">
                <a16:creationId xmlns:a16="http://schemas.microsoft.com/office/drawing/2014/main" id="{36FBC385-0911-459D-AD9B-AFE377FF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91CF43-FA00-4229-8F52-774AD6DF72C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5639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logo fiap novo.png">
            <a:extLst>
              <a:ext uri="{FF2B5EF4-FFF2-40B4-BE49-F238E27FC236}">
                <a16:creationId xmlns:a16="http://schemas.microsoft.com/office/drawing/2014/main" id="{CA814559-8DD4-416A-B635-9D46A9A556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ço Reservado para Data 1">
            <a:extLst>
              <a:ext uri="{FF2B5EF4-FFF2-40B4-BE49-F238E27FC236}">
                <a16:creationId xmlns:a16="http://schemas.microsoft.com/office/drawing/2014/main" id="{D054D6CE-70CC-437F-973E-C6386A5B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2">
            <a:extLst>
              <a:ext uri="{FF2B5EF4-FFF2-40B4-BE49-F238E27FC236}">
                <a16:creationId xmlns:a16="http://schemas.microsoft.com/office/drawing/2014/main" id="{CD986257-15FC-43E7-8D65-5904DD27D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4625" y="6356350"/>
            <a:ext cx="3305175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37A0F5A1-DE5D-4528-A58C-E0F66C93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909B56D-BE1E-48D6-9B04-950288A0CDF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58584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2D9A22-3392-4A5A-ADD9-BA8F888C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ABBCAA-0FDE-4E6C-BBB0-DF37688D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3188" y="6356350"/>
            <a:ext cx="3376612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EAFB15-8AEF-40D7-9D1B-2AD6EB9B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458380-D0D0-4F4A-8FB2-F140B9691A4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778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FD0FB24E-5BC8-45A2-8485-67CEA869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67CE239-5D12-47C2-B6E6-D6351DE6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76B0C3DB-88CA-4557-8765-CB7EFD8C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1B70-C9AD-43EA-89E9-B522CF70A33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568519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73487B-232C-4DAD-B5D3-2456DCA6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E8CE36-0776-492E-942E-02499B73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3DAF97-DBD4-4AD9-B650-259920C9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CD1F9-D16C-4700-A580-FB8E0B36D23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9358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8D062-21F6-438F-8062-0E8FBB9A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5E178-3131-442F-AF42-7E6076F1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70DD9E-C5FD-411D-AD34-E48E06F1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FF583-E989-496C-8871-4E29358386A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0603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764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83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15AF06A9-76D3-494D-A9A5-2939EDD61A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4BA0CA6A-DEE7-4D57-BF09-0D29048AC2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9E5BB7-ABE6-427B-B5B3-2D524A02B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758BB-638B-4E07-8EBE-BFC8B87BB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98252F-42F1-4DD4-B722-2D670C942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B34D955-F90B-4167-82E8-B4551AC7D41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19" r:id="rId9"/>
    <p:sldLayoutId id="2147483920" r:id="rId10"/>
    <p:sldLayoutId id="2147483921" r:id="rId11"/>
    <p:sldLayoutId id="2147483930" r:id="rId12"/>
    <p:sldLayoutId id="214748393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rofpatricia.magna@fiap.com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crackingthecodinginterview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3">
            <a:extLst>
              <a:ext uri="{FF2B5EF4-FFF2-40B4-BE49-F238E27FC236}">
                <a16:creationId xmlns:a16="http://schemas.microsoft.com/office/drawing/2014/main" id="{54ABBA42-FC2D-4AE8-B061-7CC22E9D1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813" y="1428750"/>
            <a:ext cx="7772400" cy="1470025"/>
          </a:xfrm>
        </p:spPr>
        <p:txBody>
          <a:bodyPr/>
          <a:lstStyle/>
          <a:p>
            <a:pPr eaLnBrk="1" hangingPunct="1"/>
            <a:r>
              <a:rPr lang="pt-BR" altLang="pt-BR"/>
              <a:t>Apresentação da Disciplina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D601C8B-7A2E-4837-A7DA-556819441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563" y="3286125"/>
            <a:ext cx="7643812" cy="22098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altLang="en-US" sz="3600" dirty="0">
                <a:solidFill>
                  <a:schemeClr val="tx1"/>
                </a:solidFill>
              </a:rPr>
              <a:t>Algoritmos de Alta Performance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pt-BR" sz="3600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>
                <a:solidFill>
                  <a:schemeClr val="tx1"/>
                </a:solidFill>
              </a:rPr>
              <a:t>Profa. Dra. Patrícia Magna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>
                <a:hlinkClick r:id="rId2"/>
              </a:rPr>
              <a:t>profpatricia.magna@fiap.com.br</a:t>
            </a:r>
            <a:endParaRPr lang="pt-BR" dirty="0"/>
          </a:p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2">
            <a:extLst>
              <a:ext uri="{FF2B5EF4-FFF2-40B4-BE49-F238E27FC236}">
                <a16:creationId xmlns:a16="http://schemas.microsoft.com/office/drawing/2014/main" id="{E2BB2822-9E3C-419E-AB15-6E3B20C93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85875"/>
            <a:ext cx="8358188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0000"/>
                </a:solidFill>
                <a:latin typeface="Arial" panose="020B0604020202020204" pitchFamily="34" charset="0"/>
              </a:rPr>
              <a:t>Professora:</a:t>
            </a:r>
            <a:r>
              <a:rPr lang="pt-BR" altLang="pt-BR" sz="1800" b="1">
                <a:latin typeface="Arial" panose="020B0604020202020204" pitchFamily="34" charset="0"/>
              </a:rPr>
              <a:t>	Patrícia Magna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82AB8"/>
                </a:solidFill>
                <a:latin typeface="Arial" panose="020B0604020202020204" pitchFamily="34" charset="0"/>
              </a:rPr>
              <a:t>Formação</a:t>
            </a:r>
            <a:endParaRPr lang="pt-BR" altLang="pt-BR" sz="1800" b="1">
              <a:solidFill>
                <a:srgbClr val="082AB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0000"/>
                </a:solidFill>
                <a:latin typeface="Arial" panose="020B0604020202020204" pitchFamily="34" charset="0"/>
              </a:rPr>
              <a:t>Graduação:</a:t>
            </a:r>
            <a:r>
              <a:rPr lang="pt-BR" altLang="pt-BR" sz="1800" b="1">
                <a:latin typeface="Arial" panose="020B0604020202020204" pitchFamily="34" charset="0"/>
              </a:rPr>
              <a:t>Física Computacional (IFQSC USP – São Carlos/SP)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0000"/>
                </a:solidFill>
                <a:latin typeface="Arial" panose="020B0604020202020204" pitchFamily="34" charset="0"/>
              </a:rPr>
              <a:t>Mestrado :</a:t>
            </a:r>
            <a:r>
              <a:rPr lang="pt-BR" altLang="pt-BR" sz="1800" b="1">
                <a:latin typeface="Arial" panose="020B0604020202020204" pitchFamily="34" charset="0"/>
              </a:rPr>
              <a:t> Física Aplicada Computacional (IFQSC USP – São Carlos/SP)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 	Dissertação: </a:t>
            </a:r>
            <a:r>
              <a:rPr lang="pt-BR" altLang="pt-BR" sz="1800" i="1">
                <a:latin typeface="Arial" panose="020B0604020202020204" pitchFamily="34" charset="0"/>
              </a:rPr>
              <a:t>Redução dos Bits de Emparelhamento da Máquina a Fluxo de Dados  de Manchester.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i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0000"/>
                </a:solidFill>
                <a:latin typeface="Arial" panose="020B0604020202020204" pitchFamily="34" charset="0"/>
              </a:rPr>
              <a:t>Doutorado:</a:t>
            </a:r>
            <a:r>
              <a:rPr lang="pt-BR" altLang="pt-BR" sz="1800" b="1">
                <a:latin typeface="Arial" panose="020B0604020202020204" pitchFamily="34" charset="0"/>
              </a:rPr>
              <a:t> Física Aplicada Computacional (IFSC USP – São Carlos/SP)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	Tese:	</a:t>
            </a:r>
            <a:r>
              <a:rPr lang="pt-BR" altLang="pt-BR" sz="1800">
                <a:latin typeface="Arial" panose="020B0604020202020204" pitchFamily="34" charset="0"/>
              </a:rPr>
              <a:t>  Projeto e Simulação de uma Arquitetura a Fluxo de Dados de Segunda   Geração</a:t>
            </a:r>
            <a:endParaRPr lang="pt-BR" altLang="pt-BR" sz="1800" i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i="1">
              <a:latin typeface="Arial" panose="020B0604020202020204" pitchFamily="34" charset="0"/>
            </a:endParaRPr>
          </a:p>
        </p:txBody>
      </p:sp>
      <p:sp>
        <p:nvSpPr>
          <p:cNvPr id="15363" name="Espaço Reservado para Número de Slide 3">
            <a:extLst>
              <a:ext uri="{FF2B5EF4-FFF2-40B4-BE49-F238E27FC236}">
                <a16:creationId xmlns:a16="http://schemas.microsoft.com/office/drawing/2014/main" id="{C8B08ED1-78C6-4F66-B891-F7FCD25D6A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E18C59-F59A-4778-A631-55DF09951018}" type="slidenum">
              <a:rPr lang="pt-BR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BR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65BD95-E9D7-4E83-9F47-D07F0F99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4625" y="6286500"/>
            <a:ext cx="2357438" cy="434975"/>
          </a:xfrm>
        </p:spPr>
        <p:txBody>
          <a:bodyPr/>
          <a:lstStyle/>
          <a:p>
            <a:pPr>
              <a:defRPr/>
            </a:pPr>
            <a:r>
              <a:rPr lang="pt-BR" altLang="en-US"/>
              <a:t>Algoritmos de Alta Performance  Profa Patrícia Magna</a:t>
            </a:r>
            <a:endParaRPr lang="pt-BR" altLang="en-US" dirty="0"/>
          </a:p>
        </p:txBody>
      </p:sp>
      <p:pic>
        <p:nvPicPr>
          <p:cNvPr id="15365" name="Picture 6" descr="Resultado de imagem para beca de formatura">
            <a:extLst>
              <a:ext uri="{FF2B5EF4-FFF2-40B4-BE49-F238E27FC236}">
                <a16:creationId xmlns:a16="http://schemas.microsoft.com/office/drawing/2014/main" id="{D06D7605-587F-4FC4-A528-A1E365895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642938"/>
            <a:ext cx="2735263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08A37C5-04AB-4D60-969C-51BA54F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00" cy="1143000"/>
          </a:xfrm>
        </p:spPr>
        <p:txBody>
          <a:bodyPr/>
          <a:lstStyle/>
          <a:p>
            <a:pPr algn="l" eaLnBrk="1" hangingPunct="1"/>
            <a:r>
              <a:rPr lang="pt-BR" altLang="pt-BR" sz="4000" b="1" dirty="0"/>
              <a:t>Objetivos da Disciplina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7CE7F86-6CDE-422C-8C0B-E70E2E4D5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sz="2000" dirty="0"/>
              <a:t>Capacitar o aluno na manipulação das estruturas de dados básicas, gerando as implementações correspondentes na linguagem JAVA.	 </a:t>
            </a:r>
          </a:p>
          <a:p>
            <a:pPr eaLnBrk="1" hangingPunct="1">
              <a:lnSpc>
                <a:spcPct val="80000"/>
              </a:lnSpc>
            </a:pPr>
            <a:endParaRPr lang="pt-BR" altLang="pt-BR" sz="2000" dirty="0"/>
          </a:p>
          <a:p>
            <a:pPr eaLnBrk="1" hangingPunct="1">
              <a:lnSpc>
                <a:spcPct val="80000"/>
              </a:lnSpc>
            </a:pPr>
            <a:r>
              <a:rPr lang="pt-BR" altLang="pt-BR" sz="2000" dirty="0"/>
              <a:t>Propiciar o entendimento e o aprendizado de novas estruturas, usadas mais comumente para o armazenamento e posterior recuperação eficiente de dados.</a:t>
            </a:r>
          </a:p>
          <a:p>
            <a:pPr eaLnBrk="1" hangingPunct="1">
              <a:lnSpc>
                <a:spcPct val="80000"/>
              </a:lnSpc>
            </a:pPr>
            <a:endParaRPr lang="pt-BR" altLang="pt-BR" sz="2000" dirty="0"/>
          </a:p>
          <a:p>
            <a:pPr eaLnBrk="1" hangingPunct="1">
              <a:lnSpc>
                <a:spcPct val="80000"/>
              </a:lnSpc>
            </a:pPr>
            <a:r>
              <a:rPr lang="pt-BR" altLang="pt-BR" sz="2000" dirty="0"/>
              <a:t>Expor noções de eficiência de algoritmos com tempo crítico de execução.</a:t>
            </a:r>
          </a:p>
          <a:p>
            <a:pPr eaLnBrk="1" hangingPunct="1">
              <a:lnSpc>
                <a:spcPct val="80000"/>
              </a:lnSpc>
            </a:pPr>
            <a:endParaRPr lang="pt-BR" altLang="pt-BR" sz="2000" dirty="0"/>
          </a:p>
          <a:p>
            <a:pPr eaLnBrk="1" hangingPunct="1">
              <a:lnSpc>
                <a:spcPct val="80000"/>
              </a:lnSpc>
            </a:pPr>
            <a:r>
              <a:rPr lang="pt-BR" altLang="pt-BR" sz="2000" dirty="0"/>
              <a:t>Criar condições de análise de eficiência dos métodos de ordenação de grande volume de dados e, também, da recuperação de informação armazenada em grande massa de dados</a:t>
            </a:r>
          </a:p>
          <a:p>
            <a:pPr eaLnBrk="1" hangingPunct="1">
              <a:lnSpc>
                <a:spcPct val="80000"/>
              </a:lnSpc>
            </a:pPr>
            <a:endParaRPr lang="pt-BR" altLang="pt-BR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000" dirty="0"/>
              <a:t> </a:t>
            </a:r>
          </a:p>
        </p:txBody>
      </p:sp>
      <p:sp>
        <p:nvSpPr>
          <p:cNvPr id="17412" name="Espaço Reservado para Número de Slide 5">
            <a:extLst>
              <a:ext uri="{FF2B5EF4-FFF2-40B4-BE49-F238E27FC236}">
                <a16:creationId xmlns:a16="http://schemas.microsoft.com/office/drawing/2014/main" id="{63FEDA60-372E-43F2-B80A-B7FEDAF0157B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A3EB64-9330-488C-BE09-55AF8906F36A}" type="slidenum">
              <a:rPr lang="pt-BR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BR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72FA4E-10C8-4D08-BFA5-CB617AD598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>
            <a:extLst>
              <a:ext uri="{FF2B5EF4-FFF2-40B4-BE49-F238E27FC236}">
                <a16:creationId xmlns:a16="http://schemas.microsoft.com/office/drawing/2014/main" id="{5C8FF77D-E36D-4B6E-B987-DBB602F9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0"/>
            <a:ext cx="6972300" cy="1143000"/>
          </a:xfrm>
        </p:spPr>
        <p:txBody>
          <a:bodyPr/>
          <a:lstStyle/>
          <a:p>
            <a:pPr algn="l" eaLnBrk="1" hangingPunct="1"/>
            <a:r>
              <a:rPr lang="pt-BR" altLang="pt-BR" b="1"/>
              <a:t>Ementa</a:t>
            </a:r>
          </a:p>
        </p:txBody>
      </p:sp>
      <p:sp>
        <p:nvSpPr>
          <p:cNvPr id="18435" name="Espaço Reservado para Conteúdo 2">
            <a:extLst>
              <a:ext uri="{FF2B5EF4-FFF2-40B4-BE49-F238E27FC236}">
                <a16:creationId xmlns:a16="http://schemas.microsoft.com/office/drawing/2014/main" id="{4F40EB5A-6CE3-4519-ABDC-59B041908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928688"/>
            <a:ext cx="8472487" cy="5357812"/>
          </a:xfrm>
        </p:spPr>
        <p:txBody>
          <a:bodyPr/>
          <a:lstStyle/>
          <a:p>
            <a:pPr eaLnBrk="1" hangingPunct="1"/>
            <a:r>
              <a:rPr lang="pt-BR" altLang="pt-BR" sz="2000" dirty="0"/>
              <a:t>Linguagem JAVA: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dirty="0"/>
              <a:t>Vetores: estrutura de dados homogêneas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dirty="0"/>
              <a:t>Funções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dirty="0"/>
              <a:t>Alocação dinâmica de memória (referências aos objetos)</a:t>
            </a:r>
          </a:p>
          <a:p>
            <a:pPr eaLnBrk="1" hangingPunct="1"/>
            <a:r>
              <a:rPr lang="pt-BR" altLang="pt-BR" sz="2000" dirty="0"/>
              <a:t>Métodos de ordenação de vetores</a:t>
            </a:r>
          </a:p>
          <a:p>
            <a:pPr eaLnBrk="1" hangingPunct="1"/>
            <a:r>
              <a:rPr lang="pt-BR" altLang="pt-BR" sz="2000" dirty="0"/>
              <a:t>Métodos de recuperação de informação em vetores</a:t>
            </a:r>
          </a:p>
          <a:p>
            <a:pPr eaLnBrk="1" hangingPunct="1"/>
            <a:r>
              <a:rPr lang="pt-BR" altLang="pt-BR" sz="2000" dirty="0"/>
              <a:t>Análise de eficiência de algoritmos </a:t>
            </a:r>
          </a:p>
          <a:p>
            <a:pPr eaLnBrk="1" hangingPunct="1"/>
            <a:r>
              <a:rPr lang="pt-BR" altLang="pt-BR" sz="2000" dirty="0"/>
              <a:t>Problemas e estudo das classes P, NP </a:t>
            </a:r>
          </a:p>
          <a:p>
            <a:pPr eaLnBrk="1" hangingPunct="1"/>
            <a:r>
              <a:rPr lang="pt-BR" altLang="pt-BR" sz="2000" dirty="0"/>
              <a:t>Definição de novos tipos de dados</a:t>
            </a:r>
          </a:p>
          <a:p>
            <a:pPr eaLnBrk="1" hangingPunct="1"/>
            <a:r>
              <a:rPr lang="pt-BR" altLang="pt-BR" sz="2000" dirty="0"/>
              <a:t>Listas lineares por </a:t>
            </a:r>
            <a:r>
              <a:rPr lang="pt-BR" altLang="pt-BR" sz="2000" dirty="0" err="1"/>
              <a:t>contigüidade</a:t>
            </a:r>
            <a:r>
              <a:rPr lang="pt-BR" altLang="pt-BR" sz="2000" dirty="0"/>
              <a:t> (vetores) dinâmicos. </a:t>
            </a:r>
          </a:p>
          <a:p>
            <a:pPr eaLnBrk="1" hangingPunct="1"/>
            <a:r>
              <a:rPr lang="pt-BR" altLang="pt-BR" sz="2000" dirty="0"/>
              <a:t>Alocação dinâmica de memória. </a:t>
            </a:r>
          </a:p>
          <a:p>
            <a:pPr eaLnBrk="1" hangingPunct="1"/>
            <a:r>
              <a:rPr lang="pt-BR" altLang="pt-BR" sz="2000" dirty="0"/>
              <a:t>Listas lineares encadeadas</a:t>
            </a:r>
          </a:p>
          <a:p>
            <a:pPr eaLnBrk="1" hangingPunct="1"/>
            <a:r>
              <a:rPr lang="pt-BR" altLang="pt-BR" sz="2000" dirty="0"/>
              <a:t>Listas lineares especiais: pilhas e filas. </a:t>
            </a:r>
          </a:p>
          <a:p>
            <a:pPr eaLnBrk="1" hangingPunct="1"/>
            <a:r>
              <a:rPr lang="pt-BR" altLang="pt-BR" sz="2000" dirty="0"/>
              <a:t>Algoritmos recursivos.</a:t>
            </a:r>
          </a:p>
          <a:p>
            <a:pPr eaLnBrk="1" hangingPunct="1"/>
            <a:r>
              <a:rPr lang="pt-BR" altLang="pt-BR" sz="2000" dirty="0"/>
              <a:t>Introdução à Árvores e suas aplicações. </a:t>
            </a:r>
          </a:p>
          <a:p>
            <a:pPr eaLnBrk="1" hangingPunct="1"/>
            <a:endParaRPr lang="pt-BR" altLang="pt-BR" sz="2000" dirty="0"/>
          </a:p>
        </p:txBody>
      </p:sp>
      <p:sp>
        <p:nvSpPr>
          <p:cNvPr id="18437" name="Espaço Reservado para Número de Slide 4">
            <a:extLst>
              <a:ext uri="{FF2B5EF4-FFF2-40B4-BE49-F238E27FC236}">
                <a16:creationId xmlns:a16="http://schemas.microsoft.com/office/drawing/2014/main" id="{73C78C32-35AB-4B89-AF8B-8A955F39599A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79D462-588B-4A25-82E4-4C43AA33182D}" type="slidenum">
              <a:rPr lang="pt-BR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BR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9961262-7FB9-4034-8E21-25EB6DF1F11F}"/>
              </a:ext>
            </a:extLst>
          </p:cNvPr>
          <p:cNvGrpSpPr/>
          <p:nvPr/>
        </p:nvGrpSpPr>
        <p:grpSpPr>
          <a:xfrm>
            <a:off x="5932004" y="928688"/>
            <a:ext cx="3375992" cy="3061814"/>
            <a:chOff x="5588496" y="980728"/>
            <a:chExt cx="3375992" cy="2569734"/>
          </a:xfrm>
        </p:grpSpPr>
        <p:sp>
          <p:nvSpPr>
            <p:cNvPr id="2" name="Chave Direita 1">
              <a:extLst>
                <a:ext uri="{FF2B5EF4-FFF2-40B4-BE49-F238E27FC236}">
                  <a16:creationId xmlns:a16="http://schemas.microsoft.com/office/drawing/2014/main" id="{DFAE6E10-D41B-439A-9F82-3260419154C4}"/>
                </a:ext>
              </a:extLst>
            </p:cNvPr>
            <p:cNvSpPr/>
            <p:nvPr/>
          </p:nvSpPr>
          <p:spPr>
            <a:xfrm>
              <a:off x="5588496" y="980728"/>
              <a:ext cx="1503784" cy="2569734"/>
            </a:xfrm>
            <a:prstGeom prst="rightBrac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ED6470A2-A73D-411B-8CEE-32A5C0477BAC}"/>
                </a:ext>
              </a:extLst>
            </p:cNvPr>
            <p:cNvSpPr txBox="1"/>
            <p:nvPr/>
          </p:nvSpPr>
          <p:spPr>
            <a:xfrm>
              <a:off x="7092280" y="2060848"/>
              <a:ext cx="1872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1º semestre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A172CC3-2948-4B45-A2F3-D4942A3DD272}"/>
              </a:ext>
            </a:extLst>
          </p:cNvPr>
          <p:cNvGrpSpPr/>
          <p:nvPr/>
        </p:nvGrpSpPr>
        <p:grpSpPr>
          <a:xfrm>
            <a:off x="5932004" y="3969178"/>
            <a:ext cx="3375992" cy="2569734"/>
            <a:chOff x="5588496" y="980728"/>
            <a:chExt cx="3375992" cy="2569734"/>
          </a:xfrm>
        </p:grpSpPr>
        <p:sp>
          <p:nvSpPr>
            <p:cNvPr id="11" name="Chave Direita 10">
              <a:extLst>
                <a:ext uri="{FF2B5EF4-FFF2-40B4-BE49-F238E27FC236}">
                  <a16:creationId xmlns:a16="http://schemas.microsoft.com/office/drawing/2014/main" id="{FEB33B15-55A1-46CC-A88A-65300A45F513}"/>
                </a:ext>
              </a:extLst>
            </p:cNvPr>
            <p:cNvSpPr/>
            <p:nvPr/>
          </p:nvSpPr>
          <p:spPr>
            <a:xfrm>
              <a:off x="5588496" y="980728"/>
              <a:ext cx="1503784" cy="2569734"/>
            </a:xfrm>
            <a:prstGeom prst="rightBrac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F74AB58-CEA7-4A18-B3C5-3BAEAF436EE3}"/>
                </a:ext>
              </a:extLst>
            </p:cNvPr>
            <p:cNvSpPr txBox="1"/>
            <p:nvPr/>
          </p:nvSpPr>
          <p:spPr>
            <a:xfrm>
              <a:off x="7092280" y="2060848"/>
              <a:ext cx="1872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2º semestre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Conteúdo 2">
            <a:extLst>
              <a:ext uri="{FF2B5EF4-FFF2-40B4-BE49-F238E27FC236}">
                <a16:creationId xmlns:a16="http://schemas.microsoft.com/office/drawing/2014/main" id="{7AB62BD7-FA0D-4EAE-A1B2-6A5C06A0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800" dirty="0"/>
              <a:t>Por que devemos estudar esses assuntos?</a:t>
            </a:r>
          </a:p>
          <a:p>
            <a:endParaRPr lang="pt-BR" altLang="pt-BR" sz="2800" dirty="0"/>
          </a:p>
          <a:p>
            <a:r>
              <a:rPr lang="pt-BR" altLang="pt-BR" sz="2800" dirty="0"/>
              <a:t>Onde são aplicados?</a:t>
            </a:r>
          </a:p>
          <a:p>
            <a:endParaRPr lang="pt-BR" altLang="pt-BR" sz="2800" dirty="0"/>
          </a:p>
          <a:p>
            <a:r>
              <a:rPr lang="pt-BR" altLang="pt-BR" sz="2800" dirty="0"/>
              <a:t>Esses assuntos podem ser importantes para conquistar vagas de empregos em grande empresas de TI?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47CC02-69A1-4020-B1B8-681BF59DFB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Códigos de Alta Performance  Profa Patrícia Magna</a:t>
            </a:r>
          </a:p>
        </p:txBody>
      </p:sp>
      <p:sp>
        <p:nvSpPr>
          <p:cNvPr id="19460" name="Espaço Reservado para Número de Slide 5">
            <a:extLst>
              <a:ext uri="{FF2B5EF4-FFF2-40B4-BE49-F238E27FC236}">
                <a16:creationId xmlns:a16="http://schemas.microsoft.com/office/drawing/2014/main" id="{30234718-8A7D-4597-9B48-3FCB9DDA525E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108375-C7FF-48F4-9671-F9D608736FE3}" type="slidenum">
              <a:rPr lang="pt-BR" altLang="en-US">
                <a:solidFill>
                  <a:srgbClr val="898989"/>
                </a:solidFill>
              </a:rPr>
              <a:pPr/>
              <a:t>5</a:t>
            </a:fld>
            <a:endParaRPr lang="pt-BR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AB5146-23A5-45CE-A6BB-5C0E21627A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Códigos de Alta Performance  Profa Patrícia Magna</a:t>
            </a:r>
          </a:p>
        </p:txBody>
      </p:sp>
      <p:sp>
        <p:nvSpPr>
          <p:cNvPr id="20483" name="Espaço Reservado para Número de Slide 5">
            <a:extLst>
              <a:ext uri="{FF2B5EF4-FFF2-40B4-BE49-F238E27FC236}">
                <a16:creationId xmlns:a16="http://schemas.microsoft.com/office/drawing/2014/main" id="{96EEE7D2-4491-4F4B-8AD1-8245E8B1F641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442E89-EA0D-4C9A-8189-3BA8DEA7E483}" type="slidenum">
              <a:rPr lang="pt-BR" altLang="en-US">
                <a:solidFill>
                  <a:srgbClr val="898989"/>
                </a:solidFill>
              </a:rPr>
              <a:pPr/>
              <a:t>6</a:t>
            </a:fld>
            <a:endParaRPr lang="pt-BR" altLang="en-US">
              <a:solidFill>
                <a:srgbClr val="898989"/>
              </a:solidFill>
            </a:endParaRPr>
          </a:p>
        </p:txBody>
      </p:sp>
      <p:pic>
        <p:nvPicPr>
          <p:cNvPr id="20484" name="Imagem 7">
            <a:hlinkClick r:id="rId2"/>
            <a:extLst>
              <a:ext uri="{FF2B5EF4-FFF2-40B4-BE49-F238E27FC236}">
                <a16:creationId xmlns:a16="http://schemas.microsoft.com/office/drawing/2014/main" id="{48E4691E-DEE7-4419-A1CD-1C91F2E13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738188"/>
            <a:ext cx="4581525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29E6BCD-8AE3-4375-B0BD-1F244CF6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064500" cy="1111250"/>
          </a:xfrm>
        </p:spPr>
        <p:txBody>
          <a:bodyPr/>
          <a:lstStyle/>
          <a:p>
            <a:pPr algn="l" eaLnBrk="1" hangingPunct="1"/>
            <a:r>
              <a:rPr lang="pt-BR" altLang="pt-BR" sz="3400" b="1" dirty="0"/>
              <a:t>Principais Referências Bibliográficas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94747C8-DE46-4625-BA9C-34908CC05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8785225" cy="5286375"/>
          </a:xfrm>
        </p:spPr>
        <p:txBody>
          <a:bodyPr rtlCol="0">
            <a:noAutofit/>
          </a:bodyPr>
          <a:lstStyle/>
          <a:p>
            <a:pPr>
              <a:buFont typeface="Arial" charset="0"/>
              <a:buChar char="•"/>
              <a:defRPr/>
            </a:pPr>
            <a:r>
              <a:rPr lang="pt-BR" sz="2400" cap="small" dirty="0"/>
              <a:t>ASCÊNCIO</a:t>
            </a:r>
            <a:r>
              <a:rPr lang="pt-BR" sz="2400" dirty="0"/>
              <a:t>, A.F.G; ARAUJO, G.S. </a:t>
            </a:r>
            <a:r>
              <a:rPr lang="pt-BR" sz="2400" b="1" dirty="0"/>
              <a:t>Estruturas de Dados: Algoritmos, Análise de Complexidade e Implementações em JAVA e C/C++. </a:t>
            </a:r>
            <a:r>
              <a:rPr lang="pt-BR" sz="2400" dirty="0"/>
              <a:t>São Paulo, </a:t>
            </a:r>
            <a:r>
              <a:rPr lang="pt-BR" sz="2400" dirty="0" err="1"/>
              <a:t>Ed.Pearson</a:t>
            </a:r>
            <a:r>
              <a:rPr lang="pt-BR" sz="2400" dirty="0"/>
              <a:t> Prentice Hall, 2010.</a:t>
            </a:r>
          </a:p>
          <a:p>
            <a:pPr>
              <a:buFont typeface="Arial" charset="0"/>
              <a:buChar char="•"/>
              <a:defRPr/>
            </a:pPr>
            <a:r>
              <a:rPr lang="pt-BR" sz="2400" dirty="0"/>
              <a:t>PEREIRA, S.L.; </a:t>
            </a:r>
            <a:r>
              <a:rPr lang="pt-BR" sz="2400" b="1" dirty="0"/>
              <a:t>Estruturas de Dados Fundamentais: Conceitos e Aplicações. </a:t>
            </a:r>
            <a:r>
              <a:rPr lang="pt-BR" sz="2400" dirty="0"/>
              <a:t>São Paulo, Ed. Érica, 1996.</a:t>
            </a:r>
          </a:p>
          <a:p>
            <a:pPr>
              <a:buFont typeface="Arial" charset="0"/>
              <a:buChar char="•"/>
              <a:defRPr/>
            </a:pPr>
            <a:r>
              <a:rPr lang="pt-BR" sz="2400" dirty="0"/>
              <a:t>ZIVIANI, N.; </a:t>
            </a:r>
            <a:r>
              <a:rPr lang="pt-BR" sz="2400" b="1" dirty="0"/>
              <a:t>Projeto de algoritmos com implementações em Pascal e C.</a:t>
            </a:r>
            <a:r>
              <a:rPr lang="pt-BR" sz="2400" dirty="0"/>
              <a:t> São Paulo: Pioneira,  2000.</a:t>
            </a:r>
          </a:p>
          <a:p>
            <a:pPr>
              <a:buFont typeface="Arial" charset="0"/>
              <a:buChar char="•"/>
              <a:defRPr/>
            </a:pPr>
            <a:r>
              <a:rPr lang="pt-BR" sz="2400" dirty="0"/>
              <a:t>TENEMBAUM, A.M et al.; </a:t>
            </a:r>
            <a:r>
              <a:rPr lang="pt-BR" sz="2400" b="1" dirty="0"/>
              <a:t>Estruturas de Dados usando C.</a:t>
            </a:r>
            <a:r>
              <a:rPr lang="pt-BR" sz="2400" dirty="0"/>
              <a:t> Makron Books Ltda, 1995.</a:t>
            </a:r>
          </a:p>
          <a:p>
            <a:pPr>
              <a:buFont typeface="Arial" charset="0"/>
              <a:buChar char="•"/>
              <a:defRPr/>
            </a:pPr>
            <a:r>
              <a:rPr lang="pt-BR" sz="2400" dirty="0"/>
              <a:t>DEITEL, P; J.; </a:t>
            </a:r>
            <a:r>
              <a:rPr lang="pt-BR" sz="2400" dirty="0" err="1"/>
              <a:t>Deitel</a:t>
            </a:r>
            <a:r>
              <a:rPr lang="pt-BR" sz="2400" dirty="0"/>
              <a:t>, H.M., </a:t>
            </a:r>
            <a:r>
              <a:rPr lang="pt-BR" sz="2400" b="1" dirty="0"/>
              <a:t>JAVA: como programar</a:t>
            </a:r>
            <a:r>
              <a:rPr lang="pt-BR" sz="2400" dirty="0"/>
              <a:t> -</a:t>
            </a:r>
            <a:r>
              <a:rPr lang="pt-BR" sz="2400" b="1" dirty="0"/>
              <a:t> 8ª edição, </a:t>
            </a:r>
            <a:r>
              <a:rPr lang="pt-BR" sz="2400" dirty="0"/>
              <a:t>São Paulo, </a:t>
            </a:r>
            <a:r>
              <a:rPr lang="pt-BR" sz="2400" dirty="0" err="1"/>
              <a:t>Ed.Pearson</a:t>
            </a:r>
            <a:r>
              <a:rPr lang="pt-BR" sz="2400" dirty="0"/>
              <a:t> Prentice Hall, 2010.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E outros…</a:t>
            </a:r>
          </a:p>
        </p:txBody>
      </p:sp>
      <p:sp>
        <p:nvSpPr>
          <p:cNvPr id="22532" name="Espaço Reservado para Número de Slide 5">
            <a:extLst>
              <a:ext uri="{FF2B5EF4-FFF2-40B4-BE49-F238E27FC236}">
                <a16:creationId xmlns:a16="http://schemas.microsoft.com/office/drawing/2014/main" id="{1EED5A46-EEA9-4E34-8F0E-7BD3BE4CAD9D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8EA33E-F0D9-42B5-A48C-CFB0C05EB74E}" type="slidenum">
              <a:rPr lang="pt-BR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BR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09CA9E6-C529-42F2-BAA5-D38A15CB55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>
            <a:extLst>
              <a:ext uri="{FF2B5EF4-FFF2-40B4-BE49-F238E27FC236}">
                <a16:creationId xmlns:a16="http://schemas.microsoft.com/office/drawing/2014/main" id="{B0641D3F-6FF8-4F50-9CB2-CA510C4C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00" cy="1143000"/>
          </a:xfrm>
        </p:spPr>
        <p:txBody>
          <a:bodyPr/>
          <a:lstStyle/>
          <a:p>
            <a:pPr algn="l" eaLnBrk="1" hangingPunct="1"/>
            <a:r>
              <a:rPr lang="pt-BR" altLang="pt-BR" sz="4000" b="1" dirty="0"/>
              <a:t>Metodologia de ensino </a:t>
            </a:r>
          </a:p>
        </p:txBody>
      </p:sp>
      <p:sp>
        <p:nvSpPr>
          <p:cNvPr id="19459" name="Espaço Reservado para Conteúdo 2">
            <a:extLst>
              <a:ext uri="{FF2B5EF4-FFF2-40B4-BE49-F238E27FC236}">
                <a16:creationId xmlns:a16="http://schemas.microsoft.com/office/drawing/2014/main" id="{25334401-6D9A-45FA-B9DF-52F4D8110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 sz="2400" dirty="0"/>
          </a:p>
          <a:p>
            <a:pPr eaLnBrk="1" hangingPunct="1"/>
            <a:r>
              <a:rPr lang="pt-BR" altLang="pt-BR" sz="2400" dirty="0"/>
              <a:t>A metodologia se baseia em aulas teóricas expositivas mescladas com uma grande quantidade de exercícios práticos em cada unidade do conteúdo programático, além de trabalhos de avaliação continuada.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064F61-6272-4015-81B7-3C426DFA73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 Profa Patrícia Magna</a:t>
            </a:r>
          </a:p>
        </p:txBody>
      </p:sp>
      <p:sp>
        <p:nvSpPr>
          <p:cNvPr id="19461" name="Espaço Reservado para Número de Slide 4">
            <a:extLst>
              <a:ext uri="{FF2B5EF4-FFF2-40B4-BE49-F238E27FC236}">
                <a16:creationId xmlns:a16="http://schemas.microsoft.com/office/drawing/2014/main" id="{1032331F-ED4E-45AA-9FFC-6360C2EEFC94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3BDDBB-C7AF-4E24-903E-8204511FBCCA}" type="slidenum">
              <a:rPr lang="pt-BR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BR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</TotalTime>
  <Words>538</Words>
  <Application>Microsoft Office PowerPoint</Application>
  <PresentationFormat>Apresentação na tela (4:3)</PresentationFormat>
  <Paragraphs>76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Tema do Office</vt:lpstr>
      <vt:lpstr>Apresentação da Disciplina</vt:lpstr>
      <vt:lpstr>Apresentação do PowerPoint</vt:lpstr>
      <vt:lpstr>Objetivos da Disciplina</vt:lpstr>
      <vt:lpstr>Ementa</vt:lpstr>
      <vt:lpstr>Apresentação do PowerPoint</vt:lpstr>
      <vt:lpstr>Apresentação do PowerPoint</vt:lpstr>
      <vt:lpstr>Principais Referências Bibliográficas</vt:lpstr>
      <vt:lpstr>Metodologia de ensino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Organização de Computadores</dc:title>
  <dc:creator>Patrícia Magna</dc:creator>
  <cp:lastModifiedBy>Patrícia Magna</cp:lastModifiedBy>
  <cp:revision>54</cp:revision>
  <dcterms:created xsi:type="dcterms:W3CDTF">2005-02-16T13:03:14Z</dcterms:created>
  <dcterms:modified xsi:type="dcterms:W3CDTF">2023-02-07T20:43:59Z</dcterms:modified>
</cp:coreProperties>
</file>